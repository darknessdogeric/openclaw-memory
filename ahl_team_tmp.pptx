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29"/>
    <p:sldId id="267" r:id="rId15"/>
  </p:sldIdLst>
  <p:sldSz cx="12192000" cy="6858000"/>
  <p:notesSz cx="6858000" cy="12192000"/>
  <p:embeddedFontLst>
    <p:embeddedFont>
      <p:font typeface="MiSans" pitchFamily="34" charset="-122"/>
      <p:regular r:id="rId19"/>
    </p:embeddedFont>
    <p:embeddedFont>
      <p:font typeface="MiSans" pitchFamily="34" charset="-120"/>
      <p:regular r:id="rId20"/>
    </p:embeddedFont>
    <p:embeddedFont>
      <p:font typeface="Alimama ShuHeiTi" pitchFamily="34" charset="-122"/>
      <p:bold r:id="rId21"/>
    </p:embeddedFont>
    <p:embeddedFont>
      <p:font typeface="Alimama ShuHeiTi" pitchFamily="34" charset="-120"/>
      <p:bold r:id="rId22"/>
    </p:embeddedFont>
    <p:embeddedFont>
      <p:font typeface="微软雅黑" panose="020B0503020204020204" pitchFamily="34" charset="-122"/>
      <p:regular r:id="rId23"/>
    </p:embeddedFont>
    <p:embeddedFont>
      <p:font typeface="微软雅黑" panose="020B0503020204020204" pitchFamily="34" charset="-120"/>
      <p:regular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3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Relationship Id="rId27" Type="http://schemas.openxmlformats.org/officeDocument/2006/relationships/font" Target="fonts/font9.fntdata"/><Relationship Id="rId28" Type="http://schemas.openxmlformats.org/officeDocument/2006/relationships/font" Target="fonts/font10.fntdata"/><Relationship Id="rId2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5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housecustomize.com/144868aa46713bdb9480f3f869c827bda874767f.png"/>
          <p:cNvPicPr>
            <a:picLocks noChangeAspect="1"/>
          </p:cNvPicPr>
          <p:nvPr/>
        </p:nvPicPr>
        <p:blipFill>
          <a:blip r:embed="rId1">
            <a:alphaModFix amt="40000"/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A5A5B">
                  <a:alpha val="95000"/>
                </a:srgbClr>
              </a:gs>
              <a:gs pos="50000">
                <a:srgbClr val="2A5A5B">
                  <a:alpha val="85000"/>
                </a:srgbClr>
              </a:gs>
              <a:gs pos="100000">
                <a:srgbClr val="2A5A5B">
                  <a:alpha val="7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1000" y="1562100"/>
            <a:ext cx="2181225" cy="381000"/>
          </a:xfrm>
          <a:custGeom>
            <a:avLst/>
            <a:gdLst/>
            <a:ahLst/>
            <a:cxnLst/>
            <a:rect l="l" t="t" r="r" b="b"/>
            <a:pathLst>
              <a:path w="2181225" h="381000">
                <a:moveTo>
                  <a:pt x="0" y="0"/>
                </a:moveTo>
                <a:lnTo>
                  <a:pt x="2181225" y="0"/>
                </a:lnTo>
                <a:lnTo>
                  <a:pt x="21812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</p:spPr>
      </p:sp>
      <p:sp>
        <p:nvSpPr>
          <p:cNvPr id="5" name="Text 2"/>
          <p:cNvSpPr/>
          <p:nvPr/>
        </p:nvSpPr>
        <p:spPr>
          <a:xfrm>
            <a:off x="381000" y="1562100"/>
            <a:ext cx="2257425" cy="381000"/>
          </a:xfrm>
          <a:prstGeom prst="rect">
            <a:avLst/>
          </a:prstGeom>
          <a:noFill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F8F7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 HOTEL LANGUAGE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71700"/>
            <a:ext cx="117729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7F5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AHL酒店智能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7F5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升级项目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0767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</p:spPr>
      </p:sp>
      <p:sp>
        <p:nvSpPr>
          <p:cNvPr id="8" name="Text 5"/>
          <p:cNvSpPr/>
          <p:nvPr/>
        </p:nvSpPr>
        <p:spPr>
          <a:xfrm>
            <a:off x="381000" y="4343400"/>
            <a:ext cx="115728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B89A7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合作意向书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800600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8F7F5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免费试点合作邀请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5943600"/>
            <a:ext cx="1590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7F5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版本 V1.0 | 2026年3月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007599" y="5943600"/>
            <a:ext cx="2800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8F7F5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让每一家酒店，都拥有自己的AI运营团队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B89A7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</p:spPr>
      </p:sp>
      <p:sp>
        <p:nvSpPr>
          <p:cNvPr id="5" name="Shape 3"/>
          <p:cNvSpPr/>
          <p:nvPr/>
        </p:nvSpPr>
        <p:spPr>
          <a:xfrm>
            <a:off x="400050" y="1733550"/>
            <a:ext cx="5543550" cy="990600"/>
          </a:xfrm>
          <a:custGeom>
            <a:avLst/>
            <a:gdLst/>
            <a:ahLst/>
            <a:cxnLst/>
            <a:rect l="l" t="t" r="r" b="b"/>
            <a:pathLst>
              <a:path w="5543550" h="990600">
                <a:moveTo>
                  <a:pt x="38100" y="0"/>
                </a:moveTo>
                <a:lnTo>
                  <a:pt x="5467353" y="0"/>
                </a:lnTo>
                <a:cubicBezTo>
                  <a:pt x="5509435" y="0"/>
                  <a:pt x="5543550" y="34115"/>
                  <a:pt x="5543550" y="76197"/>
                </a:cubicBezTo>
                <a:lnTo>
                  <a:pt x="5543550" y="914403"/>
                </a:lnTo>
                <a:cubicBezTo>
                  <a:pt x="5543550" y="956485"/>
                  <a:pt x="5509435" y="990600"/>
                  <a:pt x="546735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73355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7" name="Shape 5"/>
          <p:cNvSpPr/>
          <p:nvPr/>
        </p:nvSpPr>
        <p:spPr>
          <a:xfrm>
            <a:off x="647700" y="19621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8" name="Text 6"/>
          <p:cNvSpPr/>
          <p:nvPr/>
        </p:nvSpPr>
        <p:spPr>
          <a:xfrm>
            <a:off x="590550" y="1962150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500" y="1962150"/>
            <a:ext cx="1466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行业机会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26695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酒店业正在发生什么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7450" y="1733550"/>
            <a:ext cx="5543550" cy="990600"/>
          </a:xfrm>
          <a:custGeom>
            <a:avLst/>
            <a:gdLst/>
            <a:ahLst/>
            <a:cxnLst/>
            <a:rect l="l" t="t" r="r" b="b"/>
            <a:pathLst>
              <a:path w="5543550" h="990600">
                <a:moveTo>
                  <a:pt x="38100" y="0"/>
                </a:moveTo>
                <a:lnTo>
                  <a:pt x="5467353" y="0"/>
                </a:lnTo>
                <a:cubicBezTo>
                  <a:pt x="5509435" y="0"/>
                  <a:pt x="5543550" y="34115"/>
                  <a:pt x="5543550" y="76197"/>
                </a:cubicBezTo>
                <a:lnTo>
                  <a:pt x="5543550" y="914403"/>
                </a:lnTo>
                <a:cubicBezTo>
                  <a:pt x="5543550" y="956485"/>
                  <a:pt x="5509435" y="990600"/>
                  <a:pt x="546735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7450" y="173355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89A7A"/>
          </a:solidFill>
        </p:spPr>
      </p:sp>
      <p:sp>
        <p:nvSpPr>
          <p:cNvPr id="13" name="Shape 11"/>
          <p:cNvSpPr/>
          <p:nvPr/>
        </p:nvSpPr>
        <p:spPr>
          <a:xfrm>
            <a:off x="6515100" y="19621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B89A7A"/>
          </a:solidFill>
        </p:spPr>
      </p:sp>
      <p:sp>
        <p:nvSpPr>
          <p:cNvPr id="14" name="Text 12"/>
          <p:cNvSpPr/>
          <p:nvPr/>
        </p:nvSpPr>
        <p:spPr>
          <a:xfrm>
            <a:off x="6457950" y="1962150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00900" y="196215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项目介绍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00900" y="2266950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AHL是什么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2952750"/>
            <a:ext cx="5543550" cy="990600"/>
          </a:xfrm>
          <a:custGeom>
            <a:avLst/>
            <a:gdLst/>
            <a:ahLst/>
            <a:cxnLst/>
            <a:rect l="l" t="t" r="r" b="b"/>
            <a:pathLst>
              <a:path w="5543550" h="990600">
                <a:moveTo>
                  <a:pt x="38100" y="0"/>
                </a:moveTo>
                <a:lnTo>
                  <a:pt x="5467353" y="0"/>
                </a:lnTo>
                <a:cubicBezTo>
                  <a:pt x="5509435" y="0"/>
                  <a:pt x="5543550" y="34115"/>
                  <a:pt x="5543550" y="76197"/>
                </a:cubicBezTo>
                <a:lnTo>
                  <a:pt x="5543550" y="914403"/>
                </a:lnTo>
                <a:cubicBezTo>
                  <a:pt x="5543550" y="956485"/>
                  <a:pt x="5509435" y="990600"/>
                  <a:pt x="546735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295275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19" name="Shape 17"/>
          <p:cNvSpPr/>
          <p:nvPr/>
        </p:nvSpPr>
        <p:spPr>
          <a:xfrm>
            <a:off x="647700" y="3181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20" name="Text 18"/>
          <p:cNvSpPr/>
          <p:nvPr/>
        </p:nvSpPr>
        <p:spPr>
          <a:xfrm>
            <a:off x="590550" y="3181350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" y="3181350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服务模式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" y="3486150"/>
            <a:ext cx="923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传统 vs 智能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7450" y="2952750"/>
            <a:ext cx="5543550" cy="990600"/>
          </a:xfrm>
          <a:custGeom>
            <a:avLst/>
            <a:gdLst/>
            <a:ahLst/>
            <a:cxnLst/>
            <a:rect l="l" t="t" r="r" b="b"/>
            <a:pathLst>
              <a:path w="5543550" h="990600">
                <a:moveTo>
                  <a:pt x="38100" y="0"/>
                </a:moveTo>
                <a:lnTo>
                  <a:pt x="5467353" y="0"/>
                </a:lnTo>
                <a:cubicBezTo>
                  <a:pt x="5509435" y="0"/>
                  <a:pt x="5543550" y="34115"/>
                  <a:pt x="5543550" y="76197"/>
                </a:cubicBezTo>
                <a:lnTo>
                  <a:pt x="5543550" y="914403"/>
                </a:lnTo>
                <a:cubicBezTo>
                  <a:pt x="5543550" y="956485"/>
                  <a:pt x="5509435" y="990600"/>
                  <a:pt x="546735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7450" y="295275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25" name="Shape 23"/>
          <p:cNvSpPr/>
          <p:nvPr/>
        </p:nvSpPr>
        <p:spPr>
          <a:xfrm>
            <a:off x="6515100" y="3181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26" name="Text 24"/>
          <p:cNvSpPr/>
          <p:nvPr/>
        </p:nvSpPr>
        <p:spPr>
          <a:xfrm>
            <a:off x="6457950" y="3181350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00900" y="3181350"/>
            <a:ext cx="1143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试点服务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00900" y="3486150"/>
            <a:ext cx="1123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五大AI能力模块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4171950"/>
            <a:ext cx="5543550" cy="990600"/>
          </a:xfrm>
          <a:custGeom>
            <a:avLst/>
            <a:gdLst/>
            <a:ahLst/>
            <a:cxnLst/>
            <a:rect l="l" t="t" r="r" b="b"/>
            <a:pathLst>
              <a:path w="5543550" h="990600">
                <a:moveTo>
                  <a:pt x="38100" y="0"/>
                </a:moveTo>
                <a:lnTo>
                  <a:pt x="5467353" y="0"/>
                </a:lnTo>
                <a:cubicBezTo>
                  <a:pt x="5509435" y="0"/>
                  <a:pt x="5543550" y="34115"/>
                  <a:pt x="5543550" y="76197"/>
                </a:cubicBezTo>
                <a:lnTo>
                  <a:pt x="5543550" y="914403"/>
                </a:lnTo>
                <a:cubicBezTo>
                  <a:pt x="5543550" y="956485"/>
                  <a:pt x="5509435" y="990600"/>
                  <a:pt x="546735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0050" y="417195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89A7A"/>
          </a:solidFill>
        </p:spPr>
      </p:sp>
      <p:sp>
        <p:nvSpPr>
          <p:cNvPr id="31" name="Shape 29"/>
          <p:cNvSpPr/>
          <p:nvPr/>
        </p:nvSpPr>
        <p:spPr>
          <a:xfrm>
            <a:off x="647700" y="44005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B89A7A"/>
          </a:solidFill>
        </p:spPr>
      </p:sp>
      <p:sp>
        <p:nvSpPr>
          <p:cNvPr id="32" name="Text 30"/>
          <p:cNvSpPr/>
          <p:nvPr/>
        </p:nvSpPr>
        <p:spPr>
          <a:xfrm>
            <a:off x="590550" y="4400550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33500" y="440055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合作方式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33500" y="4705350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零投入试点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67450" y="4171950"/>
            <a:ext cx="5543550" cy="990600"/>
          </a:xfrm>
          <a:custGeom>
            <a:avLst/>
            <a:gdLst/>
            <a:ahLst/>
            <a:cxnLst/>
            <a:rect l="l" t="t" r="r" b="b"/>
            <a:pathLst>
              <a:path w="5543550" h="990600">
                <a:moveTo>
                  <a:pt x="38100" y="0"/>
                </a:moveTo>
                <a:lnTo>
                  <a:pt x="5467353" y="0"/>
                </a:lnTo>
                <a:cubicBezTo>
                  <a:pt x="5509435" y="0"/>
                  <a:pt x="5543550" y="34115"/>
                  <a:pt x="5543550" y="76197"/>
                </a:cubicBezTo>
                <a:lnTo>
                  <a:pt x="5543550" y="914403"/>
                </a:lnTo>
                <a:cubicBezTo>
                  <a:pt x="5543550" y="956485"/>
                  <a:pt x="5509435" y="990600"/>
                  <a:pt x="546735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7450" y="417195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37" name="Shape 35"/>
          <p:cNvSpPr/>
          <p:nvPr/>
        </p:nvSpPr>
        <p:spPr>
          <a:xfrm>
            <a:off x="6515100" y="44005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38" name="Text 36"/>
          <p:cNvSpPr/>
          <p:nvPr/>
        </p:nvSpPr>
        <p:spPr>
          <a:xfrm>
            <a:off x="6457950" y="4400550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00900" y="4400550"/>
            <a:ext cx="1162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200900" y="470535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为什么选择我们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5391150"/>
            <a:ext cx="11410950" cy="990600"/>
          </a:xfrm>
          <a:custGeom>
            <a:avLst/>
            <a:gdLst/>
            <a:ahLst/>
            <a:cxnLst/>
            <a:rect l="l" t="t" r="r" b="b"/>
            <a:pathLst>
              <a:path w="11410950" h="990600">
                <a:moveTo>
                  <a:pt x="38100" y="0"/>
                </a:moveTo>
                <a:lnTo>
                  <a:pt x="11334753" y="0"/>
                </a:lnTo>
                <a:cubicBezTo>
                  <a:pt x="11376835" y="0"/>
                  <a:pt x="11410950" y="34115"/>
                  <a:pt x="11410950" y="76197"/>
                </a:cubicBezTo>
                <a:lnTo>
                  <a:pt x="11410950" y="914403"/>
                </a:lnTo>
                <a:cubicBezTo>
                  <a:pt x="11410950" y="956485"/>
                  <a:pt x="11376835" y="990600"/>
                  <a:pt x="1133475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00050" y="539115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43" name="Shape 41"/>
          <p:cNvSpPr/>
          <p:nvPr/>
        </p:nvSpPr>
        <p:spPr>
          <a:xfrm>
            <a:off x="647700" y="56197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44" name="Text 42"/>
          <p:cNvSpPr/>
          <p:nvPr/>
        </p:nvSpPr>
        <p:spPr>
          <a:xfrm>
            <a:off x="590550" y="5619750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333500" y="561975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合作流程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333500" y="5924550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如何开始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B89A7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INDUSTRY OPPORTUNITY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行业机会：酒店业正在发生什么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</p:spPr>
      </p:sp>
      <p:sp>
        <p:nvSpPr>
          <p:cNvPr id="5" name="Shape 3"/>
          <p:cNvSpPr/>
          <p:nvPr/>
        </p:nvSpPr>
        <p:spPr>
          <a:xfrm>
            <a:off x="381000" y="1466850"/>
            <a:ext cx="3657600" cy="2247900"/>
          </a:xfrm>
          <a:custGeom>
            <a:avLst/>
            <a:gdLst/>
            <a:ahLst/>
            <a:cxnLst/>
            <a:rect l="l" t="t" r="r" b="b"/>
            <a:pathLst>
              <a:path w="3657600" h="22479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2171696"/>
                </a:lnTo>
                <a:cubicBezTo>
                  <a:pt x="3657600" y="2213782"/>
                  <a:pt x="3623482" y="2247900"/>
                  <a:pt x="3581396" y="2247900"/>
                </a:cubicBezTo>
                <a:lnTo>
                  <a:pt x="76204" y="2247900"/>
                </a:lnTo>
                <a:cubicBezTo>
                  <a:pt x="34118" y="2247900"/>
                  <a:pt x="0" y="2213782"/>
                  <a:pt x="0" y="217169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466850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7" name="Shape 5"/>
          <p:cNvSpPr/>
          <p:nvPr/>
        </p:nvSpPr>
        <p:spPr>
          <a:xfrm>
            <a:off x="60960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A5A5B">
              <a:alpha val="1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54856" y="1847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71438" y="47625"/>
                </a:moveTo>
                <a:cubicBezTo>
                  <a:pt x="71438" y="27911"/>
                  <a:pt x="55432" y="11906"/>
                  <a:pt x="35719" y="11906"/>
                </a:cubicBezTo>
                <a:cubicBezTo>
                  <a:pt x="16005" y="11906"/>
                  <a:pt x="0" y="27911"/>
                  <a:pt x="0" y="47625"/>
                </a:cubicBezTo>
                <a:cubicBezTo>
                  <a:pt x="0" y="67339"/>
                  <a:pt x="16005" y="83344"/>
                  <a:pt x="35719" y="83344"/>
                </a:cubicBezTo>
                <a:cubicBezTo>
                  <a:pt x="55432" y="83344"/>
                  <a:pt x="71438" y="67339"/>
                  <a:pt x="71438" y="47625"/>
                </a:cubicBezTo>
                <a:close/>
                <a:moveTo>
                  <a:pt x="166688" y="142875"/>
                </a:moveTo>
                <a:cubicBezTo>
                  <a:pt x="166688" y="123161"/>
                  <a:pt x="150682" y="107156"/>
                  <a:pt x="130969" y="107156"/>
                </a:cubicBezTo>
                <a:cubicBezTo>
                  <a:pt x="111255" y="107156"/>
                  <a:pt x="95250" y="123161"/>
                  <a:pt x="95250" y="142875"/>
                </a:cubicBezTo>
                <a:cubicBezTo>
                  <a:pt x="95250" y="162589"/>
                  <a:pt x="111255" y="178594"/>
                  <a:pt x="130969" y="178594"/>
                </a:cubicBezTo>
                <a:cubicBezTo>
                  <a:pt x="150682" y="178594"/>
                  <a:pt x="166688" y="162589"/>
                  <a:pt x="166688" y="142875"/>
                </a:cubicBezTo>
                <a:close/>
                <a:moveTo>
                  <a:pt x="163190" y="32221"/>
                </a:moveTo>
                <a:cubicBezTo>
                  <a:pt x="167841" y="27570"/>
                  <a:pt x="167841" y="20017"/>
                  <a:pt x="163190" y="15367"/>
                </a:cubicBezTo>
                <a:cubicBezTo>
                  <a:pt x="158539" y="10716"/>
                  <a:pt x="150986" y="10716"/>
                  <a:pt x="146335" y="15367"/>
                </a:cubicBezTo>
                <a:lnTo>
                  <a:pt x="3460" y="158242"/>
                </a:lnTo>
                <a:cubicBezTo>
                  <a:pt x="-1191" y="162892"/>
                  <a:pt x="-1191" y="170445"/>
                  <a:pt x="3460" y="175096"/>
                </a:cubicBezTo>
                <a:cubicBezTo>
                  <a:pt x="8111" y="179747"/>
                  <a:pt x="15664" y="179747"/>
                  <a:pt x="20315" y="175096"/>
                </a:cubicBezTo>
                <a:lnTo>
                  <a:pt x="163190" y="32221"/>
                </a:lnTo>
                <a:close/>
              </a:path>
            </a:pathLst>
          </a:custGeom>
          <a:solidFill>
            <a:srgbClr val="2A5A5B"/>
          </a:solidFill>
        </p:spPr>
      </p:sp>
      <p:sp>
        <p:nvSpPr>
          <p:cNvPr id="9" name="Text 7"/>
          <p:cNvSpPr/>
          <p:nvPr/>
        </p:nvSpPr>
        <p:spPr>
          <a:xfrm>
            <a:off x="1181100" y="1809750"/>
            <a:ext cx="12573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OTA佣金压力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32410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8A252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10-15%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895600"/>
            <a:ext cx="32766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携程、美团的佣金比率通常在10%-15%之间，</a:t>
            </a:r>
            <a:r>
              <a:rPr lang="en-US" sz="1200" dirty="0">
                <a:solidFill>
                  <a:srgbClr val="2A5A5B"/>
                </a:solidFill>
                <a:highlight>
                  <a:srgbClr val="D8A252">
                    <a:alpha val="2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100元客房收入有10-15元交给平台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67200" y="1466850"/>
            <a:ext cx="3657600" cy="2247900"/>
          </a:xfrm>
          <a:custGeom>
            <a:avLst/>
            <a:gdLst/>
            <a:ahLst/>
            <a:cxnLst/>
            <a:rect l="l" t="t" r="r" b="b"/>
            <a:pathLst>
              <a:path w="3657600" h="22479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2171696"/>
                </a:lnTo>
                <a:cubicBezTo>
                  <a:pt x="3657600" y="2213782"/>
                  <a:pt x="3623482" y="2247900"/>
                  <a:pt x="3581396" y="2247900"/>
                </a:cubicBezTo>
                <a:lnTo>
                  <a:pt x="76204" y="2247900"/>
                </a:lnTo>
                <a:cubicBezTo>
                  <a:pt x="34118" y="2247900"/>
                  <a:pt x="0" y="2213782"/>
                  <a:pt x="0" y="217169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67200" y="1466850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89A7A"/>
          </a:solidFill>
        </p:spPr>
      </p:sp>
      <p:sp>
        <p:nvSpPr>
          <p:cNvPr id="14" name="Shape 12"/>
          <p:cNvSpPr/>
          <p:nvPr/>
        </p:nvSpPr>
        <p:spPr>
          <a:xfrm>
            <a:off x="449580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B89A7A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641056" y="1847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B89A7A"/>
          </a:solidFill>
        </p:spPr>
      </p:sp>
      <p:sp>
        <p:nvSpPr>
          <p:cNvPr id="16" name="Text 14"/>
          <p:cNvSpPr/>
          <p:nvPr/>
        </p:nvSpPr>
        <p:spPr>
          <a:xfrm>
            <a:off x="5067300" y="1809750"/>
            <a:ext cx="1238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数据不在手里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95800" y="2324100"/>
            <a:ext cx="3276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客人的数据在平台上，不在酒店手里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95800" y="2724150"/>
            <a:ext cx="3200400" cy="762000"/>
          </a:xfrm>
          <a:custGeom>
            <a:avLst/>
            <a:gdLst/>
            <a:ahLst/>
            <a:cxnLst/>
            <a:rect l="l" t="t" r="r" b="b"/>
            <a:pathLst>
              <a:path w="3200400" h="762000">
                <a:moveTo>
                  <a:pt x="76200" y="0"/>
                </a:moveTo>
                <a:lnTo>
                  <a:pt x="3124200" y="0"/>
                </a:lnTo>
                <a:cubicBezTo>
                  <a:pt x="3166256" y="0"/>
                  <a:pt x="3200400" y="34144"/>
                  <a:pt x="3200400" y="76200"/>
                </a:cubicBezTo>
                <a:lnTo>
                  <a:pt x="3200400" y="685800"/>
                </a:lnTo>
                <a:cubicBezTo>
                  <a:pt x="3200400" y="727856"/>
                  <a:pt x="3166256" y="762000"/>
                  <a:pt x="31242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9A7A">
              <a:alpha val="1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4667250" y="2905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20" name="Text 18"/>
          <p:cNvSpPr/>
          <p:nvPr/>
        </p:nvSpPr>
        <p:spPr>
          <a:xfrm>
            <a:off x="4895850" y="2876550"/>
            <a:ext cx="27241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酒店努力做口碑，但复购客人还是先去携程搜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53400" y="1466850"/>
            <a:ext cx="3657600" cy="2247900"/>
          </a:xfrm>
          <a:custGeom>
            <a:avLst/>
            <a:gdLst/>
            <a:ahLst/>
            <a:cxnLst/>
            <a:rect l="l" t="t" r="r" b="b"/>
            <a:pathLst>
              <a:path w="3657600" h="22479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2171696"/>
                </a:lnTo>
                <a:cubicBezTo>
                  <a:pt x="3657600" y="2213782"/>
                  <a:pt x="3623482" y="2247900"/>
                  <a:pt x="3581396" y="2247900"/>
                </a:cubicBezTo>
                <a:lnTo>
                  <a:pt x="76204" y="2247900"/>
                </a:lnTo>
                <a:cubicBezTo>
                  <a:pt x="34118" y="2247900"/>
                  <a:pt x="0" y="2213782"/>
                  <a:pt x="0" y="217169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53400" y="1466850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23" name="Shape 21"/>
          <p:cNvSpPr/>
          <p:nvPr/>
        </p:nvSpPr>
        <p:spPr>
          <a:xfrm>
            <a:off x="838200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8539163" y="18478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25" name="Text 23"/>
          <p:cNvSpPr/>
          <p:nvPr/>
        </p:nvSpPr>
        <p:spPr>
          <a:xfrm>
            <a:off x="8953500" y="1809750"/>
            <a:ext cx="1238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客人习惯变了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82000" y="2324100"/>
            <a:ext cx="3276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越来越少人愿意打电话订房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82000" y="2724150"/>
            <a:ext cx="3200400" cy="762000"/>
          </a:xfrm>
          <a:custGeom>
            <a:avLst/>
            <a:gdLst/>
            <a:ahLst/>
            <a:cxnLst/>
            <a:rect l="l" t="t" r="r" b="b"/>
            <a:pathLst>
              <a:path w="3200400" h="762000">
                <a:moveTo>
                  <a:pt x="76200" y="0"/>
                </a:moveTo>
                <a:lnTo>
                  <a:pt x="3124200" y="0"/>
                </a:lnTo>
                <a:cubicBezTo>
                  <a:pt x="3166256" y="0"/>
                  <a:pt x="3200400" y="34144"/>
                  <a:pt x="3200400" y="76200"/>
                </a:cubicBezTo>
                <a:lnTo>
                  <a:pt x="3200400" y="685800"/>
                </a:lnTo>
                <a:cubicBezTo>
                  <a:pt x="3200400" y="727856"/>
                  <a:pt x="3166256" y="762000"/>
                  <a:pt x="31242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8553450" y="2905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2A5A5B"/>
          </a:solidFill>
        </p:spPr>
      </p:sp>
      <p:sp>
        <p:nvSpPr>
          <p:cNvPr id="29" name="Text 27"/>
          <p:cNvSpPr/>
          <p:nvPr/>
        </p:nvSpPr>
        <p:spPr>
          <a:xfrm>
            <a:off x="8782050" y="2876550"/>
            <a:ext cx="27241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越来越多人希望在</a:t>
            </a:r>
            <a:r>
              <a:rPr lang="en-US" sz="1200" dirty="0">
                <a:solidFill>
                  <a:srgbClr val="2A5A5B"/>
                </a:solidFill>
                <a:highlight>
                  <a:srgbClr val="D8A252">
                    <a:alpha val="3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微信里直接完成预订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000" y="3943350"/>
            <a:ext cx="11430000" cy="1114425"/>
          </a:xfrm>
          <a:custGeom>
            <a:avLst/>
            <a:gdLst/>
            <a:ahLst/>
            <a:cxnLst/>
            <a:rect l="l" t="t" r="r" b="b"/>
            <a:pathLst>
              <a:path w="11430000" h="1114425">
                <a:moveTo>
                  <a:pt x="76204" y="0"/>
                </a:moveTo>
                <a:lnTo>
                  <a:pt x="11353796" y="0"/>
                </a:lnTo>
                <a:cubicBezTo>
                  <a:pt x="11395882" y="0"/>
                  <a:pt x="11430000" y="34118"/>
                  <a:pt x="11430000" y="76204"/>
                </a:cubicBezTo>
                <a:lnTo>
                  <a:pt x="11430000" y="1038221"/>
                </a:lnTo>
                <a:cubicBezTo>
                  <a:pt x="11430000" y="1080307"/>
                  <a:pt x="11395882" y="1114425"/>
                  <a:pt x="11353796" y="1114425"/>
                </a:cubicBezTo>
                <a:lnTo>
                  <a:pt x="76204" y="1114425"/>
                </a:lnTo>
                <a:cubicBezTo>
                  <a:pt x="34118" y="1114425"/>
                  <a:pt x="0" y="1080307"/>
                  <a:pt x="0" y="10382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31" name="Shape 29"/>
          <p:cNvSpPr/>
          <p:nvPr/>
        </p:nvSpPr>
        <p:spPr>
          <a:xfrm>
            <a:off x="609600" y="423505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32" name="Shape 30"/>
          <p:cNvSpPr/>
          <p:nvPr/>
        </p:nvSpPr>
        <p:spPr>
          <a:xfrm>
            <a:off x="790575" y="4387453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1295400" y="4171950"/>
            <a:ext cx="4743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这就是我们看到的机会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95400" y="4552950"/>
            <a:ext cx="471487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供需两端都在变，但大多数酒店的运营方式，</a:t>
            </a:r>
            <a:r>
              <a:rPr lang="en-US" sz="1350" b="1" dirty="0">
                <a:solidFill>
                  <a:srgbClr val="D8A25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还停留在五年前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617" y="368617"/>
            <a:ext cx="11528490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kern="0" spc="116" dirty="0">
                <a:solidFill>
                  <a:srgbClr val="B89A7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8617" y="663510"/>
            <a:ext cx="11620644" cy="3686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AHL是什么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8617" y="1142712"/>
            <a:ext cx="884680" cy="36862"/>
          </a:xfrm>
          <a:custGeom>
            <a:avLst/>
            <a:gdLst/>
            <a:ahLst/>
            <a:cxnLst/>
            <a:rect l="l" t="t" r="r" b="b"/>
            <a:pathLst>
              <a:path w="884680" h="36862">
                <a:moveTo>
                  <a:pt x="0" y="0"/>
                </a:moveTo>
                <a:lnTo>
                  <a:pt x="884680" y="0"/>
                </a:lnTo>
                <a:lnTo>
                  <a:pt x="884680" y="36862"/>
                </a:lnTo>
                <a:lnTo>
                  <a:pt x="0" y="36862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</p:spPr>
      </p:sp>
      <p:sp>
        <p:nvSpPr>
          <p:cNvPr id="5" name="Shape 3"/>
          <p:cNvSpPr/>
          <p:nvPr/>
        </p:nvSpPr>
        <p:spPr>
          <a:xfrm>
            <a:off x="368617" y="1327020"/>
            <a:ext cx="11454766" cy="921542"/>
          </a:xfrm>
          <a:custGeom>
            <a:avLst/>
            <a:gdLst/>
            <a:ahLst/>
            <a:cxnLst/>
            <a:rect l="l" t="t" r="r" b="b"/>
            <a:pathLst>
              <a:path w="11454766" h="921542">
                <a:moveTo>
                  <a:pt x="73723" y="0"/>
                </a:moveTo>
                <a:lnTo>
                  <a:pt x="11381043" y="0"/>
                </a:lnTo>
                <a:cubicBezTo>
                  <a:pt x="11421759" y="0"/>
                  <a:pt x="11454766" y="33007"/>
                  <a:pt x="11454766" y="73723"/>
                </a:cubicBezTo>
                <a:lnTo>
                  <a:pt x="11454766" y="847819"/>
                </a:lnTo>
                <a:cubicBezTo>
                  <a:pt x="11454766" y="888535"/>
                  <a:pt x="11421759" y="921542"/>
                  <a:pt x="11381043" y="921542"/>
                </a:cubicBezTo>
                <a:lnTo>
                  <a:pt x="73723" y="921542"/>
                </a:lnTo>
                <a:cubicBezTo>
                  <a:pt x="33007" y="921542"/>
                  <a:pt x="0" y="888535"/>
                  <a:pt x="0" y="847819"/>
                </a:cubicBezTo>
                <a:lnTo>
                  <a:pt x="0" y="73723"/>
                </a:lnTo>
                <a:cubicBezTo>
                  <a:pt x="0" y="33034"/>
                  <a:pt x="33034" y="0"/>
                  <a:pt x="73723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6" name="Shape 4"/>
          <p:cNvSpPr/>
          <p:nvPr/>
        </p:nvSpPr>
        <p:spPr>
          <a:xfrm>
            <a:off x="552925" y="1529760"/>
            <a:ext cx="516063" cy="516063"/>
          </a:xfrm>
          <a:custGeom>
            <a:avLst/>
            <a:gdLst/>
            <a:ahLst/>
            <a:cxnLst/>
            <a:rect l="l" t="t" r="r" b="b"/>
            <a:pathLst>
              <a:path w="516063" h="516063">
                <a:moveTo>
                  <a:pt x="258032" y="0"/>
                </a:moveTo>
                <a:lnTo>
                  <a:pt x="258032" y="0"/>
                </a:lnTo>
                <a:cubicBezTo>
                  <a:pt x="400443" y="0"/>
                  <a:pt x="516063" y="115620"/>
                  <a:pt x="516063" y="258032"/>
                </a:cubicBezTo>
                <a:lnTo>
                  <a:pt x="516063" y="258032"/>
                </a:lnTo>
                <a:cubicBezTo>
                  <a:pt x="516063" y="400443"/>
                  <a:pt x="400443" y="516063"/>
                  <a:pt x="258032" y="516063"/>
                </a:cubicBezTo>
                <a:lnTo>
                  <a:pt x="258032" y="516063"/>
                </a:lnTo>
                <a:cubicBezTo>
                  <a:pt x="115620" y="516063"/>
                  <a:pt x="0" y="400443"/>
                  <a:pt x="0" y="258032"/>
                </a:cubicBezTo>
                <a:lnTo>
                  <a:pt x="0" y="258032"/>
                </a:lnTo>
                <a:cubicBezTo>
                  <a:pt x="0" y="115620"/>
                  <a:pt x="115620" y="0"/>
                  <a:pt x="258032" y="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7" name="Shape 5"/>
          <p:cNvSpPr/>
          <p:nvPr/>
        </p:nvSpPr>
        <p:spPr>
          <a:xfrm>
            <a:off x="672726" y="1677206"/>
            <a:ext cx="276463" cy="221170"/>
          </a:xfrm>
          <a:custGeom>
            <a:avLst/>
            <a:gdLst/>
            <a:ahLst/>
            <a:cxnLst/>
            <a:rect l="l" t="t" r="r" b="b"/>
            <a:pathLst>
              <a:path w="276463" h="221170">
                <a:moveTo>
                  <a:pt x="152054" y="0"/>
                </a:moveTo>
                <a:cubicBezTo>
                  <a:pt x="152054" y="-7646"/>
                  <a:pt x="145877" y="-13823"/>
                  <a:pt x="138231" y="-13823"/>
                </a:cubicBezTo>
                <a:cubicBezTo>
                  <a:pt x="130585" y="-13823"/>
                  <a:pt x="124408" y="-7646"/>
                  <a:pt x="124408" y="0"/>
                </a:cubicBezTo>
                <a:lnTo>
                  <a:pt x="124408" y="27646"/>
                </a:lnTo>
                <a:lnTo>
                  <a:pt x="82939" y="27646"/>
                </a:lnTo>
                <a:cubicBezTo>
                  <a:pt x="60044" y="27646"/>
                  <a:pt x="41469" y="46221"/>
                  <a:pt x="41469" y="69116"/>
                </a:cubicBezTo>
                <a:lnTo>
                  <a:pt x="41469" y="165878"/>
                </a:lnTo>
                <a:cubicBezTo>
                  <a:pt x="41469" y="188772"/>
                  <a:pt x="60044" y="207347"/>
                  <a:pt x="82939" y="207347"/>
                </a:cubicBezTo>
                <a:lnTo>
                  <a:pt x="193524" y="207347"/>
                </a:lnTo>
                <a:cubicBezTo>
                  <a:pt x="216418" y="207347"/>
                  <a:pt x="234993" y="188772"/>
                  <a:pt x="234993" y="165878"/>
                </a:cubicBezTo>
                <a:lnTo>
                  <a:pt x="234993" y="69116"/>
                </a:lnTo>
                <a:cubicBezTo>
                  <a:pt x="234993" y="46221"/>
                  <a:pt x="216418" y="27646"/>
                  <a:pt x="193524" y="27646"/>
                </a:cubicBezTo>
                <a:lnTo>
                  <a:pt x="152054" y="27646"/>
                </a:lnTo>
                <a:lnTo>
                  <a:pt x="152054" y="0"/>
                </a:lnTo>
                <a:close/>
                <a:moveTo>
                  <a:pt x="69116" y="158966"/>
                </a:moveTo>
                <a:cubicBezTo>
                  <a:pt x="69116" y="153221"/>
                  <a:pt x="73738" y="148599"/>
                  <a:pt x="79483" y="148599"/>
                </a:cubicBezTo>
                <a:lnTo>
                  <a:pt x="93306" y="148599"/>
                </a:lnTo>
                <a:cubicBezTo>
                  <a:pt x="99051" y="148599"/>
                  <a:pt x="103673" y="153221"/>
                  <a:pt x="103673" y="158966"/>
                </a:cubicBezTo>
                <a:cubicBezTo>
                  <a:pt x="103673" y="164711"/>
                  <a:pt x="99051" y="169333"/>
                  <a:pt x="93306" y="169333"/>
                </a:cubicBezTo>
                <a:lnTo>
                  <a:pt x="79483" y="169333"/>
                </a:lnTo>
                <a:cubicBezTo>
                  <a:pt x="73738" y="169333"/>
                  <a:pt x="69116" y="164711"/>
                  <a:pt x="69116" y="158966"/>
                </a:cubicBezTo>
                <a:close/>
                <a:moveTo>
                  <a:pt x="120952" y="158966"/>
                </a:moveTo>
                <a:cubicBezTo>
                  <a:pt x="120952" y="153221"/>
                  <a:pt x="125574" y="148599"/>
                  <a:pt x="131320" y="148599"/>
                </a:cubicBezTo>
                <a:lnTo>
                  <a:pt x="145143" y="148599"/>
                </a:lnTo>
                <a:cubicBezTo>
                  <a:pt x="150888" y="148599"/>
                  <a:pt x="155510" y="153221"/>
                  <a:pt x="155510" y="158966"/>
                </a:cubicBezTo>
                <a:cubicBezTo>
                  <a:pt x="155510" y="164711"/>
                  <a:pt x="150888" y="169333"/>
                  <a:pt x="145143" y="169333"/>
                </a:cubicBezTo>
                <a:lnTo>
                  <a:pt x="131320" y="169333"/>
                </a:lnTo>
                <a:cubicBezTo>
                  <a:pt x="125574" y="169333"/>
                  <a:pt x="120952" y="164711"/>
                  <a:pt x="120952" y="158966"/>
                </a:cubicBezTo>
                <a:close/>
                <a:moveTo>
                  <a:pt x="172789" y="158966"/>
                </a:moveTo>
                <a:cubicBezTo>
                  <a:pt x="172789" y="153221"/>
                  <a:pt x="177411" y="148599"/>
                  <a:pt x="183156" y="148599"/>
                </a:cubicBezTo>
                <a:lnTo>
                  <a:pt x="196980" y="148599"/>
                </a:lnTo>
                <a:cubicBezTo>
                  <a:pt x="202725" y="148599"/>
                  <a:pt x="207347" y="153221"/>
                  <a:pt x="207347" y="158966"/>
                </a:cubicBezTo>
                <a:cubicBezTo>
                  <a:pt x="207347" y="164711"/>
                  <a:pt x="202725" y="169333"/>
                  <a:pt x="196980" y="169333"/>
                </a:cubicBezTo>
                <a:lnTo>
                  <a:pt x="183156" y="169333"/>
                </a:lnTo>
                <a:cubicBezTo>
                  <a:pt x="177411" y="169333"/>
                  <a:pt x="172789" y="164711"/>
                  <a:pt x="172789" y="158966"/>
                </a:cubicBezTo>
                <a:close/>
                <a:moveTo>
                  <a:pt x="96762" y="76027"/>
                </a:moveTo>
                <a:cubicBezTo>
                  <a:pt x="108206" y="76027"/>
                  <a:pt x="117497" y="85318"/>
                  <a:pt x="117497" y="96762"/>
                </a:cubicBezTo>
                <a:cubicBezTo>
                  <a:pt x="117497" y="108206"/>
                  <a:pt x="108206" y="117497"/>
                  <a:pt x="96762" y="117497"/>
                </a:cubicBezTo>
                <a:cubicBezTo>
                  <a:pt x="85318" y="117497"/>
                  <a:pt x="76027" y="108206"/>
                  <a:pt x="76027" y="96762"/>
                </a:cubicBezTo>
                <a:cubicBezTo>
                  <a:pt x="76027" y="85318"/>
                  <a:pt x="85318" y="76027"/>
                  <a:pt x="96762" y="76027"/>
                </a:cubicBezTo>
                <a:close/>
                <a:moveTo>
                  <a:pt x="158966" y="96762"/>
                </a:moveTo>
                <a:cubicBezTo>
                  <a:pt x="158966" y="85318"/>
                  <a:pt x="168257" y="76027"/>
                  <a:pt x="179701" y="76027"/>
                </a:cubicBezTo>
                <a:cubicBezTo>
                  <a:pt x="191144" y="76027"/>
                  <a:pt x="200435" y="85318"/>
                  <a:pt x="200435" y="96762"/>
                </a:cubicBezTo>
                <a:cubicBezTo>
                  <a:pt x="200435" y="108206"/>
                  <a:pt x="191144" y="117497"/>
                  <a:pt x="179701" y="117497"/>
                </a:cubicBezTo>
                <a:cubicBezTo>
                  <a:pt x="168257" y="117497"/>
                  <a:pt x="158966" y="108206"/>
                  <a:pt x="158966" y="96762"/>
                </a:cubicBezTo>
                <a:close/>
                <a:moveTo>
                  <a:pt x="27646" y="96762"/>
                </a:moveTo>
                <a:cubicBezTo>
                  <a:pt x="27646" y="89116"/>
                  <a:pt x="21469" y="82939"/>
                  <a:pt x="13823" y="82939"/>
                </a:cubicBezTo>
                <a:cubicBezTo>
                  <a:pt x="6177" y="82939"/>
                  <a:pt x="0" y="89116"/>
                  <a:pt x="0" y="96762"/>
                </a:cubicBezTo>
                <a:lnTo>
                  <a:pt x="0" y="138231"/>
                </a:lnTo>
                <a:cubicBezTo>
                  <a:pt x="0" y="145877"/>
                  <a:pt x="6177" y="152054"/>
                  <a:pt x="13823" y="152054"/>
                </a:cubicBezTo>
                <a:cubicBezTo>
                  <a:pt x="21469" y="152054"/>
                  <a:pt x="27646" y="145877"/>
                  <a:pt x="27646" y="138231"/>
                </a:cubicBezTo>
                <a:lnTo>
                  <a:pt x="27646" y="96762"/>
                </a:lnTo>
                <a:close/>
                <a:moveTo>
                  <a:pt x="262639" y="82939"/>
                </a:moveTo>
                <a:cubicBezTo>
                  <a:pt x="254994" y="82939"/>
                  <a:pt x="248816" y="89116"/>
                  <a:pt x="248816" y="96762"/>
                </a:cubicBezTo>
                <a:lnTo>
                  <a:pt x="248816" y="138231"/>
                </a:lnTo>
                <a:cubicBezTo>
                  <a:pt x="248816" y="145877"/>
                  <a:pt x="254994" y="152054"/>
                  <a:pt x="262639" y="152054"/>
                </a:cubicBezTo>
                <a:cubicBezTo>
                  <a:pt x="270285" y="152054"/>
                  <a:pt x="276463" y="145877"/>
                  <a:pt x="276463" y="138231"/>
                </a:cubicBezTo>
                <a:lnTo>
                  <a:pt x="276463" y="96762"/>
                </a:lnTo>
                <a:cubicBezTo>
                  <a:pt x="276463" y="89116"/>
                  <a:pt x="270285" y="82939"/>
                  <a:pt x="262639" y="8293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216435" y="1511329"/>
            <a:ext cx="4054785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 Hotel Language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6435" y="1769361"/>
            <a:ext cx="4091646" cy="2948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让每一家酒店，都拥有自己的AI运营团队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7048" y="2396009"/>
            <a:ext cx="5649052" cy="1363882"/>
          </a:xfrm>
          <a:custGeom>
            <a:avLst/>
            <a:gdLst/>
            <a:ahLst/>
            <a:cxnLst/>
            <a:rect l="l" t="t" r="r" b="b"/>
            <a:pathLst>
              <a:path w="5649052" h="1363882">
                <a:moveTo>
                  <a:pt x="36862" y="0"/>
                </a:moveTo>
                <a:lnTo>
                  <a:pt x="5575334" y="0"/>
                </a:lnTo>
                <a:cubicBezTo>
                  <a:pt x="5616048" y="0"/>
                  <a:pt x="5649052" y="33005"/>
                  <a:pt x="5649052" y="73718"/>
                </a:cubicBezTo>
                <a:lnTo>
                  <a:pt x="5649052" y="1290164"/>
                </a:lnTo>
                <a:cubicBezTo>
                  <a:pt x="5649052" y="1330877"/>
                  <a:pt x="5616048" y="1363882"/>
                  <a:pt x="5575334" y="1363882"/>
                </a:cubicBezTo>
                <a:lnTo>
                  <a:pt x="36862" y="1363882"/>
                </a:lnTo>
                <a:cubicBezTo>
                  <a:pt x="16504" y="1363882"/>
                  <a:pt x="0" y="1347379"/>
                  <a:pt x="0" y="1327020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5293" dist="3686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7048" y="2396009"/>
            <a:ext cx="36862" cy="1363882"/>
          </a:xfrm>
          <a:custGeom>
            <a:avLst/>
            <a:gdLst/>
            <a:ahLst/>
            <a:cxnLst/>
            <a:rect l="l" t="t" r="r" b="b"/>
            <a:pathLst>
              <a:path w="36862" h="1363882">
                <a:moveTo>
                  <a:pt x="36862" y="0"/>
                </a:moveTo>
                <a:lnTo>
                  <a:pt x="36862" y="0"/>
                </a:lnTo>
                <a:lnTo>
                  <a:pt x="36862" y="1363882"/>
                </a:lnTo>
                <a:lnTo>
                  <a:pt x="36862" y="1363882"/>
                </a:lnTo>
                <a:cubicBezTo>
                  <a:pt x="16504" y="1363882"/>
                  <a:pt x="0" y="1347379"/>
                  <a:pt x="0" y="1327020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12" name="Shape 10"/>
          <p:cNvSpPr/>
          <p:nvPr/>
        </p:nvSpPr>
        <p:spPr>
          <a:xfrm>
            <a:off x="552925" y="2543456"/>
            <a:ext cx="368617" cy="368617"/>
          </a:xfrm>
          <a:custGeom>
            <a:avLst/>
            <a:gdLst/>
            <a:ahLst/>
            <a:cxnLst/>
            <a:rect l="l" t="t" r="r" b="b"/>
            <a:pathLst>
              <a:path w="368617" h="368617">
                <a:moveTo>
                  <a:pt x="184308" y="0"/>
                </a:moveTo>
                <a:lnTo>
                  <a:pt x="184308" y="0"/>
                </a:lnTo>
                <a:cubicBezTo>
                  <a:pt x="286031" y="0"/>
                  <a:pt x="368617" y="82586"/>
                  <a:pt x="368617" y="184308"/>
                </a:cubicBezTo>
                <a:lnTo>
                  <a:pt x="368617" y="184308"/>
                </a:lnTo>
                <a:cubicBezTo>
                  <a:pt x="368617" y="286031"/>
                  <a:pt x="286031" y="368617"/>
                  <a:pt x="184308" y="368617"/>
                </a:cubicBezTo>
                <a:lnTo>
                  <a:pt x="184308" y="368617"/>
                </a:lnTo>
                <a:cubicBezTo>
                  <a:pt x="82586" y="368617"/>
                  <a:pt x="0" y="286031"/>
                  <a:pt x="0" y="184308"/>
                </a:cubicBezTo>
                <a:lnTo>
                  <a:pt x="0" y="184308"/>
                </a:lnTo>
                <a:cubicBezTo>
                  <a:pt x="0" y="82586"/>
                  <a:pt x="82586" y="0"/>
                  <a:pt x="184308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13" name="Text 11"/>
          <p:cNvSpPr/>
          <p:nvPr/>
        </p:nvSpPr>
        <p:spPr>
          <a:xfrm>
            <a:off x="511456" y="2543456"/>
            <a:ext cx="451556" cy="3686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5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32127" y="2543456"/>
            <a:ext cx="4939465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收益管理与自动调价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2127" y="2875211"/>
            <a:ext cx="4930249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解决：</a:t>
            </a:r>
            <a:r>
              <a:rPr lang="en-US" sz="116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定价靠经验、靠感觉，跟不上市场变化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32127" y="3170104"/>
            <a:ext cx="4930249" cy="442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带来：</a:t>
            </a:r>
            <a:r>
              <a:rPr lang="en-US" sz="116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AI实时分析竞品/需求/天气，自动给出调价建议，收益人员一键确认执行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68139" y="2396009"/>
            <a:ext cx="5649052" cy="1363882"/>
          </a:xfrm>
          <a:custGeom>
            <a:avLst/>
            <a:gdLst/>
            <a:ahLst/>
            <a:cxnLst/>
            <a:rect l="l" t="t" r="r" b="b"/>
            <a:pathLst>
              <a:path w="5649052" h="1363882">
                <a:moveTo>
                  <a:pt x="36862" y="0"/>
                </a:moveTo>
                <a:lnTo>
                  <a:pt x="5575334" y="0"/>
                </a:lnTo>
                <a:cubicBezTo>
                  <a:pt x="5616048" y="0"/>
                  <a:pt x="5649052" y="33005"/>
                  <a:pt x="5649052" y="73718"/>
                </a:cubicBezTo>
                <a:lnTo>
                  <a:pt x="5649052" y="1290164"/>
                </a:lnTo>
                <a:cubicBezTo>
                  <a:pt x="5649052" y="1330877"/>
                  <a:pt x="5616048" y="1363882"/>
                  <a:pt x="5575334" y="1363882"/>
                </a:cubicBezTo>
                <a:lnTo>
                  <a:pt x="36862" y="1363882"/>
                </a:lnTo>
                <a:cubicBezTo>
                  <a:pt x="16504" y="1363882"/>
                  <a:pt x="0" y="1347379"/>
                  <a:pt x="0" y="1327020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5293" dist="3686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8139" y="2396009"/>
            <a:ext cx="36862" cy="1363882"/>
          </a:xfrm>
          <a:custGeom>
            <a:avLst/>
            <a:gdLst/>
            <a:ahLst/>
            <a:cxnLst/>
            <a:rect l="l" t="t" r="r" b="b"/>
            <a:pathLst>
              <a:path w="36862" h="1363882">
                <a:moveTo>
                  <a:pt x="36862" y="0"/>
                </a:moveTo>
                <a:lnTo>
                  <a:pt x="36862" y="0"/>
                </a:lnTo>
                <a:lnTo>
                  <a:pt x="36862" y="1363882"/>
                </a:lnTo>
                <a:lnTo>
                  <a:pt x="36862" y="1363882"/>
                </a:lnTo>
                <a:cubicBezTo>
                  <a:pt x="16504" y="1363882"/>
                  <a:pt x="0" y="1347379"/>
                  <a:pt x="0" y="1327020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B89A7A"/>
          </a:solidFill>
        </p:spPr>
      </p:sp>
      <p:sp>
        <p:nvSpPr>
          <p:cNvPr id="19" name="Shape 17"/>
          <p:cNvSpPr/>
          <p:nvPr/>
        </p:nvSpPr>
        <p:spPr>
          <a:xfrm>
            <a:off x="6334017" y="2543456"/>
            <a:ext cx="368617" cy="368617"/>
          </a:xfrm>
          <a:custGeom>
            <a:avLst/>
            <a:gdLst/>
            <a:ahLst/>
            <a:cxnLst/>
            <a:rect l="l" t="t" r="r" b="b"/>
            <a:pathLst>
              <a:path w="368617" h="368617">
                <a:moveTo>
                  <a:pt x="184308" y="0"/>
                </a:moveTo>
                <a:lnTo>
                  <a:pt x="184308" y="0"/>
                </a:lnTo>
                <a:cubicBezTo>
                  <a:pt x="286031" y="0"/>
                  <a:pt x="368617" y="82586"/>
                  <a:pt x="368617" y="184308"/>
                </a:cubicBezTo>
                <a:lnTo>
                  <a:pt x="368617" y="184308"/>
                </a:lnTo>
                <a:cubicBezTo>
                  <a:pt x="368617" y="286031"/>
                  <a:pt x="286031" y="368617"/>
                  <a:pt x="184308" y="368617"/>
                </a:cubicBezTo>
                <a:lnTo>
                  <a:pt x="184308" y="368617"/>
                </a:lnTo>
                <a:cubicBezTo>
                  <a:pt x="82586" y="368617"/>
                  <a:pt x="0" y="286031"/>
                  <a:pt x="0" y="184308"/>
                </a:cubicBezTo>
                <a:lnTo>
                  <a:pt x="0" y="184308"/>
                </a:lnTo>
                <a:cubicBezTo>
                  <a:pt x="0" y="82586"/>
                  <a:pt x="82586" y="0"/>
                  <a:pt x="184308" y="0"/>
                </a:cubicBezTo>
                <a:close/>
              </a:path>
            </a:pathLst>
          </a:custGeom>
          <a:solidFill>
            <a:srgbClr val="B89A7A"/>
          </a:solidFill>
        </p:spPr>
      </p:sp>
      <p:sp>
        <p:nvSpPr>
          <p:cNvPr id="20" name="Text 18"/>
          <p:cNvSpPr/>
          <p:nvPr/>
        </p:nvSpPr>
        <p:spPr>
          <a:xfrm>
            <a:off x="6292548" y="2543456"/>
            <a:ext cx="451556" cy="3686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5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3219" y="2543456"/>
            <a:ext cx="4939465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OTA智能维护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3219" y="2875211"/>
            <a:ext cx="4930249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解决：</a:t>
            </a:r>
            <a:r>
              <a:rPr lang="en-US" sz="116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携程评分掉了还不知道、差评48h才发现、回复差评靠抄模板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3219" y="3170104"/>
            <a:ext cx="4930249" cy="442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带来：</a:t>
            </a:r>
            <a:r>
              <a:rPr lang="en-US" sz="116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差评30分钟内预警到手机，AI生成个性化回复建议，紧急差评立即电话通知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7048" y="3870476"/>
            <a:ext cx="5649052" cy="1363882"/>
          </a:xfrm>
          <a:custGeom>
            <a:avLst/>
            <a:gdLst/>
            <a:ahLst/>
            <a:cxnLst/>
            <a:rect l="l" t="t" r="r" b="b"/>
            <a:pathLst>
              <a:path w="5649052" h="1363882">
                <a:moveTo>
                  <a:pt x="36862" y="0"/>
                </a:moveTo>
                <a:lnTo>
                  <a:pt x="5575334" y="0"/>
                </a:lnTo>
                <a:cubicBezTo>
                  <a:pt x="5616048" y="0"/>
                  <a:pt x="5649052" y="33005"/>
                  <a:pt x="5649052" y="73718"/>
                </a:cubicBezTo>
                <a:lnTo>
                  <a:pt x="5649052" y="1290164"/>
                </a:lnTo>
                <a:cubicBezTo>
                  <a:pt x="5649052" y="1330877"/>
                  <a:pt x="5616048" y="1363882"/>
                  <a:pt x="5575334" y="1363882"/>
                </a:cubicBezTo>
                <a:lnTo>
                  <a:pt x="36862" y="1363882"/>
                </a:lnTo>
                <a:cubicBezTo>
                  <a:pt x="16504" y="1363882"/>
                  <a:pt x="0" y="1347379"/>
                  <a:pt x="0" y="1327020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5293" dist="3686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7048" y="3870476"/>
            <a:ext cx="36862" cy="1363882"/>
          </a:xfrm>
          <a:custGeom>
            <a:avLst/>
            <a:gdLst/>
            <a:ahLst/>
            <a:cxnLst/>
            <a:rect l="l" t="t" r="r" b="b"/>
            <a:pathLst>
              <a:path w="36862" h="1363882">
                <a:moveTo>
                  <a:pt x="36862" y="0"/>
                </a:moveTo>
                <a:lnTo>
                  <a:pt x="36862" y="0"/>
                </a:lnTo>
                <a:lnTo>
                  <a:pt x="36862" y="1363882"/>
                </a:lnTo>
                <a:lnTo>
                  <a:pt x="36862" y="1363882"/>
                </a:lnTo>
                <a:cubicBezTo>
                  <a:pt x="16504" y="1363882"/>
                  <a:pt x="0" y="1347379"/>
                  <a:pt x="0" y="1327020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26" name="Shape 24"/>
          <p:cNvSpPr/>
          <p:nvPr/>
        </p:nvSpPr>
        <p:spPr>
          <a:xfrm>
            <a:off x="552925" y="4017923"/>
            <a:ext cx="368617" cy="368617"/>
          </a:xfrm>
          <a:custGeom>
            <a:avLst/>
            <a:gdLst/>
            <a:ahLst/>
            <a:cxnLst/>
            <a:rect l="l" t="t" r="r" b="b"/>
            <a:pathLst>
              <a:path w="368617" h="368617">
                <a:moveTo>
                  <a:pt x="184308" y="0"/>
                </a:moveTo>
                <a:lnTo>
                  <a:pt x="184308" y="0"/>
                </a:lnTo>
                <a:cubicBezTo>
                  <a:pt x="286031" y="0"/>
                  <a:pt x="368617" y="82586"/>
                  <a:pt x="368617" y="184308"/>
                </a:cubicBezTo>
                <a:lnTo>
                  <a:pt x="368617" y="184308"/>
                </a:lnTo>
                <a:cubicBezTo>
                  <a:pt x="368617" y="286031"/>
                  <a:pt x="286031" y="368617"/>
                  <a:pt x="184308" y="368617"/>
                </a:cubicBezTo>
                <a:lnTo>
                  <a:pt x="184308" y="368617"/>
                </a:lnTo>
                <a:cubicBezTo>
                  <a:pt x="82586" y="368617"/>
                  <a:pt x="0" y="286031"/>
                  <a:pt x="0" y="184308"/>
                </a:cubicBezTo>
                <a:lnTo>
                  <a:pt x="0" y="184308"/>
                </a:lnTo>
                <a:cubicBezTo>
                  <a:pt x="0" y="82586"/>
                  <a:pt x="82586" y="0"/>
                  <a:pt x="184308" y="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27" name="Text 25"/>
          <p:cNvSpPr/>
          <p:nvPr/>
        </p:nvSpPr>
        <p:spPr>
          <a:xfrm>
            <a:off x="511456" y="4017923"/>
            <a:ext cx="451556" cy="3686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5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32127" y="4017923"/>
            <a:ext cx="4939465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私域运营自动化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32127" y="4349678"/>
            <a:ext cx="4930249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解决：</a:t>
            </a:r>
            <a:r>
              <a:rPr lang="en-US" sz="116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客人离店后就像"失联"一样，再也没来过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32127" y="4644571"/>
            <a:ext cx="4930249" cy="442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带来：</a:t>
            </a:r>
            <a:r>
              <a:rPr lang="en-US" sz="116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离店自动入微信社群，定时推送天气/活动/优惠，复购触达不用人工干预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68139" y="3870476"/>
            <a:ext cx="5649052" cy="1363882"/>
          </a:xfrm>
          <a:custGeom>
            <a:avLst/>
            <a:gdLst/>
            <a:ahLst/>
            <a:cxnLst/>
            <a:rect l="l" t="t" r="r" b="b"/>
            <a:pathLst>
              <a:path w="5649052" h="1363882">
                <a:moveTo>
                  <a:pt x="36862" y="0"/>
                </a:moveTo>
                <a:lnTo>
                  <a:pt x="5575334" y="0"/>
                </a:lnTo>
                <a:cubicBezTo>
                  <a:pt x="5616048" y="0"/>
                  <a:pt x="5649052" y="33005"/>
                  <a:pt x="5649052" y="73718"/>
                </a:cubicBezTo>
                <a:lnTo>
                  <a:pt x="5649052" y="1290164"/>
                </a:lnTo>
                <a:cubicBezTo>
                  <a:pt x="5649052" y="1330877"/>
                  <a:pt x="5616048" y="1363882"/>
                  <a:pt x="5575334" y="1363882"/>
                </a:cubicBezTo>
                <a:lnTo>
                  <a:pt x="36862" y="1363882"/>
                </a:lnTo>
                <a:cubicBezTo>
                  <a:pt x="16504" y="1363882"/>
                  <a:pt x="0" y="1347379"/>
                  <a:pt x="0" y="1327020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5293" dist="3686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68139" y="3870476"/>
            <a:ext cx="36862" cy="1363882"/>
          </a:xfrm>
          <a:custGeom>
            <a:avLst/>
            <a:gdLst/>
            <a:ahLst/>
            <a:cxnLst/>
            <a:rect l="l" t="t" r="r" b="b"/>
            <a:pathLst>
              <a:path w="36862" h="1363882">
                <a:moveTo>
                  <a:pt x="36862" y="0"/>
                </a:moveTo>
                <a:lnTo>
                  <a:pt x="36862" y="0"/>
                </a:lnTo>
                <a:lnTo>
                  <a:pt x="36862" y="1363882"/>
                </a:lnTo>
                <a:lnTo>
                  <a:pt x="36862" y="1363882"/>
                </a:lnTo>
                <a:cubicBezTo>
                  <a:pt x="16504" y="1363882"/>
                  <a:pt x="0" y="1347379"/>
                  <a:pt x="0" y="1327020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33" name="Shape 31"/>
          <p:cNvSpPr/>
          <p:nvPr/>
        </p:nvSpPr>
        <p:spPr>
          <a:xfrm>
            <a:off x="6334017" y="4017923"/>
            <a:ext cx="368617" cy="368617"/>
          </a:xfrm>
          <a:custGeom>
            <a:avLst/>
            <a:gdLst/>
            <a:ahLst/>
            <a:cxnLst/>
            <a:rect l="l" t="t" r="r" b="b"/>
            <a:pathLst>
              <a:path w="368617" h="368617">
                <a:moveTo>
                  <a:pt x="184308" y="0"/>
                </a:moveTo>
                <a:lnTo>
                  <a:pt x="184308" y="0"/>
                </a:lnTo>
                <a:cubicBezTo>
                  <a:pt x="286031" y="0"/>
                  <a:pt x="368617" y="82586"/>
                  <a:pt x="368617" y="184308"/>
                </a:cubicBezTo>
                <a:lnTo>
                  <a:pt x="368617" y="184308"/>
                </a:lnTo>
                <a:cubicBezTo>
                  <a:pt x="368617" y="286031"/>
                  <a:pt x="286031" y="368617"/>
                  <a:pt x="184308" y="368617"/>
                </a:cubicBezTo>
                <a:lnTo>
                  <a:pt x="184308" y="368617"/>
                </a:lnTo>
                <a:cubicBezTo>
                  <a:pt x="82586" y="368617"/>
                  <a:pt x="0" y="286031"/>
                  <a:pt x="0" y="184308"/>
                </a:cubicBezTo>
                <a:lnTo>
                  <a:pt x="0" y="184308"/>
                </a:lnTo>
                <a:cubicBezTo>
                  <a:pt x="0" y="82586"/>
                  <a:pt x="82586" y="0"/>
                  <a:pt x="184308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34" name="Text 32"/>
          <p:cNvSpPr/>
          <p:nvPr/>
        </p:nvSpPr>
        <p:spPr>
          <a:xfrm>
            <a:off x="6292548" y="4017923"/>
            <a:ext cx="451556" cy="3686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5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④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13219" y="4017923"/>
            <a:ext cx="4939465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C端：客人自然语言预订与服务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13219" y="4349678"/>
            <a:ext cx="4930249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解决：</a:t>
            </a:r>
            <a:r>
              <a:rPr lang="en-US" sz="116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客人还要打电话才能订房，问个问题要等前台回复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13219" y="4644571"/>
            <a:ext cx="4930249" cy="442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带来：</a:t>
            </a:r>
            <a:r>
              <a:rPr lang="en-US" sz="116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客人在微信里说"周六带孩子住江景600左右"，AI 30秒内推荐最合适的房型，协助完成预订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7048" y="5344943"/>
            <a:ext cx="11436336" cy="1142712"/>
          </a:xfrm>
          <a:custGeom>
            <a:avLst/>
            <a:gdLst/>
            <a:ahLst/>
            <a:cxnLst/>
            <a:rect l="l" t="t" r="r" b="b"/>
            <a:pathLst>
              <a:path w="11436336" h="1142712">
                <a:moveTo>
                  <a:pt x="36862" y="0"/>
                </a:moveTo>
                <a:lnTo>
                  <a:pt x="11362608" y="0"/>
                </a:lnTo>
                <a:cubicBezTo>
                  <a:pt x="11403327" y="0"/>
                  <a:pt x="11436336" y="33009"/>
                  <a:pt x="11436336" y="73728"/>
                </a:cubicBezTo>
                <a:lnTo>
                  <a:pt x="11436336" y="1068984"/>
                </a:lnTo>
                <a:cubicBezTo>
                  <a:pt x="11436336" y="1109703"/>
                  <a:pt x="11403327" y="1142712"/>
                  <a:pt x="11362608" y="1142712"/>
                </a:cubicBezTo>
                <a:lnTo>
                  <a:pt x="36862" y="1142712"/>
                </a:lnTo>
                <a:cubicBezTo>
                  <a:pt x="16504" y="1142712"/>
                  <a:pt x="0" y="1126208"/>
                  <a:pt x="0" y="1105850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5293" dist="3686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7048" y="5344943"/>
            <a:ext cx="36862" cy="1142712"/>
          </a:xfrm>
          <a:custGeom>
            <a:avLst/>
            <a:gdLst/>
            <a:ahLst/>
            <a:cxnLst/>
            <a:rect l="l" t="t" r="r" b="b"/>
            <a:pathLst>
              <a:path w="36862" h="1142712">
                <a:moveTo>
                  <a:pt x="36862" y="0"/>
                </a:moveTo>
                <a:lnTo>
                  <a:pt x="36862" y="0"/>
                </a:lnTo>
                <a:lnTo>
                  <a:pt x="36862" y="1142712"/>
                </a:lnTo>
                <a:lnTo>
                  <a:pt x="36862" y="1142712"/>
                </a:lnTo>
                <a:cubicBezTo>
                  <a:pt x="16504" y="1142712"/>
                  <a:pt x="0" y="1126208"/>
                  <a:pt x="0" y="1105850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B89A7A"/>
          </a:solidFill>
        </p:spPr>
      </p:sp>
      <p:sp>
        <p:nvSpPr>
          <p:cNvPr id="40" name="Shape 38"/>
          <p:cNvSpPr/>
          <p:nvPr/>
        </p:nvSpPr>
        <p:spPr>
          <a:xfrm>
            <a:off x="552925" y="5492390"/>
            <a:ext cx="368617" cy="368617"/>
          </a:xfrm>
          <a:custGeom>
            <a:avLst/>
            <a:gdLst/>
            <a:ahLst/>
            <a:cxnLst/>
            <a:rect l="l" t="t" r="r" b="b"/>
            <a:pathLst>
              <a:path w="368617" h="368617">
                <a:moveTo>
                  <a:pt x="184308" y="0"/>
                </a:moveTo>
                <a:lnTo>
                  <a:pt x="184308" y="0"/>
                </a:lnTo>
                <a:cubicBezTo>
                  <a:pt x="286031" y="0"/>
                  <a:pt x="368617" y="82586"/>
                  <a:pt x="368617" y="184308"/>
                </a:cubicBezTo>
                <a:lnTo>
                  <a:pt x="368617" y="184308"/>
                </a:lnTo>
                <a:cubicBezTo>
                  <a:pt x="368617" y="286031"/>
                  <a:pt x="286031" y="368617"/>
                  <a:pt x="184308" y="368617"/>
                </a:cubicBezTo>
                <a:lnTo>
                  <a:pt x="184308" y="368617"/>
                </a:lnTo>
                <a:cubicBezTo>
                  <a:pt x="82586" y="368617"/>
                  <a:pt x="0" y="286031"/>
                  <a:pt x="0" y="184308"/>
                </a:cubicBezTo>
                <a:lnTo>
                  <a:pt x="0" y="184308"/>
                </a:lnTo>
                <a:cubicBezTo>
                  <a:pt x="0" y="82586"/>
                  <a:pt x="82586" y="0"/>
                  <a:pt x="184308" y="0"/>
                </a:cubicBezTo>
                <a:close/>
              </a:path>
            </a:pathLst>
          </a:custGeom>
          <a:solidFill>
            <a:srgbClr val="B89A7A"/>
          </a:solidFill>
        </p:spPr>
      </p:sp>
      <p:sp>
        <p:nvSpPr>
          <p:cNvPr id="41" name="Text 39"/>
          <p:cNvSpPr/>
          <p:nvPr/>
        </p:nvSpPr>
        <p:spPr>
          <a:xfrm>
            <a:off x="511456" y="5492390"/>
            <a:ext cx="451556" cy="3686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5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⑤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32127" y="5492390"/>
            <a:ext cx="10726748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B端：酒店自然语言自动运营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32127" y="5824145"/>
            <a:ext cx="10717533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解决：</a:t>
            </a:r>
            <a:r>
              <a:rPr lang="en-US" sz="116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酒店要查数据/做报表/查竞品，得找IT或手工统计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32127" y="6119039"/>
            <a:ext cx="10717533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带来：</a:t>
            </a:r>
            <a:r>
              <a:rPr lang="en-US" sz="116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管理者问"本周入住率多少？""周边竞品价格有什么变化？"AI直接给出答案和解读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B89A7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SERVICE MODEL 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传统模式 vs AHL智能模式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</p:spPr>
      </p:sp>
      <p:sp>
        <p:nvSpPr>
          <p:cNvPr id="5" name="Shape 3"/>
          <p:cNvSpPr/>
          <p:nvPr/>
        </p:nvSpPr>
        <p:spPr>
          <a:xfrm>
            <a:off x="381000" y="1371600"/>
            <a:ext cx="11430000" cy="3276600"/>
          </a:xfrm>
          <a:custGeom>
            <a:avLst/>
            <a:gdLst/>
            <a:ahLst/>
            <a:cxnLst/>
            <a:rect l="l" t="t" r="r" b="b"/>
            <a:pathLst>
              <a:path w="11430000" h="3276600">
                <a:moveTo>
                  <a:pt x="76214" y="0"/>
                </a:moveTo>
                <a:lnTo>
                  <a:pt x="11353786" y="0"/>
                </a:lnTo>
                <a:cubicBezTo>
                  <a:pt x="11395878" y="0"/>
                  <a:pt x="11430000" y="34122"/>
                  <a:pt x="11430000" y="76214"/>
                </a:cubicBezTo>
                <a:lnTo>
                  <a:pt x="11430000" y="3200386"/>
                </a:lnTo>
                <a:cubicBezTo>
                  <a:pt x="11430000" y="3242478"/>
                  <a:pt x="11395878" y="3276600"/>
                  <a:pt x="11353786" y="3276600"/>
                </a:cubicBezTo>
                <a:lnTo>
                  <a:pt x="76214" y="3276600"/>
                </a:lnTo>
                <a:cubicBezTo>
                  <a:pt x="34122" y="3276600"/>
                  <a:pt x="0" y="3242478"/>
                  <a:pt x="0" y="3200386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81000" y="1371600"/>
          <a:ext cx="11430000" cy="3276600"/>
        </p:xfrm>
        <a:graphic>
          <a:graphicData uri="http://schemas.openxmlformats.org/drawingml/2006/table">
            <a:tbl>
              <a:tblPr/>
              <a:tblGrid>
                <a:gridCol w="5715000"/>
                <a:gridCol w="5715000"/>
              </a:tblGrid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传统模式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5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AHL智能模式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5A5B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携程一</a:t>
                      </a:r>
                      <a:r>
                        <a:rPr lang="zh-CN" altLang="en-US" sz="12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家</a:t>
                      </a:r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独大，佣金10-15%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直客通私域预订，降低OTA依赖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A5B">
                        <a:alpha val="5000"/>
                      </a:srgbClr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客人打电话问房型，前台一个个回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客人微信说需求，AI 30秒内接待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A5B">
                        <a:alpha val="5000"/>
                      </a:srgbClr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差评出现后48小时才发现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差评出现后30分钟内预警到店长手机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A5B">
                        <a:alpha val="5000"/>
                      </a:srgbClr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收益管理靠经验，拍脑袋定价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AI实时分析竞品数据，给出动态调价建议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8F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A5B">
                        <a:alpha val="5000"/>
                      </a:srgbClr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离店客人石沉大海，再也没有复购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离店自动入社群，持续触达激活复购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5A5B">
                        <a:alpha val="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00050" y="4800600"/>
            <a:ext cx="11410950" cy="533400"/>
          </a:xfrm>
          <a:custGeom>
            <a:avLst/>
            <a:gdLst/>
            <a:ahLst/>
            <a:cxnLst/>
            <a:rect l="l" t="t" r="r" b="b"/>
            <a:pathLst>
              <a:path w="11410950" h="533400">
                <a:moveTo>
                  <a:pt x="38100" y="0"/>
                </a:moveTo>
                <a:lnTo>
                  <a:pt x="11334748" y="0"/>
                </a:lnTo>
                <a:cubicBezTo>
                  <a:pt x="11376833" y="0"/>
                  <a:pt x="11410950" y="34117"/>
                  <a:pt x="11410950" y="76202"/>
                </a:cubicBezTo>
                <a:lnTo>
                  <a:pt x="11410950" y="457198"/>
                </a:lnTo>
                <a:cubicBezTo>
                  <a:pt x="11410950" y="499283"/>
                  <a:pt x="11376833" y="533400"/>
                  <a:pt x="1133474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400050" y="48006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9" name="Shape 6"/>
          <p:cNvSpPr/>
          <p:nvPr/>
        </p:nvSpPr>
        <p:spPr>
          <a:xfrm>
            <a:off x="590550" y="4981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10" name="Text 7"/>
          <p:cNvSpPr/>
          <p:nvPr/>
        </p:nvSpPr>
        <p:spPr>
          <a:xfrm>
            <a:off x="819150" y="4953000"/>
            <a:ext cx="10915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核心定位：</a:t>
            </a:r>
            <a:r>
              <a:rPr lang="en-US" sz="12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我们不是来"替换"酒店现有系统的，而是</a:t>
            </a:r>
            <a:r>
              <a:rPr lang="en-US" sz="1200" dirty="0">
                <a:solidFill>
                  <a:srgbClr val="2A5A5B"/>
                </a:solidFill>
                <a:highlight>
                  <a:srgbClr val="D8A252">
                    <a:alpha val="3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叠加在现有系统之上 </a:t>
            </a:r>
            <a:r>
              <a:rPr lang="en-US" sz="12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，用AI能力补齐酒店在数字化运营上的短板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B89A7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PILOT SERVICES (1/3)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试点服务（一）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B89A7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收益管理与OTA智能维护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</p:spPr>
      </p:sp>
      <p:sp>
        <p:nvSpPr>
          <p:cNvPr id="6" name="Shape 4"/>
          <p:cNvSpPr/>
          <p:nvPr/>
        </p:nvSpPr>
        <p:spPr>
          <a:xfrm>
            <a:off x="381000" y="1752600"/>
            <a:ext cx="5600700" cy="4171950"/>
          </a:xfrm>
          <a:custGeom>
            <a:avLst/>
            <a:gdLst/>
            <a:ahLst/>
            <a:cxnLst/>
            <a:rect l="l" t="t" r="r" b="b"/>
            <a:pathLst>
              <a:path w="5600700" h="4171950">
                <a:moveTo>
                  <a:pt x="76180" y="0"/>
                </a:moveTo>
                <a:lnTo>
                  <a:pt x="5524520" y="0"/>
                </a:lnTo>
                <a:cubicBezTo>
                  <a:pt x="5566593" y="0"/>
                  <a:pt x="5600700" y="34107"/>
                  <a:pt x="5600700" y="76180"/>
                </a:cubicBezTo>
                <a:lnTo>
                  <a:pt x="5600700" y="4095770"/>
                </a:lnTo>
                <a:cubicBezTo>
                  <a:pt x="5600700" y="4137843"/>
                  <a:pt x="5566593" y="4171950"/>
                  <a:pt x="5524520" y="4171950"/>
                </a:cubicBezTo>
                <a:lnTo>
                  <a:pt x="76180" y="4171950"/>
                </a:lnTo>
                <a:cubicBezTo>
                  <a:pt x="34107" y="4171950"/>
                  <a:pt x="0" y="4137843"/>
                  <a:pt x="0" y="4095770"/>
                </a:cubicBezTo>
                <a:lnTo>
                  <a:pt x="0" y="76180"/>
                </a:lnTo>
                <a:cubicBezTo>
                  <a:pt x="0" y="34135"/>
                  <a:pt x="34135" y="0"/>
                  <a:pt x="7618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9600" y="1981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8" name="Shape 6"/>
          <p:cNvSpPr/>
          <p:nvPr/>
        </p:nvSpPr>
        <p:spPr>
          <a:xfrm>
            <a:off x="742950" y="2114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1181100" y="2057400"/>
            <a:ext cx="2457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① 收益管理与自动调价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590800"/>
            <a:ext cx="5143500" cy="1143000"/>
          </a:xfrm>
          <a:custGeom>
            <a:avLst/>
            <a:gdLst/>
            <a:ahLst/>
            <a:cxnLst/>
            <a:rect l="l" t="t" r="r" b="b"/>
            <a:pathLst>
              <a:path w="5143500" h="1143000">
                <a:moveTo>
                  <a:pt x="76204" y="0"/>
                </a:moveTo>
                <a:lnTo>
                  <a:pt x="5067296" y="0"/>
                </a:lnTo>
                <a:cubicBezTo>
                  <a:pt x="5109382" y="0"/>
                  <a:pt x="5143500" y="34118"/>
                  <a:pt x="5143500" y="76204"/>
                </a:cubicBezTo>
                <a:lnTo>
                  <a:pt x="5143500" y="1066796"/>
                </a:lnTo>
                <a:cubicBezTo>
                  <a:pt x="5143500" y="1108882"/>
                  <a:pt x="5109382" y="1143000"/>
                  <a:pt x="5067296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2A5A5B">
              <a:alpha val="5098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764381" y="27908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17872" y="0"/>
                </a:moveTo>
                <a:cubicBezTo>
                  <a:pt x="117872" y="-5927"/>
                  <a:pt x="113083" y="-10716"/>
                  <a:pt x="107156" y="-10716"/>
                </a:cubicBezTo>
                <a:cubicBezTo>
                  <a:pt x="101229" y="-10716"/>
                  <a:pt x="96441" y="-5927"/>
                  <a:pt x="96441" y="0"/>
                </a:cubicBezTo>
                <a:lnTo>
                  <a:pt x="96441" y="21431"/>
                </a:lnTo>
                <a:lnTo>
                  <a:pt x="64294" y="21431"/>
                </a:lnTo>
                <a:cubicBezTo>
                  <a:pt x="46546" y="21431"/>
                  <a:pt x="32147" y="35830"/>
                  <a:pt x="32147" y="53578"/>
                </a:cubicBezTo>
                <a:lnTo>
                  <a:pt x="32147" y="128588"/>
                </a:lnTo>
                <a:cubicBezTo>
                  <a:pt x="32147" y="146335"/>
                  <a:pt x="46546" y="160734"/>
                  <a:pt x="64294" y="160734"/>
                </a:cubicBezTo>
                <a:lnTo>
                  <a:pt x="150019" y="160734"/>
                </a:lnTo>
                <a:cubicBezTo>
                  <a:pt x="167767" y="160734"/>
                  <a:pt x="182166" y="146335"/>
                  <a:pt x="182166" y="128588"/>
                </a:cubicBezTo>
                <a:lnTo>
                  <a:pt x="182166" y="53578"/>
                </a:lnTo>
                <a:cubicBezTo>
                  <a:pt x="182166" y="35830"/>
                  <a:pt x="167767" y="21431"/>
                  <a:pt x="150019" y="21431"/>
                </a:cubicBezTo>
                <a:lnTo>
                  <a:pt x="117872" y="21431"/>
                </a:lnTo>
                <a:lnTo>
                  <a:pt x="117872" y="0"/>
                </a:lnTo>
                <a:close/>
                <a:moveTo>
                  <a:pt x="53578" y="123230"/>
                </a:moveTo>
                <a:cubicBezTo>
                  <a:pt x="53578" y="118776"/>
                  <a:pt x="57161" y="115193"/>
                  <a:pt x="61615" y="115193"/>
                </a:cubicBezTo>
                <a:lnTo>
                  <a:pt x="72330" y="115193"/>
                </a:lnTo>
                <a:cubicBezTo>
                  <a:pt x="76784" y="115193"/>
                  <a:pt x="80367" y="118776"/>
                  <a:pt x="80367" y="123230"/>
                </a:cubicBezTo>
                <a:cubicBezTo>
                  <a:pt x="80367" y="127683"/>
                  <a:pt x="76784" y="131266"/>
                  <a:pt x="72330" y="131266"/>
                </a:cubicBezTo>
                <a:lnTo>
                  <a:pt x="61615" y="131266"/>
                </a:lnTo>
                <a:cubicBezTo>
                  <a:pt x="57161" y="131266"/>
                  <a:pt x="53578" y="127683"/>
                  <a:pt x="53578" y="123230"/>
                </a:cubicBezTo>
                <a:close/>
                <a:moveTo>
                  <a:pt x="93762" y="123230"/>
                </a:moveTo>
                <a:cubicBezTo>
                  <a:pt x="93762" y="118776"/>
                  <a:pt x="97345" y="115193"/>
                  <a:pt x="101798" y="115193"/>
                </a:cubicBezTo>
                <a:lnTo>
                  <a:pt x="112514" y="115193"/>
                </a:lnTo>
                <a:cubicBezTo>
                  <a:pt x="116968" y="115193"/>
                  <a:pt x="120551" y="118776"/>
                  <a:pt x="120551" y="123230"/>
                </a:cubicBezTo>
                <a:cubicBezTo>
                  <a:pt x="120551" y="127683"/>
                  <a:pt x="116968" y="131266"/>
                  <a:pt x="112514" y="131266"/>
                </a:cubicBezTo>
                <a:lnTo>
                  <a:pt x="101798" y="131266"/>
                </a:lnTo>
                <a:cubicBezTo>
                  <a:pt x="97345" y="131266"/>
                  <a:pt x="93762" y="127683"/>
                  <a:pt x="93762" y="123230"/>
                </a:cubicBezTo>
                <a:close/>
                <a:moveTo>
                  <a:pt x="133945" y="123230"/>
                </a:moveTo>
                <a:cubicBezTo>
                  <a:pt x="133945" y="118776"/>
                  <a:pt x="137528" y="115193"/>
                  <a:pt x="141982" y="115193"/>
                </a:cubicBezTo>
                <a:lnTo>
                  <a:pt x="152698" y="115193"/>
                </a:lnTo>
                <a:cubicBezTo>
                  <a:pt x="157151" y="115193"/>
                  <a:pt x="160734" y="118776"/>
                  <a:pt x="160734" y="123230"/>
                </a:cubicBezTo>
                <a:cubicBezTo>
                  <a:pt x="160734" y="127683"/>
                  <a:pt x="157151" y="131266"/>
                  <a:pt x="152698" y="131266"/>
                </a:cubicBezTo>
                <a:lnTo>
                  <a:pt x="141982" y="131266"/>
                </a:lnTo>
                <a:cubicBezTo>
                  <a:pt x="137528" y="131266"/>
                  <a:pt x="133945" y="127683"/>
                  <a:pt x="133945" y="123230"/>
                </a:cubicBezTo>
                <a:close/>
                <a:moveTo>
                  <a:pt x="75009" y="58936"/>
                </a:moveTo>
                <a:cubicBezTo>
                  <a:pt x="83881" y="58936"/>
                  <a:pt x="91083" y="66138"/>
                  <a:pt x="91083" y="75009"/>
                </a:cubicBezTo>
                <a:cubicBezTo>
                  <a:pt x="91083" y="83881"/>
                  <a:pt x="83881" y="91083"/>
                  <a:pt x="75009" y="91083"/>
                </a:cubicBezTo>
                <a:cubicBezTo>
                  <a:pt x="66138" y="91083"/>
                  <a:pt x="58936" y="83881"/>
                  <a:pt x="58936" y="75009"/>
                </a:cubicBezTo>
                <a:cubicBezTo>
                  <a:pt x="58936" y="66138"/>
                  <a:pt x="66138" y="58936"/>
                  <a:pt x="75009" y="58936"/>
                </a:cubicBezTo>
                <a:close/>
                <a:moveTo>
                  <a:pt x="123230" y="75009"/>
                </a:moveTo>
                <a:cubicBezTo>
                  <a:pt x="123230" y="66138"/>
                  <a:pt x="130432" y="58936"/>
                  <a:pt x="139303" y="58936"/>
                </a:cubicBezTo>
                <a:cubicBezTo>
                  <a:pt x="148174" y="58936"/>
                  <a:pt x="155377" y="66138"/>
                  <a:pt x="155377" y="75009"/>
                </a:cubicBezTo>
                <a:cubicBezTo>
                  <a:pt x="155377" y="83881"/>
                  <a:pt x="148174" y="91083"/>
                  <a:pt x="139303" y="91083"/>
                </a:cubicBezTo>
                <a:cubicBezTo>
                  <a:pt x="130432" y="91083"/>
                  <a:pt x="123230" y="83881"/>
                  <a:pt x="123230" y="75009"/>
                </a:cubicBezTo>
                <a:close/>
                <a:moveTo>
                  <a:pt x="21431" y="75009"/>
                </a:moveTo>
                <a:cubicBezTo>
                  <a:pt x="21431" y="69082"/>
                  <a:pt x="16643" y="64294"/>
                  <a:pt x="10716" y="64294"/>
                </a:cubicBezTo>
                <a:cubicBezTo>
                  <a:pt x="4789" y="64294"/>
                  <a:pt x="0" y="69082"/>
                  <a:pt x="0" y="75009"/>
                </a:cubicBezTo>
                <a:lnTo>
                  <a:pt x="0" y="107156"/>
                </a:lnTo>
                <a:cubicBezTo>
                  <a:pt x="0" y="113083"/>
                  <a:pt x="4789" y="117872"/>
                  <a:pt x="10716" y="117872"/>
                </a:cubicBezTo>
                <a:cubicBezTo>
                  <a:pt x="16643" y="117872"/>
                  <a:pt x="21431" y="113083"/>
                  <a:pt x="21431" y="107156"/>
                </a:cubicBezTo>
                <a:lnTo>
                  <a:pt x="21431" y="75009"/>
                </a:lnTo>
                <a:close/>
                <a:moveTo>
                  <a:pt x="203597" y="64294"/>
                </a:moveTo>
                <a:cubicBezTo>
                  <a:pt x="197670" y="64294"/>
                  <a:pt x="192881" y="69082"/>
                  <a:pt x="192881" y="75009"/>
                </a:cubicBezTo>
                <a:lnTo>
                  <a:pt x="192881" y="107156"/>
                </a:lnTo>
                <a:cubicBezTo>
                  <a:pt x="192881" y="113083"/>
                  <a:pt x="197670" y="117872"/>
                  <a:pt x="203597" y="117872"/>
                </a:cubicBezTo>
                <a:cubicBezTo>
                  <a:pt x="209524" y="117872"/>
                  <a:pt x="214313" y="113083"/>
                  <a:pt x="214313" y="107156"/>
                </a:cubicBezTo>
                <a:lnTo>
                  <a:pt x="214313" y="75009"/>
                </a:lnTo>
                <a:cubicBezTo>
                  <a:pt x="214313" y="69082"/>
                  <a:pt x="209524" y="64294"/>
                  <a:pt x="203597" y="64294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12" name="Text 10"/>
          <p:cNvSpPr/>
          <p:nvPr/>
        </p:nvSpPr>
        <p:spPr>
          <a:xfrm>
            <a:off x="981075" y="2743200"/>
            <a:ext cx="4705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AI收益管理系统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3086100"/>
            <a:ext cx="4914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实时监控携程、美团、飞猪等平台上</a:t>
            </a:r>
            <a:r>
              <a:rPr lang="en-US" sz="1200" dirty="0">
                <a:solidFill>
                  <a:srgbClr val="2A5A5B"/>
                </a:solidFill>
                <a:highlight>
                  <a:srgbClr val="D8A252">
                    <a:alpha val="2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竞品的价格、挂牌等级、评价变化 </a:t>
            </a: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，根据市场需求、天气、节假日前后，自动给出定价建议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" y="3886200"/>
            <a:ext cx="5143500" cy="895350"/>
          </a:xfrm>
          <a:custGeom>
            <a:avLst/>
            <a:gdLst/>
            <a:ahLst/>
            <a:cxnLst/>
            <a:rect l="l" t="t" r="r" b="b"/>
            <a:pathLst>
              <a:path w="5143500" h="895350">
                <a:moveTo>
                  <a:pt x="76203" y="0"/>
                </a:moveTo>
                <a:lnTo>
                  <a:pt x="5067297" y="0"/>
                </a:lnTo>
                <a:cubicBezTo>
                  <a:pt x="5109383" y="0"/>
                  <a:pt x="5143500" y="34117"/>
                  <a:pt x="5143500" y="76203"/>
                </a:cubicBezTo>
                <a:lnTo>
                  <a:pt x="5143500" y="819147"/>
                </a:lnTo>
                <a:cubicBezTo>
                  <a:pt x="5143500" y="861233"/>
                  <a:pt x="5109383" y="895350"/>
                  <a:pt x="5067297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96528" y="40862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0"/>
                </a:moveTo>
                <a:cubicBezTo>
                  <a:pt x="69082" y="0"/>
                  <a:pt x="64294" y="4789"/>
                  <a:pt x="64294" y="10716"/>
                </a:cubicBezTo>
                <a:lnTo>
                  <a:pt x="64294" y="11787"/>
                </a:lnTo>
                <a:cubicBezTo>
                  <a:pt x="39849" y="16743"/>
                  <a:pt x="21431" y="38375"/>
                  <a:pt x="21431" y="64294"/>
                </a:cubicBezTo>
                <a:lnTo>
                  <a:pt x="21431" y="71560"/>
                </a:lnTo>
                <a:cubicBezTo>
                  <a:pt x="21431" y="87667"/>
                  <a:pt x="15939" y="103305"/>
                  <a:pt x="5894" y="115896"/>
                </a:cubicBezTo>
                <a:lnTo>
                  <a:pt x="2612" y="119982"/>
                </a:lnTo>
                <a:cubicBezTo>
                  <a:pt x="904" y="122091"/>
                  <a:pt x="0" y="124703"/>
                  <a:pt x="0" y="127415"/>
                </a:cubicBezTo>
                <a:cubicBezTo>
                  <a:pt x="0" y="133979"/>
                  <a:pt x="5324" y="139303"/>
                  <a:pt x="11888" y="139303"/>
                </a:cubicBezTo>
                <a:lnTo>
                  <a:pt x="138098" y="139303"/>
                </a:lnTo>
                <a:cubicBezTo>
                  <a:pt x="144661" y="139303"/>
                  <a:pt x="149985" y="133979"/>
                  <a:pt x="149985" y="127415"/>
                </a:cubicBezTo>
                <a:cubicBezTo>
                  <a:pt x="149985" y="124703"/>
                  <a:pt x="149081" y="122091"/>
                  <a:pt x="147373" y="119982"/>
                </a:cubicBezTo>
                <a:lnTo>
                  <a:pt x="144092" y="115896"/>
                </a:lnTo>
                <a:cubicBezTo>
                  <a:pt x="134079" y="103305"/>
                  <a:pt x="128588" y="87667"/>
                  <a:pt x="128588" y="71560"/>
                </a:cubicBezTo>
                <a:lnTo>
                  <a:pt x="128588" y="64294"/>
                </a:lnTo>
                <a:cubicBezTo>
                  <a:pt x="128588" y="38375"/>
                  <a:pt x="110170" y="16743"/>
                  <a:pt x="85725" y="11787"/>
                </a:cubicBezTo>
                <a:lnTo>
                  <a:pt x="85725" y="10716"/>
                </a:lnTo>
                <a:cubicBezTo>
                  <a:pt x="85725" y="4789"/>
                  <a:pt x="80936" y="0"/>
                  <a:pt x="75009" y="0"/>
                </a:cubicBezTo>
                <a:close/>
                <a:moveTo>
                  <a:pt x="54248" y="155377"/>
                </a:moveTo>
                <a:cubicBezTo>
                  <a:pt x="56625" y="164619"/>
                  <a:pt x="65030" y="171450"/>
                  <a:pt x="75009" y="171450"/>
                </a:cubicBezTo>
                <a:cubicBezTo>
                  <a:pt x="84988" y="171450"/>
                  <a:pt x="93393" y="164619"/>
                  <a:pt x="95771" y="155377"/>
                </a:cubicBezTo>
                <a:lnTo>
                  <a:pt x="54248" y="155377"/>
                </a:lnTo>
                <a:close/>
              </a:path>
            </a:pathLst>
          </a:custGeom>
          <a:solidFill>
            <a:srgbClr val="D8A252"/>
          </a:solidFill>
        </p:spPr>
      </p:sp>
      <p:sp>
        <p:nvSpPr>
          <p:cNvPr id="16" name="Text 14"/>
          <p:cNvSpPr/>
          <p:nvPr/>
        </p:nvSpPr>
        <p:spPr>
          <a:xfrm>
            <a:off x="981075" y="4038600"/>
            <a:ext cx="4705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自动调价预警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4381500"/>
            <a:ext cx="49149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竞品价格发生显著变化时，</a:t>
            </a:r>
            <a:r>
              <a:rPr lang="en-US" sz="1200" b="1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自动推送预警</a:t>
            </a: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，建议调价幅度，一目了然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8650" y="4972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19" name="Text 17"/>
          <p:cNvSpPr/>
          <p:nvPr/>
        </p:nvSpPr>
        <p:spPr>
          <a:xfrm>
            <a:off x="876300" y="4933950"/>
            <a:ext cx="449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A5A5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酒店收益人员只需确认执行，不需要手工收集数据、不需要做表格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0300" y="1752600"/>
            <a:ext cx="5600700" cy="4171950"/>
          </a:xfrm>
          <a:custGeom>
            <a:avLst/>
            <a:gdLst/>
            <a:ahLst/>
            <a:cxnLst/>
            <a:rect l="l" t="t" r="r" b="b"/>
            <a:pathLst>
              <a:path w="5600700" h="4171950">
                <a:moveTo>
                  <a:pt x="76180" y="0"/>
                </a:moveTo>
                <a:lnTo>
                  <a:pt x="5524520" y="0"/>
                </a:lnTo>
                <a:cubicBezTo>
                  <a:pt x="5566593" y="0"/>
                  <a:pt x="5600700" y="34107"/>
                  <a:pt x="5600700" y="76180"/>
                </a:cubicBezTo>
                <a:lnTo>
                  <a:pt x="5600700" y="4095770"/>
                </a:lnTo>
                <a:cubicBezTo>
                  <a:pt x="5600700" y="4137843"/>
                  <a:pt x="5566593" y="4171950"/>
                  <a:pt x="5524520" y="4171950"/>
                </a:cubicBezTo>
                <a:lnTo>
                  <a:pt x="76180" y="4171950"/>
                </a:lnTo>
                <a:cubicBezTo>
                  <a:pt x="34107" y="4171950"/>
                  <a:pt x="0" y="4137843"/>
                  <a:pt x="0" y="4095770"/>
                </a:cubicBezTo>
                <a:lnTo>
                  <a:pt x="0" y="76180"/>
                </a:lnTo>
                <a:cubicBezTo>
                  <a:pt x="0" y="34135"/>
                  <a:pt x="34135" y="0"/>
                  <a:pt x="7618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38900" y="1981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B89A7A"/>
          </a:solidFill>
        </p:spPr>
      </p:sp>
      <p:sp>
        <p:nvSpPr>
          <p:cNvPr id="22" name="Shape 20"/>
          <p:cNvSpPr/>
          <p:nvPr/>
        </p:nvSpPr>
        <p:spPr>
          <a:xfrm>
            <a:off x="6560344" y="21145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7010400" y="2057400"/>
            <a:ext cx="1790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② OTA智能维护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38900" y="2590800"/>
            <a:ext cx="5143500" cy="1428750"/>
          </a:xfrm>
          <a:custGeom>
            <a:avLst/>
            <a:gdLst/>
            <a:ahLst/>
            <a:cxnLst/>
            <a:rect l="l" t="t" r="r" b="b"/>
            <a:pathLst>
              <a:path w="5143500" h="1428750">
                <a:moveTo>
                  <a:pt x="76195" y="0"/>
                </a:moveTo>
                <a:lnTo>
                  <a:pt x="5067305" y="0"/>
                </a:lnTo>
                <a:cubicBezTo>
                  <a:pt x="5109386" y="0"/>
                  <a:pt x="5143500" y="34114"/>
                  <a:pt x="5143500" y="76195"/>
                </a:cubicBezTo>
                <a:lnTo>
                  <a:pt x="5143500" y="1352555"/>
                </a:lnTo>
                <a:cubicBezTo>
                  <a:pt x="5143500" y="1394636"/>
                  <a:pt x="5109386" y="1428750"/>
                  <a:pt x="5067305" y="1428750"/>
                </a:cubicBezTo>
                <a:lnTo>
                  <a:pt x="76195" y="1428750"/>
                </a:lnTo>
                <a:cubicBezTo>
                  <a:pt x="34114" y="1428750"/>
                  <a:pt x="0" y="1394636"/>
                  <a:pt x="0" y="135255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B89A7A">
              <a:alpha val="5098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6615113" y="2790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26" name="Text 24"/>
          <p:cNvSpPr/>
          <p:nvPr/>
        </p:nvSpPr>
        <p:spPr>
          <a:xfrm>
            <a:off x="6810375" y="2743200"/>
            <a:ext cx="4705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差评实时监控与预警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91300" y="3086100"/>
            <a:ext cx="49149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携程、美团等平台出现差评后，</a:t>
            </a:r>
            <a:r>
              <a:rPr lang="en-US" sz="1200" dirty="0">
                <a:solidFill>
                  <a:srgbClr val="2A5A5B"/>
                </a:solidFill>
                <a:highlight>
                  <a:srgbClr val="D8A252">
                    <a:alpha val="3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30分钟内通过微信推送给店长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91300" y="3409950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AI自动分析问题原因（服务/设施/卫生/噪音），给出归因，生成差评回复建议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38900" y="4171950"/>
            <a:ext cx="5143500" cy="1143000"/>
          </a:xfrm>
          <a:custGeom>
            <a:avLst/>
            <a:gdLst/>
            <a:ahLst/>
            <a:cxnLst/>
            <a:rect l="l" t="t" r="r" b="b"/>
            <a:pathLst>
              <a:path w="5143500" h="1143000">
                <a:moveTo>
                  <a:pt x="76204" y="0"/>
                </a:moveTo>
                <a:lnTo>
                  <a:pt x="5067296" y="0"/>
                </a:lnTo>
                <a:cubicBezTo>
                  <a:pt x="5109382" y="0"/>
                  <a:pt x="5143500" y="34118"/>
                  <a:pt x="5143500" y="76204"/>
                </a:cubicBezTo>
                <a:lnTo>
                  <a:pt x="5143500" y="1066796"/>
                </a:lnTo>
                <a:cubicBezTo>
                  <a:pt x="5143500" y="1108882"/>
                  <a:pt x="5109382" y="1143000"/>
                  <a:pt x="5067296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6615113" y="4371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6789" y="53578"/>
                </a:moveTo>
                <a:cubicBezTo>
                  <a:pt x="32716" y="53578"/>
                  <a:pt x="37505" y="58367"/>
                  <a:pt x="37505" y="64294"/>
                </a:cubicBezTo>
                <a:lnTo>
                  <a:pt x="37505" y="150019"/>
                </a:lnTo>
                <a:cubicBezTo>
                  <a:pt x="37505" y="155946"/>
                  <a:pt x="32716" y="160734"/>
                  <a:pt x="26789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64294"/>
                </a:lnTo>
                <a:cubicBezTo>
                  <a:pt x="0" y="58367"/>
                  <a:pt x="4789" y="53578"/>
                  <a:pt x="10716" y="53578"/>
                </a:cubicBezTo>
                <a:lnTo>
                  <a:pt x="26789" y="53578"/>
                </a:lnTo>
                <a:close/>
                <a:moveTo>
                  <a:pt x="90614" y="5358"/>
                </a:moveTo>
                <a:cubicBezTo>
                  <a:pt x="99756" y="5358"/>
                  <a:pt x="107156" y="12758"/>
                  <a:pt x="107156" y="21900"/>
                </a:cubicBezTo>
                <a:lnTo>
                  <a:pt x="107156" y="23306"/>
                </a:lnTo>
                <a:cubicBezTo>
                  <a:pt x="107156" y="25584"/>
                  <a:pt x="106721" y="27861"/>
                  <a:pt x="105884" y="29970"/>
                </a:cubicBezTo>
                <a:lnTo>
                  <a:pt x="96441" y="53578"/>
                </a:lnTo>
                <a:lnTo>
                  <a:pt x="150019" y="53578"/>
                </a:lnTo>
                <a:cubicBezTo>
                  <a:pt x="158893" y="53578"/>
                  <a:pt x="166092" y="60778"/>
                  <a:pt x="166092" y="69652"/>
                </a:cubicBezTo>
                <a:cubicBezTo>
                  <a:pt x="166092" y="76248"/>
                  <a:pt x="162107" y="81908"/>
                  <a:pt x="156415" y="84386"/>
                </a:cubicBezTo>
                <a:cubicBezTo>
                  <a:pt x="162107" y="86864"/>
                  <a:pt x="166092" y="92523"/>
                  <a:pt x="166092" y="99120"/>
                </a:cubicBezTo>
                <a:cubicBezTo>
                  <a:pt x="166092" y="106955"/>
                  <a:pt x="160466" y="113485"/>
                  <a:pt x="153033" y="114892"/>
                </a:cubicBezTo>
                <a:cubicBezTo>
                  <a:pt x="154506" y="117336"/>
                  <a:pt x="155377" y="120182"/>
                  <a:pt x="155377" y="123230"/>
                </a:cubicBezTo>
                <a:cubicBezTo>
                  <a:pt x="155377" y="130664"/>
                  <a:pt x="150354" y="136892"/>
                  <a:pt x="143522" y="138734"/>
                </a:cubicBezTo>
                <a:cubicBezTo>
                  <a:pt x="144259" y="140576"/>
                  <a:pt x="144661" y="142585"/>
                  <a:pt x="144661" y="144661"/>
                </a:cubicBezTo>
                <a:cubicBezTo>
                  <a:pt x="144661" y="153535"/>
                  <a:pt x="137461" y="160734"/>
                  <a:pt x="128588" y="160734"/>
                </a:cubicBezTo>
                <a:lnTo>
                  <a:pt x="99153" y="160734"/>
                </a:lnTo>
                <a:cubicBezTo>
                  <a:pt x="86997" y="160734"/>
                  <a:pt x="75177" y="156582"/>
                  <a:pt x="65700" y="148981"/>
                </a:cubicBezTo>
                <a:lnTo>
                  <a:pt x="61615" y="145733"/>
                </a:lnTo>
                <a:cubicBezTo>
                  <a:pt x="56525" y="141681"/>
                  <a:pt x="53578" y="135519"/>
                  <a:pt x="53578" y="128989"/>
                </a:cubicBezTo>
                <a:lnTo>
                  <a:pt x="53578" y="66504"/>
                </a:lnTo>
                <a:cubicBezTo>
                  <a:pt x="53578" y="61514"/>
                  <a:pt x="54750" y="56592"/>
                  <a:pt x="56960" y="52138"/>
                </a:cubicBezTo>
                <a:lnTo>
                  <a:pt x="75780" y="14500"/>
                </a:lnTo>
                <a:cubicBezTo>
                  <a:pt x="78592" y="8907"/>
                  <a:pt x="84319" y="5358"/>
                  <a:pt x="90614" y="5358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31" name="Text 29"/>
          <p:cNvSpPr/>
          <p:nvPr/>
        </p:nvSpPr>
        <p:spPr>
          <a:xfrm>
            <a:off x="6810375" y="4324350"/>
            <a:ext cx="4705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好评引导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91300" y="4667250"/>
            <a:ext cx="4914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离店后自动推送点评邀请，配合小额优惠券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D8A25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转化率目标：点评邀请打开率 &gt; 40%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57950" y="5505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34" name="Text 32"/>
          <p:cNvSpPr/>
          <p:nvPr/>
        </p:nvSpPr>
        <p:spPr>
          <a:xfrm>
            <a:off x="6705600" y="5467350"/>
            <a:ext cx="3276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A5A5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监控挂牌指标达标情况，提前预警可能掉级风险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B89A7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PILOT SERVICES (2/3)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试点服务（二）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B89A7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私域运营与C端AI服务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</p:spPr>
      </p:sp>
      <p:sp>
        <p:nvSpPr>
          <p:cNvPr id="6" name="Shape 4"/>
          <p:cNvSpPr/>
          <p:nvPr/>
        </p:nvSpPr>
        <p:spPr>
          <a:xfrm>
            <a:off x="381000" y="1714500"/>
            <a:ext cx="5619750" cy="3962400"/>
          </a:xfrm>
          <a:custGeom>
            <a:avLst/>
            <a:gdLst/>
            <a:ahLst/>
            <a:cxnLst/>
            <a:rect l="l" t="t" r="r" b="b"/>
            <a:pathLst>
              <a:path w="5619750" h="3962400">
                <a:moveTo>
                  <a:pt x="76197" y="0"/>
                </a:moveTo>
                <a:lnTo>
                  <a:pt x="5543553" y="0"/>
                </a:lnTo>
                <a:cubicBezTo>
                  <a:pt x="5585635" y="0"/>
                  <a:pt x="5619750" y="34115"/>
                  <a:pt x="5619750" y="76197"/>
                </a:cubicBezTo>
                <a:lnTo>
                  <a:pt x="5619750" y="3886203"/>
                </a:lnTo>
                <a:cubicBezTo>
                  <a:pt x="5619750" y="3928285"/>
                  <a:pt x="5585635" y="3962400"/>
                  <a:pt x="5543553" y="3962400"/>
                </a:cubicBezTo>
                <a:lnTo>
                  <a:pt x="76197" y="3962400"/>
                </a:lnTo>
                <a:cubicBezTo>
                  <a:pt x="34115" y="3962400"/>
                  <a:pt x="0" y="3928285"/>
                  <a:pt x="0" y="3886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" y="190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8" name="Shape 6"/>
          <p:cNvSpPr/>
          <p:nvPr/>
        </p:nvSpPr>
        <p:spPr>
          <a:xfrm>
            <a:off x="681038" y="20383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1143000" y="2000250"/>
            <a:ext cx="1666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③ 私域运营自动化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0550" y="251460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2A5A5B"/>
          </a:solidFill>
        </p:spPr>
      </p:sp>
      <p:sp>
        <p:nvSpPr>
          <p:cNvPr id="11" name="Text 9"/>
          <p:cNvSpPr/>
          <p:nvPr/>
        </p:nvSpPr>
        <p:spPr>
          <a:xfrm>
            <a:off x="762000" y="2514600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离店客人微信社群沉淀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2781300"/>
            <a:ext cx="5124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客人离店后，</a:t>
            </a:r>
            <a:r>
              <a:rPr lang="en-US" sz="1200" b="1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自动引导加入酒店微信社群</a:t>
            </a: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。不需要前台手动操作，不需要客人主动留微信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0550" y="33528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B89A7A"/>
          </a:solidFill>
        </p:spPr>
      </p:sp>
      <p:sp>
        <p:nvSpPr>
          <p:cNvPr id="14" name="Text 12"/>
          <p:cNvSpPr/>
          <p:nvPr/>
        </p:nvSpPr>
        <p:spPr>
          <a:xfrm>
            <a:off x="762000" y="3352800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社群自动化运营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3619500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入住前一天：自动发送入住指南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3886200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离店当天：推送点评邀请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4152900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离店7天后：推送复购优惠唤醒沉睡客人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4419600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日常定时：推送天气预报、本地旅游信息、促销活动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0550" y="476250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</p:spPr>
      </p:sp>
      <p:sp>
        <p:nvSpPr>
          <p:cNvPr id="20" name="Text 18"/>
          <p:cNvSpPr/>
          <p:nvPr/>
        </p:nvSpPr>
        <p:spPr>
          <a:xfrm>
            <a:off x="762000" y="4762500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RFM会员分层运营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5029200"/>
            <a:ext cx="5124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根据入住频次、消费金额、互动行为，对会员进行分层（A/B/C/D），</a:t>
            </a:r>
            <a:r>
              <a:rPr lang="en-US" sz="1200" b="1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不同层级推送不同优惠策略</a:t>
            </a: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，提升复购率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1250" y="1714500"/>
            <a:ext cx="5619750" cy="3962400"/>
          </a:xfrm>
          <a:custGeom>
            <a:avLst/>
            <a:gdLst/>
            <a:ahLst/>
            <a:cxnLst/>
            <a:rect l="l" t="t" r="r" b="b"/>
            <a:pathLst>
              <a:path w="5619750" h="3962400">
                <a:moveTo>
                  <a:pt x="76197" y="0"/>
                </a:moveTo>
                <a:lnTo>
                  <a:pt x="5543553" y="0"/>
                </a:lnTo>
                <a:cubicBezTo>
                  <a:pt x="5585635" y="0"/>
                  <a:pt x="5619750" y="34115"/>
                  <a:pt x="5619750" y="76197"/>
                </a:cubicBezTo>
                <a:lnTo>
                  <a:pt x="5619750" y="3886203"/>
                </a:lnTo>
                <a:cubicBezTo>
                  <a:pt x="5619750" y="3928285"/>
                  <a:pt x="5585635" y="3962400"/>
                  <a:pt x="5543553" y="3962400"/>
                </a:cubicBezTo>
                <a:lnTo>
                  <a:pt x="76197" y="3962400"/>
                </a:lnTo>
                <a:cubicBezTo>
                  <a:pt x="34115" y="3962400"/>
                  <a:pt x="0" y="3928285"/>
                  <a:pt x="0" y="3886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81750" y="190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24" name="Shape 22"/>
          <p:cNvSpPr/>
          <p:nvPr/>
        </p:nvSpPr>
        <p:spPr>
          <a:xfrm>
            <a:off x="6503194" y="20383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5" name="Text 23"/>
          <p:cNvSpPr/>
          <p:nvPr/>
        </p:nvSpPr>
        <p:spPr>
          <a:xfrm>
            <a:off x="6953250" y="2000250"/>
            <a:ext cx="2943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④ C端：客人自然语言预订与服务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800" y="251460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2A5A5B"/>
          </a:solidFill>
        </p:spPr>
      </p:sp>
      <p:sp>
        <p:nvSpPr>
          <p:cNvPr id="27" name="Text 25"/>
          <p:cNvSpPr/>
          <p:nvPr/>
        </p:nvSpPr>
        <p:spPr>
          <a:xfrm>
            <a:off x="6572250" y="2514600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微信AI客服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72250" y="2781300"/>
            <a:ext cx="5124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客人通过微信问入住时间/能不能带宠物/有停车场吗——</a:t>
            </a:r>
            <a:r>
              <a:rPr lang="en-US" sz="1200" dirty="0">
                <a:solidFill>
                  <a:srgbClr val="2A5A5B"/>
                </a:solidFill>
                <a:highlight>
                  <a:srgbClr val="D8A252">
                    <a:alpha val="2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AI自动识别意图，秒级回复 </a:t>
            </a: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。不需要打电话，不需要等前台回复。需要转人工时，一键转接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0" y="33528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B89A7A"/>
          </a:solidFill>
        </p:spPr>
      </p:sp>
      <p:sp>
        <p:nvSpPr>
          <p:cNvPr id="30" name="Text 28"/>
          <p:cNvSpPr/>
          <p:nvPr/>
        </p:nvSpPr>
        <p:spPr>
          <a:xfrm>
            <a:off x="6572250" y="3352800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自然语言预订助手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72250" y="3619500"/>
            <a:ext cx="51244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客人说"周六一家三口想住江景房，预算600左右"——</a:t>
            </a:r>
            <a:r>
              <a:rPr lang="en-US" sz="1200" dirty="0">
                <a:solidFill>
                  <a:srgbClr val="2A5A5B"/>
                </a:solidFill>
                <a:highlight>
                  <a:srgbClr val="D8A252">
                    <a:alpha val="3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AI自动理解需求，查询可用房态，推荐最合适的TOP3方案 </a:t>
            </a: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，客人确认后协助完成预订（跳转小程序支付）。全程在微信里完成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0800" y="44196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</p:spPr>
      </p:sp>
      <p:sp>
        <p:nvSpPr>
          <p:cNvPr id="33" name="Text 31"/>
          <p:cNvSpPr/>
          <p:nvPr/>
        </p:nvSpPr>
        <p:spPr>
          <a:xfrm>
            <a:off x="6572250" y="4419600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入住前/后自动服务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72250" y="4686300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入住前一天：自动发送入住指南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72250" y="4953000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入住当天：推送房间号、Wi-Fi密码等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72250" y="5219700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离店后：自动推送点评邀请和复购优惠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B89A7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PILOT SERVICES (3/3)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试点服务（三）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B89A7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B端运营与酒店配合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</p:spPr>
      </p:sp>
      <p:sp>
        <p:nvSpPr>
          <p:cNvPr id="6" name="Shape 4"/>
          <p:cNvSpPr/>
          <p:nvPr/>
        </p:nvSpPr>
        <p:spPr>
          <a:xfrm>
            <a:off x="381000" y="1714500"/>
            <a:ext cx="5619750" cy="4076700"/>
          </a:xfrm>
          <a:custGeom>
            <a:avLst/>
            <a:gdLst/>
            <a:ahLst/>
            <a:cxnLst/>
            <a:rect l="l" t="t" r="r" b="b"/>
            <a:pathLst>
              <a:path w="5619750" h="4076700">
                <a:moveTo>
                  <a:pt x="76194" y="0"/>
                </a:moveTo>
                <a:lnTo>
                  <a:pt x="5543556" y="0"/>
                </a:lnTo>
                <a:cubicBezTo>
                  <a:pt x="5585637" y="0"/>
                  <a:pt x="5619750" y="34113"/>
                  <a:pt x="5619750" y="76194"/>
                </a:cubicBezTo>
                <a:lnTo>
                  <a:pt x="5619750" y="4000506"/>
                </a:lnTo>
                <a:cubicBezTo>
                  <a:pt x="5619750" y="4042587"/>
                  <a:pt x="5585637" y="4076700"/>
                  <a:pt x="5543556" y="4076700"/>
                </a:cubicBezTo>
                <a:lnTo>
                  <a:pt x="76194" y="4076700"/>
                </a:lnTo>
                <a:cubicBezTo>
                  <a:pt x="34113" y="4076700"/>
                  <a:pt x="0" y="4042587"/>
                  <a:pt x="0" y="4000506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" y="190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B89A7A"/>
          </a:solidFill>
        </p:spPr>
      </p:sp>
      <p:sp>
        <p:nvSpPr>
          <p:cNvPr id="8" name="Shape 6"/>
          <p:cNvSpPr/>
          <p:nvPr/>
        </p:nvSpPr>
        <p:spPr>
          <a:xfrm>
            <a:off x="681038" y="20383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1143000" y="2000250"/>
            <a:ext cx="29337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⑤ B端：管理者自然语言自动运营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514600"/>
            <a:ext cx="5238750" cy="952500"/>
          </a:xfrm>
          <a:custGeom>
            <a:avLst/>
            <a:gdLst/>
            <a:ahLst/>
            <a:cxnLst/>
            <a:rect l="l" t="t" r="r" b="b"/>
            <a:pathLst>
              <a:path w="5238750" h="952500">
                <a:moveTo>
                  <a:pt x="76200" y="0"/>
                </a:moveTo>
                <a:lnTo>
                  <a:pt x="5162550" y="0"/>
                </a:lnTo>
                <a:cubicBezTo>
                  <a:pt x="5204606" y="0"/>
                  <a:pt x="5238750" y="34144"/>
                  <a:pt x="5238750" y="76200"/>
                </a:cubicBezTo>
                <a:lnTo>
                  <a:pt x="5238750" y="876300"/>
                </a:lnTo>
                <a:cubicBezTo>
                  <a:pt x="5238750" y="918356"/>
                  <a:pt x="5204606" y="952500"/>
                  <a:pt x="516255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9A7A">
              <a:alpha val="5098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704850" y="2667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12" name="Text 10"/>
          <p:cNvSpPr/>
          <p:nvPr/>
        </p:nvSpPr>
        <p:spPr>
          <a:xfrm>
            <a:off x="876300" y="2628900"/>
            <a:ext cx="4895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运营数据查询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895600"/>
            <a:ext cx="50863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管理者问"本周入住率多少？""本月收益比上月多了还是少了？"</a:t>
            </a:r>
            <a:r>
              <a:rPr lang="en-US" sz="1200" dirty="0">
                <a:solidFill>
                  <a:srgbClr val="2A5A5B"/>
                </a:solidFill>
                <a:highlight>
                  <a:srgbClr val="D8A252">
                    <a:alpha val="2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AI直接给出答案 </a:t>
            </a: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，不需要找IT查报表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3581400"/>
            <a:ext cx="5238750" cy="952500"/>
          </a:xfrm>
          <a:custGeom>
            <a:avLst/>
            <a:gdLst/>
            <a:ahLst/>
            <a:cxnLst/>
            <a:rect l="l" t="t" r="r" b="b"/>
            <a:pathLst>
              <a:path w="5238750" h="952500">
                <a:moveTo>
                  <a:pt x="76200" y="0"/>
                </a:moveTo>
                <a:lnTo>
                  <a:pt x="5162550" y="0"/>
                </a:lnTo>
                <a:cubicBezTo>
                  <a:pt x="5204606" y="0"/>
                  <a:pt x="5238750" y="34144"/>
                  <a:pt x="5238750" y="76200"/>
                </a:cubicBezTo>
                <a:lnTo>
                  <a:pt x="5238750" y="876300"/>
                </a:lnTo>
                <a:cubicBezTo>
                  <a:pt x="5238750" y="918356"/>
                  <a:pt x="5204606" y="952500"/>
                  <a:pt x="516255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A5A5B">
              <a:alpha val="5098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04850" y="3733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16" name="Text 14"/>
          <p:cNvSpPr/>
          <p:nvPr/>
        </p:nvSpPr>
        <p:spPr>
          <a:xfrm>
            <a:off x="876300" y="3695700"/>
            <a:ext cx="4895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竞品动态追踪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3962400"/>
            <a:ext cx="50863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问"本周周边竞品价格有什么变化？"AI自动汇总携程、美团数据，</a:t>
            </a:r>
            <a:r>
              <a:rPr lang="en-US" sz="1200" b="1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生成竞品周报推送给管理者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" y="4648200"/>
            <a:ext cx="5238750" cy="952500"/>
          </a:xfrm>
          <a:custGeom>
            <a:avLst/>
            <a:gdLst/>
            <a:ahLst/>
            <a:cxnLst/>
            <a:rect l="l" t="t" r="r" b="b"/>
            <a:pathLst>
              <a:path w="5238750" h="952500">
                <a:moveTo>
                  <a:pt x="76200" y="0"/>
                </a:moveTo>
                <a:lnTo>
                  <a:pt x="5162550" y="0"/>
                </a:lnTo>
                <a:cubicBezTo>
                  <a:pt x="5204606" y="0"/>
                  <a:pt x="5238750" y="34144"/>
                  <a:pt x="5238750" y="76200"/>
                </a:cubicBezTo>
                <a:lnTo>
                  <a:pt x="5238750" y="876300"/>
                </a:lnTo>
                <a:cubicBezTo>
                  <a:pt x="5238750" y="918356"/>
                  <a:pt x="5204606" y="952500"/>
                  <a:pt x="516255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723900" y="48006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D8A252"/>
          </a:solidFill>
        </p:spPr>
      </p:sp>
      <p:sp>
        <p:nvSpPr>
          <p:cNvPr id="20" name="Text 18"/>
          <p:cNvSpPr/>
          <p:nvPr/>
        </p:nvSpPr>
        <p:spPr>
          <a:xfrm>
            <a:off x="876300" y="4762500"/>
            <a:ext cx="4895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自动生成月报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" y="5029200"/>
            <a:ext cx="50863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每月自动生成核心指标报告：入住率/RevPAR/好评率/差评原因分布/竞品对比。管理者对运营现状有清晰数据支撑，</a:t>
            </a:r>
            <a:r>
              <a:rPr lang="en-US" sz="1200" b="1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不需要手工做表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1250" y="1714500"/>
            <a:ext cx="5619750" cy="4076700"/>
          </a:xfrm>
          <a:custGeom>
            <a:avLst/>
            <a:gdLst/>
            <a:ahLst/>
            <a:cxnLst/>
            <a:rect l="l" t="t" r="r" b="b"/>
            <a:pathLst>
              <a:path w="5619750" h="4076700">
                <a:moveTo>
                  <a:pt x="76194" y="0"/>
                </a:moveTo>
                <a:lnTo>
                  <a:pt x="5543556" y="0"/>
                </a:lnTo>
                <a:cubicBezTo>
                  <a:pt x="5585637" y="0"/>
                  <a:pt x="5619750" y="34113"/>
                  <a:pt x="5619750" y="76194"/>
                </a:cubicBezTo>
                <a:lnTo>
                  <a:pt x="5619750" y="4000506"/>
                </a:lnTo>
                <a:cubicBezTo>
                  <a:pt x="5619750" y="4042587"/>
                  <a:pt x="5585637" y="4076700"/>
                  <a:pt x="5543556" y="4076700"/>
                </a:cubicBezTo>
                <a:lnTo>
                  <a:pt x="76194" y="4076700"/>
                </a:lnTo>
                <a:cubicBezTo>
                  <a:pt x="34113" y="4076700"/>
                  <a:pt x="0" y="4042587"/>
                  <a:pt x="0" y="4000506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81750" y="190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24" name="Shape 22"/>
          <p:cNvSpPr/>
          <p:nvPr/>
        </p:nvSpPr>
        <p:spPr>
          <a:xfrm>
            <a:off x="6503194" y="20383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5" name="Text 23"/>
          <p:cNvSpPr/>
          <p:nvPr/>
        </p:nvSpPr>
        <p:spPr>
          <a:xfrm>
            <a:off x="6953250" y="2000250"/>
            <a:ext cx="1428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酒店需要做什么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81750" y="2514600"/>
            <a:ext cx="5314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几乎没有额外工作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81750" y="2857500"/>
            <a:ext cx="5238750" cy="685800"/>
          </a:xfrm>
          <a:custGeom>
            <a:avLst/>
            <a:gdLst/>
            <a:ahLst/>
            <a:cxnLst/>
            <a:rect l="l" t="t" r="r" b="b"/>
            <a:pathLst>
              <a:path w="5238750" h="685800">
                <a:moveTo>
                  <a:pt x="76199" y="0"/>
                </a:moveTo>
                <a:lnTo>
                  <a:pt x="5162551" y="0"/>
                </a:lnTo>
                <a:cubicBezTo>
                  <a:pt x="5204634" y="0"/>
                  <a:pt x="5238750" y="34116"/>
                  <a:pt x="5238750" y="76199"/>
                </a:cubicBezTo>
                <a:lnTo>
                  <a:pt x="5238750" y="609601"/>
                </a:lnTo>
                <a:cubicBezTo>
                  <a:pt x="5238750" y="651684"/>
                  <a:pt x="5204634" y="685800"/>
                  <a:pt x="51625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A5A5B">
              <a:alpha val="5098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6496050" y="297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29" name="Text 27"/>
          <p:cNvSpPr/>
          <p:nvPr/>
        </p:nvSpPr>
        <p:spPr>
          <a:xfrm>
            <a:off x="6462713" y="2971800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15150" y="2986088"/>
            <a:ext cx="1143000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确认一名对接人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15150" y="320040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运营或前厅负责人，日常沟通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81750" y="3619500"/>
            <a:ext cx="5238750" cy="685800"/>
          </a:xfrm>
          <a:custGeom>
            <a:avLst/>
            <a:gdLst/>
            <a:ahLst/>
            <a:cxnLst/>
            <a:rect l="l" t="t" r="r" b="b"/>
            <a:pathLst>
              <a:path w="5238750" h="685800">
                <a:moveTo>
                  <a:pt x="76199" y="0"/>
                </a:moveTo>
                <a:lnTo>
                  <a:pt x="5162551" y="0"/>
                </a:lnTo>
                <a:cubicBezTo>
                  <a:pt x="5204634" y="0"/>
                  <a:pt x="5238750" y="34116"/>
                  <a:pt x="5238750" y="76199"/>
                </a:cubicBezTo>
                <a:lnTo>
                  <a:pt x="5238750" y="609601"/>
                </a:lnTo>
                <a:cubicBezTo>
                  <a:pt x="5238750" y="651684"/>
                  <a:pt x="5204634" y="685800"/>
                  <a:pt x="51625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B89A7A">
              <a:alpha val="5098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6496050" y="3733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B89A7A"/>
          </a:solidFill>
        </p:spPr>
      </p:sp>
      <p:sp>
        <p:nvSpPr>
          <p:cNvPr id="34" name="Text 32"/>
          <p:cNvSpPr/>
          <p:nvPr/>
        </p:nvSpPr>
        <p:spPr>
          <a:xfrm>
            <a:off x="6462713" y="3733800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15150" y="3748087"/>
            <a:ext cx="990600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提供基础资料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15150" y="3962400"/>
            <a:ext cx="2085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房型/价格/设施资料，约1小时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81750" y="4381500"/>
            <a:ext cx="5238750" cy="685800"/>
          </a:xfrm>
          <a:custGeom>
            <a:avLst/>
            <a:gdLst/>
            <a:ahLst/>
            <a:cxnLst/>
            <a:rect l="l" t="t" r="r" b="b"/>
            <a:pathLst>
              <a:path w="5238750" h="685800">
                <a:moveTo>
                  <a:pt x="76199" y="0"/>
                </a:moveTo>
                <a:lnTo>
                  <a:pt x="5162551" y="0"/>
                </a:lnTo>
                <a:cubicBezTo>
                  <a:pt x="5204634" y="0"/>
                  <a:pt x="5238750" y="34116"/>
                  <a:pt x="5238750" y="76199"/>
                </a:cubicBezTo>
                <a:lnTo>
                  <a:pt x="5238750" y="609601"/>
                </a:lnTo>
                <a:cubicBezTo>
                  <a:pt x="5238750" y="651684"/>
                  <a:pt x="5204634" y="685800"/>
                  <a:pt x="51625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6496050" y="4495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39" name="Text 37"/>
          <p:cNvSpPr/>
          <p:nvPr/>
        </p:nvSpPr>
        <p:spPr>
          <a:xfrm>
            <a:off x="6462713" y="4495800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15150" y="4510088"/>
            <a:ext cx="1143000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试运行期间反馈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15150" y="47244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使用体验反馈，按需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1000" y="5943600"/>
            <a:ext cx="11430000" cy="533400"/>
          </a:xfrm>
          <a:custGeom>
            <a:avLst/>
            <a:gdLst/>
            <a:ahLst/>
            <a:cxnLst/>
            <a:rect l="l" t="t" r="r" b="b"/>
            <a:pathLst>
              <a:path w="11430000" h="533400">
                <a:moveTo>
                  <a:pt x="76202" y="0"/>
                </a:moveTo>
                <a:lnTo>
                  <a:pt x="11353798" y="0"/>
                </a:lnTo>
                <a:cubicBezTo>
                  <a:pt x="11395883" y="0"/>
                  <a:pt x="11430000" y="34117"/>
                  <a:pt x="11430000" y="76202"/>
                </a:cubicBezTo>
                <a:lnTo>
                  <a:pt x="11430000" y="457198"/>
                </a:lnTo>
                <a:cubicBezTo>
                  <a:pt x="11430000" y="499283"/>
                  <a:pt x="11395883" y="533400"/>
                  <a:pt x="113537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43" name="Shape 41"/>
          <p:cNvSpPr/>
          <p:nvPr/>
        </p:nvSpPr>
        <p:spPr>
          <a:xfrm>
            <a:off x="561975" y="6096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44" name="Text 42"/>
          <p:cNvSpPr/>
          <p:nvPr/>
        </p:nvSpPr>
        <p:spPr>
          <a:xfrm>
            <a:off x="933450" y="6096000"/>
            <a:ext cx="4962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不需要：</a:t>
            </a:r>
            <a:r>
              <a:rPr 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更换PMS系统 / 停用现有OTA渠道 / 购买硬件设备 / 一次性付费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116" y="352116"/>
            <a:ext cx="11558192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b="1" kern="0" spc="111" dirty="0">
                <a:solidFill>
                  <a:srgbClr val="B89A7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COOPERATION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2116" y="633808"/>
            <a:ext cx="11646221" cy="3521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5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试点后合作方式与选择理由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2116" y="1091558"/>
            <a:ext cx="845077" cy="35212"/>
          </a:xfrm>
          <a:custGeom>
            <a:avLst/>
            <a:gdLst/>
            <a:ahLst/>
            <a:cxnLst/>
            <a:rect l="l" t="t" r="r" b="b"/>
            <a:pathLst>
              <a:path w="845077" h="35212">
                <a:moveTo>
                  <a:pt x="0" y="0"/>
                </a:moveTo>
                <a:lnTo>
                  <a:pt x="845077" y="0"/>
                </a:lnTo>
                <a:lnTo>
                  <a:pt x="845077" y="35212"/>
                </a:lnTo>
                <a:lnTo>
                  <a:pt x="0" y="35212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</p:spPr>
      </p:sp>
      <p:sp>
        <p:nvSpPr>
          <p:cNvPr id="5" name="Text 3"/>
          <p:cNvSpPr/>
          <p:nvPr/>
        </p:nvSpPr>
        <p:spPr>
          <a:xfrm>
            <a:off x="352116" y="1267616"/>
            <a:ext cx="11593404" cy="2816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5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试点结束后的合作方式（双方自愿）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2116" y="1672549"/>
            <a:ext cx="3732425" cy="2279948"/>
          </a:xfrm>
          <a:custGeom>
            <a:avLst/>
            <a:gdLst/>
            <a:ahLst/>
            <a:cxnLst/>
            <a:rect l="l" t="t" r="r" b="b"/>
            <a:pathLst>
              <a:path w="3732425" h="2279948">
                <a:moveTo>
                  <a:pt x="35212" y="0"/>
                </a:moveTo>
                <a:lnTo>
                  <a:pt x="3697213" y="0"/>
                </a:lnTo>
                <a:cubicBezTo>
                  <a:pt x="3716660" y="0"/>
                  <a:pt x="3732425" y="15765"/>
                  <a:pt x="3732425" y="35212"/>
                </a:cubicBezTo>
                <a:lnTo>
                  <a:pt x="3732425" y="2209520"/>
                </a:lnTo>
                <a:cubicBezTo>
                  <a:pt x="3732425" y="2248417"/>
                  <a:pt x="3700893" y="2279948"/>
                  <a:pt x="3661997" y="2279948"/>
                </a:cubicBezTo>
                <a:lnTo>
                  <a:pt x="70428" y="2279948"/>
                </a:lnTo>
                <a:cubicBezTo>
                  <a:pt x="31532" y="2279948"/>
                  <a:pt x="0" y="2248417"/>
                  <a:pt x="0" y="2209520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2817" dist="3521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2116" y="1672549"/>
            <a:ext cx="3732425" cy="35212"/>
          </a:xfrm>
          <a:custGeom>
            <a:avLst/>
            <a:gdLst/>
            <a:ahLst/>
            <a:cxnLst/>
            <a:rect l="l" t="t" r="r" b="b"/>
            <a:pathLst>
              <a:path w="3732425" h="35212">
                <a:moveTo>
                  <a:pt x="35212" y="0"/>
                </a:moveTo>
                <a:lnTo>
                  <a:pt x="3697213" y="0"/>
                </a:lnTo>
                <a:cubicBezTo>
                  <a:pt x="3716660" y="0"/>
                  <a:pt x="3732425" y="15765"/>
                  <a:pt x="3732425" y="35212"/>
                </a:cubicBezTo>
                <a:lnTo>
                  <a:pt x="3732425" y="35212"/>
                </a:lnTo>
                <a:lnTo>
                  <a:pt x="0" y="35212"/>
                </a:ln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8" name="Shape 6"/>
          <p:cNvSpPr/>
          <p:nvPr/>
        </p:nvSpPr>
        <p:spPr>
          <a:xfrm>
            <a:off x="492962" y="1831001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176058" y="0"/>
                </a:moveTo>
                <a:lnTo>
                  <a:pt x="176058" y="0"/>
                </a:lnTo>
                <a:cubicBezTo>
                  <a:pt x="273292" y="0"/>
                  <a:pt x="352116" y="78824"/>
                  <a:pt x="352116" y="176058"/>
                </a:cubicBezTo>
                <a:lnTo>
                  <a:pt x="352116" y="176058"/>
                </a:lnTo>
                <a:cubicBezTo>
                  <a:pt x="352116" y="273292"/>
                  <a:pt x="273292" y="352116"/>
                  <a:pt x="176058" y="352116"/>
                </a:cubicBezTo>
                <a:lnTo>
                  <a:pt x="176058" y="352116"/>
                </a:lnTo>
                <a:cubicBezTo>
                  <a:pt x="78824" y="352116"/>
                  <a:pt x="0" y="273292"/>
                  <a:pt x="0" y="176058"/>
                </a:cubicBezTo>
                <a:lnTo>
                  <a:pt x="0" y="176058"/>
                </a:lnTo>
                <a:cubicBezTo>
                  <a:pt x="0" y="78824"/>
                  <a:pt x="78824" y="0"/>
                  <a:pt x="176058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9" name="Text 7"/>
          <p:cNvSpPr/>
          <p:nvPr/>
        </p:nvSpPr>
        <p:spPr>
          <a:xfrm>
            <a:off x="453349" y="1831001"/>
            <a:ext cx="431342" cy="3521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基础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5500" y="1883818"/>
            <a:ext cx="616202" cy="2464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基础版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2962" y="2288751"/>
            <a:ext cx="3521155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收益管理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2962" y="2570443"/>
            <a:ext cx="3521155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OTA监控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2962" y="2852136"/>
            <a:ext cx="3521155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月度报告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2962" y="3173441"/>
            <a:ext cx="3450732" cy="8803"/>
          </a:xfrm>
          <a:custGeom>
            <a:avLst/>
            <a:gdLst/>
            <a:ahLst/>
            <a:cxnLst/>
            <a:rect l="l" t="t" r="r" b="b"/>
            <a:pathLst>
              <a:path w="3450732" h="8803">
                <a:moveTo>
                  <a:pt x="0" y="0"/>
                </a:moveTo>
                <a:lnTo>
                  <a:pt x="3450732" y="0"/>
                </a:lnTo>
                <a:lnTo>
                  <a:pt x="3450732" y="8803"/>
                </a:lnTo>
                <a:lnTo>
                  <a:pt x="0" y="8803"/>
                </a:lnTo>
                <a:lnTo>
                  <a:pt x="0" y="0"/>
                </a:lnTo>
                <a:close/>
              </a:path>
            </a:pathLst>
          </a:custGeom>
          <a:solidFill>
            <a:srgbClr val="F8F7F5"/>
          </a:solidFill>
        </p:spPr>
      </p:sp>
      <p:sp>
        <p:nvSpPr>
          <p:cNvPr id="15" name="Text 13"/>
          <p:cNvSpPr/>
          <p:nvPr/>
        </p:nvSpPr>
        <p:spPr>
          <a:xfrm>
            <a:off x="492962" y="3283477"/>
            <a:ext cx="3529958" cy="2464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D8A252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[待定]/月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27931" y="1672549"/>
            <a:ext cx="3732425" cy="2279948"/>
          </a:xfrm>
          <a:custGeom>
            <a:avLst/>
            <a:gdLst/>
            <a:ahLst/>
            <a:cxnLst/>
            <a:rect l="l" t="t" r="r" b="b"/>
            <a:pathLst>
              <a:path w="3732425" h="2279948">
                <a:moveTo>
                  <a:pt x="35212" y="0"/>
                </a:moveTo>
                <a:lnTo>
                  <a:pt x="3697213" y="0"/>
                </a:lnTo>
                <a:cubicBezTo>
                  <a:pt x="3716660" y="0"/>
                  <a:pt x="3732425" y="15765"/>
                  <a:pt x="3732425" y="35212"/>
                </a:cubicBezTo>
                <a:lnTo>
                  <a:pt x="3732425" y="2209520"/>
                </a:lnTo>
                <a:cubicBezTo>
                  <a:pt x="3732425" y="2248417"/>
                  <a:pt x="3700893" y="2279948"/>
                  <a:pt x="3661997" y="2279948"/>
                </a:cubicBezTo>
                <a:lnTo>
                  <a:pt x="70428" y="2279948"/>
                </a:lnTo>
                <a:cubicBezTo>
                  <a:pt x="31532" y="2279948"/>
                  <a:pt x="0" y="2248417"/>
                  <a:pt x="0" y="2209520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2817" dist="3521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27931" y="1672549"/>
            <a:ext cx="3732425" cy="35212"/>
          </a:xfrm>
          <a:custGeom>
            <a:avLst/>
            <a:gdLst/>
            <a:ahLst/>
            <a:cxnLst/>
            <a:rect l="l" t="t" r="r" b="b"/>
            <a:pathLst>
              <a:path w="3732425" h="35212">
                <a:moveTo>
                  <a:pt x="35212" y="0"/>
                </a:moveTo>
                <a:lnTo>
                  <a:pt x="3697213" y="0"/>
                </a:lnTo>
                <a:cubicBezTo>
                  <a:pt x="3716660" y="0"/>
                  <a:pt x="3732425" y="15765"/>
                  <a:pt x="3732425" y="35212"/>
                </a:cubicBezTo>
                <a:lnTo>
                  <a:pt x="3732425" y="35212"/>
                </a:lnTo>
                <a:lnTo>
                  <a:pt x="0" y="35212"/>
                </a:ln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B89A7A"/>
          </a:solidFill>
        </p:spPr>
      </p:sp>
      <p:sp>
        <p:nvSpPr>
          <p:cNvPr id="18" name="Shape 16"/>
          <p:cNvSpPr/>
          <p:nvPr/>
        </p:nvSpPr>
        <p:spPr>
          <a:xfrm>
            <a:off x="4368777" y="1831001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176058" y="0"/>
                </a:moveTo>
                <a:lnTo>
                  <a:pt x="176058" y="0"/>
                </a:lnTo>
                <a:cubicBezTo>
                  <a:pt x="273292" y="0"/>
                  <a:pt x="352116" y="78824"/>
                  <a:pt x="352116" y="176058"/>
                </a:cubicBezTo>
                <a:lnTo>
                  <a:pt x="352116" y="176058"/>
                </a:lnTo>
                <a:cubicBezTo>
                  <a:pt x="352116" y="273292"/>
                  <a:pt x="273292" y="352116"/>
                  <a:pt x="176058" y="352116"/>
                </a:cubicBezTo>
                <a:lnTo>
                  <a:pt x="176058" y="352116"/>
                </a:lnTo>
                <a:cubicBezTo>
                  <a:pt x="78824" y="352116"/>
                  <a:pt x="0" y="273292"/>
                  <a:pt x="0" y="176058"/>
                </a:cubicBezTo>
                <a:lnTo>
                  <a:pt x="0" y="176058"/>
                </a:lnTo>
                <a:cubicBezTo>
                  <a:pt x="0" y="78824"/>
                  <a:pt x="78824" y="0"/>
                  <a:pt x="176058" y="0"/>
                </a:cubicBezTo>
                <a:close/>
              </a:path>
            </a:pathLst>
          </a:custGeom>
          <a:solidFill>
            <a:srgbClr val="B89A7A"/>
          </a:solidFill>
        </p:spPr>
      </p:sp>
      <p:sp>
        <p:nvSpPr>
          <p:cNvPr id="19" name="Text 17"/>
          <p:cNvSpPr/>
          <p:nvPr/>
        </p:nvSpPr>
        <p:spPr>
          <a:xfrm>
            <a:off x="4329164" y="1831001"/>
            <a:ext cx="431342" cy="3521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标准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91316" y="1883818"/>
            <a:ext cx="616202" cy="2464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标准版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68777" y="2288751"/>
            <a:ext cx="3521155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基础版全部功能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68777" y="2570443"/>
            <a:ext cx="3521155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私域运营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68777" y="2852136"/>
            <a:ext cx="3521155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C端AI预订客服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68777" y="3133828"/>
            <a:ext cx="3521155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B端AI运营助手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68777" y="3455134"/>
            <a:ext cx="3450732" cy="8803"/>
          </a:xfrm>
          <a:custGeom>
            <a:avLst/>
            <a:gdLst/>
            <a:ahLst/>
            <a:cxnLst/>
            <a:rect l="l" t="t" r="r" b="b"/>
            <a:pathLst>
              <a:path w="3450732" h="8803">
                <a:moveTo>
                  <a:pt x="0" y="0"/>
                </a:moveTo>
                <a:lnTo>
                  <a:pt x="3450732" y="0"/>
                </a:lnTo>
                <a:lnTo>
                  <a:pt x="3450732" y="8803"/>
                </a:lnTo>
                <a:lnTo>
                  <a:pt x="0" y="8803"/>
                </a:lnTo>
                <a:lnTo>
                  <a:pt x="0" y="0"/>
                </a:lnTo>
                <a:close/>
              </a:path>
            </a:pathLst>
          </a:custGeom>
          <a:solidFill>
            <a:srgbClr val="F8F7F5"/>
          </a:solidFill>
        </p:spPr>
      </p:sp>
      <p:sp>
        <p:nvSpPr>
          <p:cNvPr id="26" name="Text 24"/>
          <p:cNvSpPr/>
          <p:nvPr/>
        </p:nvSpPr>
        <p:spPr>
          <a:xfrm>
            <a:off x="4368777" y="3565170"/>
            <a:ext cx="3529958" cy="2464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D8A252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[待定]/月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03815" y="1672549"/>
            <a:ext cx="3732425" cy="2279948"/>
          </a:xfrm>
          <a:custGeom>
            <a:avLst/>
            <a:gdLst/>
            <a:ahLst/>
            <a:cxnLst/>
            <a:rect l="l" t="t" r="r" b="b"/>
            <a:pathLst>
              <a:path w="3732425" h="2279948">
                <a:moveTo>
                  <a:pt x="35212" y="0"/>
                </a:moveTo>
                <a:lnTo>
                  <a:pt x="3697213" y="0"/>
                </a:lnTo>
                <a:cubicBezTo>
                  <a:pt x="3716660" y="0"/>
                  <a:pt x="3732425" y="15765"/>
                  <a:pt x="3732425" y="35212"/>
                </a:cubicBezTo>
                <a:lnTo>
                  <a:pt x="3732425" y="2209520"/>
                </a:lnTo>
                <a:cubicBezTo>
                  <a:pt x="3732425" y="2248417"/>
                  <a:pt x="3700893" y="2279948"/>
                  <a:pt x="3661997" y="2279948"/>
                </a:cubicBezTo>
                <a:lnTo>
                  <a:pt x="70428" y="2279948"/>
                </a:lnTo>
                <a:cubicBezTo>
                  <a:pt x="31532" y="2279948"/>
                  <a:pt x="0" y="2248417"/>
                  <a:pt x="0" y="2209520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2817" dist="3521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03815" y="1672549"/>
            <a:ext cx="3732425" cy="35212"/>
          </a:xfrm>
          <a:custGeom>
            <a:avLst/>
            <a:gdLst/>
            <a:ahLst/>
            <a:cxnLst/>
            <a:rect l="l" t="t" r="r" b="b"/>
            <a:pathLst>
              <a:path w="3732425" h="35212">
                <a:moveTo>
                  <a:pt x="35212" y="0"/>
                </a:moveTo>
                <a:lnTo>
                  <a:pt x="3697213" y="0"/>
                </a:lnTo>
                <a:cubicBezTo>
                  <a:pt x="3716660" y="0"/>
                  <a:pt x="3732425" y="15765"/>
                  <a:pt x="3732425" y="35212"/>
                </a:cubicBezTo>
                <a:lnTo>
                  <a:pt x="3732425" y="35212"/>
                </a:lnTo>
                <a:lnTo>
                  <a:pt x="0" y="35212"/>
                </a:ln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29" name="Shape 27"/>
          <p:cNvSpPr/>
          <p:nvPr/>
        </p:nvSpPr>
        <p:spPr>
          <a:xfrm>
            <a:off x="8244661" y="1831001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176058" y="0"/>
                </a:moveTo>
                <a:lnTo>
                  <a:pt x="176058" y="0"/>
                </a:lnTo>
                <a:cubicBezTo>
                  <a:pt x="273292" y="0"/>
                  <a:pt x="352116" y="78824"/>
                  <a:pt x="352116" y="176058"/>
                </a:cubicBezTo>
                <a:lnTo>
                  <a:pt x="352116" y="176058"/>
                </a:lnTo>
                <a:cubicBezTo>
                  <a:pt x="352116" y="273292"/>
                  <a:pt x="273292" y="352116"/>
                  <a:pt x="176058" y="352116"/>
                </a:cubicBezTo>
                <a:lnTo>
                  <a:pt x="176058" y="352116"/>
                </a:lnTo>
                <a:cubicBezTo>
                  <a:pt x="78824" y="352116"/>
                  <a:pt x="0" y="273292"/>
                  <a:pt x="0" y="176058"/>
                </a:cubicBezTo>
                <a:lnTo>
                  <a:pt x="0" y="176058"/>
                </a:lnTo>
                <a:cubicBezTo>
                  <a:pt x="0" y="78824"/>
                  <a:pt x="78824" y="0"/>
                  <a:pt x="176058" y="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30" name="Text 28"/>
          <p:cNvSpPr/>
          <p:nvPr/>
        </p:nvSpPr>
        <p:spPr>
          <a:xfrm>
            <a:off x="8205048" y="1831001"/>
            <a:ext cx="431342" cy="3521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定制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67200" y="1883818"/>
            <a:ext cx="616202" cy="2464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定制版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44661" y="2288751"/>
            <a:ext cx="3521155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根据酒店需求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44661" y="2570443"/>
            <a:ext cx="3521155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定制开发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44661" y="2852136"/>
            <a:ext cx="3521155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专属功能模块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44661" y="3133828"/>
            <a:ext cx="3521155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深度集成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44661" y="3455134"/>
            <a:ext cx="3450732" cy="8803"/>
          </a:xfrm>
          <a:custGeom>
            <a:avLst/>
            <a:gdLst/>
            <a:ahLst/>
            <a:cxnLst/>
            <a:rect l="l" t="t" r="r" b="b"/>
            <a:pathLst>
              <a:path w="3450732" h="8803">
                <a:moveTo>
                  <a:pt x="0" y="0"/>
                </a:moveTo>
                <a:lnTo>
                  <a:pt x="3450732" y="0"/>
                </a:lnTo>
                <a:lnTo>
                  <a:pt x="3450732" y="8803"/>
                </a:lnTo>
                <a:lnTo>
                  <a:pt x="0" y="8803"/>
                </a:lnTo>
                <a:lnTo>
                  <a:pt x="0" y="0"/>
                </a:lnTo>
                <a:close/>
              </a:path>
            </a:pathLst>
          </a:custGeom>
          <a:solidFill>
            <a:srgbClr val="F8F7F5"/>
          </a:solidFill>
        </p:spPr>
      </p:sp>
      <p:sp>
        <p:nvSpPr>
          <p:cNvPr id="37" name="Text 35"/>
          <p:cNvSpPr/>
          <p:nvPr/>
        </p:nvSpPr>
        <p:spPr>
          <a:xfrm>
            <a:off x="8244661" y="3565170"/>
            <a:ext cx="3529958" cy="2464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D8A252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单独定价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52116" y="4093343"/>
            <a:ext cx="11487769" cy="492962"/>
          </a:xfrm>
          <a:custGeom>
            <a:avLst/>
            <a:gdLst/>
            <a:ahLst/>
            <a:cxnLst/>
            <a:rect l="l" t="t" r="r" b="b"/>
            <a:pathLst>
              <a:path w="11487769" h="492962">
                <a:moveTo>
                  <a:pt x="70425" y="0"/>
                </a:moveTo>
                <a:lnTo>
                  <a:pt x="11417344" y="0"/>
                </a:lnTo>
                <a:cubicBezTo>
                  <a:pt x="11456239" y="0"/>
                  <a:pt x="11487769" y="31530"/>
                  <a:pt x="11487769" y="70425"/>
                </a:cubicBezTo>
                <a:lnTo>
                  <a:pt x="11487769" y="422537"/>
                </a:lnTo>
                <a:cubicBezTo>
                  <a:pt x="11487769" y="461432"/>
                  <a:pt x="11456239" y="492962"/>
                  <a:pt x="11417344" y="492962"/>
                </a:cubicBezTo>
                <a:lnTo>
                  <a:pt x="70425" y="492962"/>
                </a:lnTo>
                <a:cubicBezTo>
                  <a:pt x="31530" y="492962"/>
                  <a:pt x="0" y="461432"/>
                  <a:pt x="0" y="422537"/>
                </a:cubicBezTo>
                <a:lnTo>
                  <a:pt x="0" y="70425"/>
                </a:lnTo>
                <a:cubicBezTo>
                  <a:pt x="0" y="31530"/>
                  <a:pt x="31530" y="0"/>
                  <a:pt x="70425" y="0"/>
                </a:cubicBezTo>
                <a:close/>
              </a:path>
            </a:pathLst>
          </a:custGeom>
          <a:solidFill>
            <a:srgbClr val="2A5A5B">
              <a:alpha val="5098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510568" y="4260598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70423" y="140846"/>
                </a:moveTo>
                <a:cubicBezTo>
                  <a:pt x="109291" y="140846"/>
                  <a:pt x="140846" y="109291"/>
                  <a:pt x="140846" y="70423"/>
                </a:cubicBezTo>
                <a:cubicBezTo>
                  <a:pt x="140846" y="31556"/>
                  <a:pt x="109291" y="0"/>
                  <a:pt x="70423" y="0"/>
                </a:cubicBezTo>
                <a:cubicBezTo>
                  <a:pt x="31556" y="0"/>
                  <a:pt x="0" y="31556"/>
                  <a:pt x="0" y="70423"/>
                </a:cubicBezTo>
                <a:cubicBezTo>
                  <a:pt x="0" y="109291"/>
                  <a:pt x="31556" y="140846"/>
                  <a:pt x="70423" y="140846"/>
                </a:cubicBezTo>
                <a:close/>
                <a:moveTo>
                  <a:pt x="61620" y="44014"/>
                </a:moveTo>
                <a:cubicBezTo>
                  <a:pt x="61620" y="39156"/>
                  <a:pt x="65565" y="35212"/>
                  <a:pt x="70423" y="35212"/>
                </a:cubicBezTo>
                <a:cubicBezTo>
                  <a:pt x="75282" y="35212"/>
                  <a:pt x="79226" y="39156"/>
                  <a:pt x="79226" y="44014"/>
                </a:cubicBezTo>
                <a:cubicBezTo>
                  <a:pt x="79226" y="48873"/>
                  <a:pt x="75282" y="52817"/>
                  <a:pt x="70423" y="52817"/>
                </a:cubicBezTo>
                <a:cubicBezTo>
                  <a:pt x="65565" y="52817"/>
                  <a:pt x="61620" y="48873"/>
                  <a:pt x="61620" y="44014"/>
                </a:cubicBezTo>
                <a:close/>
                <a:moveTo>
                  <a:pt x="59419" y="61620"/>
                </a:moveTo>
                <a:lnTo>
                  <a:pt x="72624" y="61620"/>
                </a:lnTo>
                <a:cubicBezTo>
                  <a:pt x="76283" y="61620"/>
                  <a:pt x="79226" y="64564"/>
                  <a:pt x="79226" y="68222"/>
                </a:cubicBezTo>
                <a:lnTo>
                  <a:pt x="79226" y="92430"/>
                </a:lnTo>
                <a:lnTo>
                  <a:pt x="81427" y="92430"/>
                </a:lnTo>
                <a:cubicBezTo>
                  <a:pt x="85085" y="92430"/>
                  <a:pt x="88029" y="95374"/>
                  <a:pt x="88029" y="99032"/>
                </a:cubicBezTo>
                <a:cubicBezTo>
                  <a:pt x="88029" y="102691"/>
                  <a:pt x="85085" y="105635"/>
                  <a:pt x="81427" y="105635"/>
                </a:cubicBezTo>
                <a:lnTo>
                  <a:pt x="59419" y="105635"/>
                </a:lnTo>
                <a:cubicBezTo>
                  <a:pt x="55761" y="105635"/>
                  <a:pt x="52817" y="102691"/>
                  <a:pt x="52817" y="99032"/>
                </a:cubicBezTo>
                <a:cubicBezTo>
                  <a:pt x="52817" y="95374"/>
                  <a:pt x="55761" y="92430"/>
                  <a:pt x="59419" y="92430"/>
                </a:cubicBezTo>
                <a:lnTo>
                  <a:pt x="66022" y="92430"/>
                </a:lnTo>
                <a:lnTo>
                  <a:pt x="66022" y="74825"/>
                </a:lnTo>
                <a:lnTo>
                  <a:pt x="59419" y="74825"/>
                </a:lnTo>
                <a:cubicBezTo>
                  <a:pt x="55761" y="74825"/>
                  <a:pt x="52817" y="71881"/>
                  <a:pt x="52817" y="68222"/>
                </a:cubicBezTo>
                <a:cubicBezTo>
                  <a:pt x="52817" y="64564"/>
                  <a:pt x="55761" y="61620"/>
                  <a:pt x="59419" y="6162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40" name="Text 38"/>
          <p:cNvSpPr/>
          <p:nvPr/>
        </p:nvSpPr>
        <p:spPr>
          <a:xfrm>
            <a:off x="717833" y="4234189"/>
            <a:ext cx="11051629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承诺：</a:t>
            </a:r>
            <a:r>
              <a:rPr lang="en-US" sz="111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我们希望用试点效果说话，不做强制推销。如果试点结束后酒店选择不续约，</a:t>
            </a:r>
            <a:r>
              <a:rPr lang="en-US" sz="1110" dirty="0">
                <a:solidFill>
                  <a:srgbClr val="2A5A5B"/>
                </a:solidFill>
                <a:highlight>
                  <a:srgbClr val="D8A252">
                    <a:alpha val="3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没有任何违约金或遗留问题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52116" y="4727151"/>
            <a:ext cx="11593404" cy="2816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5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我们为什么愿意免费做试点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52116" y="5114478"/>
            <a:ext cx="3732425" cy="1390856"/>
          </a:xfrm>
          <a:custGeom>
            <a:avLst/>
            <a:gdLst/>
            <a:ahLst/>
            <a:cxnLst/>
            <a:rect l="l" t="t" r="r" b="b"/>
            <a:pathLst>
              <a:path w="3732425" h="1390856">
                <a:moveTo>
                  <a:pt x="70419" y="0"/>
                </a:moveTo>
                <a:lnTo>
                  <a:pt x="3662005" y="0"/>
                </a:lnTo>
                <a:cubicBezTo>
                  <a:pt x="3700897" y="0"/>
                  <a:pt x="3732425" y="31528"/>
                  <a:pt x="3732425" y="70419"/>
                </a:cubicBezTo>
                <a:lnTo>
                  <a:pt x="3732425" y="1320437"/>
                </a:lnTo>
                <a:cubicBezTo>
                  <a:pt x="3732425" y="1359329"/>
                  <a:pt x="3700897" y="1390856"/>
                  <a:pt x="3662005" y="1390856"/>
                </a:cubicBezTo>
                <a:lnTo>
                  <a:pt x="70419" y="1390856"/>
                </a:lnTo>
                <a:cubicBezTo>
                  <a:pt x="31528" y="1390856"/>
                  <a:pt x="0" y="1359329"/>
                  <a:pt x="0" y="1320437"/>
                </a:cubicBezTo>
                <a:lnTo>
                  <a:pt x="0" y="70419"/>
                </a:lnTo>
                <a:cubicBezTo>
                  <a:pt x="0" y="31554"/>
                  <a:pt x="31554" y="0"/>
                  <a:pt x="7041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2817" dist="3521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92962" y="5255324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176058" y="0"/>
                </a:moveTo>
                <a:lnTo>
                  <a:pt x="176058" y="0"/>
                </a:lnTo>
                <a:cubicBezTo>
                  <a:pt x="273292" y="0"/>
                  <a:pt x="352116" y="78824"/>
                  <a:pt x="352116" y="176058"/>
                </a:cubicBezTo>
                <a:lnTo>
                  <a:pt x="352116" y="176058"/>
                </a:lnTo>
                <a:cubicBezTo>
                  <a:pt x="352116" y="273292"/>
                  <a:pt x="273292" y="352116"/>
                  <a:pt x="176058" y="352116"/>
                </a:cubicBezTo>
                <a:lnTo>
                  <a:pt x="176058" y="352116"/>
                </a:lnTo>
                <a:cubicBezTo>
                  <a:pt x="78824" y="352116"/>
                  <a:pt x="0" y="273292"/>
                  <a:pt x="0" y="176058"/>
                </a:cubicBezTo>
                <a:lnTo>
                  <a:pt x="0" y="176058"/>
                </a:lnTo>
                <a:cubicBezTo>
                  <a:pt x="0" y="78824"/>
                  <a:pt x="78824" y="0"/>
                  <a:pt x="176058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44" name="Shape 42"/>
          <p:cNvSpPr/>
          <p:nvPr/>
        </p:nvSpPr>
        <p:spPr>
          <a:xfrm>
            <a:off x="589794" y="5360959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68222" y="24208"/>
                </a:moveTo>
                <a:lnTo>
                  <a:pt x="90230" y="24208"/>
                </a:lnTo>
                <a:lnTo>
                  <a:pt x="90230" y="37412"/>
                </a:lnTo>
                <a:lnTo>
                  <a:pt x="68222" y="37412"/>
                </a:lnTo>
                <a:lnTo>
                  <a:pt x="68222" y="24208"/>
                </a:lnTo>
                <a:close/>
                <a:moveTo>
                  <a:pt x="66022" y="8803"/>
                </a:moveTo>
                <a:cubicBezTo>
                  <a:pt x="58732" y="8803"/>
                  <a:pt x="52817" y="14717"/>
                  <a:pt x="52817" y="22007"/>
                </a:cubicBezTo>
                <a:lnTo>
                  <a:pt x="52817" y="39613"/>
                </a:lnTo>
                <a:cubicBezTo>
                  <a:pt x="52817" y="46903"/>
                  <a:pt x="58732" y="52817"/>
                  <a:pt x="66022" y="52817"/>
                </a:cubicBezTo>
                <a:lnTo>
                  <a:pt x="70423" y="52817"/>
                </a:lnTo>
                <a:lnTo>
                  <a:pt x="70423" y="61620"/>
                </a:lnTo>
                <a:lnTo>
                  <a:pt x="8803" y="61620"/>
                </a:lnTo>
                <a:cubicBezTo>
                  <a:pt x="3934" y="61620"/>
                  <a:pt x="0" y="65554"/>
                  <a:pt x="0" y="70423"/>
                </a:cubicBezTo>
                <a:cubicBezTo>
                  <a:pt x="0" y="75292"/>
                  <a:pt x="3934" y="79226"/>
                  <a:pt x="8803" y="79226"/>
                </a:cubicBezTo>
                <a:lnTo>
                  <a:pt x="35212" y="79226"/>
                </a:lnTo>
                <a:lnTo>
                  <a:pt x="35212" y="88029"/>
                </a:lnTo>
                <a:lnTo>
                  <a:pt x="30810" y="88029"/>
                </a:lnTo>
                <a:cubicBezTo>
                  <a:pt x="23520" y="88029"/>
                  <a:pt x="17606" y="93943"/>
                  <a:pt x="17606" y="101233"/>
                </a:cubicBezTo>
                <a:lnTo>
                  <a:pt x="17606" y="118839"/>
                </a:lnTo>
                <a:cubicBezTo>
                  <a:pt x="17606" y="126129"/>
                  <a:pt x="23520" y="132043"/>
                  <a:pt x="30810" y="132043"/>
                </a:cubicBezTo>
                <a:lnTo>
                  <a:pt x="57219" y="132043"/>
                </a:lnTo>
                <a:cubicBezTo>
                  <a:pt x="64509" y="132043"/>
                  <a:pt x="70423" y="126129"/>
                  <a:pt x="70423" y="118839"/>
                </a:cubicBezTo>
                <a:lnTo>
                  <a:pt x="70423" y="101233"/>
                </a:lnTo>
                <a:cubicBezTo>
                  <a:pt x="70423" y="93943"/>
                  <a:pt x="64509" y="88029"/>
                  <a:pt x="57219" y="88029"/>
                </a:cubicBezTo>
                <a:lnTo>
                  <a:pt x="52817" y="88029"/>
                </a:lnTo>
                <a:lnTo>
                  <a:pt x="52817" y="79226"/>
                </a:lnTo>
                <a:lnTo>
                  <a:pt x="105635" y="79226"/>
                </a:lnTo>
                <a:lnTo>
                  <a:pt x="105635" y="88029"/>
                </a:lnTo>
                <a:lnTo>
                  <a:pt x="101233" y="88029"/>
                </a:lnTo>
                <a:cubicBezTo>
                  <a:pt x="93943" y="88029"/>
                  <a:pt x="88029" y="93943"/>
                  <a:pt x="88029" y="101233"/>
                </a:cubicBezTo>
                <a:lnTo>
                  <a:pt x="88029" y="118839"/>
                </a:lnTo>
                <a:cubicBezTo>
                  <a:pt x="88029" y="126129"/>
                  <a:pt x="93943" y="132043"/>
                  <a:pt x="101233" y="132043"/>
                </a:cubicBezTo>
                <a:lnTo>
                  <a:pt x="127642" y="132043"/>
                </a:lnTo>
                <a:cubicBezTo>
                  <a:pt x="134932" y="132043"/>
                  <a:pt x="140846" y="126129"/>
                  <a:pt x="140846" y="118839"/>
                </a:cubicBezTo>
                <a:lnTo>
                  <a:pt x="140846" y="101233"/>
                </a:lnTo>
                <a:cubicBezTo>
                  <a:pt x="140846" y="93943"/>
                  <a:pt x="134932" y="88029"/>
                  <a:pt x="127642" y="88029"/>
                </a:cubicBezTo>
                <a:lnTo>
                  <a:pt x="123240" y="88029"/>
                </a:lnTo>
                <a:lnTo>
                  <a:pt x="123240" y="79226"/>
                </a:lnTo>
                <a:lnTo>
                  <a:pt x="149649" y="79226"/>
                </a:lnTo>
                <a:cubicBezTo>
                  <a:pt x="154518" y="79226"/>
                  <a:pt x="158452" y="75292"/>
                  <a:pt x="158452" y="70423"/>
                </a:cubicBezTo>
                <a:cubicBezTo>
                  <a:pt x="158452" y="65554"/>
                  <a:pt x="154518" y="61620"/>
                  <a:pt x="149649" y="61620"/>
                </a:cubicBezTo>
                <a:lnTo>
                  <a:pt x="88029" y="61620"/>
                </a:lnTo>
                <a:lnTo>
                  <a:pt x="88029" y="52817"/>
                </a:lnTo>
                <a:lnTo>
                  <a:pt x="92430" y="52817"/>
                </a:lnTo>
                <a:cubicBezTo>
                  <a:pt x="99720" y="52817"/>
                  <a:pt x="105635" y="46903"/>
                  <a:pt x="105635" y="39613"/>
                </a:cubicBezTo>
                <a:lnTo>
                  <a:pt x="105635" y="22007"/>
                </a:lnTo>
                <a:cubicBezTo>
                  <a:pt x="105635" y="14717"/>
                  <a:pt x="99720" y="8803"/>
                  <a:pt x="92430" y="8803"/>
                </a:cubicBezTo>
                <a:lnTo>
                  <a:pt x="66022" y="8803"/>
                </a:lnTo>
                <a:close/>
                <a:moveTo>
                  <a:pt x="123240" y="103434"/>
                </a:moveTo>
                <a:lnTo>
                  <a:pt x="125441" y="103434"/>
                </a:lnTo>
                <a:lnTo>
                  <a:pt x="125441" y="116638"/>
                </a:lnTo>
                <a:lnTo>
                  <a:pt x="103434" y="116638"/>
                </a:lnTo>
                <a:lnTo>
                  <a:pt x="103434" y="103434"/>
                </a:lnTo>
                <a:lnTo>
                  <a:pt x="123240" y="103434"/>
                </a:lnTo>
                <a:close/>
                <a:moveTo>
                  <a:pt x="52817" y="103434"/>
                </a:moveTo>
                <a:lnTo>
                  <a:pt x="55018" y="103434"/>
                </a:lnTo>
                <a:lnTo>
                  <a:pt x="55018" y="116638"/>
                </a:lnTo>
                <a:lnTo>
                  <a:pt x="33011" y="116638"/>
                </a:lnTo>
                <a:lnTo>
                  <a:pt x="33011" y="103434"/>
                </a:lnTo>
                <a:lnTo>
                  <a:pt x="52817" y="10343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5" name="Text 43"/>
          <p:cNvSpPr/>
          <p:nvPr/>
        </p:nvSpPr>
        <p:spPr>
          <a:xfrm>
            <a:off x="915500" y="5308142"/>
            <a:ext cx="713034" cy="2464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网络效应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92962" y="5677863"/>
            <a:ext cx="3521155" cy="686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AHL的核心价值在于网络效应——</a:t>
            </a:r>
            <a:r>
              <a:rPr lang="en-US" sz="1110" b="1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接入的酒店越多，数据越丰富，AI越聪明</a:t>
            </a:r>
            <a:r>
              <a:rPr lang="en-US" sz="111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。早期每一个试点酒店都是宝贵伙伴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227931" y="5114478"/>
            <a:ext cx="3732425" cy="1390856"/>
          </a:xfrm>
          <a:custGeom>
            <a:avLst/>
            <a:gdLst/>
            <a:ahLst/>
            <a:cxnLst/>
            <a:rect l="l" t="t" r="r" b="b"/>
            <a:pathLst>
              <a:path w="3732425" h="1390856">
                <a:moveTo>
                  <a:pt x="70419" y="0"/>
                </a:moveTo>
                <a:lnTo>
                  <a:pt x="3662005" y="0"/>
                </a:lnTo>
                <a:cubicBezTo>
                  <a:pt x="3700897" y="0"/>
                  <a:pt x="3732425" y="31528"/>
                  <a:pt x="3732425" y="70419"/>
                </a:cubicBezTo>
                <a:lnTo>
                  <a:pt x="3732425" y="1320437"/>
                </a:lnTo>
                <a:cubicBezTo>
                  <a:pt x="3732425" y="1359329"/>
                  <a:pt x="3700897" y="1390856"/>
                  <a:pt x="3662005" y="1390856"/>
                </a:cubicBezTo>
                <a:lnTo>
                  <a:pt x="70419" y="1390856"/>
                </a:lnTo>
                <a:cubicBezTo>
                  <a:pt x="31528" y="1390856"/>
                  <a:pt x="0" y="1359329"/>
                  <a:pt x="0" y="1320437"/>
                </a:cubicBezTo>
                <a:lnTo>
                  <a:pt x="0" y="70419"/>
                </a:lnTo>
                <a:cubicBezTo>
                  <a:pt x="0" y="31554"/>
                  <a:pt x="31554" y="0"/>
                  <a:pt x="7041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2817" dist="3521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368777" y="5255324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176058" y="0"/>
                </a:moveTo>
                <a:lnTo>
                  <a:pt x="176058" y="0"/>
                </a:lnTo>
                <a:cubicBezTo>
                  <a:pt x="273292" y="0"/>
                  <a:pt x="352116" y="78824"/>
                  <a:pt x="352116" y="176058"/>
                </a:cubicBezTo>
                <a:lnTo>
                  <a:pt x="352116" y="176058"/>
                </a:lnTo>
                <a:cubicBezTo>
                  <a:pt x="352116" y="273292"/>
                  <a:pt x="273292" y="352116"/>
                  <a:pt x="176058" y="352116"/>
                </a:cubicBezTo>
                <a:lnTo>
                  <a:pt x="176058" y="352116"/>
                </a:lnTo>
                <a:cubicBezTo>
                  <a:pt x="78824" y="352116"/>
                  <a:pt x="0" y="273292"/>
                  <a:pt x="0" y="176058"/>
                </a:cubicBezTo>
                <a:lnTo>
                  <a:pt x="0" y="176058"/>
                </a:lnTo>
                <a:cubicBezTo>
                  <a:pt x="0" y="78824"/>
                  <a:pt x="78824" y="0"/>
                  <a:pt x="176058" y="0"/>
                </a:cubicBezTo>
                <a:close/>
              </a:path>
            </a:pathLst>
          </a:custGeom>
          <a:solidFill>
            <a:srgbClr val="B89A7A"/>
          </a:solidFill>
        </p:spPr>
      </p:sp>
      <p:sp>
        <p:nvSpPr>
          <p:cNvPr id="49" name="Shape 47"/>
          <p:cNvSpPr/>
          <p:nvPr/>
        </p:nvSpPr>
        <p:spPr>
          <a:xfrm>
            <a:off x="4465609" y="5360959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73972" y="23438"/>
                </a:moveTo>
                <a:lnTo>
                  <a:pt x="41896" y="59089"/>
                </a:lnTo>
                <a:cubicBezTo>
                  <a:pt x="40631" y="60492"/>
                  <a:pt x="40686" y="62666"/>
                  <a:pt x="42034" y="64014"/>
                </a:cubicBezTo>
                <a:cubicBezTo>
                  <a:pt x="50424" y="72404"/>
                  <a:pt x="64041" y="72404"/>
                  <a:pt x="72431" y="64014"/>
                </a:cubicBezTo>
                <a:lnTo>
                  <a:pt x="81179" y="55266"/>
                </a:lnTo>
                <a:cubicBezTo>
                  <a:pt x="82335" y="54110"/>
                  <a:pt x="83792" y="53478"/>
                  <a:pt x="85278" y="53368"/>
                </a:cubicBezTo>
                <a:cubicBezTo>
                  <a:pt x="87149" y="53202"/>
                  <a:pt x="89074" y="53835"/>
                  <a:pt x="90505" y="55266"/>
                </a:cubicBezTo>
                <a:lnTo>
                  <a:pt x="139086" y="103434"/>
                </a:lnTo>
                <a:lnTo>
                  <a:pt x="158452" y="88029"/>
                </a:lnTo>
                <a:lnTo>
                  <a:pt x="158452" y="8803"/>
                </a:lnTo>
                <a:lnTo>
                  <a:pt x="127642" y="26409"/>
                </a:lnTo>
                <a:lnTo>
                  <a:pt x="121095" y="22035"/>
                </a:lnTo>
                <a:cubicBezTo>
                  <a:pt x="116748" y="19146"/>
                  <a:pt x="111659" y="17606"/>
                  <a:pt x="106432" y="17606"/>
                </a:cubicBezTo>
                <a:lnTo>
                  <a:pt x="87066" y="17606"/>
                </a:lnTo>
                <a:cubicBezTo>
                  <a:pt x="86763" y="17606"/>
                  <a:pt x="86433" y="17606"/>
                  <a:pt x="86131" y="17633"/>
                </a:cubicBezTo>
                <a:cubicBezTo>
                  <a:pt x="81482" y="17881"/>
                  <a:pt x="77108" y="19972"/>
                  <a:pt x="73972" y="23438"/>
                </a:cubicBezTo>
                <a:close/>
                <a:moveTo>
                  <a:pt x="32076" y="50259"/>
                </a:moveTo>
                <a:lnTo>
                  <a:pt x="61455" y="17606"/>
                </a:lnTo>
                <a:lnTo>
                  <a:pt x="50562" y="17606"/>
                </a:lnTo>
                <a:cubicBezTo>
                  <a:pt x="43547" y="17606"/>
                  <a:pt x="36835" y="20384"/>
                  <a:pt x="31883" y="25336"/>
                </a:cubicBezTo>
                <a:lnTo>
                  <a:pt x="30810" y="26409"/>
                </a:lnTo>
                <a:lnTo>
                  <a:pt x="0" y="8803"/>
                </a:lnTo>
                <a:lnTo>
                  <a:pt x="0" y="88029"/>
                </a:lnTo>
                <a:lnTo>
                  <a:pt x="43024" y="123873"/>
                </a:lnTo>
                <a:cubicBezTo>
                  <a:pt x="49351" y="129155"/>
                  <a:pt x="57329" y="132043"/>
                  <a:pt x="65554" y="132043"/>
                </a:cubicBezTo>
                <a:lnTo>
                  <a:pt x="69873" y="132043"/>
                </a:lnTo>
                <a:lnTo>
                  <a:pt x="67947" y="130118"/>
                </a:lnTo>
                <a:cubicBezTo>
                  <a:pt x="65361" y="127532"/>
                  <a:pt x="65361" y="123350"/>
                  <a:pt x="67947" y="120792"/>
                </a:cubicBezTo>
                <a:cubicBezTo>
                  <a:pt x="70533" y="118234"/>
                  <a:pt x="74715" y="118206"/>
                  <a:pt x="77273" y="120792"/>
                </a:cubicBezTo>
                <a:lnTo>
                  <a:pt x="88552" y="132071"/>
                </a:lnTo>
                <a:lnTo>
                  <a:pt x="91027" y="132071"/>
                </a:lnTo>
                <a:cubicBezTo>
                  <a:pt x="96282" y="132071"/>
                  <a:pt x="101426" y="130888"/>
                  <a:pt x="106102" y="128687"/>
                </a:cubicBezTo>
                <a:lnTo>
                  <a:pt x="98757" y="121315"/>
                </a:lnTo>
                <a:cubicBezTo>
                  <a:pt x="96172" y="118729"/>
                  <a:pt x="96172" y="114548"/>
                  <a:pt x="98757" y="111989"/>
                </a:cubicBezTo>
                <a:cubicBezTo>
                  <a:pt x="101343" y="109431"/>
                  <a:pt x="105525" y="109403"/>
                  <a:pt x="108083" y="111989"/>
                </a:cubicBezTo>
                <a:lnTo>
                  <a:pt x="116886" y="120792"/>
                </a:lnTo>
                <a:lnTo>
                  <a:pt x="121700" y="115978"/>
                </a:lnTo>
                <a:cubicBezTo>
                  <a:pt x="124148" y="113530"/>
                  <a:pt x="124863" y="109981"/>
                  <a:pt x="123791" y="106873"/>
                </a:cubicBezTo>
                <a:lnTo>
                  <a:pt x="85856" y="69240"/>
                </a:lnTo>
                <a:lnTo>
                  <a:pt x="81757" y="73339"/>
                </a:lnTo>
                <a:cubicBezTo>
                  <a:pt x="68195" y="86901"/>
                  <a:pt x="46243" y="86901"/>
                  <a:pt x="32681" y="73339"/>
                </a:cubicBezTo>
                <a:cubicBezTo>
                  <a:pt x="26354" y="67012"/>
                  <a:pt x="26106" y="56861"/>
                  <a:pt x="32076" y="5023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0" name="Text 48"/>
          <p:cNvSpPr/>
          <p:nvPr/>
        </p:nvSpPr>
        <p:spPr>
          <a:xfrm>
            <a:off x="4791316" y="5308142"/>
            <a:ext cx="713034" cy="2464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信任建立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368777" y="5677863"/>
            <a:ext cx="3521155" cy="457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酒店行业的信任建立周期很长。用</a:t>
            </a:r>
            <a:r>
              <a:rPr lang="en-US" sz="1110" dirty="0">
                <a:solidFill>
                  <a:srgbClr val="2A5A5B"/>
                </a:solidFill>
                <a:highlight>
                  <a:srgbClr val="D8A252">
                    <a:alpha val="2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真实数据、真实效果 </a:t>
            </a:r>
            <a:r>
              <a:rPr lang="en-US" sz="111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，比任何PPT演示都有说服力。我们需要成功案例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103815" y="5114478"/>
            <a:ext cx="3732425" cy="1390856"/>
          </a:xfrm>
          <a:custGeom>
            <a:avLst/>
            <a:gdLst/>
            <a:ahLst/>
            <a:cxnLst/>
            <a:rect l="l" t="t" r="r" b="b"/>
            <a:pathLst>
              <a:path w="3732425" h="1390856">
                <a:moveTo>
                  <a:pt x="70419" y="0"/>
                </a:moveTo>
                <a:lnTo>
                  <a:pt x="3662005" y="0"/>
                </a:lnTo>
                <a:cubicBezTo>
                  <a:pt x="3700897" y="0"/>
                  <a:pt x="3732425" y="31528"/>
                  <a:pt x="3732425" y="70419"/>
                </a:cubicBezTo>
                <a:lnTo>
                  <a:pt x="3732425" y="1320437"/>
                </a:lnTo>
                <a:cubicBezTo>
                  <a:pt x="3732425" y="1359329"/>
                  <a:pt x="3700897" y="1390856"/>
                  <a:pt x="3662005" y="1390856"/>
                </a:cubicBezTo>
                <a:lnTo>
                  <a:pt x="70419" y="1390856"/>
                </a:lnTo>
                <a:cubicBezTo>
                  <a:pt x="31528" y="1390856"/>
                  <a:pt x="0" y="1359329"/>
                  <a:pt x="0" y="1320437"/>
                </a:cubicBezTo>
                <a:lnTo>
                  <a:pt x="0" y="70419"/>
                </a:lnTo>
                <a:cubicBezTo>
                  <a:pt x="0" y="31554"/>
                  <a:pt x="31554" y="0"/>
                  <a:pt x="7041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2817" dist="3521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244661" y="5255324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176058" y="0"/>
                </a:moveTo>
                <a:lnTo>
                  <a:pt x="176058" y="0"/>
                </a:lnTo>
                <a:cubicBezTo>
                  <a:pt x="273292" y="0"/>
                  <a:pt x="352116" y="78824"/>
                  <a:pt x="352116" y="176058"/>
                </a:cubicBezTo>
                <a:lnTo>
                  <a:pt x="352116" y="176058"/>
                </a:lnTo>
                <a:cubicBezTo>
                  <a:pt x="352116" y="273292"/>
                  <a:pt x="273292" y="352116"/>
                  <a:pt x="176058" y="352116"/>
                </a:cubicBezTo>
                <a:lnTo>
                  <a:pt x="176058" y="352116"/>
                </a:lnTo>
                <a:cubicBezTo>
                  <a:pt x="78824" y="352116"/>
                  <a:pt x="0" y="273292"/>
                  <a:pt x="0" y="176058"/>
                </a:cubicBezTo>
                <a:lnTo>
                  <a:pt x="0" y="176058"/>
                </a:lnTo>
                <a:cubicBezTo>
                  <a:pt x="0" y="78824"/>
                  <a:pt x="78824" y="0"/>
                  <a:pt x="176058" y="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54" name="Shape 52"/>
          <p:cNvSpPr/>
          <p:nvPr/>
        </p:nvSpPr>
        <p:spPr>
          <a:xfrm>
            <a:off x="8350296" y="5360959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132071" y="52817"/>
                </a:moveTo>
                <a:lnTo>
                  <a:pt x="134244" y="52817"/>
                </a:lnTo>
                <a:cubicBezTo>
                  <a:pt x="137903" y="52817"/>
                  <a:pt x="140846" y="49874"/>
                  <a:pt x="140846" y="46215"/>
                </a:cubicBezTo>
                <a:lnTo>
                  <a:pt x="140846" y="6602"/>
                </a:lnTo>
                <a:cubicBezTo>
                  <a:pt x="140846" y="3934"/>
                  <a:pt x="139251" y="1513"/>
                  <a:pt x="136775" y="495"/>
                </a:cubicBezTo>
                <a:cubicBezTo>
                  <a:pt x="134299" y="-523"/>
                  <a:pt x="131466" y="55"/>
                  <a:pt x="129568" y="1926"/>
                </a:cubicBezTo>
                <a:lnTo>
                  <a:pt x="115345" y="16175"/>
                </a:lnTo>
                <a:cubicBezTo>
                  <a:pt x="103159" y="6079"/>
                  <a:pt x="87479" y="0"/>
                  <a:pt x="70423" y="0"/>
                </a:cubicBezTo>
                <a:cubicBezTo>
                  <a:pt x="34936" y="0"/>
                  <a:pt x="5584" y="26244"/>
                  <a:pt x="715" y="60382"/>
                </a:cubicBezTo>
                <a:cubicBezTo>
                  <a:pt x="28" y="65196"/>
                  <a:pt x="3356" y="69653"/>
                  <a:pt x="8170" y="70341"/>
                </a:cubicBezTo>
                <a:cubicBezTo>
                  <a:pt x="12984" y="71028"/>
                  <a:pt x="17441" y="67672"/>
                  <a:pt x="18128" y="62886"/>
                </a:cubicBezTo>
                <a:cubicBezTo>
                  <a:pt x="21787" y="37275"/>
                  <a:pt x="43822" y="17606"/>
                  <a:pt x="70423" y="17606"/>
                </a:cubicBezTo>
                <a:cubicBezTo>
                  <a:pt x="82637" y="17606"/>
                  <a:pt x="93861" y="21732"/>
                  <a:pt x="102801" y="28692"/>
                </a:cubicBezTo>
                <a:lnTo>
                  <a:pt x="89955" y="41539"/>
                </a:lnTo>
                <a:cubicBezTo>
                  <a:pt x="88056" y="43437"/>
                  <a:pt x="87506" y="46270"/>
                  <a:pt x="88524" y="48746"/>
                </a:cubicBezTo>
                <a:cubicBezTo>
                  <a:pt x="89542" y="51222"/>
                  <a:pt x="91963" y="52817"/>
                  <a:pt x="94631" y="52817"/>
                </a:cubicBezTo>
                <a:lnTo>
                  <a:pt x="132071" y="52817"/>
                </a:lnTo>
                <a:close/>
                <a:moveTo>
                  <a:pt x="140158" y="80464"/>
                </a:moveTo>
                <a:cubicBezTo>
                  <a:pt x="140846" y="75650"/>
                  <a:pt x="137490" y="71193"/>
                  <a:pt x="132704" y="70506"/>
                </a:cubicBezTo>
                <a:cubicBezTo>
                  <a:pt x="127917" y="69818"/>
                  <a:pt x="123433" y="73174"/>
                  <a:pt x="122745" y="77961"/>
                </a:cubicBezTo>
                <a:cubicBezTo>
                  <a:pt x="119087" y="103544"/>
                  <a:pt x="97052" y="123213"/>
                  <a:pt x="70451" y="123213"/>
                </a:cubicBezTo>
                <a:cubicBezTo>
                  <a:pt x="58237" y="123213"/>
                  <a:pt x="47013" y="119087"/>
                  <a:pt x="38072" y="112127"/>
                </a:cubicBezTo>
                <a:lnTo>
                  <a:pt x="50892" y="99308"/>
                </a:lnTo>
                <a:cubicBezTo>
                  <a:pt x="52790" y="97409"/>
                  <a:pt x="53340" y="94576"/>
                  <a:pt x="52322" y="92100"/>
                </a:cubicBezTo>
                <a:cubicBezTo>
                  <a:pt x="51304" y="89624"/>
                  <a:pt x="48884" y="88029"/>
                  <a:pt x="46215" y="88029"/>
                </a:cubicBezTo>
                <a:lnTo>
                  <a:pt x="6602" y="88029"/>
                </a:lnTo>
                <a:cubicBezTo>
                  <a:pt x="2943" y="88029"/>
                  <a:pt x="0" y="90972"/>
                  <a:pt x="0" y="94631"/>
                </a:cubicBezTo>
                <a:lnTo>
                  <a:pt x="0" y="134244"/>
                </a:lnTo>
                <a:cubicBezTo>
                  <a:pt x="0" y="136912"/>
                  <a:pt x="1596" y="139333"/>
                  <a:pt x="4071" y="140351"/>
                </a:cubicBezTo>
                <a:cubicBezTo>
                  <a:pt x="6547" y="141369"/>
                  <a:pt x="9381" y="140791"/>
                  <a:pt x="11279" y="138921"/>
                </a:cubicBezTo>
                <a:lnTo>
                  <a:pt x="25528" y="124671"/>
                </a:lnTo>
                <a:cubicBezTo>
                  <a:pt x="37687" y="134767"/>
                  <a:pt x="53368" y="140846"/>
                  <a:pt x="70423" y="140846"/>
                </a:cubicBezTo>
                <a:cubicBezTo>
                  <a:pt x="105910" y="140846"/>
                  <a:pt x="135262" y="114603"/>
                  <a:pt x="140131" y="8046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5" name="Text 53"/>
          <p:cNvSpPr/>
          <p:nvPr/>
        </p:nvSpPr>
        <p:spPr>
          <a:xfrm>
            <a:off x="8667200" y="5308142"/>
            <a:ext cx="713034" cy="2464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产品迭代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244661" y="5677863"/>
            <a:ext cx="3521155" cy="457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试点本身是产品迭代的过程——</a:t>
            </a:r>
            <a:r>
              <a:rPr lang="en-US" sz="1110" b="1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酒店反馈的每一个问题，都是产品改进的方向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275" y="357275"/>
            <a:ext cx="11548905" cy="214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kern="0" spc="113" dirty="0">
                <a:solidFill>
                  <a:srgbClr val="B89A7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PARTNER PROFILE &amp; PROCESS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7275" y="643095"/>
            <a:ext cx="11638224" cy="357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适合的酒店类型与合作流程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7275" y="1107552"/>
            <a:ext cx="857459" cy="35727"/>
          </a:xfrm>
          <a:custGeom>
            <a:avLst/>
            <a:gdLst/>
            <a:ahLst/>
            <a:cxnLst/>
            <a:rect l="l" t="t" r="r" b="b"/>
            <a:pathLst>
              <a:path w="857459" h="35727">
                <a:moveTo>
                  <a:pt x="0" y="0"/>
                </a:moveTo>
                <a:lnTo>
                  <a:pt x="857459" y="0"/>
                </a:lnTo>
                <a:lnTo>
                  <a:pt x="857459" y="35727"/>
                </a:lnTo>
                <a:lnTo>
                  <a:pt x="0" y="35727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</p:spPr>
      </p:sp>
      <p:sp>
        <p:nvSpPr>
          <p:cNvPr id="5" name="Shape 3"/>
          <p:cNvSpPr/>
          <p:nvPr/>
        </p:nvSpPr>
        <p:spPr>
          <a:xfrm>
            <a:off x="357275" y="1286189"/>
            <a:ext cx="5636009" cy="4144387"/>
          </a:xfrm>
          <a:custGeom>
            <a:avLst/>
            <a:gdLst/>
            <a:ahLst/>
            <a:cxnLst/>
            <a:rect l="l" t="t" r="r" b="b"/>
            <a:pathLst>
              <a:path w="5636009" h="4144387">
                <a:moveTo>
                  <a:pt x="71449" y="0"/>
                </a:moveTo>
                <a:lnTo>
                  <a:pt x="5564560" y="0"/>
                </a:lnTo>
                <a:cubicBezTo>
                  <a:pt x="5604020" y="0"/>
                  <a:pt x="5636009" y="31989"/>
                  <a:pt x="5636009" y="71449"/>
                </a:cubicBezTo>
                <a:lnTo>
                  <a:pt x="5636009" y="4072938"/>
                </a:lnTo>
                <a:cubicBezTo>
                  <a:pt x="5636009" y="4112398"/>
                  <a:pt x="5604020" y="4144387"/>
                  <a:pt x="5564560" y="4144387"/>
                </a:cubicBezTo>
                <a:lnTo>
                  <a:pt x="71449" y="4144387"/>
                </a:lnTo>
                <a:cubicBezTo>
                  <a:pt x="31989" y="4144387"/>
                  <a:pt x="0" y="4112398"/>
                  <a:pt x="0" y="4072938"/>
                </a:cubicBezTo>
                <a:lnTo>
                  <a:pt x="0" y="71449"/>
                </a:lnTo>
                <a:cubicBezTo>
                  <a:pt x="0" y="32015"/>
                  <a:pt x="32015" y="0"/>
                  <a:pt x="7144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3591" dist="3572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5912" y="1464826"/>
            <a:ext cx="428730" cy="428730"/>
          </a:xfrm>
          <a:custGeom>
            <a:avLst/>
            <a:gdLst/>
            <a:ahLst/>
            <a:cxnLst/>
            <a:rect l="l" t="t" r="r" b="b"/>
            <a:pathLst>
              <a:path w="428730" h="428730">
                <a:moveTo>
                  <a:pt x="214365" y="0"/>
                </a:moveTo>
                <a:lnTo>
                  <a:pt x="214365" y="0"/>
                </a:lnTo>
                <a:cubicBezTo>
                  <a:pt x="332676" y="0"/>
                  <a:pt x="428730" y="96054"/>
                  <a:pt x="428730" y="214365"/>
                </a:cubicBezTo>
                <a:lnTo>
                  <a:pt x="428730" y="214365"/>
                </a:lnTo>
                <a:cubicBezTo>
                  <a:pt x="428730" y="332676"/>
                  <a:pt x="332676" y="428730"/>
                  <a:pt x="214365" y="428730"/>
                </a:cubicBezTo>
                <a:lnTo>
                  <a:pt x="214365" y="428730"/>
                </a:lnTo>
                <a:cubicBezTo>
                  <a:pt x="96054" y="428730"/>
                  <a:pt x="0" y="332676"/>
                  <a:pt x="0" y="214365"/>
                </a:cubicBezTo>
                <a:lnTo>
                  <a:pt x="0" y="214365"/>
                </a:lnTo>
                <a:cubicBezTo>
                  <a:pt x="0" y="96054"/>
                  <a:pt x="96054" y="0"/>
                  <a:pt x="214365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7" name="Shape 5"/>
          <p:cNvSpPr/>
          <p:nvPr/>
        </p:nvSpPr>
        <p:spPr>
          <a:xfrm>
            <a:off x="660958" y="1589873"/>
            <a:ext cx="178637" cy="178637"/>
          </a:xfrm>
          <a:custGeom>
            <a:avLst/>
            <a:gdLst/>
            <a:ahLst/>
            <a:cxnLst/>
            <a:rect l="l" t="t" r="r" b="b"/>
            <a:pathLst>
              <a:path w="178637" h="178637">
                <a:moveTo>
                  <a:pt x="5582" y="8374"/>
                </a:moveTo>
                <a:cubicBezTo>
                  <a:pt x="5582" y="3733"/>
                  <a:pt x="9316" y="0"/>
                  <a:pt x="13956" y="0"/>
                </a:cubicBezTo>
                <a:lnTo>
                  <a:pt x="164681" y="0"/>
                </a:lnTo>
                <a:cubicBezTo>
                  <a:pt x="169322" y="0"/>
                  <a:pt x="173055" y="3733"/>
                  <a:pt x="173055" y="8374"/>
                </a:cubicBezTo>
                <a:cubicBezTo>
                  <a:pt x="173055" y="13014"/>
                  <a:pt x="169322" y="16747"/>
                  <a:pt x="164681" y="16747"/>
                </a:cubicBezTo>
                <a:lnTo>
                  <a:pt x="161890" y="16747"/>
                </a:lnTo>
                <a:lnTo>
                  <a:pt x="161890" y="161890"/>
                </a:lnTo>
                <a:lnTo>
                  <a:pt x="164681" y="161890"/>
                </a:lnTo>
                <a:cubicBezTo>
                  <a:pt x="169322" y="161890"/>
                  <a:pt x="173055" y="165623"/>
                  <a:pt x="173055" y="170264"/>
                </a:cubicBezTo>
                <a:cubicBezTo>
                  <a:pt x="173055" y="174904"/>
                  <a:pt x="169322" y="178637"/>
                  <a:pt x="164681" y="178637"/>
                </a:cubicBezTo>
                <a:lnTo>
                  <a:pt x="13956" y="178637"/>
                </a:lnTo>
                <a:cubicBezTo>
                  <a:pt x="9316" y="178637"/>
                  <a:pt x="5582" y="174904"/>
                  <a:pt x="5582" y="170264"/>
                </a:cubicBezTo>
                <a:cubicBezTo>
                  <a:pt x="5582" y="165623"/>
                  <a:pt x="9316" y="161890"/>
                  <a:pt x="13956" y="161890"/>
                </a:cubicBezTo>
                <a:lnTo>
                  <a:pt x="16747" y="161890"/>
                </a:lnTo>
                <a:lnTo>
                  <a:pt x="16747" y="16747"/>
                </a:lnTo>
                <a:lnTo>
                  <a:pt x="13956" y="16747"/>
                </a:lnTo>
                <a:cubicBezTo>
                  <a:pt x="9316" y="16747"/>
                  <a:pt x="5582" y="13014"/>
                  <a:pt x="5582" y="8374"/>
                </a:cubicBezTo>
                <a:close/>
                <a:moveTo>
                  <a:pt x="78154" y="39077"/>
                </a:moveTo>
                <a:lnTo>
                  <a:pt x="78154" y="50242"/>
                </a:lnTo>
                <a:cubicBezTo>
                  <a:pt x="78154" y="53312"/>
                  <a:pt x="80666" y="55824"/>
                  <a:pt x="83736" y="55824"/>
                </a:cubicBezTo>
                <a:lnTo>
                  <a:pt x="94901" y="55824"/>
                </a:lnTo>
                <a:cubicBezTo>
                  <a:pt x="97971" y="55824"/>
                  <a:pt x="100484" y="53312"/>
                  <a:pt x="100484" y="50242"/>
                </a:cubicBezTo>
                <a:lnTo>
                  <a:pt x="100484" y="39077"/>
                </a:lnTo>
                <a:cubicBezTo>
                  <a:pt x="100484" y="36007"/>
                  <a:pt x="97971" y="33495"/>
                  <a:pt x="94901" y="33495"/>
                </a:cubicBezTo>
                <a:lnTo>
                  <a:pt x="83736" y="33495"/>
                </a:lnTo>
                <a:cubicBezTo>
                  <a:pt x="80666" y="33495"/>
                  <a:pt x="78154" y="36007"/>
                  <a:pt x="78154" y="39077"/>
                </a:cubicBezTo>
                <a:close/>
                <a:moveTo>
                  <a:pt x="44659" y="33495"/>
                </a:moveTo>
                <a:cubicBezTo>
                  <a:pt x="41589" y="33495"/>
                  <a:pt x="39077" y="36007"/>
                  <a:pt x="39077" y="39077"/>
                </a:cubicBezTo>
                <a:lnTo>
                  <a:pt x="39077" y="50242"/>
                </a:lnTo>
                <a:cubicBezTo>
                  <a:pt x="39077" y="53312"/>
                  <a:pt x="41589" y="55824"/>
                  <a:pt x="44659" y="55824"/>
                </a:cubicBezTo>
                <a:lnTo>
                  <a:pt x="55824" y="55824"/>
                </a:lnTo>
                <a:cubicBezTo>
                  <a:pt x="58895" y="55824"/>
                  <a:pt x="61407" y="53312"/>
                  <a:pt x="61407" y="50242"/>
                </a:cubicBezTo>
                <a:lnTo>
                  <a:pt x="61407" y="39077"/>
                </a:lnTo>
                <a:cubicBezTo>
                  <a:pt x="61407" y="36007"/>
                  <a:pt x="58895" y="33495"/>
                  <a:pt x="55824" y="33495"/>
                </a:cubicBezTo>
                <a:lnTo>
                  <a:pt x="44659" y="33495"/>
                </a:lnTo>
                <a:close/>
                <a:moveTo>
                  <a:pt x="78154" y="72571"/>
                </a:moveTo>
                <a:lnTo>
                  <a:pt x="78154" y="83736"/>
                </a:lnTo>
                <a:cubicBezTo>
                  <a:pt x="78154" y="86807"/>
                  <a:pt x="80666" y="89319"/>
                  <a:pt x="83736" y="89319"/>
                </a:cubicBezTo>
                <a:lnTo>
                  <a:pt x="94901" y="89319"/>
                </a:lnTo>
                <a:cubicBezTo>
                  <a:pt x="97971" y="89319"/>
                  <a:pt x="100484" y="86807"/>
                  <a:pt x="100484" y="83736"/>
                </a:cubicBezTo>
                <a:lnTo>
                  <a:pt x="100484" y="72571"/>
                </a:lnTo>
                <a:cubicBezTo>
                  <a:pt x="100484" y="69501"/>
                  <a:pt x="97971" y="66989"/>
                  <a:pt x="94901" y="66989"/>
                </a:cubicBezTo>
                <a:lnTo>
                  <a:pt x="83736" y="66989"/>
                </a:lnTo>
                <a:cubicBezTo>
                  <a:pt x="80666" y="66989"/>
                  <a:pt x="78154" y="69501"/>
                  <a:pt x="78154" y="72571"/>
                </a:cubicBezTo>
                <a:close/>
                <a:moveTo>
                  <a:pt x="122813" y="33495"/>
                </a:moveTo>
                <a:cubicBezTo>
                  <a:pt x="119743" y="33495"/>
                  <a:pt x="117231" y="36007"/>
                  <a:pt x="117231" y="39077"/>
                </a:cubicBezTo>
                <a:lnTo>
                  <a:pt x="117231" y="50242"/>
                </a:lnTo>
                <a:cubicBezTo>
                  <a:pt x="117231" y="53312"/>
                  <a:pt x="119743" y="55824"/>
                  <a:pt x="122813" y="55824"/>
                </a:cubicBezTo>
                <a:lnTo>
                  <a:pt x="133978" y="55824"/>
                </a:lnTo>
                <a:cubicBezTo>
                  <a:pt x="137048" y="55824"/>
                  <a:pt x="139560" y="53312"/>
                  <a:pt x="139560" y="50242"/>
                </a:cubicBezTo>
                <a:lnTo>
                  <a:pt x="139560" y="39077"/>
                </a:lnTo>
                <a:cubicBezTo>
                  <a:pt x="139560" y="36007"/>
                  <a:pt x="137048" y="33495"/>
                  <a:pt x="133978" y="33495"/>
                </a:cubicBezTo>
                <a:lnTo>
                  <a:pt x="122813" y="33495"/>
                </a:lnTo>
                <a:close/>
                <a:moveTo>
                  <a:pt x="39077" y="72571"/>
                </a:moveTo>
                <a:lnTo>
                  <a:pt x="39077" y="83736"/>
                </a:lnTo>
                <a:cubicBezTo>
                  <a:pt x="39077" y="86807"/>
                  <a:pt x="41589" y="89319"/>
                  <a:pt x="44659" y="89319"/>
                </a:cubicBezTo>
                <a:lnTo>
                  <a:pt x="55824" y="89319"/>
                </a:lnTo>
                <a:cubicBezTo>
                  <a:pt x="58895" y="89319"/>
                  <a:pt x="61407" y="86807"/>
                  <a:pt x="61407" y="83736"/>
                </a:cubicBezTo>
                <a:lnTo>
                  <a:pt x="61407" y="72571"/>
                </a:lnTo>
                <a:cubicBezTo>
                  <a:pt x="61407" y="69501"/>
                  <a:pt x="58895" y="66989"/>
                  <a:pt x="55824" y="66989"/>
                </a:cubicBezTo>
                <a:lnTo>
                  <a:pt x="44659" y="66989"/>
                </a:lnTo>
                <a:cubicBezTo>
                  <a:pt x="41589" y="66989"/>
                  <a:pt x="39077" y="69501"/>
                  <a:pt x="39077" y="72571"/>
                </a:cubicBezTo>
                <a:close/>
                <a:moveTo>
                  <a:pt x="122813" y="66989"/>
                </a:moveTo>
                <a:cubicBezTo>
                  <a:pt x="119743" y="66989"/>
                  <a:pt x="117231" y="69501"/>
                  <a:pt x="117231" y="72571"/>
                </a:cubicBezTo>
                <a:lnTo>
                  <a:pt x="117231" y="83736"/>
                </a:lnTo>
                <a:cubicBezTo>
                  <a:pt x="117231" y="86807"/>
                  <a:pt x="119743" y="89319"/>
                  <a:pt x="122813" y="89319"/>
                </a:cubicBezTo>
                <a:lnTo>
                  <a:pt x="133978" y="89319"/>
                </a:lnTo>
                <a:cubicBezTo>
                  <a:pt x="137048" y="89319"/>
                  <a:pt x="139560" y="86807"/>
                  <a:pt x="139560" y="83736"/>
                </a:cubicBezTo>
                <a:lnTo>
                  <a:pt x="139560" y="72571"/>
                </a:lnTo>
                <a:cubicBezTo>
                  <a:pt x="139560" y="69501"/>
                  <a:pt x="137048" y="66989"/>
                  <a:pt x="133978" y="66989"/>
                </a:cubicBezTo>
                <a:lnTo>
                  <a:pt x="122813" y="66989"/>
                </a:lnTo>
                <a:close/>
                <a:moveTo>
                  <a:pt x="100484" y="133978"/>
                </a:moveTo>
                <a:lnTo>
                  <a:pt x="115765" y="133978"/>
                </a:lnTo>
                <a:cubicBezTo>
                  <a:pt x="119220" y="133978"/>
                  <a:pt x="121871" y="130838"/>
                  <a:pt x="120650" y="127628"/>
                </a:cubicBezTo>
                <a:cubicBezTo>
                  <a:pt x="115835" y="115033"/>
                  <a:pt x="103624" y="106066"/>
                  <a:pt x="89354" y="106066"/>
                </a:cubicBezTo>
                <a:cubicBezTo>
                  <a:pt x="75084" y="106066"/>
                  <a:pt x="62872" y="115033"/>
                  <a:pt x="58057" y="127628"/>
                </a:cubicBezTo>
                <a:cubicBezTo>
                  <a:pt x="56836" y="130838"/>
                  <a:pt x="59488" y="133978"/>
                  <a:pt x="62942" y="133978"/>
                </a:cubicBezTo>
                <a:lnTo>
                  <a:pt x="78224" y="133978"/>
                </a:lnTo>
                <a:lnTo>
                  <a:pt x="78224" y="161890"/>
                </a:lnTo>
                <a:lnTo>
                  <a:pt x="100553" y="161890"/>
                </a:lnTo>
                <a:lnTo>
                  <a:pt x="100553" y="13397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071824" y="1536281"/>
            <a:ext cx="1822101" cy="285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什么样的酒店适合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8242" y="2072193"/>
            <a:ext cx="178637" cy="178637"/>
          </a:xfrm>
          <a:custGeom>
            <a:avLst/>
            <a:gdLst/>
            <a:ahLst/>
            <a:cxnLst/>
            <a:rect l="l" t="t" r="r" b="b"/>
            <a:pathLst>
              <a:path w="178637" h="178637">
                <a:moveTo>
                  <a:pt x="89319" y="178637"/>
                </a:moveTo>
                <a:cubicBezTo>
                  <a:pt x="138615" y="178637"/>
                  <a:pt x="178637" y="138615"/>
                  <a:pt x="178637" y="89319"/>
                </a:cubicBezTo>
                <a:cubicBezTo>
                  <a:pt x="178637" y="40022"/>
                  <a:pt x="138615" y="0"/>
                  <a:pt x="89319" y="0"/>
                </a:cubicBezTo>
                <a:cubicBezTo>
                  <a:pt x="40022" y="0"/>
                  <a:pt x="0" y="40022"/>
                  <a:pt x="0" y="89319"/>
                </a:cubicBezTo>
                <a:cubicBezTo>
                  <a:pt x="0" y="138615"/>
                  <a:pt x="40022" y="178637"/>
                  <a:pt x="89319" y="178637"/>
                </a:cubicBezTo>
                <a:close/>
                <a:moveTo>
                  <a:pt x="118766" y="74211"/>
                </a:moveTo>
                <a:lnTo>
                  <a:pt x="90854" y="118871"/>
                </a:lnTo>
                <a:cubicBezTo>
                  <a:pt x="89388" y="121208"/>
                  <a:pt x="86876" y="122674"/>
                  <a:pt x="84120" y="122813"/>
                </a:cubicBezTo>
                <a:cubicBezTo>
                  <a:pt x="81364" y="122953"/>
                  <a:pt x="78712" y="121697"/>
                  <a:pt x="77072" y="119464"/>
                </a:cubicBezTo>
                <a:lnTo>
                  <a:pt x="60325" y="97134"/>
                </a:lnTo>
                <a:cubicBezTo>
                  <a:pt x="57534" y="93436"/>
                  <a:pt x="58301" y="88202"/>
                  <a:pt x="62000" y="85411"/>
                </a:cubicBezTo>
                <a:cubicBezTo>
                  <a:pt x="65698" y="82620"/>
                  <a:pt x="70932" y="83387"/>
                  <a:pt x="73723" y="87086"/>
                </a:cubicBezTo>
                <a:lnTo>
                  <a:pt x="83143" y="99646"/>
                </a:lnTo>
                <a:lnTo>
                  <a:pt x="104566" y="65349"/>
                </a:lnTo>
                <a:cubicBezTo>
                  <a:pt x="107008" y="61441"/>
                  <a:pt x="112172" y="60220"/>
                  <a:pt x="116114" y="62698"/>
                </a:cubicBezTo>
                <a:cubicBezTo>
                  <a:pt x="120057" y="65175"/>
                  <a:pt x="121243" y="70304"/>
                  <a:pt x="118766" y="74246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10" name="Text 8"/>
          <p:cNvSpPr/>
          <p:nvPr/>
        </p:nvSpPr>
        <p:spPr>
          <a:xfrm>
            <a:off x="866391" y="2036466"/>
            <a:ext cx="3563815" cy="214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在本地市场有一定的客源基础（</a:t>
            </a:r>
            <a:r>
              <a:rPr lang="en-US" sz="1125" dirty="0">
                <a:solidFill>
                  <a:srgbClr val="2A5A5B"/>
                </a:solidFill>
                <a:highlight>
                  <a:srgbClr val="D8A252">
                    <a:alpha val="2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携程评分4.5以上 </a:t>
            </a:r>
            <a:r>
              <a:rPr lang="en-US" sz="1125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更佳）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8242" y="2358013"/>
            <a:ext cx="178637" cy="178637"/>
          </a:xfrm>
          <a:custGeom>
            <a:avLst/>
            <a:gdLst/>
            <a:ahLst/>
            <a:cxnLst/>
            <a:rect l="l" t="t" r="r" b="b"/>
            <a:pathLst>
              <a:path w="178637" h="178637">
                <a:moveTo>
                  <a:pt x="89319" y="178637"/>
                </a:moveTo>
                <a:cubicBezTo>
                  <a:pt x="138615" y="178637"/>
                  <a:pt x="178637" y="138615"/>
                  <a:pt x="178637" y="89319"/>
                </a:cubicBezTo>
                <a:cubicBezTo>
                  <a:pt x="178637" y="40022"/>
                  <a:pt x="138615" y="0"/>
                  <a:pt x="89319" y="0"/>
                </a:cubicBezTo>
                <a:cubicBezTo>
                  <a:pt x="40022" y="0"/>
                  <a:pt x="0" y="40022"/>
                  <a:pt x="0" y="89319"/>
                </a:cubicBezTo>
                <a:cubicBezTo>
                  <a:pt x="0" y="138615"/>
                  <a:pt x="40022" y="178637"/>
                  <a:pt x="89319" y="178637"/>
                </a:cubicBezTo>
                <a:close/>
                <a:moveTo>
                  <a:pt x="118766" y="74211"/>
                </a:moveTo>
                <a:lnTo>
                  <a:pt x="90854" y="118871"/>
                </a:lnTo>
                <a:cubicBezTo>
                  <a:pt x="89388" y="121208"/>
                  <a:pt x="86876" y="122674"/>
                  <a:pt x="84120" y="122813"/>
                </a:cubicBezTo>
                <a:cubicBezTo>
                  <a:pt x="81364" y="122953"/>
                  <a:pt x="78712" y="121697"/>
                  <a:pt x="77072" y="119464"/>
                </a:cubicBezTo>
                <a:lnTo>
                  <a:pt x="60325" y="97134"/>
                </a:lnTo>
                <a:cubicBezTo>
                  <a:pt x="57534" y="93436"/>
                  <a:pt x="58301" y="88202"/>
                  <a:pt x="62000" y="85411"/>
                </a:cubicBezTo>
                <a:cubicBezTo>
                  <a:pt x="65698" y="82620"/>
                  <a:pt x="70932" y="83387"/>
                  <a:pt x="73723" y="87086"/>
                </a:cubicBezTo>
                <a:lnTo>
                  <a:pt x="83143" y="99646"/>
                </a:lnTo>
                <a:lnTo>
                  <a:pt x="104566" y="65349"/>
                </a:lnTo>
                <a:cubicBezTo>
                  <a:pt x="107008" y="61441"/>
                  <a:pt x="112172" y="60220"/>
                  <a:pt x="116114" y="62698"/>
                </a:cubicBezTo>
                <a:cubicBezTo>
                  <a:pt x="120057" y="65175"/>
                  <a:pt x="121243" y="70304"/>
                  <a:pt x="118766" y="74246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12" name="Text 10"/>
          <p:cNvSpPr/>
          <p:nvPr/>
        </p:nvSpPr>
        <p:spPr>
          <a:xfrm>
            <a:off x="866391" y="2322286"/>
            <a:ext cx="2215103" cy="214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管理团队对</a:t>
            </a:r>
            <a:r>
              <a:rPr lang="en-US" sz="1125" b="1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数字化运营有开放心态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8242" y="2643833"/>
            <a:ext cx="178637" cy="178637"/>
          </a:xfrm>
          <a:custGeom>
            <a:avLst/>
            <a:gdLst/>
            <a:ahLst/>
            <a:cxnLst/>
            <a:rect l="l" t="t" r="r" b="b"/>
            <a:pathLst>
              <a:path w="178637" h="178637">
                <a:moveTo>
                  <a:pt x="89319" y="178637"/>
                </a:moveTo>
                <a:cubicBezTo>
                  <a:pt x="138615" y="178637"/>
                  <a:pt x="178637" y="138615"/>
                  <a:pt x="178637" y="89319"/>
                </a:cubicBezTo>
                <a:cubicBezTo>
                  <a:pt x="178637" y="40022"/>
                  <a:pt x="138615" y="0"/>
                  <a:pt x="89319" y="0"/>
                </a:cubicBezTo>
                <a:cubicBezTo>
                  <a:pt x="40022" y="0"/>
                  <a:pt x="0" y="40022"/>
                  <a:pt x="0" y="89319"/>
                </a:cubicBezTo>
                <a:cubicBezTo>
                  <a:pt x="0" y="138615"/>
                  <a:pt x="40022" y="178637"/>
                  <a:pt x="89319" y="178637"/>
                </a:cubicBezTo>
                <a:close/>
                <a:moveTo>
                  <a:pt x="118766" y="74211"/>
                </a:moveTo>
                <a:lnTo>
                  <a:pt x="90854" y="118871"/>
                </a:lnTo>
                <a:cubicBezTo>
                  <a:pt x="89388" y="121208"/>
                  <a:pt x="86876" y="122674"/>
                  <a:pt x="84120" y="122813"/>
                </a:cubicBezTo>
                <a:cubicBezTo>
                  <a:pt x="81364" y="122953"/>
                  <a:pt x="78712" y="121697"/>
                  <a:pt x="77072" y="119464"/>
                </a:cubicBezTo>
                <a:lnTo>
                  <a:pt x="60325" y="97134"/>
                </a:lnTo>
                <a:cubicBezTo>
                  <a:pt x="57534" y="93436"/>
                  <a:pt x="58301" y="88202"/>
                  <a:pt x="62000" y="85411"/>
                </a:cubicBezTo>
                <a:cubicBezTo>
                  <a:pt x="65698" y="82620"/>
                  <a:pt x="70932" y="83387"/>
                  <a:pt x="73723" y="87086"/>
                </a:cubicBezTo>
                <a:lnTo>
                  <a:pt x="83143" y="99646"/>
                </a:lnTo>
                <a:lnTo>
                  <a:pt x="104566" y="65349"/>
                </a:lnTo>
                <a:cubicBezTo>
                  <a:pt x="107008" y="61441"/>
                  <a:pt x="112172" y="60220"/>
                  <a:pt x="116114" y="62698"/>
                </a:cubicBezTo>
                <a:cubicBezTo>
                  <a:pt x="120057" y="65175"/>
                  <a:pt x="121243" y="70304"/>
                  <a:pt x="118766" y="74246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14" name="Text 12"/>
          <p:cNvSpPr/>
          <p:nvPr/>
        </p:nvSpPr>
        <p:spPr>
          <a:xfrm>
            <a:off x="866391" y="2608105"/>
            <a:ext cx="2643833" cy="214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日常运营中有</a:t>
            </a:r>
            <a:r>
              <a:rPr lang="en-US" sz="1125" b="1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使用微信与客人沟通</a:t>
            </a:r>
            <a:r>
              <a:rPr lang="en-US" sz="1125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的场景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8242" y="2929653"/>
            <a:ext cx="178637" cy="178637"/>
          </a:xfrm>
          <a:custGeom>
            <a:avLst/>
            <a:gdLst/>
            <a:ahLst/>
            <a:cxnLst/>
            <a:rect l="l" t="t" r="r" b="b"/>
            <a:pathLst>
              <a:path w="178637" h="178637">
                <a:moveTo>
                  <a:pt x="89319" y="178637"/>
                </a:moveTo>
                <a:cubicBezTo>
                  <a:pt x="138615" y="178637"/>
                  <a:pt x="178637" y="138615"/>
                  <a:pt x="178637" y="89319"/>
                </a:cubicBezTo>
                <a:cubicBezTo>
                  <a:pt x="178637" y="40022"/>
                  <a:pt x="138615" y="0"/>
                  <a:pt x="89319" y="0"/>
                </a:cubicBezTo>
                <a:cubicBezTo>
                  <a:pt x="40022" y="0"/>
                  <a:pt x="0" y="40022"/>
                  <a:pt x="0" y="89319"/>
                </a:cubicBezTo>
                <a:cubicBezTo>
                  <a:pt x="0" y="138615"/>
                  <a:pt x="40022" y="178637"/>
                  <a:pt x="89319" y="178637"/>
                </a:cubicBezTo>
                <a:close/>
                <a:moveTo>
                  <a:pt x="118766" y="74211"/>
                </a:moveTo>
                <a:lnTo>
                  <a:pt x="90854" y="118871"/>
                </a:lnTo>
                <a:cubicBezTo>
                  <a:pt x="89388" y="121208"/>
                  <a:pt x="86876" y="122674"/>
                  <a:pt x="84120" y="122813"/>
                </a:cubicBezTo>
                <a:cubicBezTo>
                  <a:pt x="81364" y="122953"/>
                  <a:pt x="78712" y="121697"/>
                  <a:pt x="77072" y="119464"/>
                </a:cubicBezTo>
                <a:lnTo>
                  <a:pt x="60325" y="97134"/>
                </a:lnTo>
                <a:cubicBezTo>
                  <a:pt x="57534" y="93436"/>
                  <a:pt x="58301" y="88202"/>
                  <a:pt x="62000" y="85411"/>
                </a:cubicBezTo>
                <a:cubicBezTo>
                  <a:pt x="65698" y="82620"/>
                  <a:pt x="70932" y="83387"/>
                  <a:pt x="73723" y="87086"/>
                </a:cubicBezTo>
                <a:lnTo>
                  <a:pt x="83143" y="99646"/>
                </a:lnTo>
                <a:lnTo>
                  <a:pt x="104566" y="65349"/>
                </a:lnTo>
                <a:cubicBezTo>
                  <a:pt x="107008" y="61441"/>
                  <a:pt x="112172" y="60220"/>
                  <a:pt x="116114" y="62698"/>
                </a:cubicBezTo>
                <a:cubicBezTo>
                  <a:pt x="120057" y="65175"/>
                  <a:pt x="121243" y="70304"/>
                  <a:pt x="118766" y="74246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16" name="Text 14"/>
          <p:cNvSpPr/>
          <p:nvPr/>
        </p:nvSpPr>
        <p:spPr>
          <a:xfrm>
            <a:off x="866391" y="2893925"/>
            <a:ext cx="2759947" cy="214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有OTA在售房间（携程/美团/飞猪等平台）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8242" y="3215473"/>
            <a:ext cx="178637" cy="178637"/>
          </a:xfrm>
          <a:custGeom>
            <a:avLst/>
            <a:gdLst/>
            <a:ahLst/>
            <a:cxnLst/>
            <a:rect l="l" t="t" r="r" b="b"/>
            <a:pathLst>
              <a:path w="178637" h="178637">
                <a:moveTo>
                  <a:pt x="89319" y="178637"/>
                </a:moveTo>
                <a:cubicBezTo>
                  <a:pt x="138615" y="178637"/>
                  <a:pt x="178637" y="138615"/>
                  <a:pt x="178637" y="89319"/>
                </a:cubicBezTo>
                <a:cubicBezTo>
                  <a:pt x="178637" y="40022"/>
                  <a:pt x="138615" y="0"/>
                  <a:pt x="89319" y="0"/>
                </a:cubicBezTo>
                <a:cubicBezTo>
                  <a:pt x="40022" y="0"/>
                  <a:pt x="0" y="40022"/>
                  <a:pt x="0" y="89319"/>
                </a:cubicBezTo>
                <a:cubicBezTo>
                  <a:pt x="0" y="138615"/>
                  <a:pt x="40022" y="178637"/>
                  <a:pt x="89319" y="178637"/>
                </a:cubicBezTo>
                <a:close/>
                <a:moveTo>
                  <a:pt x="118766" y="74211"/>
                </a:moveTo>
                <a:lnTo>
                  <a:pt x="90854" y="118871"/>
                </a:lnTo>
                <a:cubicBezTo>
                  <a:pt x="89388" y="121208"/>
                  <a:pt x="86876" y="122674"/>
                  <a:pt x="84120" y="122813"/>
                </a:cubicBezTo>
                <a:cubicBezTo>
                  <a:pt x="81364" y="122953"/>
                  <a:pt x="78712" y="121697"/>
                  <a:pt x="77072" y="119464"/>
                </a:cubicBezTo>
                <a:lnTo>
                  <a:pt x="60325" y="97134"/>
                </a:lnTo>
                <a:cubicBezTo>
                  <a:pt x="57534" y="93436"/>
                  <a:pt x="58301" y="88202"/>
                  <a:pt x="62000" y="85411"/>
                </a:cubicBezTo>
                <a:cubicBezTo>
                  <a:pt x="65698" y="82620"/>
                  <a:pt x="70932" y="83387"/>
                  <a:pt x="73723" y="87086"/>
                </a:cubicBezTo>
                <a:lnTo>
                  <a:pt x="83143" y="99646"/>
                </a:lnTo>
                <a:lnTo>
                  <a:pt x="104566" y="65349"/>
                </a:lnTo>
                <a:cubicBezTo>
                  <a:pt x="107008" y="61441"/>
                  <a:pt x="112172" y="60220"/>
                  <a:pt x="116114" y="62698"/>
                </a:cubicBezTo>
                <a:cubicBezTo>
                  <a:pt x="120057" y="65175"/>
                  <a:pt x="121243" y="70304"/>
                  <a:pt x="118766" y="74246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18" name="Text 16"/>
          <p:cNvSpPr/>
          <p:nvPr/>
        </p:nvSpPr>
        <p:spPr>
          <a:xfrm>
            <a:off x="866391" y="3179745"/>
            <a:ext cx="3501292" cy="214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单体酒店或小型连锁</a:t>
            </a:r>
            <a:r>
              <a:rPr lang="en-US" sz="1125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（非大型集团总部统一管理项目）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04648" y="1286189"/>
            <a:ext cx="5636009" cy="4144387"/>
          </a:xfrm>
          <a:custGeom>
            <a:avLst/>
            <a:gdLst/>
            <a:ahLst/>
            <a:cxnLst/>
            <a:rect l="l" t="t" r="r" b="b"/>
            <a:pathLst>
              <a:path w="5636009" h="4144387">
                <a:moveTo>
                  <a:pt x="71449" y="0"/>
                </a:moveTo>
                <a:lnTo>
                  <a:pt x="5564560" y="0"/>
                </a:lnTo>
                <a:cubicBezTo>
                  <a:pt x="5604020" y="0"/>
                  <a:pt x="5636009" y="31989"/>
                  <a:pt x="5636009" y="71449"/>
                </a:cubicBezTo>
                <a:lnTo>
                  <a:pt x="5636009" y="4072938"/>
                </a:lnTo>
                <a:cubicBezTo>
                  <a:pt x="5636009" y="4112398"/>
                  <a:pt x="5604020" y="4144387"/>
                  <a:pt x="5564560" y="4144387"/>
                </a:cubicBezTo>
                <a:lnTo>
                  <a:pt x="71449" y="4144387"/>
                </a:lnTo>
                <a:cubicBezTo>
                  <a:pt x="31989" y="4144387"/>
                  <a:pt x="0" y="4112398"/>
                  <a:pt x="0" y="4072938"/>
                </a:cubicBezTo>
                <a:lnTo>
                  <a:pt x="0" y="71449"/>
                </a:lnTo>
                <a:cubicBezTo>
                  <a:pt x="0" y="32015"/>
                  <a:pt x="32015" y="0"/>
                  <a:pt x="7144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3591" dist="3572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83285" y="1464826"/>
            <a:ext cx="428730" cy="428730"/>
          </a:xfrm>
          <a:custGeom>
            <a:avLst/>
            <a:gdLst/>
            <a:ahLst/>
            <a:cxnLst/>
            <a:rect l="l" t="t" r="r" b="b"/>
            <a:pathLst>
              <a:path w="428730" h="428730">
                <a:moveTo>
                  <a:pt x="214365" y="0"/>
                </a:moveTo>
                <a:lnTo>
                  <a:pt x="214365" y="0"/>
                </a:lnTo>
                <a:cubicBezTo>
                  <a:pt x="332676" y="0"/>
                  <a:pt x="428730" y="96054"/>
                  <a:pt x="428730" y="214365"/>
                </a:cubicBezTo>
                <a:lnTo>
                  <a:pt x="428730" y="214365"/>
                </a:lnTo>
                <a:cubicBezTo>
                  <a:pt x="428730" y="332676"/>
                  <a:pt x="332676" y="428730"/>
                  <a:pt x="214365" y="428730"/>
                </a:cubicBezTo>
                <a:lnTo>
                  <a:pt x="214365" y="428730"/>
                </a:lnTo>
                <a:cubicBezTo>
                  <a:pt x="96054" y="428730"/>
                  <a:pt x="0" y="332676"/>
                  <a:pt x="0" y="214365"/>
                </a:cubicBezTo>
                <a:lnTo>
                  <a:pt x="0" y="214365"/>
                </a:lnTo>
                <a:cubicBezTo>
                  <a:pt x="0" y="96054"/>
                  <a:pt x="96054" y="0"/>
                  <a:pt x="214365" y="0"/>
                </a:cubicBezTo>
                <a:close/>
              </a:path>
            </a:pathLst>
          </a:custGeom>
          <a:solidFill>
            <a:srgbClr val="B89A7A"/>
          </a:solidFill>
        </p:spPr>
      </p:sp>
      <p:sp>
        <p:nvSpPr>
          <p:cNvPr id="21" name="Shape 19"/>
          <p:cNvSpPr/>
          <p:nvPr/>
        </p:nvSpPr>
        <p:spPr>
          <a:xfrm>
            <a:off x="6508331" y="1589873"/>
            <a:ext cx="178637" cy="178637"/>
          </a:xfrm>
          <a:custGeom>
            <a:avLst/>
            <a:gdLst/>
            <a:ahLst/>
            <a:cxnLst/>
            <a:rect l="l" t="t" r="r" b="b"/>
            <a:pathLst>
              <a:path w="178637" h="178637">
                <a:moveTo>
                  <a:pt x="178637" y="33495"/>
                </a:moveTo>
                <a:cubicBezTo>
                  <a:pt x="178637" y="51009"/>
                  <a:pt x="158017" y="77142"/>
                  <a:pt x="149120" y="87574"/>
                </a:cubicBezTo>
                <a:cubicBezTo>
                  <a:pt x="147795" y="89109"/>
                  <a:pt x="145841" y="89702"/>
                  <a:pt x="144061" y="89319"/>
                </a:cubicBezTo>
                <a:lnTo>
                  <a:pt x="111648" y="89319"/>
                </a:lnTo>
                <a:cubicBezTo>
                  <a:pt x="105473" y="89319"/>
                  <a:pt x="100484" y="94308"/>
                  <a:pt x="100484" y="100484"/>
                </a:cubicBezTo>
                <a:cubicBezTo>
                  <a:pt x="100484" y="106659"/>
                  <a:pt x="105473" y="111648"/>
                  <a:pt x="111648" y="111648"/>
                </a:cubicBezTo>
                <a:lnTo>
                  <a:pt x="145143" y="111648"/>
                </a:lnTo>
                <a:cubicBezTo>
                  <a:pt x="163635" y="111648"/>
                  <a:pt x="178637" y="126651"/>
                  <a:pt x="178637" y="145143"/>
                </a:cubicBezTo>
                <a:cubicBezTo>
                  <a:pt x="178637" y="163635"/>
                  <a:pt x="163635" y="178637"/>
                  <a:pt x="145143" y="178637"/>
                </a:cubicBezTo>
                <a:lnTo>
                  <a:pt x="48707" y="178637"/>
                </a:lnTo>
                <a:cubicBezTo>
                  <a:pt x="51742" y="175183"/>
                  <a:pt x="55440" y="170752"/>
                  <a:pt x="59174" y="165798"/>
                </a:cubicBezTo>
                <a:cubicBezTo>
                  <a:pt x="61372" y="162867"/>
                  <a:pt x="63640" y="159657"/>
                  <a:pt x="65803" y="156308"/>
                </a:cubicBezTo>
                <a:lnTo>
                  <a:pt x="145143" y="156308"/>
                </a:lnTo>
                <a:cubicBezTo>
                  <a:pt x="151318" y="156308"/>
                  <a:pt x="156308" y="151318"/>
                  <a:pt x="156308" y="145143"/>
                </a:cubicBezTo>
                <a:cubicBezTo>
                  <a:pt x="156308" y="138967"/>
                  <a:pt x="151318" y="133978"/>
                  <a:pt x="145143" y="133978"/>
                </a:cubicBezTo>
                <a:lnTo>
                  <a:pt x="111648" y="133978"/>
                </a:lnTo>
                <a:cubicBezTo>
                  <a:pt x="93157" y="133978"/>
                  <a:pt x="78154" y="118975"/>
                  <a:pt x="78154" y="100484"/>
                </a:cubicBezTo>
                <a:cubicBezTo>
                  <a:pt x="78154" y="81992"/>
                  <a:pt x="93157" y="66989"/>
                  <a:pt x="111648" y="66989"/>
                </a:cubicBezTo>
                <a:lnTo>
                  <a:pt x="125535" y="66989"/>
                </a:lnTo>
                <a:cubicBezTo>
                  <a:pt x="118208" y="55999"/>
                  <a:pt x="111648" y="43368"/>
                  <a:pt x="111648" y="33495"/>
                </a:cubicBezTo>
                <a:cubicBezTo>
                  <a:pt x="111648" y="15003"/>
                  <a:pt x="126651" y="0"/>
                  <a:pt x="145143" y="0"/>
                </a:cubicBezTo>
                <a:cubicBezTo>
                  <a:pt x="163635" y="0"/>
                  <a:pt x="178637" y="15003"/>
                  <a:pt x="178637" y="33495"/>
                </a:cubicBezTo>
                <a:close/>
                <a:moveTo>
                  <a:pt x="40856" y="170648"/>
                </a:moveTo>
                <a:cubicBezTo>
                  <a:pt x="39530" y="172148"/>
                  <a:pt x="38344" y="173474"/>
                  <a:pt x="37332" y="174590"/>
                </a:cubicBezTo>
                <a:lnTo>
                  <a:pt x="36704" y="175288"/>
                </a:lnTo>
                <a:lnTo>
                  <a:pt x="36635" y="175218"/>
                </a:lnTo>
                <a:cubicBezTo>
                  <a:pt x="34541" y="176823"/>
                  <a:pt x="31541" y="176614"/>
                  <a:pt x="29657" y="174590"/>
                </a:cubicBezTo>
                <a:cubicBezTo>
                  <a:pt x="20864" y="165030"/>
                  <a:pt x="0" y="140433"/>
                  <a:pt x="0" y="122813"/>
                </a:cubicBezTo>
                <a:cubicBezTo>
                  <a:pt x="0" y="104321"/>
                  <a:pt x="15003" y="89319"/>
                  <a:pt x="33495" y="89319"/>
                </a:cubicBezTo>
                <a:cubicBezTo>
                  <a:pt x="51986" y="89319"/>
                  <a:pt x="66989" y="104321"/>
                  <a:pt x="66989" y="122813"/>
                </a:cubicBezTo>
                <a:cubicBezTo>
                  <a:pt x="66989" y="133280"/>
                  <a:pt x="59627" y="146190"/>
                  <a:pt x="51812" y="156971"/>
                </a:cubicBezTo>
                <a:cubicBezTo>
                  <a:pt x="48079" y="162099"/>
                  <a:pt x="44241" y="166740"/>
                  <a:pt x="41066" y="170403"/>
                </a:cubicBezTo>
                <a:lnTo>
                  <a:pt x="40856" y="170648"/>
                </a:lnTo>
                <a:close/>
                <a:moveTo>
                  <a:pt x="44659" y="122813"/>
                </a:moveTo>
                <a:cubicBezTo>
                  <a:pt x="44659" y="116651"/>
                  <a:pt x="39657" y="111648"/>
                  <a:pt x="33495" y="111648"/>
                </a:cubicBezTo>
                <a:cubicBezTo>
                  <a:pt x="27332" y="111648"/>
                  <a:pt x="22330" y="116651"/>
                  <a:pt x="22330" y="122813"/>
                </a:cubicBezTo>
                <a:cubicBezTo>
                  <a:pt x="22330" y="128975"/>
                  <a:pt x="27332" y="133978"/>
                  <a:pt x="33495" y="133978"/>
                </a:cubicBezTo>
                <a:cubicBezTo>
                  <a:pt x="39657" y="133978"/>
                  <a:pt x="44659" y="128975"/>
                  <a:pt x="44659" y="122813"/>
                </a:cubicBezTo>
                <a:close/>
                <a:moveTo>
                  <a:pt x="145143" y="44659"/>
                </a:moveTo>
                <a:cubicBezTo>
                  <a:pt x="151305" y="44659"/>
                  <a:pt x="156308" y="39657"/>
                  <a:pt x="156308" y="33495"/>
                </a:cubicBezTo>
                <a:cubicBezTo>
                  <a:pt x="156308" y="27332"/>
                  <a:pt x="151305" y="22330"/>
                  <a:pt x="145143" y="22330"/>
                </a:cubicBezTo>
                <a:cubicBezTo>
                  <a:pt x="138981" y="22330"/>
                  <a:pt x="133978" y="27332"/>
                  <a:pt x="133978" y="33495"/>
                </a:cubicBezTo>
                <a:cubicBezTo>
                  <a:pt x="133978" y="39657"/>
                  <a:pt x="138981" y="44659"/>
                  <a:pt x="145143" y="4465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6919197" y="1536281"/>
            <a:ext cx="964642" cy="285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合作流程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83285" y="2036466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24" name="Text 22"/>
          <p:cNvSpPr/>
          <p:nvPr/>
        </p:nvSpPr>
        <p:spPr>
          <a:xfrm>
            <a:off x="6343092" y="2036466"/>
            <a:ext cx="437662" cy="357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5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47742" y="2036466"/>
            <a:ext cx="4894664" cy="2500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5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互相了解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47742" y="2322286"/>
            <a:ext cx="4885732" cy="214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我们了解酒店运营现状、痛点、期待；酒店了解我们的服务内容和合作方式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65606" y="2599174"/>
            <a:ext cx="142910" cy="142910"/>
          </a:xfrm>
          <a:custGeom>
            <a:avLst/>
            <a:gdLst/>
            <a:ahLst/>
            <a:cxnLst/>
            <a:rect l="l" t="t" r="r" b="b"/>
            <a:pathLst>
              <a:path w="142910" h="142910">
                <a:moveTo>
                  <a:pt x="71455" y="0"/>
                </a:moveTo>
                <a:cubicBezTo>
                  <a:pt x="110892" y="0"/>
                  <a:pt x="142910" y="32018"/>
                  <a:pt x="142910" y="71455"/>
                </a:cubicBezTo>
                <a:cubicBezTo>
                  <a:pt x="142910" y="110892"/>
                  <a:pt x="110892" y="142910"/>
                  <a:pt x="71455" y="142910"/>
                </a:cubicBezTo>
                <a:cubicBezTo>
                  <a:pt x="32018" y="142910"/>
                  <a:pt x="0" y="110892"/>
                  <a:pt x="0" y="71455"/>
                </a:cubicBezTo>
                <a:cubicBezTo>
                  <a:pt x="0" y="32018"/>
                  <a:pt x="32018" y="0"/>
                  <a:pt x="71455" y="0"/>
                </a:cubicBezTo>
                <a:close/>
                <a:moveTo>
                  <a:pt x="64756" y="33495"/>
                </a:moveTo>
                <a:lnTo>
                  <a:pt x="64756" y="71455"/>
                </a:lnTo>
                <a:cubicBezTo>
                  <a:pt x="64756" y="73688"/>
                  <a:pt x="65873" y="75781"/>
                  <a:pt x="67743" y="77037"/>
                </a:cubicBezTo>
                <a:lnTo>
                  <a:pt x="94538" y="94901"/>
                </a:lnTo>
                <a:cubicBezTo>
                  <a:pt x="97609" y="96967"/>
                  <a:pt x="101767" y="96129"/>
                  <a:pt x="103833" y="93031"/>
                </a:cubicBezTo>
                <a:cubicBezTo>
                  <a:pt x="105898" y="89933"/>
                  <a:pt x="105061" y="85802"/>
                  <a:pt x="101963" y="83736"/>
                </a:cubicBezTo>
                <a:lnTo>
                  <a:pt x="78154" y="67882"/>
                </a:lnTo>
                <a:lnTo>
                  <a:pt x="78154" y="33495"/>
                </a:lnTo>
                <a:cubicBezTo>
                  <a:pt x="78154" y="29782"/>
                  <a:pt x="75167" y="26796"/>
                  <a:pt x="71455" y="26796"/>
                </a:cubicBezTo>
                <a:cubicBezTo>
                  <a:pt x="67743" y="26796"/>
                  <a:pt x="64756" y="29782"/>
                  <a:pt x="64756" y="33495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28" name="Text 26"/>
          <p:cNvSpPr/>
          <p:nvPr/>
        </p:nvSpPr>
        <p:spPr>
          <a:xfrm>
            <a:off x="7051507" y="2572378"/>
            <a:ext cx="4681967" cy="214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D8A25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30分钟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83285" y="2858198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B89A7A"/>
          </a:solidFill>
        </p:spPr>
      </p:sp>
      <p:sp>
        <p:nvSpPr>
          <p:cNvPr id="30" name="Text 28"/>
          <p:cNvSpPr/>
          <p:nvPr/>
        </p:nvSpPr>
        <p:spPr>
          <a:xfrm>
            <a:off x="6343092" y="2858198"/>
            <a:ext cx="437662" cy="357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5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47742" y="2858198"/>
            <a:ext cx="4894664" cy="2500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5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确认范围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47742" y="3144018"/>
            <a:ext cx="4885732" cy="214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共同确定试点周期、重点服务模块、评估指标，签订简单试点合作协议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865606" y="3420905"/>
            <a:ext cx="142910" cy="142910"/>
          </a:xfrm>
          <a:custGeom>
            <a:avLst/>
            <a:gdLst/>
            <a:ahLst/>
            <a:cxnLst/>
            <a:rect l="l" t="t" r="r" b="b"/>
            <a:pathLst>
              <a:path w="142910" h="142910">
                <a:moveTo>
                  <a:pt x="71455" y="0"/>
                </a:moveTo>
                <a:cubicBezTo>
                  <a:pt x="110892" y="0"/>
                  <a:pt x="142910" y="32018"/>
                  <a:pt x="142910" y="71455"/>
                </a:cubicBezTo>
                <a:cubicBezTo>
                  <a:pt x="142910" y="110892"/>
                  <a:pt x="110892" y="142910"/>
                  <a:pt x="71455" y="142910"/>
                </a:cubicBezTo>
                <a:cubicBezTo>
                  <a:pt x="32018" y="142910"/>
                  <a:pt x="0" y="110892"/>
                  <a:pt x="0" y="71455"/>
                </a:cubicBezTo>
                <a:cubicBezTo>
                  <a:pt x="0" y="32018"/>
                  <a:pt x="32018" y="0"/>
                  <a:pt x="71455" y="0"/>
                </a:cubicBezTo>
                <a:close/>
                <a:moveTo>
                  <a:pt x="64756" y="33495"/>
                </a:moveTo>
                <a:lnTo>
                  <a:pt x="64756" y="71455"/>
                </a:lnTo>
                <a:cubicBezTo>
                  <a:pt x="64756" y="73688"/>
                  <a:pt x="65873" y="75781"/>
                  <a:pt x="67743" y="77037"/>
                </a:cubicBezTo>
                <a:lnTo>
                  <a:pt x="94538" y="94901"/>
                </a:lnTo>
                <a:cubicBezTo>
                  <a:pt x="97609" y="96967"/>
                  <a:pt x="101767" y="96129"/>
                  <a:pt x="103833" y="93031"/>
                </a:cubicBezTo>
                <a:cubicBezTo>
                  <a:pt x="105898" y="89933"/>
                  <a:pt x="105061" y="85802"/>
                  <a:pt x="101963" y="83736"/>
                </a:cubicBezTo>
                <a:lnTo>
                  <a:pt x="78154" y="67882"/>
                </a:lnTo>
                <a:lnTo>
                  <a:pt x="78154" y="33495"/>
                </a:lnTo>
                <a:cubicBezTo>
                  <a:pt x="78154" y="29782"/>
                  <a:pt x="75167" y="26796"/>
                  <a:pt x="71455" y="26796"/>
                </a:cubicBezTo>
                <a:cubicBezTo>
                  <a:pt x="67743" y="26796"/>
                  <a:pt x="64756" y="29782"/>
                  <a:pt x="64756" y="33495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34" name="Text 32"/>
          <p:cNvSpPr/>
          <p:nvPr/>
        </p:nvSpPr>
        <p:spPr>
          <a:xfrm>
            <a:off x="7051507" y="3394110"/>
            <a:ext cx="4681967" cy="214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D8A25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1天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83285" y="3679930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36" name="Text 34"/>
          <p:cNvSpPr/>
          <p:nvPr/>
        </p:nvSpPr>
        <p:spPr>
          <a:xfrm>
            <a:off x="6343092" y="3679930"/>
            <a:ext cx="437662" cy="357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5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47742" y="3679930"/>
            <a:ext cx="4894664" cy="2500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5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进场部署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47742" y="3965749"/>
            <a:ext cx="4885732" cy="214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完成系统对接和初始化配置，对酒店相关人员进行培训，正式启动试点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65606" y="4242637"/>
            <a:ext cx="142910" cy="142910"/>
          </a:xfrm>
          <a:custGeom>
            <a:avLst/>
            <a:gdLst/>
            <a:ahLst/>
            <a:cxnLst/>
            <a:rect l="l" t="t" r="r" b="b"/>
            <a:pathLst>
              <a:path w="142910" h="142910">
                <a:moveTo>
                  <a:pt x="71455" y="0"/>
                </a:moveTo>
                <a:cubicBezTo>
                  <a:pt x="110892" y="0"/>
                  <a:pt x="142910" y="32018"/>
                  <a:pt x="142910" y="71455"/>
                </a:cubicBezTo>
                <a:cubicBezTo>
                  <a:pt x="142910" y="110892"/>
                  <a:pt x="110892" y="142910"/>
                  <a:pt x="71455" y="142910"/>
                </a:cubicBezTo>
                <a:cubicBezTo>
                  <a:pt x="32018" y="142910"/>
                  <a:pt x="0" y="110892"/>
                  <a:pt x="0" y="71455"/>
                </a:cubicBezTo>
                <a:cubicBezTo>
                  <a:pt x="0" y="32018"/>
                  <a:pt x="32018" y="0"/>
                  <a:pt x="71455" y="0"/>
                </a:cubicBezTo>
                <a:close/>
                <a:moveTo>
                  <a:pt x="64756" y="33495"/>
                </a:moveTo>
                <a:lnTo>
                  <a:pt x="64756" y="71455"/>
                </a:lnTo>
                <a:cubicBezTo>
                  <a:pt x="64756" y="73688"/>
                  <a:pt x="65873" y="75781"/>
                  <a:pt x="67743" y="77037"/>
                </a:cubicBezTo>
                <a:lnTo>
                  <a:pt x="94538" y="94901"/>
                </a:lnTo>
                <a:cubicBezTo>
                  <a:pt x="97609" y="96967"/>
                  <a:pt x="101767" y="96129"/>
                  <a:pt x="103833" y="93031"/>
                </a:cubicBezTo>
                <a:cubicBezTo>
                  <a:pt x="105898" y="89933"/>
                  <a:pt x="105061" y="85802"/>
                  <a:pt x="101963" y="83736"/>
                </a:cubicBezTo>
                <a:lnTo>
                  <a:pt x="78154" y="67882"/>
                </a:lnTo>
                <a:lnTo>
                  <a:pt x="78154" y="33495"/>
                </a:lnTo>
                <a:cubicBezTo>
                  <a:pt x="78154" y="29782"/>
                  <a:pt x="75167" y="26796"/>
                  <a:pt x="71455" y="26796"/>
                </a:cubicBezTo>
                <a:cubicBezTo>
                  <a:pt x="67743" y="26796"/>
                  <a:pt x="64756" y="29782"/>
                  <a:pt x="64756" y="33495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40" name="Text 38"/>
          <p:cNvSpPr/>
          <p:nvPr/>
        </p:nvSpPr>
        <p:spPr>
          <a:xfrm>
            <a:off x="7051507" y="4215842"/>
            <a:ext cx="4681967" cy="214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D8A25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1-3天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83285" y="4501662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42" name="Text 40"/>
          <p:cNvSpPr/>
          <p:nvPr/>
        </p:nvSpPr>
        <p:spPr>
          <a:xfrm>
            <a:off x="6343092" y="4501662"/>
            <a:ext cx="437662" cy="357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5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47742" y="4501662"/>
            <a:ext cx="4894664" cy="2500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5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月度跟踪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47742" y="4787481"/>
            <a:ext cx="4885732" cy="214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每月提供数据报告，每月一次复盘沟通，持续优化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847742" y="5064369"/>
            <a:ext cx="178637" cy="142910"/>
          </a:xfrm>
          <a:custGeom>
            <a:avLst/>
            <a:gdLst/>
            <a:ahLst/>
            <a:cxnLst/>
            <a:rect l="l" t="t" r="r" b="b"/>
            <a:pathLst>
              <a:path w="178637" h="142910">
                <a:moveTo>
                  <a:pt x="0" y="71455"/>
                </a:moveTo>
                <a:cubicBezTo>
                  <a:pt x="0" y="46781"/>
                  <a:pt x="19985" y="26796"/>
                  <a:pt x="44659" y="26796"/>
                </a:cubicBezTo>
                <a:cubicBezTo>
                  <a:pt x="58727" y="26796"/>
                  <a:pt x="71957" y="33411"/>
                  <a:pt x="80387" y="44659"/>
                </a:cubicBezTo>
                <a:lnTo>
                  <a:pt x="89319" y="56578"/>
                </a:lnTo>
                <a:lnTo>
                  <a:pt x="98251" y="44659"/>
                </a:lnTo>
                <a:cubicBezTo>
                  <a:pt x="106680" y="33411"/>
                  <a:pt x="119910" y="26796"/>
                  <a:pt x="133978" y="26796"/>
                </a:cubicBezTo>
                <a:cubicBezTo>
                  <a:pt x="158652" y="26796"/>
                  <a:pt x="178637" y="46781"/>
                  <a:pt x="178637" y="71455"/>
                </a:cubicBezTo>
                <a:cubicBezTo>
                  <a:pt x="178637" y="96129"/>
                  <a:pt x="158652" y="116114"/>
                  <a:pt x="133978" y="116114"/>
                </a:cubicBezTo>
                <a:cubicBezTo>
                  <a:pt x="119910" y="116114"/>
                  <a:pt x="106680" y="109499"/>
                  <a:pt x="98251" y="98251"/>
                </a:cubicBezTo>
                <a:lnTo>
                  <a:pt x="89319" y="86332"/>
                </a:lnTo>
                <a:lnTo>
                  <a:pt x="80387" y="98251"/>
                </a:lnTo>
                <a:cubicBezTo>
                  <a:pt x="71957" y="109499"/>
                  <a:pt x="58727" y="116114"/>
                  <a:pt x="44659" y="116114"/>
                </a:cubicBezTo>
                <a:cubicBezTo>
                  <a:pt x="19985" y="116114"/>
                  <a:pt x="0" y="96129"/>
                  <a:pt x="0" y="71455"/>
                </a:cubicBezTo>
                <a:close/>
                <a:moveTo>
                  <a:pt x="78154" y="71455"/>
                </a:moveTo>
                <a:lnTo>
                  <a:pt x="66096" y="55378"/>
                </a:lnTo>
                <a:cubicBezTo>
                  <a:pt x="61044" y="48623"/>
                  <a:pt x="53089" y="44659"/>
                  <a:pt x="44659" y="44659"/>
                </a:cubicBezTo>
                <a:cubicBezTo>
                  <a:pt x="29866" y="44659"/>
                  <a:pt x="17864" y="56662"/>
                  <a:pt x="17864" y="71455"/>
                </a:cubicBezTo>
                <a:cubicBezTo>
                  <a:pt x="17864" y="86248"/>
                  <a:pt x="29866" y="98251"/>
                  <a:pt x="44659" y="98251"/>
                </a:cubicBezTo>
                <a:cubicBezTo>
                  <a:pt x="53089" y="98251"/>
                  <a:pt x="61044" y="94287"/>
                  <a:pt x="66096" y="87532"/>
                </a:cubicBezTo>
                <a:lnTo>
                  <a:pt x="78154" y="71455"/>
                </a:lnTo>
                <a:close/>
                <a:moveTo>
                  <a:pt x="100484" y="71455"/>
                </a:moveTo>
                <a:lnTo>
                  <a:pt x="112542" y="87532"/>
                </a:lnTo>
                <a:cubicBezTo>
                  <a:pt x="117594" y="94287"/>
                  <a:pt x="125549" y="98251"/>
                  <a:pt x="133978" y="98251"/>
                </a:cubicBezTo>
                <a:cubicBezTo>
                  <a:pt x="148771" y="98251"/>
                  <a:pt x="160774" y="86248"/>
                  <a:pt x="160774" y="71455"/>
                </a:cubicBezTo>
                <a:cubicBezTo>
                  <a:pt x="160774" y="56662"/>
                  <a:pt x="148771" y="44659"/>
                  <a:pt x="133978" y="44659"/>
                </a:cubicBezTo>
                <a:cubicBezTo>
                  <a:pt x="125549" y="44659"/>
                  <a:pt x="117594" y="48623"/>
                  <a:pt x="112542" y="55378"/>
                </a:cubicBezTo>
                <a:lnTo>
                  <a:pt x="100484" y="71455"/>
                </a:lnTo>
                <a:close/>
              </a:path>
            </a:pathLst>
          </a:custGeom>
          <a:solidFill>
            <a:srgbClr val="D8A252"/>
          </a:solidFill>
        </p:spPr>
      </p:sp>
      <p:sp>
        <p:nvSpPr>
          <p:cNvPr id="46" name="Text 44"/>
          <p:cNvSpPr/>
          <p:nvPr/>
        </p:nvSpPr>
        <p:spPr>
          <a:xfrm>
            <a:off x="7051507" y="5037574"/>
            <a:ext cx="4681967" cy="214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D8A25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持续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75138" y="5573486"/>
            <a:ext cx="11459587" cy="500185"/>
          </a:xfrm>
          <a:custGeom>
            <a:avLst/>
            <a:gdLst/>
            <a:ahLst/>
            <a:cxnLst/>
            <a:rect l="l" t="t" r="r" b="b"/>
            <a:pathLst>
              <a:path w="11459587" h="500185">
                <a:moveTo>
                  <a:pt x="35727" y="0"/>
                </a:moveTo>
                <a:lnTo>
                  <a:pt x="11388130" y="0"/>
                </a:lnTo>
                <a:cubicBezTo>
                  <a:pt x="11427595" y="0"/>
                  <a:pt x="11459587" y="31992"/>
                  <a:pt x="11459587" y="71456"/>
                </a:cubicBezTo>
                <a:lnTo>
                  <a:pt x="11459587" y="428728"/>
                </a:lnTo>
                <a:cubicBezTo>
                  <a:pt x="11459587" y="468193"/>
                  <a:pt x="11427595" y="500185"/>
                  <a:pt x="11388130" y="500185"/>
                </a:cubicBezTo>
                <a:lnTo>
                  <a:pt x="35727" y="500185"/>
                </a:lnTo>
                <a:cubicBezTo>
                  <a:pt x="15996" y="500185"/>
                  <a:pt x="0" y="484189"/>
                  <a:pt x="0" y="464457"/>
                </a:cubicBezTo>
                <a:lnTo>
                  <a:pt x="0" y="35727"/>
                </a:lnTo>
                <a:cubicBezTo>
                  <a:pt x="0" y="16009"/>
                  <a:pt x="16009" y="0"/>
                  <a:pt x="35727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375138" y="5573486"/>
            <a:ext cx="35727" cy="500185"/>
          </a:xfrm>
          <a:custGeom>
            <a:avLst/>
            <a:gdLst/>
            <a:ahLst/>
            <a:cxnLst/>
            <a:rect l="l" t="t" r="r" b="b"/>
            <a:pathLst>
              <a:path w="35727" h="500185">
                <a:moveTo>
                  <a:pt x="35727" y="0"/>
                </a:moveTo>
                <a:lnTo>
                  <a:pt x="35727" y="0"/>
                </a:lnTo>
                <a:lnTo>
                  <a:pt x="35727" y="500185"/>
                </a:lnTo>
                <a:lnTo>
                  <a:pt x="35727" y="500185"/>
                </a:lnTo>
                <a:cubicBezTo>
                  <a:pt x="15996" y="500185"/>
                  <a:pt x="0" y="484189"/>
                  <a:pt x="0" y="464457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49" name="Shape 47"/>
          <p:cNvSpPr/>
          <p:nvPr/>
        </p:nvSpPr>
        <p:spPr>
          <a:xfrm>
            <a:off x="544844" y="5743191"/>
            <a:ext cx="160774" cy="142910"/>
          </a:xfrm>
          <a:custGeom>
            <a:avLst/>
            <a:gdLst/>
            <a:ahLst/>
            <a:cxnLst/>
            <a:rect l="l" t="t" r="r" b="b"/>
            <a:pathLst>
              <a:path w="160774" h="142910">
                <a:moveTo>
                  <a:pt x="86388" y="-5275"/>
                </a:moveTo>
                <a:cubicBezTo>
                  <a:pt x="85244" y="-7508"/>
                  <a:pt x="82927" y="-8932"/>
                  <a:pt x="80415" y="-8932"/>
                </a:cubicBezTo>
                <a:cubicBezTo>
                  <a:pt x="77903" y="-8932"/>
                  <a:pt x="75586" y="-7508"/>
                  <a:pt x="74442" y="-5275"/>
                </a:cubicBezTo>
                <a:lnTo>
                  <a:pt x="53898" y="34974"/>
                </a:lnTo>
                <a:lnTo>
                  <a:pt x="9267" y="42064"/>
                </a:lnTo>
                <a:cubicBezTo>
                  <a:pt x="6783" y="42454"/>
                  <a:pt x="4717" y="44213"/>
                  <a:pt x="3936" y="46613"/>
                </a:cubicBezTo>
                <a:cubicBezTo>
                  <a:pt x="3154" y="49014"/>
                  <a:pt x="3796" y="51637"/>
                  <a:pt x="5555" y="53424"/>
                </a:cubicBezTo>
                <a:lnTo>
                  <a:pt x="37486" y="85383"/>
                </a:lnTo>
                <a:lnTo>
                  <a:pt x="30452" y="130015"/>
                </a:lnTo>
                <a:cubicBezTo>
                  <a:pt x="30061" y="132499"/>
                  <a:pt x="31094" y="135011"/>
                  <a:pt x="33132" y="136490"/>
                </a:cubicBezTo>
                <a:cubicBezTo>
                  <a:pt x="35169" y="137969"/>
                  <a:pt x="37849" y="138193"/>
                  <a:pt x="40110" y="137048"/>
                </a:cubicBezTo>
                <a:lnTo>
                  <a:pt x="80415" y="116561"/>
                </a:lnTo>
                <a:lnTo>
                  <a:pt x="120692" y="137048"/>
                </a:lnTo>
                <a:cubicBezTo>
                  <a:pt x="122925" y="138193"/>
                  <a:pt x="125632" y="137969"/>
                  <a:pt x="127670" y="136490"/>
                </a:cubicBezTo>
                <a:cubicBezTo>
                  <a:pt x="129707" y="135011"/>
                  <a:pt x="130740" y="132527"/>
                  <a:pt x="130349" y="130015"/>
                </a:cubicBezTo>
                <a:lnTo>
                  <a:pt x="123288" y="85383"/>
                </a:lnTo>
                <a:lnTo>
                  <a:pt x="155219" y="53424"/>
                </a:lnTo>
                <a:cubicBezTo>
                  <a:pt x="157005" y="51637"/>
                  <a:pt x="157620" y="49014"/>
                  <a:pt x="156838" y="46613"/>
                </a:cubicBezTo>
                <a:cubicBezTo>
                  <a:pt x="156056" y="44213"/>
                  <a:pt x="154019" y="42454"/>
                  <a:pt x="151507" y="42064"/>
                </a:cubicBezTo>
                <a:lnTo>
                  <a:pt x="106903" y="34974"/>
                </a:lnTo>
                <a:lnTo>
                  <a:pt x="86388" y="-5275"/>
                </a:lnTo>
                <a:close/>
              </a:path>
            </a:pathLst>
          </a:custGeom>
          <a:solidFill>
            <a:srgbClr val="D8A252"/>
          </a:solidFill>
        </p:spPr>
      </p:sp>
      <p:sp>
        <p:nvSpPr>
          <p:cNvPr id="50" name="Text 48"/>
          <p:cNvSpPr/>
          <p:nvPr/>
        </p:nvSpPr>
        <p:spPr>
          <a:xfrm>
            <a:off x="764803" y="5716396"/>
            <a:ext cx="10998467" cy="214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试点承诺：</a:t>
            </a:r>
            <a:r>
              <a:rPr lang="en-US" sz="1125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不需要任何投入，我们带着技术、工具和团队来驻点，目标是：让贵酒店的线上获客能力、私域运营效率、宾客满意度，在试点期内看到</a:t>
            </a:r>
            <a:r>
              <a:rPr lang="en-US" sz="1125" dirty="0">
                <a:solidFill>
                  <a:srgbClr val="2A5A5B"/>
                </a:solidFill>
                <a:highlight>
                  <a:srgbClr val="D8A252">
                    <a:alpha val="3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可量化的提升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B89A7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CORE ADVANTAGES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核心优势总结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</p:spPr>
      </p:sp>
      <p:sp>
        <p:nvSpPr>
          <p:cNvPr id="5" name="Shape 3"/>
          <p:cNvSpPr/>
          <p:nvPr/>
        </p:nvSpPr>
        <p:spPr>
          <a:xfrm>
            <a:off x="381000" y="1371600"/>
            <a:ext cx="5619750" cy="3771900"/>
          </a:xfrm>
          <a:custGeom>
            <a:avLst/>
            <a:gdLst/>
            <a:ahLst/>
            <a:cxnLst/>
            <a:rect l="l" t="t" r="r" b="b"/>
            <a:pathLst>
              <a:path w="5619750" h="3771900">
                <a:moveTo>
                  <a:pt x="76192" y="0"/>
                </a:moveTo>
                <a:lnTo>
                  <a:pt x="5543558" y="0"/>
                </a:lnTo>
                <a:cubicBezTo>
                  <a:pt x="5585638" y="0"/>
                  <a:pt x="5619750" y="34112"/>
                  <a:pt x="5619750" y="76192"/>
                </a:cubicBezTo>
                <a:lnTo>
                  <a:pt x="5619750" y="3695708"/>
                </a:lnTo>
                <a:cubicBezTo>
                  <a:pt x="5619750" y="3737788"/>
                  <a:pt x="5585638" y="3771900"/>
                  <a:pt x="5543558" y="3771900"/>
                </a:cubicBezTo>
                <a:lnTo>
                  <a:pt x="76192" y="3771900"/>
                </a:lnTo>
                <a:cubicBezTo>
                  <a:pt x="34112" y="3771900"/>
                  <a:pt x="0" y="3737788"/>
                  <a:pt x="0" y="36957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7" name="Shape 5"/>
          <p:cNvSpPr/>
          <p:nvPr/>
        </p:nvSpPr>
        <p:spPr>
          <a:xfrm>
            <a:off x="716756" y="16954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lose/>
                <a:moveTo>
                  <a:pt x="71996" y="113109"/>
                </a:moveTo>
                <a:lnTo>
                  <a:pt x="94692" y="113109"/>
                </a:lnTo>
                <a:cubicBezTo>
                  <a:pt x="98301" y="113109"/>
                  <a:pt x="101203" y="116012"/>
                  <a:pt x="101203" y="119621"/>
                </a:cubicBezTo>
                <a:cubicBezTo>
                  <a:pt x="101203" y="121183"/>
                  <a:pt x="100645" y="122672"/>
                  <a:pt x="99640" y="123862"/>
                </a:cubicBezTo>
                <a:lnTo>
                  <a:pt x="89446" y="135768"/>
                </a:lnTo>
                <a:lnTo>
                  <a:pt x="100980" y="178594"/>
                </a:lnTo>
                <a:lnTo>
                  <a:pt x="101203" y="178594"/>
                </a:lnTo>
                <a:lnTo>
                  <a:pt x="114077" y="127062"/>
                </a:lnTo>
                <a:cubicBezTo>
                  <a:pt x="114895" y="123825"/>
                  <a:pt x="118207" y="121853"/>
                  <a:pt x="121332" y="123044"/>
                </a:cubicBezTo>
                <a:cubicBezTo>
                  <a:pt x="144363" y="131825"/>
                  <a:pt x="160734" y="154149"/>
                  <a:pt x="160734" y="180268"/>
                </a:cubicBezTo>
                <a:cubicBezTo>
                  <a:pt x="160734" y="185886"/>
                  <a:pt x="156158" y="190463"/>
                  <a:pt x="150540" y="190463"/>
                </a:cubicBezTo>
                <a:lnTo>
                  <a:pt x="16148" y="190500"/>
                </a:lnTo>
                <a:cubicBezTo>
                  <a:pt x="10530" y="190500"/>
                  <a:pt x="5953" y="185924"/>
                  <a:pt x="5953" y="180305"/>
                </a:cubicBezTo>
                <a:cubicBezTo>
                  <a:pt x="5953" y="154186"/>
                  <a:pt x="22324" y="131862"/>
                  <a:pt x="45355" y="123081"/>
                </a:cubicBezTo>
                <a:cubicBezTo>
                  <a:pt x="48481" y="121890"/>
                  <a:pt x="51792" y="123862"/>
                  <a:pt x="52611" y="127099"/>
                </a:cubicBezTo>
                <a:lnTo>
                  <a:pt x="65484" y="178631"/>
                </a:lnTo>
                <a:lnTo>
                  <a:pt x="65708" y="178631"/>
                </a:lnTo>
                <a:lnTo>
                  <a:pt x="77242" y="135806"/>
                </a:lnTo>
                <a:lnTo>
                  <a:pt x="67047" y="123899"/>
                </a:lnTo>
                <a:cubicBezTo>
                  <a:pt x="66042" y="122709"/>
                  <a:pt x="65484" y="121221"/>
                  <a:pt x="65484" y="119658"/>
                </a:cubicBezTo>
                <a:cubicBezTo>
                  <a:pt x="65484" y="116049"/>
                  <a:pt x="68387" y="113147"/>
                  <a:pt x="71996" y="11314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143000" y="163830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对酒店管理层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2209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A5A5B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647700" y="2286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2A5A5B"/>
          </a:solidFill>
        </p:spPr>
      </p:sp>
      <p:sp>
        <p:nvSpPr>
          <p:cNvPr id="11" name="Text 9"/>
          <p:cNvSpPr/>
          <p:nvPr/>
        </p:nvSpPr>
        <p:spPr>
          <a:xfrm>
            <a:off x="990600" y="2171700"/>
            <a:ext cx="2952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收益管理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0600" y="2438400"/>
            <a:ext cx="2952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AI自动分析竞品、给出调价建议，一键执行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2781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B89A7A">
              <a:alpha val="10196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628650" y="28575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57163" y="38100"/>
                </a:moveTo>
                <a:cubicBezTo>
                  <a:pt x="159782" y="38100"/>
                  <a:pt x="161925" y="40243"/>
                  <a:pt x="161925" y="42863"/>
                </a:cubicBezTo>
                <a:lnTo>
                  <a:pt x="161925" y="109537"/>
                </a:lnTo>
                <a:cubicBezTo>
                  <a:pt x="161925" y="112157"/>
                  <a:pt x="159782" y="114300"/>
                  <a:pt x="157163" y="114300"/>
                </a:cubicBezTo>
                <a:lnTo>
                  <a:pt x="33338" y="114300"/>
                </a:lnTo>
                <a:cubicBezTo>
                  <a:pt x="30718" y="114300"/>
                  <a:pt x="28575" y="112157"/>
                  <a:pt x="28575" y="109537"/>
                </a:cubicBezTo>
                <a:lnTo>
                  <a:pt x="28575" y="42863"/>
                </a:lnTo>
                <a:cubicBezTo>
                  <a:pt x="28575" y="40243"/>
                  <a:pt x="30718" y="38100"/>
                  <a:pt x="33338" y="38100"/>
                </a:cubicBezTo>
                <a:lnTo>
                  <a:pt x="157163" y="38100"/>
                </a:lnTo>
                <a:close/>
                <a:moveTo>
                  <a:pt x="33338" y="19050"/>
                </a:moveTo>
                <a:cubicBezTo>
                  <a:pt x="20181" y="19050"/>
                  <a:pt x="9525" y="29706"/>
                  <a:pt x="9525" y="42863"/>
                </a:cubicBezTo>
                <a:lnTo>
                  <a:pt x="9525" y="109537"/>
                </a:lnTo>
                <a:cubicBezTo>
                  <a:pt x="9525" y="122694"/>
                  <a:pt x="20181" y="133350"/>
                  <a:pt x="33338" y="133350"/>
                </a:cubicBezTo>
                <a:lnTo>
                  <a:pt x="157163" y="133350"/>
                </a:lnTo>
                <a:cubicBezTo>
                  <a:pt x="170319" y="133350"/>
                  <a:pt x="180975" y="122694"/>
                  <a:pt x="180975" y="109537"/>
                </a:cubicBezTo>
                <a:lnTo>
                  <a:pt x="180975" y="95250"/>
                </a:lnTo>
                <a:cubicBezTo>
                  <a:pt x="186244" y="95250"/>
                  <a:pt x="190500" y="90994"/>
                  <a:pt x="190500" y="85725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lnTo>
                  <a:pt x="180975" y="42863"/>
                </a:lnTo>
                <a:cubicBezTo>
                  <a:pt x="180975" y="29706"/>
                  <a:pt x="170319" y="19050"/>
                  <a:pt x="157163" y="19050"/>
                </a:cubicBezTo>
                <a:lnTo>
                  <a:pt x="33338" y="19050"/>
                </a:lnTo>
                <a:close/>
                <a:moveTo>
                  <a:pt x="50006" y="52388"/>
                </a:moveTo>
                <a:cubicBezTo>
                  <a:pt x="46047" y="52388"/>
                  <a:pt x="42863" y="55572"/>
                  <a:pt x="42863" y="59531"/>
                </a:cubicBezTo>
                <a:lnTo>
                  <a:pt x="42863" y="92869"/>
                </a:lnTo>
                <a:cubicBezTo>
                  <a:pt x="42863" y="96828"/>
                  <a:pt x="46047" y="100013"/>
                  <a:pt x="50006" y="100013"/>
                </a:cubicBezTo>
                <a:lnTo>
                  <a:pt x="140494" y="100013"/>
                </a:lnTo>
                <a:cubicBezTo>
                  <a:pt x="144453" y="100013"/>
                  <a:pt x="147638" y="96828"/>
                  <a:pt x="147638" y="92869"/>
                </a:cubicBezTo>
                <a:lnTo>
                  <a:pt x="147638" y="59531"/>
                </a:lnTo>
                <a:cubicBezTo>
                  <a:pt x="147638" y="55572"/>
                  <a:pt x="144453" y="52388"/>
                  <a:pt x="140494" y="52388"/>
                </a:cubicBezTo>
                <a:lnTo>
                  <a:pt x="50006" y="52388"/>
                </a:lnTo>
                <a:close/>
              </a:path>
            </a:pathLst>
          </a:custGeom>
          <a:solidFill>
            <a:srgbClr val="B89A7A"/>
          </a:solidFill>
        </p:spPr>
      </p:sp>
      <p:sp>
        <p:nvSpPr>
          <p:cNvPr id="15" name="Text 13"/>
          <p:cNvSpPr/>
          <p:nvPr/>
        </p:nvSpPr>
        <p:spPr>
          <a:xfrm>
            <a:off x="990600" y="2743200"/>
            <a:ext cx="2524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运营减负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0600" y="3009900"/>
            <a:ext cx="2524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AI客服7x24小时接待，减少人力消耗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335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647700" y="3429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232" y="95816"/>
                </a:moveTo>
                <a:cubicBezTo>
                  <a:pt x="55305" y="104150"/>
                  <a:pt x="65127" y="109537"/>
                  <a:pt x="76200" y="109537"/>
                </a:cubicBezTo>
                <a:cubicBezTo>
                  <a:pt x="87273" y="109537"/>
                  <a:pt x="97095" y="104150"/>
                  <a:pt x="103168" y="95816"/>
                </a:cubicBezTo>
                <a:cubicBezTo>
                  <a:pt x="105489" y="92631"/>
                  <a:pt x="109954" y="91916"/>
                  <a:pt x="113139" y="94238"/>
                </a:cubicBezTo>
                <a:cubicBezTo>
                  <a:pt x="116324" y="96560"/>
                  <a:pt x="117038" y="101025"/>
                  <a:pt x="114717" y="104209"/>
                </a:cubicBezTo>
                <a:cubicBezTo>
                  <a:pt x="106055" y="116086"/>
                  <a:pt x="92035" y="123825"/>
                  <a:pt x="76200" y="123825"/>
                </a:cubicBezTo>
                <a:cubicBezTo>
                  <a:pt x="60365" y="123825"/>
                  <a:pt x="46345" y="116086"/>
                  <a:pt x="37683" y="104209"/>
                </a:cubicBezTo>
                <a:cubicBezTo>
                  <a:pt x="35362" y="101025"/>
                  <a:pt x="36076" y="96560"/>
                  <a:pt x="39261" y="94238"/>
                </a:cubicBezTo>
                <a:cubicBezTo>
                  <a:pt x="42446" y="91916"/>
                  <a:pt x="46911" y="92631"/>
                  <a:pt x="49232" y="95816"/>
                </a:cubicBezTo>
                <a:close/>
                <a:moveTo>
                  <a:pt x="42863" y="61912"/>
                </a:moveTo>
                <a:cubicBezTo>
                  <a:pt x="42863" y="56656"/>
                  <a:pt x="47131" y="52388"/>
                  <a:pt x="52388" y="52388"/>
                </a:cubicBezTo>
                <a:cubicBezTo>
                  <a:pt x="57644" y="52388"/>
                  <a:pt x="61912" y="56656"/>
                  <a:pt x="61912" y="61912"/>
                </a:cubicBezTo>
                <a:cubicBezTo>
                  <a:pt x="61912" y="67169"/>
                  <a:pt x="57644" y="71438"/>
                  <a:pt x="52388" y="71438"/>
                </a:cubicBezTo>
                <a:cubicBezTo>
                  <a:pt x="47131" y="71438"/>
                  <a:pt x="42863" y="67169"/>
                  <a:pt x="42863" y="61912"/>
                </a:cubicBezTo>
                <a:close/>
                <a:moveTo>
                  <a:pt x="100013" y="52388"/>
                </a:moveTo>
                <a:cubicBezTo>
                  <a:pt x="105269" y="52388"/>
                  <a:pt x="109537" y="56656"/>
                  <a:pt x="109537" y="61912"/>
                </a:cubicBezTo>
                <a:cubicBezTo>
                  <a:pt x="109537" y="67169"/>
                  <a:pt x="105269" y="71438"/>
                  <a:pt x="100013" y="71438"/>
                </a:cubicBezTo>
                <a:cubicBezTo>
                  <a:pt x="94756" y="71438"/>
                  <a:pt x="90488" y="67169"/>
                  <a:pt x="90488" y="61912"/>
                </a:cubicBezTo>
                <a:cubicBezTo>
                  <a:pt x="90488" y="56656"/>
                  <a:pt x="94756" y="52388"/>
                  <a:pt x="100013" y="52388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19" name="Text 17"/>
          <p:cNvSpPr/>
          <p:nvPr/>
        </p:nvSpPr>
        <p:spPr>
          <a:xfrm>
            <a:off x="990600" y="3314700"/>
            <a:ext cx="2238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口碑改善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0600" y="3581400"/>
            <a:ext cx="2238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差评30分钟内响应，修复率提升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500" y="3924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A5A5B">
              <a:alpha val="10196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628650" y="40005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2A5A5B"/>
          </a:solidFill>
        </p:spPr>
      </p:sp>
      <p:sp>
        <p:nvSpPr>
          <p:cNvPr id="23" name="Text 21"/>
          <p:cNvSpPr/>
          <p:nvPr/>
        </p:nvSpPr>
        <p:spPr>
          <a:xfrm>
            <a:off x="990600" y="3886200"/>
            <a:ext cx="2819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私域沉淀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0600" y="4152900"/>
            <a:ext cx="2819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离店客人自动入社群，复购触达不靠人工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" y="4495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B89A7A">
              <a:alpha val="10196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638175" y="45720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B89A7A"/>
          </a:solidFill>
        </p:spPr>
      </p:sp>
      <p:sp>
        <p:nvSpPr>
          <p:cNvPr id="27" name="Text 25"/>
          <p:cNvSpPr/>
          <p:nvPr/>
        </p:nvSpPr>
        <p:spPr>
          <a:xfrm>
            <a:off x="990600" y="445770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自然语言交互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90600" y="472440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客人说话就能订房，管理者说话就能查数据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1250" y="1371600"/>
            <a:ext cx="5619750" cy="3771900"/>
          </a:xfrm>
          <a:custGeom>
            <a:avLst/>
            <a:gdLst/>
            <a:ahLst/>
            <a:cxnLst/>
            <a:rect l="l" t="t" r="r" b="b"/>
            <a:pathLst>
              <a:path w="5619750" h="3771900">
                <a:moveTo>
                  <a:pt x="76192" y="0"/>
                </a:moveTo>
                <a:lnTo>
                  <a:pt x="5543558" y="0"/>
                </a:lnTo>
                <a:cubicBezTo>
                  <a:pt x="5585638" y="0"/>
                  <a:pt x="5619750" y="34112"/>
                  <a:pt x="5619750" y="76192"/>
                </a:cubicBezTo>
                <a:lnTo>
                  <a:pt x="5619750" y="3695708"/>
                </a:lnTo>
                <a:cubicBezTo>
                  <a:pt x="5619750" y="3737788"/>
                  <a:pt x="5585638" y="3771900"/>
                  <a:pt x="5543558" y="3771900"/>
                </a:cubicBezTo>
                <a:lnTo>
                  <a:pt x="76192" y="3771900"/>
                </a:lnTo>
                <a:cubicBezTo>
                  <a:pt x="34112" y="3771900"/>
                  <a:pt x="0" y="3737788"/>
                  <a:pt x="0" y="36957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8175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B89A7A"/>
          </a:solidFill>
        </p:spPr>
      </p:sp>
      <p:sp>
        <p:nvSpPr>
          <p:cNvPr id="31" name="Shape 29"/>
          <p:cNvSpPr/>
          <p:nvPr/>
        </p:nvSpPr>
        <p:spPr>
          <a:xfrm>
            <a:off x="6503194" y="16954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6458" y="32445"/>
                </a:moveTo>
                <a:cubicBezTo>
                  <a:pt x="119881" y="29728"/>
                  <a:pt x="122039" y="25524"/>
                  <a:pt x="122039" y="20836"/>
                </a:cubicBezTo>
                <a:cubicBezTo>
                  <a:pt x="122039" y="12613"/>
                  <a:pt x="115379" y="5953"/>
                  <a:pt x="107156" y="5953"/>
                </a:cubicBezTo>
                <a:cubicBezTo>
                  <a:pt x="98933" y="5953"/>
                  <a:pt x="92273" y="12613"/>
                  <a:pt x="92273" y="20836"/>
                </a:cubicBezTo>
                <a:cubicBezTo>
                  <a:pt x="92273" y="25524"/>
                  <a:pt x="94469" y="29728"/>
                  <a:pt x="97854" y="32445"/>
                </a:cubicBezTo>
                <a:lnTo>
                  <a:pt x="72405" y="72479"/>
                </a:lnTo>
                <a:cubicBezTo>
                  <a:pt x="68684" y="78321"/>
                  <a:pt x="60759" y="79772"/>
                  <a:pt x="55215" y="75605"/>
                </a:cubicBezTo>
                <a:lnTo>
                  <a:pt x="33077" y="59048"/>
                </a:lnTo>
                <a:cubicBezTo>
                  <a:pt x="34751" y="56666"/>
                  <a:pt x="35719" y="53727"/>
                  <a:pt x="35719" y="50602"/>
                </a:cubicBezTo>
                <a:cubicBezTo>
                  <a:pt x="35719" y="42379"/>
                  <a:pt x="29059" y="35719"/>
                  <a:pt x="20836" y="35719"/>
                </a:cubicBezTo>
                <a:cubicBezTo>
                  <a:pt x="12613" y="35719"/>
                  <a:pt x="5953" y="42379"/>
                  <a:pt x="5953" y="50602"/>
                </a:cubicBezTo>
                <a:cubicBezTo>
                  <a:pt x="5953" y="58713"/>
                  <a:pt x="12464" y="65336"/>
                  <a:pt x="20538" y="65484"/>
                </a:cubicBezTo>
                <a:lnTo>
                  <a:pt x="32668" y="146410"/>
                </a:lnTo>
                <a:cubicBezTo>
                  <a:pt x="34417" y="158055"/>
                  <a:pt x="44425" y="166688"/>
                  <a:pt x="56220" y="166688"/>
                </a:cubicBezTo>
                <a:lnTo>
                  <a:pt x="158093" y="166688"/>
                </a:lnTo>
                <a:cubicBezTo>
                  <a:pt x="169887" y="166688"/>
                  <a:pt x="179896" y="158055"/>
                  <a:pt x="181645" y="146410"/>
                </a:cubicBezTo>
                <a:lnTo>
                  <a:pt x="193774" y="65484"/>
                </a:lnTo>
                <a:cubicBezTo>
                  <a:pt x="201848" y="65336"/>
                  <a:pt x="208359" y="58713"/>
                  <a:pt x="208359" y="50602"/>
                </a:cubicBezTo>
                <a:cubicBezTo>
                  <a:pt x="208359" y="42379"/>
                  <a:pt x="201699" y="35719"/>
                  <a:pt x="193477" y="35719"/>
                </a:cubicBezTo>
                <a:cubicBezTo>
                  <a:pt x="185254" y="35719"/>
                  <a:pt x="178594" y="42379"/>
                  <a:pt x="178594" y="50602"/>
                </a:cubicBezTo>
                <a:cubicBezTo>
                  <a:pt x="178594" y="53727"/>
                  <a:pt x="179561" y="56666"/>
                  <a:pt x="181235" y="59048"/>
                </a:cubicBezTo>
                <a:lnTo>
                  <a:pt x="159134" y="75642"/>
                </a:lnTo>
                <a:cubicBezTo>
                  <a:pt x="153591" y="79809"/>
                  <a:pt x="145666" y="78358"/>
                  <a:pt x="141945" y="72517"/>
                </a:cubicBezTo>
                <a:lnTo>
                  <a:pt x="116458" y="3244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6953250" y="163830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对酒店业主方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81750" y="2209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6457950" y="2286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28575"/>
                </a:moveTo>
                <a:lnTo>
                  <a:pt x="38100" y="23813"/>
                </a:lnTo>
                <a:cubicBezTo>
                  <a:pt x="38100" y="10656"/>
                  <a:pt x="63698" y="0"/>
                  <a:pt x="95250" y="0"/>
                </a:cubicBezTo>
                <a:cubicBezTo>
                  <a:pt x="126802" y="0"/>
                  <a:pt x="152400" y="10656"/>
                  <a:pt x="152400" y="23813"/>
                </a:cubicBezTo>
                <a:lnTo>
                  <a:pt x="152400" y="28575"/>
                </a:lnTo>
                <a:cubicBezTo>
                  <a:pt x="152400" y="37683"/>
                  <a:pt x="140107" y="45601"/>
                  <a:pt x="122039" y="49619"/>
                </a:cubicBezTo>
                <a:cubicBezTo>
                  <a:pt x="121325" y="48786"/>
                  <a:pt x="120581" y="47982"/>
                  <a:pt x="119836" y="47238"/>
                </a:cubicBezTo>
                <a:cubicBezTo>
                  <a:pt x="115223" y="42684"/>
                  <a:pt x="109270" y="39231"/>
                  <a:pt x="103049" y="36671"/>
                </a:cubicBezTo>
                <a:cubicBezTo>
                  <a:pt x="90577" y="31462"/>
                  <a:pt x="74325" y="28605"/>
                  <a:pt x="57150" y="28605"/>
                </a:cubicBezTo>
                <a:cubicBezTo>
                  <a:pt x="50631" y="28605"/>
                  <a:pt x="44261" y="29021"/>
                  <a:pt x="38160" y="29825"/>
                </a:cubicBezTo>
                <a:cubicBezTo>
                  <a:pt x="38100" y="29438"/>
                  <a:pt x="38100" y="29021"/>
                  <a:pt x="38100" y="28605"/>
                </a:cubicBezTo>
                <a:close/>
                <a:moveTo>
                  <a:pt x="128588" y="105073"/>
                </a:moveTo>
                <a:lnTo>
                  <a:pt x="128588" y="91321"/>
                </a:lnTo>
                <a:cubicBezTo>
                  <a:pt x="133082" y="90160"/>
                  <a:pt x="137309" y="88791"/>
                  <a:pt x="141149" y="87184"/>
                </a:cubicBezTo>
                <a:cubicBezTo>
                  <a:pt x="145078" y="85546"/>
                  <a:pt x="148917" y="83552"/>
                  <a:pt x="152400" y="81141"/>
                </a:cubicBezTo>
                <a:lnTo>
                  <a:pt x="152400" y="85725"/>
                </a:lnTo>
                <a:cubicBezTo>
                  <a:pt x="152400" y="93702"/>
                  <a:pt x="143024" y="100757"/>
                  <a:pt x="128588" y="105073"/>
                </a:cubicBezTo>
                <a:close/>
                <a:moveTo>
                  <a:pt x="128588" y="76498"/>
                </a:moveTo>
                <a:lnTo>
                  <a:pt x="128588" y="66675"/>
                </a:lnTo>
                <a:cubicBezTo>
                  <a:pt x="128588" y="65336"/>
                  <a:pt x="128468" y="64056"/>
                  <a:pt x="128290" y="62805"/>
                </a:cubicBezTo>
                <a:cubicBezTo>
                  <a:pt x="132904" y="61645"/>
                  <a:pt x="137220" y="60246"/>
                  <a:pt x="141149" y="58579"/>
                </a:cubicBezTo>
                <a:cubicBezTo>
                  <a:pt x="145078" y="56912"/>
                  <a:pt x="148917" y="54947"/>
                  <a:pt x="152400" y="52536"/>
                </a:cubicBezTo>
                <a:lnTo>
                  <a:pt x="152400" y="57120"/>
                </a:lnTo>
                <a:cubicBezTo>
                  <a:pt x="152400" y="65097"/>
                  <a:pt x="143024" y="72152"/>
                  <a:pt x="128588" y="76468"/>
                </a:cubicBezTo>
                <a:close/>
                <a:moveTo>
                  <a:pt x="0" y="71438"/>
                </a:moveTo>
                <a:lnTo>
                  <a:pt x="0" y="66675"/>
                </a:lnTo>
                <a:cubicBezTo>
                  <a:pt x="0" y="53519"/>
                  <a:pt x="25598" y="42863"/>
                  <a:pt x="57150" y="42863"/>
                </a:cubicBezTo>
                <a:cubicBezTo>
                  <a:pt x="88702" y="42863"/>
                  <a:pt x="114300" y="53519"/>
                  <a:pt x="114300" y="66675"/>
                </a:cubicBezTo>
                <a:lnTo>
                  <a:pt x="114300" y="71438"/>
                </a:lnTo>
                <a:cubicBezTo>
                  <a:pt x="114300" y="84594"/>
                  <a:pt x="88702" y="95250"/>
                  <a:pt x="57150" y="95250"/>
                </a:cubicBezTo>
                <a:cubicBezTo>
                  <a:pt x="25598" y="95250"/>
                  <a:pt x="0" y="84594"/>
                  <a:pt x="0" y="71438"/>
                </a:cubicBezTo>
                <a:close/>
                <a:moveTo>
                  <a:pt x="114300" y="100013"/>
                </a:moveTo>
                <a:cubicBezTo>
                  <a:pt x="114300" y="113169"/>
                  <a:pt x="88702" y="123825"/>
                  <a:pt x="57150" y="123825"/>
                </a:cubicBezTo>
                <a:cubicBezTo>
                  <a:pt x="25598" y="123825"/>
                  <a:pt x="0" y="113169"/>
                  <a:pt x="0" y="100013"/>
                </a:cubicBezTo>
                <a:lnTo>
                  <a:pt x="0" y="95429"/>
                </a:lnTo>
                <a:cubicBezTo>
                  <a:pt x="3453" y="97840"/>
                  <a:pt x="7293" y="99804"/>
                  <a:pt x="11251" y="101471"/>
                </a:cubicBezTo>
                <a:cubicBezTo>
                  <a:pt x="23723" y="106680"/>
                  <a:pt x="39975" y="109538"/>
                  <a:pt x="57150" y="109538"/>
                </a:cubicBezTo>
                <a:cubicBezTo>
                  <a:pt x="74325" y="109538"/>
                  <a:pt x="90577" y="106650"/>
                  <a:pt x="103049" y="101471"/>
                </a:cubicBezTo>
                <a:cubicBezTo>
                  <a:pt x="106978" y="99834"/>
                  <a:pt x="110817" y="97840"/>
                  <a:pt x="114300" y="95429"/>
                </a:cubicBezTo>
                <a:lnTo>
                  <a:pt x="114300" y="100013"/>
                </a:lnTo>
                <a:close/>
                <a:moveTo>
                  <a:pt x="114300" y="124004"/>
                </a:moveTo>
                <a:lnTo>
                  <a:pt x="114300" y="128588"/>
                </a:lnTo>
                <a:cubicBezTo>
                  <a:pt x="114300" y="141744"/>
                  <a:pt x="88702" y="152400"/>
                  <a:pt x="57150" y="152400"/>
                </a:cubicBezTo>
                <a:cubicBezTo>
                  <a:pt x="25598" y="152400"/>
                  <a:pt x="0" y="141744"/>
                  <a:pt x="0" y="128588"/>
                </a:cubicBezTo>
                <a:lnTo>
                  <a:pt x="0" y="124004"/>
                </a:lnTo>
                <a:cubicBezTo>
                  <a:pt x="3453" y="126415"/>
                  <a:pt x="7293" y="128379"/>
                  <a:pt x="11251" y="130046"/>
                </a:cubicBezTo>
                <a:cubicBezTo>
                  <a:pt x="23723" y="135255"/>
                  <a:pt x="39975" y="138113"/>
                  <a:pt x="57150" y="138113"/>
                </a:cubicBezTo>
                <a:cubicBezTo>
                  <a:pt x="74325" y="138113"/>
                  <a:pt x="90577" y="135225"/>
                  <a:pt x="103049" y="130046"/>
                </a:cubicBezTo>
                <a:cubicBezTo>
                  <a:pt x="106978" y="128409"/>
                  <a:pt x="110817" y="126415"/>
                  <a:pt x="114300" y="124004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35" name="Text 33"/>
          <p:cNvSpPr/>
          <p:nvPr/>
        </p:nvSpPr>
        <p:spPr>
          <a:xfrm>
            <a:off x="6800850" y="2171700"/>
            <a:ext cx="2609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收益可见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00850" y="2438400"/>
            <a:ext cx="2609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直接提升客房RevPAR，</a:t>
            </a:r>
            <a:r>
              <a:rPr lang="en-US" sz="1200" dirty="0">
                <a:solidFill>
                  <a:srgbClr val="2A5A5B"/>
                </a:solidFill>
                <a:highlight>
                  <a:srgbClr val="D8A252">
                    <a:alpha val="2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降低OTA依赖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81750" y="2781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A5A5B">
              <a:alpha val="10196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6477000" y="28575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2A5A5B"/>
          </a:solidFill>
        </p:spPr>
      </p:sp>
      <p:sp>
        <p:nvSpPr>
          <p:cNvPr id="39" name="Text 37"/>
          <p:cNvSpPr/>
          <p:nvPr/>
        </p:nvSpPr>
        <p:spPr>
          <a:xfrm>
            <a:off x="6800850" y="2743200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数据说话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00850" y="3009900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每月核心指标报告，运营状况一目了然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81750" y="335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B89A7A">
              <a:alpha val="10196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6457950" y="3429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2952" y="0"/>
                </a:moveTo>
                <a:lnTo>
                  <a:pt x="109627" y="0"/>
                </a:lnTo>
                <a:cubicBezTo>
                  <a:pt x="117515" y="0"/>
                  <a:pt x="123944" y="6489"/>
                  <a:pt x="123646" y="14347"/>
                </a:cubicBezTo>
                <a:cubicBezTo>
                  <a:pt x="123587" y="15925"/>
                  <a:pt x="123527" y="17502"/>
                  <a:pt x="123438" y="19050"/>
                </a:cubicBezTo>
                <a:lnTo>
                  <a:pt x="138202" y="19050"/>
                </a:lnTo>
                <a:cubicBezTo>
                  <a:pt x="145971" y="19050"/>
                  <a:pt x="152817" y="25479"/>
                  <a:pt x="152221" y="33873"/>
                </a:cubicBezTo>
                <a:cubicBezTo>
                  <a:pt x="149989" y="64740"/>
                  <a:pt x="134213" y="81707"/>
                  <a:pt x="117098" y="90577"/>
                </a:cubicBezTo>
                <a:cubicBezTo>
                  <a:pt x="112395" y="93018"/>
                  <a:pt x="107603" y="94833"/>
                  <a:pt x="103049" y="96173"/>
                </a:cubicBezTo>
                <a:cubicBezTo>
                  <a:pt x="97036" y="104686"/>
                  <a:pt x="90785" y="109180"/>
                  <a:pt x="85814" y="111591"/>
                </a:cubicBezTo>
                <a:lnTo>
                  <a:pt x="85814" y="133350"/>
                </a:lnTo>
                <a:lnTo>
                  <a:pt x="104864" y="133350"/>
                </a:lnTo>
                <a:cubicBezTo>
                  <a:pt x="110133" y="133350"/>
                  <a:pt x="114389" y="137606"/>
                  <a:pt x="114389" y="142875"/>
                </a:cubicBezTo>
                <a:cubicBezTo>
                  <a:pt x="114389" y="148144"/>
                  <a:pt x="110133" y="152400"/>
                  <a:pt x="104864" y="152400"/>
                </a:cubicBezTo>
                <a:lnTo>
                  <a:pt x="47714" y="152400"/>
                </a:lnTo>
                <a:cubicBezTo>
                  <a:pt x="42446" y="152400"/>
                  <a:pt x="38189" y="148144"/>
                  <a:pt x="38189" y="142875"/>
                </a:cubicBezTo>
                <a:cubicBezTo>
                  <a:pt x="38189" y="137606"/>
                  <a:pt x="42446" y="133350"/>
                  <a:pt x="47714" y="133350"/>
                </a:cubicBezTo>
                <a:lnTo>
                  <a:pt x="66764" y="133350"/>
                </a:lnTo>
                <a:lnTo>
                  <a:pt x="66764" y="111591"/>
                </a:lnTo>
                <a:cubicBezTo>
                  <a:pt x="62002" y="109299"/>
                  <a:pt x="56078" y="105043"/>
                  <a:pt x="50304" y="97215"/>
                </a:cubicBezTo>
                <a:cubicBezTo>
                  <a:pt x="44827" y="95786"/>
                  <a:pt x="38874" y="93613"/>
                  <a:pt x="33070" y="90339"/>
                </a:cubicBezTo>
                <a:cubicBezTo>
                  <a:pt x="16966" y="81320"/>
                  <a:pt x="2441" y="64324"/>
                  <a:pt x="357" y="33814"/>
                </a:cubicBezTo>
                <a:cubicBezTo>
                  <a:pt x="-208" y="25450"/>
                  <a:pt x="6608" y="19020"/>
                  <a:pt x="14377" y="19020"/>
                </a:cubicBezTo>
                <a:lnTo>
                  <a:pt x="29141" y="19020"/>
                </a:lnTo>
                <a:cubicBezTo>
                  <a:pt x="29051" y="17472"/>
                  <a:pt x="28992" y="15925"/>
                  <a:pt x="28932" y="14317"/>
                </a:cubicBezTo>
                <a:cubicBezTo>
                  <a:pt x="28635" y="6429"/>
                  <a:pt x="35064" y="-30"/>
                  <a:pt x="42952" y="-30"/>
                </a:cubicBezTo>
                <a:close/>
                <a:moveTo>
                  <a:pt x="30212" y="33338"/>
                </a:moveTo>
                <a:lnTo>
                  <a:pt x="14615" y="33338"/>
                </a:lnTo>
                <a:cubicBezTo>
                  <a:pt x="16460" y="58549"/>
                  <a:pt x="28039" y="71170"/>
                  <a:pt x="39975" y="77867"/>
                </a:cubicBezTo>
                <a:cubicBezTo>
                  <a:pt x="35689" y="66764"/>
                  <a:pt x="32147" y="52268"/>
                  <a:pt x="30212" y="33338"/>
                </a:cubicBezTo>
                <a:close/>
                <a:moveTo>
                  <a:pt x="113109" y="76438"/>
                </a:moveTo>
                <a:cubicBezTo>
                  <a:pt x="125164" y="69354"/>
                  <a:pt x="136059" y="56763"/>
                  <a:pt x="137904" y="33338"/>
                </a:cubicBezTo>
                <a:lnTo>
                  <a:pt x="122337" y="33338"/>
                </a:lnTo>
                <a:cubicBezTo>
                  <a:pt x="120491" y="51465"/>
                  <a:pt x="117157" y="65544"/>
                  <a:pt x="113109" y="76438"/>
                </a:cubicBezTo>
                <a:close/>
              </a:path>
            </a:pathLst>
          </a:custGeom>
          <a:solidFill>
            <a:srgbClr val="B89A7A"/>
          </a:solidFill>
        </p:spPr>
      </p:sp>
      <p:sp>
        <p:nvSpPr>
          <p:cNvPr id="43" name="Text 41"/>
          <p:cNvSpPr/>
          <p:nvPr/>
        </p:nvSpPr>
        <p:spPr>
          <a:xfrm>
            <a:off x="6800850" y="3314700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竞争力强化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00850" y="3581400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数字化能力领先周边竞品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81750" y="3924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6457950" y="4000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696" y="20479"/>
                </a:moveTo>
                <a:cubicBezTo>
                  <a:pt x="97959" y="16639"/>
                  <a:pt x="102066" y="14288"/>
                  <a:pt x="106501" y="14288"/>
                </a:cubicBezTo>
                <a:lnTo>
                  <a:pt x="107156" y="14288"/>
                </a:lnTo>
                <a:cubicBezTo>
                  <a:pt x="113734" y="14288"/>
                  <a:pt x="119062" y="19616"/>
                  <a:pt x="119062" y="26194"/>
                </a:cubicBezTo>
                <a:cubicBezTo>
                  <a:pt x="119062" y="32772"/>
                  <a:pt x="113734" y="38100"/>
                  <a:pt x="107156" y="38100"/>
                </a:cubicBezTo>
                <a:lnTo>
                  <a:pt x="85338" y="38100"/>
                </a:lnTo>
                <a:lnTo>
                  <a:pt x="95696" y="20479"/>
                </a:lnTo>
                <a:close/>
                <a:moveTo>
                  <a:pt x="56704" y="20479"/>
                </a:moveTo>
                <a:lnTo>
                  <a:pt x="67062" y="38100"/>
                </a:lnTo>
                <a:lnTo>
                  <a:pt x="45244" y="38100"/>
                </a:lnTo>
                <a:cubicBezTo>
                  <a:pt x="38666" y="38100"/>
                  <a:pt x="33338" y="32772"/>
                  <a:pt x="33338" y="26194"/>
                </a:cubicBezTo>
                <a:cubicBezTo>
                  <a:pt x="33338" y="19616"/>
                  <a:pt x="38666" y="14288"/>
                  <a:pt x="45244" y="14288"/>
                </a:cubicBezTo>
                <a:lnTo>
                  <a:pt x="45899" y="14288"/>
                </a:lnTo>
                <a:cubicBezTo>
                  <a:pt x="50334" y="14288"/>
                  <a:pt x="54471" y="16639"/>
                  <a:pt x="56704" y="20479"/>
                </a:cubicBezTo>
                <a:close/>
                <a:moveTo>
                  <a:pt x="83374" y="13246"/>
                </a:moveTo>
                <a:lnTo>
                  <a:pt x="76200" y="25450"/>
                </a:lnTo>
                <a:lnTo>
                  <a:pt x="69026" y="13246"/>
                </a:lnTo>
                <a:cubicBezTo>
                  <a:pt x="64204" y="5030"/>
                  <a:pt x="55394" y="0"/>
                  <a:pt x="45899" y="0"/>
                </a:cubicBezTo>
                <a:lnTo>
                  <a:pt x="45244" y="0"/>
                </a:lnTo>
                <a:cubicBezTo>
                  <a:pt x="30778" y="0"/>
                  <a:pt x="19050" y="11728"/>
                  <a:pt x="19050" y="26194"/>
                </a:cubicBezTo>
                <a:cubicBezTo>
                  <a:pt x="19050" y="30480"/>
                  <a:pt x="20092" y="34528"/>
                  <a:pt x="21908" y="38100"/>
                </a:cubicBezTo>
                <a:lnTo>
                  <a:pt x="9525" y="38100"/>
                </a:lnTo>
                <a:cubicBezTo>
                  <a:pt x="4256" y="38100"/>
                  <a:pt x="0" y="42356"/>
                  <a:pt x="0" y="47625"/>
                </a:cubicBezTo>
                <a:lnTo>
                  <a:pt x="0" y="57150"/>
                </a:lnTo>
                <a:cubicBezTo>
                  <a:pt x="0" y="62419"/>
                  <a:pt x="4256" y="66675"/>
                  <a:pt x="9525" y="66675"/>
                </a:cubicBezTo>
                <a:lnTo>
                  <a:pt x="142875" y="66675"/>
                </a:lnTo>
                <a:cubicBezTo>
                  <a:pt x="148144" y="66675"/>
                  <a:pt x="152400" y="62419"/>
                  <a:pt x="152400" y="57150"/>
                </a:cubicBezTo>
                <a:lnTo>
                  <a:pt x="152400" y="47625"/>
                </a:lnTo>
                <a:cubicBezTo>
                  <a:pt x="152400" y="42356"/>
                  <a:pt x="148144" y="38100"/>
                  <a:pt x="142875" y="38100"/>
                </a:cubicBezTo>
                <a:lnTo>
                  <a:pt x="130493" y="38100"/>
                </a:lnTo>
                <a:cubicBezTo>
                  <a:pt x="132308" y="34528"/>
                  <a:pt x="133350" y="30480"/>
                  <a:pt x="133350" y="26194"/>
                </a:cubicBezTo>
                <a:cubicBezTo>
                  <a:pt x="133350" y="11728"/>
                  <a:pt x="121622" y="0"/>
                  <a:pt x="107156" y="0"/>
                </a:cubicBezTo>
                <a:lnTo>
                  <a:pt x="106501" y="0"/>
                </a:lnTo>
                <a:cubicBezTo>
                  <a:pt x="97006" y="0"/>
                  <a:pt x="88196" y="5030"/>
                  <a:pt x="83374" y="13216"/>
                </a:cubicBezTo>
                <a:close/>
                <a:moveTo>
                  <a:pt x="142875" y="80962"/>
                </a:moveTo>
                <a:lnTo>
                  <a:pt x="83344" y="80962"/>
                </a:lnTo>
                <a:lnTo>
                  <a:pt x="83344" y="142875"/>
                </a:lnTo>
                <a:lnTo>
                  <a:pt x="123825" y="142875"/>
                </a:lnTo>
                <a:cubicBezTo>
                  <a:pt x="134332" y="142875"/>
                  <a:pt x="142875" y="134332"/>
                  <a:pt x="142875" y="123825"/>
                </a:cubicBezTo>
                <a:lnTo>
                  <a:pt x="142875" y="80962"/>
                </a:lnTo>
                <a:close/>
                <a:moveTo>
                  <a:pt x="69056" y="80962"/>
                </a:moveTo>
                <a:lnTo>
                  <a:pt x="9525" y="80962"/>
                </a:lnTo>
                <a:lnTo>
                  <a:pt x="9525" y="123825"/>
                </a:lnTo>
                <a:cubicBezTo>
                  <a:pt x="9525" y="134332"/>
                  <a:pt x="18068" y="142875"/>
                  <a:pt x="28575" y="142875"/>
                </a:cubicBezTo>
                <a:lnTo>
                  <a:pt x="69056" y="142875"/>
                </a:lnTo>
                <a:lnTo>
                  <a:pt x="69056" y="80962"/>
                </a:lnTo>
                <a:close/>
              </a:path>
            </a:pathLst>
          </a:custGeom>
          <a:solidFill>
            <a:srgbClr val="D8A252"/>
          </a:solidFill>
        </p:spPr>
      </p:sp>
      <p:sp>
        <p:nvSpPr>
          <p:cNvPr id="47" name="Text 45"/>
          <p:cNvSpPr/>
          <p:nvPr/>
        </p:nvSpPr>
        <p:spPr>
          <a:xfrm>
            <a:off x="6800850" y="3886200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轻资产试水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00850" y="4152900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A5A5B"/>
                </a:solidFill>
                <a:highlight>
                  <a:srgbClr val="D8A252">
                    <a:alpha val="3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免费试点 </a:t>
            </a: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，不投入任何前期成本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81750" y="4495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A5A5B">
              <a:alpha val="10196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6448425" y="45720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4867" y="28575"/>
                </a:moveTo>
                <a:cubicBezTo>
                  <a:pt x="119926" y="28575"/>
                  <a:pt x="115133" y="29914"/>
                  <a:pt x="110936" y="32355"/>
                </a:cubicBezTo>
                <a:cubicBezTo>
                  <a:pt x="106234" y="27593"/>
                  <a:pt x="100757" y="23604"/>
                  <a:pt x="94714" y="20598"/>
                </a:cubicBezTo>
                <a:cubicBezTo>
                  <a:pt x="103108" y="13454"/>
                  <a:pt x="113794" y="9525"/>
                  <a:pt x="124867" y="9525"/>
                </a:cubicBezTo>
                <a:cubicBezTo>
                  <a:pt x="150584" y="9525"/>
                  <a:pt x="171450" y="30361"/>
                  <a:pt x="171450" y="56108"/>
                </a:cubicBezTo>
                <a:cubicBezTo>
                  <a:pt x="171450" y="68461"/>
                  <a:pt x="166539" y="80308"/>
                  <a:pt x="157817" y="89029"/>
                </a:cubicBezTo>
                <a:lnTo>
                  <a:pt x="136654" y="110192"/>
                </a:lnTo>
                <a:cubicBezTo>
                  <a:pt x="127933" y="118914"/>
                  <a:pt x="116086" y="123825"/>
                  <a:pt x="103733" y="123825"/>
                </a:cubicBezTo>
                <a:cubicBezTo>
                  <a:pt x="78016" y="123825"/>
                  <a:pt x="57150" y="102989"/>
                  <a:pt x="57150" y="77242"/>
                </a:cubicBezTo>
                <a:cubicBezTo>
                  <a:pt x="57150" y="76795"/>
                  <a:pt x="57150" y="76349"/>
                  <a:pt x="57180" y="75902"/>
                </a:cubicBezTo>
                <a:cubicBezTo>
                  <a:pt x="57329" y="70634"/>
                  <a:pt x="61704" y="66496"/>
                  <a:pt x="66973" y="66645"/>
                </a:cubicBezTo>
                <a:cubicBezTo>
                  <a:pt x="72241" y="66794"/>
                  <a:pt x="76379" y="71170"/>
                  <a:pt x="76230" y="76438"/>
                </a:cubicBezTo>
                <a:cubicBezTo>
                  <a:pt x="76230" y="76706"/>
                  <a:pt x="76230" y="76974"/>
                  <a:pt x="76230" y="77212"/>
                </a:cubicBezTo>
                <a:cubicBezTo>
                  <a:pt x="76230" y="92422"/>
                  <a:pt x="88553" y="104745"/>
                  <a:pt x="103763" y="104745"/>
                </a:cubicBezTo>
                <a:cubicBezTo>
                  <a:pt x="111056" y="104745"/>
                  <a:pt x="118050" y="101858"/>
                  <a:pt x="123230" y="96679"/>
                </a:cubicBezTo>
                <a:lnTo>
                  <a:pt x="144393" y="75515"/>
                </a:lnTo>
                <a:cubicBezTo>
                  <a:pt x="149543" y="70366"/>
                  <a:pt x="152460" y="63341"/>
                  <a:pt x="152460" y="56049"/>
                </a:cubicBezTo>
                <a:cubicBezTo>
                  <a:pt x="152460" y="40838"/>
                  <a:pt x="140137" y="28515"/>
                  <a:pt x="124926" y="28515"/>
                </a:cubicBezTo>
                <a:close/>
                <a:moveTo>
                  <a:pt x="81915" y="51584"/>
                </a:moveTo>
                <a:cubicBezTo>
                  <a:pt x="81349" y="51346"/>
                  <a:pt x="80784" y="51018"/>
                  <a:pt x="80278" y="50661"/>
                </a:cubicBezTo>
                <a:cubicBezTo>
                  <a:pt x="76527" y="48726"/>
                  <a:pt x="72241" y="47625"/>
                  <a:pt x="67747" y="47625"/>
                </a:cubicBezTo>
                <a:cubicBezTo>
                  <a:pt x="60454" y="47625"/>
                  <a:pt x="53459" y="50512"/>
                  <a:pt x="48280" y="55691"/>
                </a:cubicBezTo>
                <a:lnTo>
                  <a:pt x="27116" y="76855"/>
                </a:lnTo>
                <a:cubicBezTo>
                  <a:pt x="21967" y="82004"/>
                  <a:pt x="19050" y="89029"/>
                  <a:pt x="19050" y="96322"/>
                </a:cubicBezTo>
                <a:cubicBezTo>
                  <a:pt x="19050" y="111532"/>
                  <a:pt x="31373" y="123855"/>
                  <a:pt x="46583" y="123855"/>
                </a:cubicBezTo>
                <a:cubicBezTo>
                  <a:pt x="51495" y="123855"/>
                  <a:pt x="56287" y="122545"/>
                  <a:pt x="60484" y="120104"/>
                </a:cubicBezTo>
                <a:cubicBezTo>
                  <a:pt x="65187" y="124867"/>
                  <a:pt x="70664" y="128855"/>
                  <a:pt x="76736" y="131862"/>
                </a:cubicBezTo>
                <a:cubicBezTo>
                  <a:pt x="68342" y="138976"/>
                  <a:pt x="57686" y="142935"/>
                  <a:pt x="46583" y="142935"/>
                </a:cubicBezTo>
                <a:cubicBezTo>
                  <a:pt x="20866" y="142935"/>
                  <a:pt x="0" y="122099"/>
                  <a:pt x="0" y="96351"/>
                </a:cubicBezTo>
                <a:cubicBezTo>
                  <a:pt x="0" y="83999"/>
                  <a:pt x="4911" y="72152"/>
                  <a:pt x="13633" y="63431"/>
                </a:cubicBezTo>
                <a:lnTo>
                  <a:pt x="34796" y="42267"/>
                </a:lnTo>
                <a:cubicBezTo>
                  <a:pt x="43517" y="33546"/>
                  <a:pt x="55364" y="28635"/>
                  <a:pt x="67717" y="28635"/>
                </a:cubicBezTo>
                <a:cubicBezTo>
                  <a:pt x="93494" y="28635"/>
                  <a:pt x="114300" y="49649"/>
                  <a:pt x="114300" y="75337"/>
                </a:cubicBezTo>
                <a:cubicBezTo>
                  <a:pt x="114300" y="75724"/>
                  <a:pt x="114300" y="76111"/>
                  <a:pt x="114300" y="76498"/>
                </a:cubicBezTo>
                <a:cubicBezTo>
                  <a:pt x="114181" y="81766"/>
                  <a:pt x="109805" y="85904"/>
                  <a:pt x="104537" y="85785"/>
                </a:cubicBezTo>
                <a:cubicBezTo>
                  <a:pt x="99268" y="85665"/>
                  <a:pt x="95131" y="81290"/>
                  <a:pt x="95250" y="76021"/>
                </a:cubicBezTo>
                <a:cubicBezTo>
                  <a:pt x="95250" y="75783"/>
                  <a:pt x="95250" y="75575"/>
                  <a:pt x="95250" y="75337"/>
                </a:cubicBezTo>
                <a:cubicBezTo>
                  <a:pt x="95250" y="65306"/>
                  <a:pt x="89892" y="56495"/>
                  <a:pt x="81915" y="51643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51" name="Text 49"/>
          <p:cNvSpPr/>
          <p:nvPr/>
        </p:nvSpPr>
        <p:spPr>
          <a:xfrm>
            <a:off x="6800850" y="445770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A5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长期绑定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00850" y="472440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试点转正式合作，建立长期数字化伙伴关系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1000" y="5295900"/>
            <a:ext cx="11430000" cy="57150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76198" y="0"/>
                </a:moveTo>
                <a:lnTo>
                  <a:pt x="11353802" y="0"/>
                </a:lnTo>
                <a:cubicBezTo>
                  <a:pt x="11395885" y="0"/>
                  <a:pt x="11430000" y="34115"/>
                  <a:pt x="11430000" y="76198"/>
                </a:cubicBezTo>
                <a:lnTo>
                  <a:pt x="11430000" y="495302"/>
                </a:lnTo>
                <a:cubicBezTo>
                  <a:pt x="11430000" y="537385"/>
                  <a:pt x="11395885" y="571500"/>
                  <a:pt x="113538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2A5A5B"/>
          </a:solidFill>
        </p:spPr>
      </p:sp>
      <p:sp>
        <p:nvSpPr>
          <p:cNvPr id="54" name="Shape 52"/>
          <p:cNvSpPr/>
          <p:nvPr/>
        </p:nvSpPr>
        <p:spPr>
          <a:xfrm>
            <a:off x="4024313" y="54673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D8A252"/>
          </a:solidFill>
        </p:spPr>
      </p:sp>
      <p:sp>
        <p:nvSpPr>
          <p:cNvPr id="55" name="Text 53"/>
          <p:cNvSpPr/>
          <p:nvPr/>
        </p:nvSpPr>
        <p:spPr>
          <a:xfrm>
            <a:off x="4333875" y="5448300"/>
            <a:ext cx="3524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让每一家酒店，都拥有自己的AI运营团队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967662" y="54673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132159"/>
                </a:moveTo>
                <a:cubicBezTo>
                  <a:pt x="200025" y="161761"/>
                  <a:pt x="176049" y="185738"/>
                  <a:pt x="146447" y="185738"/>
                </a:cubicBezTo>
                <a:lnTo>
                  <a:pt x="142875" y="185738"/>
                </a:lnTo>
                <a:cubicBezTo>
                  <a:pt x="134972" y="185738"/>
                  <a:pt x="128588" y="179353"/>
                  <a:pt x="128588" y="171450"/>
                </a:cubicBezTo>
                <a:cubicBezTo>
                  <a:pt x="128588" y="163547"/>
                  <a:pt x="134972" y="157163"/>
                  <a:pt x="142875" y="157163"/>
                </a:cubicBezTo>
                <a:lnTo>
                  <a:pt x="146447" y="157163"/>
                </a:lnTo>
                <a:cubicBezTo>
                  <a:pt x="160243" y="157163"/>
                  <a:pt x="171450" y="145956"/>
                  <a:pt x="171450" y="132159"/>
                </a:cubicBezTo>
                <a:lnTo>
                  <a:pt x="171450" y="128588"/>
                </a:lnTo>
                <a:lnTo>
                  <a:pt x="142875" y="128588"/>
                </a:lnTo>
                <a:cubicBezTo>
                  <a:pt x="127114" y="128588"/>
                  <a:pt x="114300" y="115773"/>
                  <a:pt x="114300" y="100013"/>
                </a:cubicBezTo>
                <a:lnTo>
                  <a:pt x="114300" y="71438"/>
                </a:lnTo>
                <a:cubicBezTo>
                  <a:pt x="114300" y="55677"/>
                  <a:pt x="127114" y="42863"/>
                  <a:pt x="142875" y="42863"/>
                </a:cubicBezTo>
                <a:lnTo>
                  <a:pt x="171450" y="42863"/>
                </a:lnTo>
                <a:cubicBezTo>
                  <a:pt x="187211" y="42863"/>
                  <a:pt x="200025" y="55677"/>
                  <a:pt x="200025" y="71438"/>
                </a:cubicBezTo>
                <a:lnTo>
                  <a:pt x="200025" y="132159"/>
                </a:lnTo>
                <a:close/>
                <a:moveTo>
                  <a:pt x="85725" y="132159"/>
                </a:moveTo>
                <a:cubicBezTo>
                  <a:pt x="85725" y="161761"/>
                  <a:pt x="61749" y="185738"/>
                  <a:pt x="32147" y="185738"/>
                </a:cubicBezTo>
                <a:lnTo>
                  <a:pt x="28575" y="185738"/>
                </a:lnTo>
                <a:cubicBezTo>
                  <a:pt x="20672" y="185738"/>
                  <a:pt x="14288" y="179353"/>
                  <a:pt x="14288" y="171450"/>
                </a:cubicBezTo>
                <a:cubicBezTo>
                  <a:pt x="14288" y="163547"/>
                  <a:pt x="20672" y="157163"/>
                  <a:pt x="28575" y="157163"/>
                </a:cubicBezTo>
                <a:lnTo>
                  <a:pt x="32147" y="157163"/>
                </a:lnTo>
                <a:cubicBezTo>
                  <a:pt x="45943" y="157163"/>
                  <a:pt x="57150" y="145956"/>
                  <a:pt x="57150" y="132159"/>
                </a:cubicBezTo>
                <a:lnTo>
                  <a:pt x="57150" y="128588"/>
                </a:lnTo>
                <a:lnTo>
                  <a:pt x="28575" y="128588"/>
                </a:lnTo>
                <a:cubicBezTo>
                  <a:pt x="12814" y="128588"/>
                  <a:pt x="0" y="115773"/>
                  <a:pt x="0" y="100013"/>
                </a:cubicBezTo>
                <a:lnTo>
                  <a:pt x="0" y="71438"/>
                </a:lnTo>
                <a:cubicBezTo>
                  <a:pt x="0" y="55677"/>
                  <a:pt x="12814" y="42863"/>
                  <a:pt x="28575" y="42863"/>
                </a:cubicBezTo>
                <a:lnTo>
                  <a:pt x="57150" y="42863"/>
                </a:lnTo>
                <a:cubicBezTo>
                  <a:pt x="72911" y="42863"/>
                  <a:pt x="85725" y="55677"/>
                  <a:pt x="85725" y="71438"/>
                </a:cubicBezTo>
                <a:lnTo>
                  <a:pt x="85725" y="132159"/>
                </a:lnTo>
                <a:close/>
              </a:path>
            </a:pathLst>
          </a:custGeom>
          <a:solidFill>
            <a:srgbClr val="D8A252"/>
          </a:solidFill>
        </p:spPr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6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CORE TEAM  核心团队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C8FF"/>
                </a:solidFill>
              </a:defRPr>
            </a:pPr>
            <a:r>
              <a:t>酒店 + AI + 战略  黄金组合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474720" cy="4937760"/>
          </a:xfrm>
          <a:prstGeom prst="roundRect">
            <a:avLst/>
          </a:prstGeom>
          <a:solidFill>
            <a:srgbClr val="102A55"/>
          </a:solidFill>
          <a:ln w="19050">
            <a:solidFill>
              <a:srgbClr val="00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1600200"/>
            <a:ext cx="1005840" cy="1005840"/>
          </a:xfrm>
          <a:prstGeom prst="ellipse">
            <a:avLst/>
          </a:prstGeom>
          <a:solidFill>
            <a:srgbClr val="00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828800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张实  Eric Zhang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36391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5AB5"/>
                </a:solidFill>
              </a:defRPr>
            </a:pPr>
            <a:r>
              <a:t>创始人 /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D700"/>
                </a:solidFill>
              </a:defRPr>
            </a:pPr>
            <a:r>
              <a:t>24年酒店业老兵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216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AACC"/>
                </a:solidFill>
              </a:defRPr>
            </a:pPr>
            <a:r>
              <a:t>模式架构师 · AI产业连接器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50791"/>
            <a:ext cx="3200400" cy="12700"/>
          </a:xfrm>
          <a:prstGeom prst="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60520"/>
            <a:ext cx="3154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BBCCDD"/>
                </a:solidFill>
              </a:defRPr>
            </a:pPr>
            <a:r>
              <a:t> 岷山集团14年：销售→经理→副总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17720"/>
            <a:ext cx="3154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BBCCDD"/>
                </a:solidFill>
              </a:defRPr>
            </a:pPr>
            <a:r>
              <a:t> 2016-2020：创立四川远途酒店管理公司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074920"/>
            <a:ext cx="3154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BBCCDD"/>
                </a:solidFill>
              </a:defRPr>
            </a:pPr>
            <a:r>
              <a:t> 2020-2025：维景酒店副总/总经理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32120"/>
            <a:ext cx="3154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BBCCDD"/>
                </a:solidFill>
              </a:defRPr>
            </a:pPr>
            <a:r>
              <a:t> 代表案例：成都Vhotel（7年偏差&lt;5%）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1325880"/>
            <a:ext cx="3474720" cy="4937760"/>
          </a:xfrm>
          <a:prstGeom prst="roundRect">
            <a:avLst/>
          </a:prstGeom>
          <a:solidFill>
            <a:srgbClr val="102A55"/>
          </a:solidFill>
          <a:ln w="19050">
            <a:solidFill>
              <a:srgbClr val="008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32120" y="1600200"/>
            <a:ext cx="1005840" cy="1005840"/>
          </a:xfrm>
          <a:prstGeom prst="ellipse">
            <a:avLst/>
          </a:prstGeom>
          <a:solidFill>
            <a:srgbClr val="008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1828800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74320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李源  Li Yuan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136391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8AD4"/>
                </a:solidFill>
              </a:defRPr>
            </a:pPr>
            <a:r>
              <a:t>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4290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D700"/>
                </a:solidFill>
              </a:defRPr>
            </a:pPr>
            <a:r>
              <a:t>华中科技大学AI博士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7216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AACC"/>
                </a:solidFill>
              </a:defRPr>
            </a:pPr>
            <a:r>
              <a:t>10年+ AI研发 · 20+工程落地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4050791"/>
            <a:ext cx="3200400" cy="12700"/>
          </a:xfrm>
          <a:prstGeom prst="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160520"/>
            <a:ext cx="3154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BBCCDD"/>
                </a:solidFill>
              </a:defRPr>
            </a:pPr>
            <a:r>
              <a:t> 华中科技大学人工智能博士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4617720"/>
            <a:ext cx="3154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BBCCDD"/>
                </a:solidFill>
              </a:defRPr>
            </a:pPr>
            <a:r>
              <a:t> 10年+AI研发经验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5074920"/>
            <a:ext cx="3154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BBCCDD"/>
                </a:solidFill>
              </a:defRPr>
            </a:pPr>
            <a:r>
              <a:t> 核心技术：大模型微调/AGENT编排/知识图谱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5532120"/>
            <a:ext cx="3154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BBCCDD"/>
                </a:solidFill>
              </a:defRPr>
            </a:pPr>
            <a:r>
              <a:t> 主导20+AI工程项目从0到1落地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1325880"/>
            <a:ext cx="3474720" cy="4937760"/>
          </a:xfrm>
          <a:prstGeom prst="roundRect">
            <a:avLst/>
          </a:prstGeom>
          <a:solidFill>
            <a:srgbClr val="102A55"/>
          </a:solidFill>
          <a:ln w="1905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26880" y="1600200"/>
            <a:ext cx="1005840" cy="1005840"/>
          </a:xfrm>
          <a:prstGeom prst="ellipse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1828800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74320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陈思序  Chen Sixu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136391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A8FF"/>
                </a:solidFill>
              </a:defRPr>
            </a:pPr>
            <a:r>
              <a:t>CSO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4290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D700"/>
                </a:solidFill>
              </a:defRPr>
            </a:pPr>
            <a:r>
              <a:t>世界500强战略高管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7216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AACC"/>
                </a:solidFill>
              </a:defRPr>
            </a:pPr>
            <a:r>
              <a:t>PE/VC投资 · IPO全流程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050791"/>
            <a:ext cx="3200400" cy="12700"/>
          </a:xfrm>
          <a:prstGeom prst="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19" y="4160520"/>
            <a:ext cx="3154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BBCCDD"/>
                </a:solidFill>
              </a:defRPr>
            </a:pPr>
            <a:r>
              <a:t> 世界500强战略高管背景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9" y="4617720"/>
            <a:ext cx="3154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BBCCDD"/>
                </a:solidFill>
              </a:defRPr>
            </a:pPr>
            <a:r>
              <a:t> 深耕PE/VC投资领域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19" y="5074920"/>
            <a:ext cx="3154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BBCCDD"/>
                </a:solidFill>
              </a:defRPr>
            </a:pPr>
            <a:r>
              <a:t> 多项目成功退出经验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19" y="5532120"/>
            <a:ext cx="3154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BBCCDD"/>
                </a:solidFill>
              </a:defRPr>
            </a:pPr>
            <a:r>
              <a:t> 负责战略制定和生态建设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688AA"/>
                </a:solidFill>
              </a:defRPr>
            </a:pPr>
            <a:r>
              <a:t>让每一个酒店，都拥有自己的AI运营团队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5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resentationgo.com/0dafd0a6e689b8f0cea927174a0efa74ff1b29fe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12656" b="12656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A5A5B">
                  <a:alpha val="95000"/>
                </a:srgbClr>
              </a:gs>
              <a:gs pos="50000">
                <a:srgbClr val="2A5A5B">
                  <a:alpha val="90000"/>
                </a:srgbClr>
              </a:gs>
              <a:gs pos="100000">
                <a:srgbClr val="2A5A5B">
                  <a:alpha val="8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715000" y="10858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5" name="Shape 2"/>
          <p:cNvSpPr/>
          <p:nvPr/>
        </p:nvSpPr>
        <p:spPr>
          <a:xfrm>
            <a:off x="5903119" y="1295400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180089" y="57061"/>
                </a:moveTo>
                <a:lnTo>
                  <a:pt x="101999" y="143857"/>
                </a:lnTo>
                <a:cubicBezTo>
                  <a:pt x="98919" y="147273"/>
                  <a:pt x="99053" y="152564"/>
                  <a:pt x="102334" y="155845"/>
                </a:cubicBezTo>
                <a:cubicBezTo>
                  <a:pt x="122761" y="176272"/>
                  <a:pt x="155912" y="176272"/>
                  <a:pt x="176339" y="155845"/>
                </a:cubicBezTo>
                <a:lnTo>
                  <a:pt x="197636" y="134548"/>
                </a:lnTo>
                <a:cubicBezTo>
                  <a:pt x="200449" y="131735"/>
                  <a:pt x="203999" y="130195"/>
                  <a:pt x="207615" y="129927"/>
                </a:cubicBezTo>
                <a:cubicBezTo>
                  <a:pt x="212169" y="129525"/>
                  <a:pt x="216857" y="131065"/>
                  <a:pt x="220340" y="134548"/>
                </a:cubicBezTo>
                <a:lnTo>
                  <a:pt x="338614" y="251817"/>
                </a:lnTo>
                <a:lnTo>
                  <a:pt x="385763" y="214313"/>
                </a:lnTo>
                <a:lnTo>
                  <a:pt x="385763" y="21431"/>
                </a:lnTo>
                <a:lnTo>
                  <a:pt x="310753" y="64294"/>
                </a:lnTo>
                <a:lnTo>
                  <a:pt x="294814" y="53645"/>
                </a:lnTo>
                <a:cubicBezTo>
                  <a:pt x="284232" y="46613"/>
                  <a:pt x="271842" y="42863"/>
                  <a:pt x="259117" y="42863"/>
                </a:cubicBezTo>
                <a:lnTo>
                  <a:pt x="211968" y="42863"/>
                </a:lnTo>
                <a:cubicBezTo>
                  <a:pt x="211232" y="42863"/>
                  <a:pt x="210428" y="42863"/>
                  <a:pt x="209691" y="42929"/>
                </a:cubicBezTo>
                <a:cubicBezTo>
                  <a:pt x="198373" y="43532"/>
                  <a:pt x="187724" y="48622"/>
                  <a:pt x="180089" y="57061"/>
                </a:cubicBezTo>
                <a:close/>
                <a:moveTo>
                  <a:pt x="78090" y="122359"/>
                </a:moveTo>
                <a:lnTo>
                  <a:pt x="149617" y="42863"/>
                </a:lnTo>
                <a:lnTo>
                  <a:pt x="123096" y="42863"/>
                </a:lnTo>
                <a:cubicBezTo>
                  <a:pt x="106018" y="42863"/>
                  <a:pt x="89676" y="49627"/>
                  <a:pt x="77621" y="61682"/>
                </a:cubicBezTo>
                <a:lnTo>
                  <a:pt x="75009" y="64294"/>
                </a:lnTo>
                <a:lnTo>
                  <a:pt x="0" y="21431"/>
                </a:lnTo>
                <a:lnTo>
                  <a:pt x="0" y="214313"/>
                </a:lnTo>
                <a:lnTo>
                  <a:pt x="104745" y="301578"/>
                </a:lnTo>
                <a:cubicBezTo>
                  <a:pt x="120149" y="314437"/>
                  <a:pt x="139571" y="321469"/>
                  <a:pt x="159596" y="321469"/>
                </a:cubicBezTo>
                <a:lnTo>
                  <a:pt x="170111" y="321469"/>
                </a:lnTo>
                <a:lnTo>
                  <a:pt x="165422" y="316781"/>
                </a:lnTo>
                <a:cubicBezTo>
                  <a:pt x="159127" y="310485"/>
                  <a:pt x="159127" y="300305"/>
                  <a:pt x="165422" y="294077"/>
                </a:cubicBezTo>
                <a:cubicBezTo>
                  <a:pt x="171718" y="287848"/>
                  <a:pt x="181898" y="287782"/>
                  <a:pt x="188126" y="294077"/>
                </a:cubicBezTo>
                <a:lnTo>
                  <a:pt x="215585" y="321536"/>
                </a:lnTo>
                <a:lnTo>
                  <a:pt x="221613" y="321536"/>
                </a:lnTo>
                <a:cubicBezTo>
                  <a:pt x="234404" y="321536"/>
                  <a:pt x="246928" y="318656"/>
                  <a:pt x="258314" y="313298"/>
                </a:cubicBezTo>
                <a:lnTo>
                  <a:pt x="240432" y="295349"/>
                </a:lnTo>
                <a:cubicBezTo>
                  <a:pt x="234136" y="289054"/>
                  <a:pt x="234136" y="278874"/>
                  <a:pt x="240432" y="272646"/>
                </a:cubicBezTo>
                <a:cubicBezTo>
                  <a:pt x="246727" y="266417"/>
                  <a:pt x="256907" y="266350"/>
                  <a:pt x="263136" y="272646"/>
                </a:cubicBezTo>
                <a:lnTo>
                  <a:pt x="284567" y="294077"/>
                </a:lnTo>
                <a:lnTo>
                  <a:pt x="296287" y="282357"/>
                </a:lnTo>
                <a:cubicBezTo>
                  <a:pt x="302248" y="276396"/>
                  <a:pt x="303989" y="267757"/>
                  <a:pt x="301377" y="260189"/>
                </a:cubicBezTo>
                <a:lnTo>
                  <a:pt x="209022" y="168570"/>
                </a:lnTo>
                <a:lnTo>
                  <a:pt x="199043" y="178549"/>
                </a:lnTo>
                <a:cubicBezTo>
                  <a:pt x="166025" y="211567"/>
                  <a:pt x="112581" y="211567"/>
                  <a:pt x="79564" y="178549"/>
                </a:cubicBezTo>
                <a:cubicBezTo>
                  <a:pt x="64160" y="163145"/>
                  <a:pt x="63557" y="138432"/>
                  <a:pt x="78090" y="1222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" name="Text 3"/>
          <p:cNvSpPr/>
          <p:nvPr/>
        </p:nvSpPr>
        <p:spPr>
          <a:xfrm>
            <a:off x="4076700" y="2000250"/>
            <a:ext cx="403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8F7F5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期待与您合作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25717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</p:spPr>
      </p:sp>
      <p:sp>
        <p:nvSpPr>
          <p:cNvPr id="8" name="Text 5"/>
          <p:cNvSpPr/>
          <p:nvPr/>
        </p:nvSpPr>
        <p:spPr>
          <a:xfrm>
            <a:off x="4143375" y="2762250"/>
            <a:ext cx="390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B89A7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我们非常愿意到酒店拜访，当面沟通合作细节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895600" y="3257550"/>
            <a:ext cx="6400800" cy="1524000"/>
          </a:xfrm>
          <a:custGeom>
            <a:avLst/>
            <a:gdLst/>
            <a:ahLst/>
            <a:cxnLst/>
            <a:rect l="l" t="t" r="r" b="b"/>
            <a:pathLst>
              <a:path w="6400800" h="1524000">
                <a:moveTo>
                  <a:pt x="76200" y="0"/>
                </a:moveTo>
                <a:lnTo>
                  <a:pt x="6324600" y="0"/>
                </a:lnTo>
                <a:cubicBezTo>
                  <a:pt x="6366656" y="0"/>
                  <a:pt x="6400800" y="34144"/>
                  <a:pt x="6400800" y="76200"/>
                </a:cubicBezTo>
                <a:lnTo>
                  <a:pt x="6400800" y="1447800"/>
                </a:lnTo>
                <a:cubicBezTo>
                  <a:pt x="6400800" y="1489856"/>
                  <a:pt x="6366656" y="1524000"/>
                  <a:pt x="6324600" y="1524000"/>
                </a:cubicBezTo>
                <a:lnTo>
                  <a:pt x="76200" y="1524000"/>
                </a:lnTo>
                <a:cubicBezTo>
                  <a:pt x="34144" y="1524000"/>
                  <a:pt x="0" y="1489856"/>
                  <a:pt x="0" y="1447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3810000" y="3486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11" name="Shape 8"/>
          <p:cNvSpPr/>
          <p:nvPr/>
        </p:nvSpPr>
        <p:spPr>
          <a:xfrm>
            <a:off x="3943350" y="3619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9606" y="9302"/>
                </a:moveTo>
                <a:cubicBezTo>
                  <a:pt x="56666" y="2270"/>
                  <a:pt x="49002" y="-1451"/>
                  <a:pt x="41709" y="521"/>
                </a:cubicBezTo>
                <a:lnTo>
                  <a:pt x="39663" y="1079"/>
                </a:lnTo>
                <a:cubicBezTo>
                  <a:pt x="15627" y="7627"/>
                  <a:pt x="-4911" y="30919"/>
                  <a:pt x="1079" y="59271"/>
                </a:cubicBezTo>
                <a:cubicBezTo>
                  <a:pt x="14883" y="124383"/>
                  <a:pt x="66117" y="175617"/>
                  <a:pt x="131229" y="189421"/>
                </a:cubicBezTo>
                <a:cubicBezTo>
                  <a:pt x="159618" y="195449"/>
                  <a:pt x="182873" y="174873"/>
                  <a:pt x="189421" y="150837"/>
                </a:cubicBezTo>
                <a:lnTo>
                  <a:pt x="189979" y="148791"/>
                </a:lnTo>
                <a:cubicBezTo>
                  <a:pt x="191988" y="141461"/>
                  <a:pt x="188230" y="133796"/>
                  <a:pt x="181235" y="130894"/>
                </a:cubicBezTo>
                <a:lnTo>
                  <a:pt x="145033" y="115825"/>
                </a:lnTo>
                <a:cubicBezTo>
                  <a:pt x="138894" y="113258"/>
                  <a:pt x="131787" y="115044"/>
                  <a:pt x="127546" y="120216"/>
                </a:cubicBezTo>
                <a:lnTo>
                  <a:pt x="113184" y="137778"/>
                </a:lnTo>
                <a:cubicBezTo>
                  <a:pt x="87027" y="124792"/>
                  <a:pt x="65968" y="103063"/>
                  <a:pt x="53876" y="76386"/>
                </a:cubicBezTo>
                <a:lnTo>
                  <a:pt x="70321" y="62992"/>
                </a:lnTo>
                <a:cubicBezTo>
                  <a:pt x="75493" y="58787"/>
                  <a:pt x="77242" y="51681"/>
                  <a:pt x="74712" y="45504"/>
                </a:cubicBezTo>
                <a:lnTo>
                  <a:pt x="59606" y="930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Text 9"/>
          <p:cNvSpPr/>
          <p:nvPr/>
        </p:nvSpPr>
        <p:spPr>
          <a:xfrm>
            <a:off x="3665860" y="4019550"/>
            <a:ext cx="742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7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电话/微信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439344" y="4286250"/>
            <a:ext cx="1200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7F5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17760348653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867400" y="3486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15" name="Shape 12"/>
          <p:cNvSpPr/>
          <p:nvPr/>
        </p:nvSpPr>
        <p:spPr>
          <a:xfrm>
            <a:off x="6000750" y="3619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23812"/>
                </a:moveTo>
                <a:cubicBezTo>
                  <a:pt x="8000" y="23812"/>
                  <a:pt x="0" y="31812"/>
                  <a:pt x="0" y="41672"/>
                </a:cubicBezTo>
                <a:cubicBezTo>
                  <a:pt x="0" y="47290"/>
                  <a:pt x="2642" y="52574"/>
                  <a:pt x="7144" y="55959"/>
                </a:cubicBezTo>
                <a:lnTo>
                  <a:pt x="84534" y="114002"/>
                </a:lnTo>
                <a:cubicBezTo>
                  <a:pt x="90897" y="118765"/>
                  <a:pt x="99603" y="118765"/>
                  <a:pt x="105966" y="114002"/>
                </a:cubicBezTo>
                <a:lnTo>
                  <a:pt x="183356" y="55959"/>
                </a:lnTo>
                <a:cubicBezTo>
                  <a:pt x="187858" y="52574"/>
                  <a:pt x="190500" y="47290"/>
                  <a:pt x="190500" y="41672"/>
                </a:cubicBezTo>
                <a:cubicBezTo>
                  <a:pt x="190500" y="31812"/>
                  <a:pt x="182500" y="23812"/>
                  <a:pt x="172641" y="23812"/>
                </a:cubicBezTo>
                <a:lnTo>
                  <a:pt x="17859" y="23812"/>
                </a:lnTo>
                <a:close/>
                <a:moveTo>
                  <a:pt x="0" y="72926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2926"/>
                </a:lnTo>
                <a:lnTo>
                  <a:pt x="116681" y="128290"/>
                </a:lnTo>
                <a:cubicBezTo>
                  <a:pt x="103994" y="137815"/>
                  <a:pt x="86506" y="137815"/>
                  <a:pt x="73819" y="128290"/>
                </a:cubicBezTo>
                <a:lnTo>
                  <a:pt x="0" y="72926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" name="Text 13"/>
          <p:cNvSpPr/>
          <p:nvPr/>
        </p:nvSpPr>
        <p:spPr>
          <a:xfrm>
            <a:off x="5905500" y="401955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7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邮箱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97959" y="4286250"/>
            <a:ext cx="2000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7F5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ericzhangshi@163.com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924800" y="3486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19" name="Shape 16"/>
          <p:cNvSpPr/>
          <p:nvPr/>
        </p:nvSpPr>
        <p:spPr>
          <a:xfrm>
            <a:off x="8070056" y="36195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0" name="Text 17"/>
          <p:cNvSpPr/>
          <p:nvPr/>
        </p:nvSpPr>
        <p:spPr>
          <a:xfrm>
            <a:off x="7886700" y="4019550"/>
            <a:ext cx="53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7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联系人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625135" y="4286250"/>
            <a:ext cx="1057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7F5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[联系人姓名]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400300" y="5010150"/>
            <a:ext cx="7391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7F5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AHL（AI Hotel Language）是一个去中心化旅行服务平台，致力于通过AI技术为酒店提供智能化的运营工具和私域流量运营能力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2400300" y="5543550"/>
            <a:ext cx="7391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7F5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我们的团队成员有</a:t>
            </a:r>
            <a:r>
              <a:rPr lang="en-US" sz="1200" b="1" dirty="0">
                <a:solidFill>
                  <a:srgbClr val="D8A25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超过20年的酒店行业经验</a:t>
            </a:r>
            <a:r>
              <a:rPr lang="en-US" sz="1200" dirty="0">
                <a:solidFill>
                  <a:srgbClr val="F8F7F5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，深刻理解酒店的运营痛点和数字化需求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3427</Words>
  <Application>WPS 演示</Application>
  <PresentationFormat>On-screen Show (16:9)</PresentationFormat>
  <Paragraphs>468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MiSans</vt:lpstr>
      <vt:lpstr>MiSans</vt:lpstr>
      <vt:lpstr>Alimama ShuHeiTi</vt:lpstr>
      <vt:lpstr>Alimama ShuHeiTi</vt:lpstr>
      <vt:lpstr>微软雅黑</vt:lpstr>
      <vt:lpstr>微软雅黑</vt:lpstr>
      <vt:lpstr>Calibri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AHL酒店智能升级项目 - 合作意向书</dc:title>
  <dc:creator>Kimi</dc:creator>
  <dc:subject>AHL酒店智能升级项目 - 合作意向书</dc:subject>
  <cp:lastModifiedBy>张实</cp:lastModifiedBy>
  <cp:revision>2</cp:revision>
  <dcterms:created xsi:type="dcterms:W3CDTF">2026-03-27T14:46:00Z</dcterms:created>
  <dcterms:modified xsi:type="dcterms:W3CDTF">2026-03-27T14:48:48Z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{"Label":"AHL酒店智能升级项目 - 合作意向书","ContentProducer":"001191110108MACG2KBH8F10000","ProduceID":"19d2fa68-b692-8a1f-8000-000065edf536","ReservedCode1":"","ContentPropagator":"001191110108MACG2KBH8F20000","PropagateID":"19d2fa68-b692-8a1f-8000-000065edf536","ReservedCode2":""}</vt:lpwstr>
  </property>
  <property fmtid="{D5CDD505-2E9C-101B-9397-08002B2CF9AE}" pid="3" name="ICV">
    <vt:lpwstr>CB1F2D81CA16406B95AAEEA270411CEE_12</vt:lpwstr>
  </property>
  <property fmtid="{D5CDD505-2E9C-101B-9397-08002B2CF9AE}" pid="4" name="KSOProductBuildVer">
    <vt:lpwstr>2052-12.1.0.25835</vt:lpwstr>
  </property>
</Properties>
</file>