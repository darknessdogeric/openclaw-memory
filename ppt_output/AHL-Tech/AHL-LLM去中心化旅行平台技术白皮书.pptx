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slides/slide43.xml" Type="http://schemas.openxmlformats.org/officeDocument/2006/relationships/slide"/><Relationship Id="rId52" Target="slides/slide44.xml" Type="http://schemas.openxmlformats.org/officeDocument/2006/relationships/slide"/><Relationship Id="rId53" Target="notesSlides/notesSlide1.xml" Type="http://schemas.openxmlformats.org/officeDocument/2006/relationships/notesSlide"/><Relationship Id="rId54" Target="notesSlides/notesSlide2.xml" Type="http://schemas.openxmlformats.org/officeDocument/2006/relationships/notesSlide"/><Relationship Id="rId55" Target="notesSlides/notesSlide3.xml" Type="http://schemas.openxmlformats.org/officeDocument/2006/relationships/notesSlide"/><Relationship Id="rId56" Target="notesSlides/notesSlide4.xml" Type="http://schemas.openxmlformats.org/officeDocument/2006/relationships/notesSlide"/><Relationship Id="rId57" Target="notesSlides/notesSlide5.xml" Type="http://schemas.openxmlformats.org/officeDocument/2006/relationships/notesSlide"/><Relationship Id="rId58" Target="notesSlides/notesSlide6.xml" Type="http://schemas.openxmlformats.org/officeDocument/2006/relationships/notesSlide"/><Relationship Id="rId59" Target="notesSlides/notesSlide7.xml" Type="http://schemas.openxmlformats.org/officeDocument/2006/relationships/notesSlide"/><Relationship Id="rId6" Target="notesMasters/notesMaster1.xml" Type="http://schemas.openxmlformats.org/officeDocument/2006/relationships/notesMaster"/><Relationship Id="rId60" Target="notesSlides/notesSlide8.xml" Type="http://schemas.openxmlformats.org/officeDocument/2006/relationships/notesSlide"/><Relationship Id="rId61" Target="notesSlides/notesSlide9.xml" Type="http://schemas.openxmlformats.org/officeDocument/2006/relationships/notesSlide"/><Relationship Id="rId62" Target="notesSlides/notesSlide10.xml" Type="http://schemas.openxmlformats.org/officeDocument/2006/relationships/notesSlide"/><Relationship Id="rId63" Target="notesSlides/notesSlide11.xml" Type="http://schemas.openxmlformats.org/officeDocument/2006/relationships/notesSlide"/><Relationship Id="rId64" Target="notesSlides/notesSlide12.xml" Type="http://schemas.openxmlformats.org/officeDocument/2006/relationships/notesSlide"/><Relationship Id="rId65" Target="notesSlides/notesSlide13.xml" Type="http://schemas.openxmlformats.org/officeDocument/2006/relationships/notesSlide"/><Relationship Id="rId66" Target="notesSlides/notesSlide14.xml" Type="http://schemas.openxmlformats.org/officeDocument/2006/relationships/notesSlide"/><Relationship Id="rId67" Target="notesSlides/notesSlide15.xml" Type="http://schemas.openxmlformats.org/officeDocument/2006/relationships/notesSlide"/><Relationship Id="rId68" Target="notesSlides/notesSlide16.xml" Type="http://schemas.openxmlformats.org/officeDocument/2006/relationships/notesSlide"/><Relationship Id="rId69" Target="notesSlides/notesSlide17.xml" Type="http://schemas.openxmlformats.org/officeDocument/2006/relationships/notesSlide"/><Relationship Id="rId7" Target="theme/theme2.xml" Type="http://schemas.openxmlformats.org/officeDocument/2006/relationships/theme"/><Relationship Id="rId70" Target="notesSlides/notesSlide18.xml" Type="http://schemas.openxmlformats.org/officeDocument/2006/relationships/notesSlide"/><Relationship Id="rId71" Target="notesSlides/notesSlide19.xml" Type="http://schemas.openxmlformats.org/officeDocument/2006/relationships/notesSlide"/><Relationship Id="rId72" Target="notesSlides/notesSlide20.xml" Type="http://schemas.openxmlformats.org/officeDocument/2006/relationships/notesSlide"/><Relationship Id="rId73" Target="notesSlides/notesSlide21.xml" Type="http://schemas.openxmlformats.org/officeDocument/2006/relationships/notesSlide"/><Relationship Id="rId74" Target="notesSlides/notesSlide22.xml" Type="http://schemas.openxmlformats.org/officeDocument/2006/relationships/notesSlide"/><Relationship Id="rId75" Target="notesSlides/notesSlide23.xml" Type="http://schemas.openxmlformats.org/officeDocument/2006/relationships/notesSlide"/><Relationship Id="rId76" Target="notesSlides/notesSlide24.xml" Type="http://schemas.openxmlformats.org/officeDocument/2006/relationships/notesSlide"/><Relationship Id="rId77" Target="notesSlides/notesSlide25.xml" Type="http://schemas.openxmlformats.org/officeDocument/2006/relationships/notesSlide"/><Relationship Id="rId78" Target="notesSlides/notesSlide26.xml" Type="http://schemas.openxmlformats.org/officeDocument/2006/relationships/notesSlide"/><Relationship Id="rId79" Target="notesSlides/notesSlide27.xml" Type="http://schemas.openxmlformats.org/officeDocument/2006/relationships/notesSlide"/><Relationship Id="rId8" Target="slideMasters/slideMaster2.xml" Type="http://schemas.openxmlformats.org/officeDocument/2006/relationships/slideMaster"/><Relationship Id="rId80" Target="notesSlides/notesSlide28.xml" Type="http://schemas.openxmlformats.org/officeDocument/2006/relationships/notesSlide"/><Relationship Id="rId81" Target="notesSlides/notesSlide29.xml" Type="http://schemas.openxmlformats.org/officeDocument/2006/relationships/notesSlide"/><Relationship Id="rId82" Target="notesSlides/notesSlide30.xml" Type="http://schemas.openxmlformats.org/officeDocument/2006/relationships/notesSlide"/><Relationship Id="rId83" Target="notesSlides/notesSlide31.xml" Type="http://schemas.openxmlformats.org/officeDocument/2006/relationships/notesSlide"/><Relationship Id="rId84" Target="notesSlides/notesSlide32.xml" Type="http://schemas.openxmlformats.org/officeDocument/2006/relationships/notesSlide"/><Relationship Id="rId85" Target="notesSlides/notesSlide33.xml" Type="http://schemas.openxmlformats.org/officeDocument/2006/relationships/notesSlide"/><Relationship Id="rId86" Target="notesSlides/notesSlide34.xml" Type="http://schemas.openxmlformats.org/officeDocument/2006/relationships/notesSlide"/><Relationship Id="rId87" Target="notesSlides/notesSlide35.xml" Type="http://schemas.openxmlformats.org/officeDocument/2006/relationships/notesSlide"/><Relationship Id="rId88" Target="notesSlides/notesSlide36.xml" Type="http://schemas.openxmlformats.org/officeDocument/2006/relationships/notesSlide"/><Relationship Id="rId89" Target="notesSlides/notesSlide37.xml" Type="http://schemas.openxmlformats.org/officeDocument/2006/relationships/notesSlide"/><Relationship Id="rId9" Target="slides/slide1.xml" Type="http://schemas.openxmlformats.org/officeDocument/2006/relationships/slide"/><Relationship Id="rId90" Target="notesSlides/notesSlide38.xml" Type="http://schemas.openxmlformats.org/officeDocument/2006/relationships/notesSlide"/><Relationship Id="rId91" Target="notesSlides/notesSlide39.xml" Type="http://schemas.openxmlformats.org/officeDocument/2006/relationships/notesSlide"/><Relationship Id="rId92" Target="notesSlides/notesSlide40.xml" Type="http://schemas.openxmlformats.org/officeDocument/2006/relationships/notesSlide"/><Relationship Id="rId93" Target="notesSlides/notesSlide41.xml" Type="http://schemas.openxmlformats.org/officeDocument/2006/relationships/notesSlide"/><Relationship Id="rId94" Target="notesSlides/notesSlide42.xml" Type="http://schemas.openxmlformats.org/officeDocument/2006/relationships/notesSlide"/><Relationship Id="rId95" Target="notesSlides/notesSlide43.xml" Type="http://schemas.openxmlformats.org/officeDocument/2006/relationships/notesSlide"/><Relationship Id="rId96" Target="notesSlides/notesSlide44.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关于AHL-LLM去中心化旅行平台的技术白皮书详解。今天，我们将深入探讨如何利用AI技术，特别是大模型和智能代理（AGENT），来彻底重构住宿业的运营模式，为单体酒店和民宿带来前所未有的数字化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本次分享将分为八个部分，从项目的整体概述开始，深入解析其技术架构、流程、性能指标，再到与传统模式的竞争对比，最后介绍我们的实施路径和核心团队。希望能让大家对AHL-LLM有一个全面而深入的了解。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首先，让我们从项目概述开始，了解AHL-LLM的核心定位和它所依赖的技术基础。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用一句话概括AHL-LLM，它是住宿业第一个结合了大模型和双智能代理的智能托管平台。我们的目标非常明确：通过AI技术，为每一家独立的酒店和民宿赋能，让它们也能拥有像国际酒店集团一样强大的数字化运营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支撑这一目标的是我们精心设计的四层技术栈。最底层是强大的大模型层，之上是负责执行的双AGENT层，再往上是灵活的SKILL能力层，最顶层则是高效的向量匹配引擎，确保整个系统的快速和精准。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接下来，我们将深入到技术架构的细节，详细拆解大模型、AGENT和SKILL体系这三个核心部分。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首先是大模型层。我们没有从零开始，而是站在巨人的肩膀上，选择了成熟的开源模型进行二次开发。通过行业知识库的深度融合和多模态能力的加持，打造出真正懂酒店行业的专属大模型。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AGENT执行层，我们设计了两个核心角色。首先是面向消费者的C端AI管家，它就像一个全天候在线的超级助理，能够处理从预订到退房的全流程服务，甚至能提供餐饮推荐、本地向导等增值服务，极大提升用户体验。</a:t>
            </a:r>
          </a:p>
          <a:p>
            <a:pPr algn="l" indent="0">
              <a:lnSpc>
                <a:spcPct val="100000"/>
              </a:lnSpc>
            </a:pPr>
            <a:r>
              <a:rPr lang="en-US" b="false" i="false" strike="noStrike" u="none" sz="1400">
                <a:solidFill>
                  <a:srgbClr val="000000"/>
                </a:solidFill>
              </a:rPr>
              <a:t>我们赋予了它五大核心能力矩阵，涵盖了客房、餐饮、宴会、前厅礼宾以及第四空间零售，几乎覆盖了用户在住期间的所有高频需求。</a:t>
            </a:r>
          </a:p>
          <a:p>
            <a:pPr algn="l" indent="0">
              <a:lnSpc>
                <a:spcPct val="100000"/>
              </a:lnSpc>
            </a:pPr>
            <a:r>
              <a:rPr lang="en-US" b="false" i="false" strike="noStrike" u="none" sz="1400">
                <a:solidFill>
                  <a:srgbClr val="000000"/>
                </a:solidFill>
              </a:rPr>
              <a:t>在交互流程上，用户只需通过语音或文字输入需求，系统经过NLP自然语言理解和意图识别后，自动调用对应的Skill完成服务。整个过程不仅高效，通常能在3分钟内完成复杂预订，而且系统会在每次交互后持续学习，越用越懂用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另一个核心角色是面向商户的B端AI运营官。它是酒店的智能大脑，能够处理收益管理、人力排班、客房管理等复杂运营任务，甚至可以自主进行动态定价和库存优化，帮助酒店实现精细化管理，显著降低运营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支撑双AGENT高效工作的是我们的SKILL可插拔体系。我们将酒店运营的各个环节拆解成独立的SKILL模块，商户可以根据自身业态和需求，像搭乐高一样自由组合，这使得我们的系统具有极高的灵活性和扩展性，能够快速适应不同类型的住宿业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整个系统的高效运转离不开强大的向量匹配引擎。它能够在3秒内完成用户意图的精准识别和最佳SKILL的匹配，准确率超过95%。这个引擎通过复杂的向量计算，将用户的动态需求与酒店的实时供给进行智能匹配，确保服务的精准和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了解了技术架构后，我们来看一下实际运行中，用户的请求是如何被处理的，以及数据是如何在平台内流转的。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用户请求的完整处理流程。从用户以任何形式提出需求开始，系统会经过自然语言处理、向量匹配，然后由对应的AGENT执行任务，最后将结果反馈给用户，并利用这次交互进行学习，不断优化自身能力。整个过程高效且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数据层面，我们构建了一个双向的数据流架构。用户和商户的行为数据分别被转化为用户向量和商户向量，通过匹配引擎进行智能匹配，从而实现了需求与供给的精准对接，这也是我们平台能够提供个性化服务和高效运营的核心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理论和架构最终要通过实际效果来验证。接下来，我们看看AHL-LLM在系统性能和业务效果上取得了哪些具体成果。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些数据直观地展示了我们平台的实力。在系统性能上，我们实现了毫秒级的响应和极高的稳定性。在业务效果上，我们帮助合作酒店显著提升了收益，大幅降低了运营和获客成本，同时用户体验也得到了极大改善，好评率和复购率都有明显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那么，与传统的OTA平台相比，我们的去中心化模式究竟有何不同，又有哪些优势呢？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对比表清晰地揭示了我们的核心优势。我们摒弃了OTA的高佣金模式，将数据和客户关系还给商户，并通过AI技术提供主动、个性化的服务，最终目标是赋能商户，让他们拥有自主运营的能力，而不是沦为平台的附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一个好的项目离不开清晰的实施路径和优秀的团队。接下来，我将介绍我们的发展规划和核心团队。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我们为项目制定了清晰的三阶段实施路径，从核心功能的MVP验证，到全业态覆盖，再到最终开放生态，每一步都有明确的目标和技术里程碑，确保项目能够稳步推进。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我们的团队是一个完美的“黄金三角”组合：既有深耕行业24年的资深专家，确保我们的产品贴合真实需求；又有顶尖的AI技术人才，保障技术的领先性；还有经验丰富的战略专家，为项目的长远发展保驾护航。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我的介绍到此结束。我们坚信，AHL-LLM将为住宿业带来革命性的变革。我们真诚地期待能与各位携手，共同开创住宿业智能化的崭新未来。谢谢大家！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大家好，欢迎参加本次关于AHL-LLM项目的技术白皮书汇报。今天，我们将深入探讨这个基于大语言模型的住宿业智能运营平台的技术细节、架构设计和核心创新。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本次技术白皮书汇报将分为九个部分，从项目背景、技术架构、核心算法，到SKILL体系、知识库、性能优化，再到实施路径、团队资质和风险合规，希望能让各位对AHL-LLM的技术实力有一个全面而深入的了解。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首先，让我们从项目背景开始，了解AHL-LLM要解决的行业痛点以及我们所面临的技术机遇。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传统住宿业长期面临运营效率低、数据孤岛等技术痛点。而大语言模型技术的飞速发展，特别是2024年开源模型的崛起，为我们提供了将AI技术应用于住宿业的绝佳机遇。AHL正是在这样的背景下应运而生，致力于成为住宿业首个LLM应用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我们将AHL定位为一家技术驱动的AI软件企业，专注于为住宿业提供AI赋能。我们的核心技术矩阵涵盖了从基础模型到应用层的完整技术栈，确保了我们技术方案的深度和广度。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接下来，我们将详细介绍AHL的技术架构，包括整体的四层架构设计和各层的技术栈选型。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AHL采用清晰的四层技术架构。从最上层的应用交互，到中间的双AGENT层和SKILL执行层，再到底层的基础能力层，每一层都各司其职，共同构建了一个高效、灵活且可扩展的智能运营平台。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我们在技术选型上充分考虑了开源、高性能和稳定性。从基础模型到数据存储，再到应用框架，我们都选择了业界领先的技术方案，确保整个系统的高效运行和可维护性。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技术架构的核心是算法。接下来，我们将深入探讨AHL的三大核心算法：大语言模型微调、AGENT架构和向量检索引擎。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我们采用先进的LoRA技术对开源大模型进行领域微调，这使得我们能够以极低的成本和极高的效率，将通用大模型适配到酒店行业。同时，我们构建了丰富的训练数据集，确保模型能够学习到专业的行业知识。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AGENT是AHL的大脑。我们设计了包含规划器、记忆、工具箱和执行器的完整AGENT架构，并采用ReAct范式，让AI能够像人一样进行思考和行动，从而实现复杂任务的自主完成。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高效的向量检索是AHL能够快速响应用户需求的关键。我们构建了一套高性能的向量检索引擎，结合了BM25和向量检索的混合检索策略，并通过重排序技术进一步提升准确率，确保了系统的实时性和准确性。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AGENT的能力来源于强大的SKILL体系。接下来，我们将介绍AHL的SKILL定义、分类和编排机制。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SKILL是AHL系统的基本能力单元。我们将每个SKILL都设计成标准的、可插拔的模块，涵盖了住宿业运营的方方面面。</a:t>
            </a:r>
          </a:p>
          <a:p>
            <a:pPr algn="l" indent="0">
              <a:lnSpc>
                <a:spcPct val="100000"/>
              </a:lnSpc>
            </a:pPr>
            <a:r>
              <a:rPr lang="en-US" b="false" i="false" strike="noStrike" u="none" sz="1400">
                <a:solidFill>
                  <a:srgbClr val="000000"/>
                </a:solidFill>
              </a:rPr>
              <a:t>首先，从结构上看，每个SKILL都包含元信息、业务逻辑和接口定义三个核心部分，这保证了模块的规范性和可复用性。</a:t>
            </a:r>
          </a:p>
          <a:p>
            <a:pPr algn="l" indent="0">
              <a:lnSpc>
                <a:spcPct val="100000"/>
              </a:lnSpc>
            </a:pPr>
            <a:r>
              <a:rPr lang="en-US" b="false" i="false" strike="noStrike" u="none" sz="1400">
                <a:solidFill>
                  <a:srgbClr val="000000"/>
                </a:solidFill>
              </a:rPr>
              <a:t>其次，在分类上，我们覆盖了80多个SKILLs，不仅包含面向C端宾客的客房、餐饮、礼宾等服务场景，也包含面向B端酒店管理者的收益、运营、营销等后台管理场景。这种模块化设计使得我们的系统非常灵活，可以根据不同商户的需求进行快速定制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为了实现复杂的业务流程，我们设计了一套SKILL编排机制。通过简单易懂的DSL语言，我们可以轻松地将多个SKILL组合起来，实现如智能预订、自动对账等复杂业务流程的自动化执行。</a:t>
            </a:r>
          </a:p>
          <a:p>
            <a:pPr algn="l" indent="0">
              <a:lnSpc>
                <a:spcPct val="100000"/>
              </a:lnSpc>
            </a:pPr>
            <a:r>
              <a:rPr lang="en-US" b="false" i="false" strike="noStrike" u="none" sz="1400">
                <a:solidFill>
                  <a:srgbClr val="000000"/>
                </a:solidFill>
              </a:rPr>
              <a:t>左侧展示了一个智能预订流程的DSL脚本示例，它清晰地定义了从检查库存、创建订单到发送通知的步骤顺序。</a:t>
            </a:r>
          </a:p>
          <a:p>
            <a:pPr algn="l" indent="0">
              <a:lnSpc>
                <a:spcPct val="100000"/>
              </a:lnSpc>
            </a:pPr>
            <a:r>
              <a:rPr lang="en-US" b="false" i="false" strike="noStrike" u="none" sz="1400">
                <a:solidFill>
                  <a:srgbClr val="000000"/>
                </a:solidFill>
              </a:rPr>
              <a:t>右侧则是我们编排引擎的工作流程：首先对脚本进行解析和校验，确保逻辑无误；接着进行任务调度，将SKILL分发到相应的微服务节点；最后在执行过程中自动处理数据流转，确保信息在各个环节间无缝传递。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强大的AI离不开丰富的知识。接下来，我们将介绍AHL的知识库构建和知识图谱融合技术。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我们构建了一个庞大的PP&amp;SOP知识库，它融合了多个顶级酒店品牌的标准操作流程，是AHL能够提供专业、标准化服务的基础。这个知识库的构建过程严谨，确保了知识的高质量。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在技术实现层面，我们非常注重性能优化和工程实践。接下来，我们将介绍我们在推理优化、分布式训练和监控体系方面的工作。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为了确保系统的高性能和稳定性，我们在推理阶段采用了多种优化技术，并建立了完善的监控体系。这些工程实践保证了AHL能够在高并发场景下依然保持高效、稳定的服务。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技术的背后是优秀的团队。最后，我们来介绍一下AHL的核心团队和我们已获得的技术资质。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拥有一支由AI专家和行业资深人士组成的核心团队，具备强大的技术研发和产品落地能力。同时，我们也非常重视知识产权保护，已获得多项专利和软著，并正在积极申报相关科技资质，为公司的长远发展奠定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我的技术白皮书汇报到此结束。AHL致力于用前沿的AI技术为住宿业带来变革，我们相信技术的力量能够重新定义住宿业的未来。感谢各位的聆听，期待与您的交流与合作！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17.png" Type="http://schemas.openxmlformats.org/officeDocument/2006/relationships/image"/><Relationship Id="rId16" Target="../media/image18.svg" Type="http://schemas.openxmlformats.org/officeDocument/2006/relationships/image"/><Relationship Id="rId17" Target="../media/image19.png" Type="http://schemas.openxmlformats.org/officeDocument/2006/relationships/image"/><Relationship Id="rId18" Target="../media/image20.svg" Type="http://schemas.openxmlformats.org/officeDocument/2006/relationships/image"/><Relationship Id="rId19" Target="../notesSlides/notesSlide2.xml" Type="http://schemas.openxmlformats.org/officeDocument/2006/relationships/notesSlide"/><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jpeg" Type="http://schemas.openxmlformats.org/officeDocument/2006/relationships/image"/><Relationship Id="rId3" Target="../media/image24.jpe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2.svg" Type="http://schemas.openxmlformats.org/officeDocument/2006/relationships/image"/><Relationship Id="rId11" Target="../notesSlides/notesSlide5.xml" Type="http://schemas.openxmlformats.org/officeDocument/2006/relationships/notesSlide"/><Relationship Id="rId2" Target="../media/image23.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4.sv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13" Target="../media/image47.png" Type="http://schemas.openxmlformats.org/officeDocument/2006/relationships/image"/><Relationship Id="rId14" Target="../media/image48.svg" Type="http://schemas.openxmlformats.org/officeDocument/2006/relationships/image"/><Relationship Id="rId15" Target="../media/image49.png" Type="http://schemas.openxmlformats.org/officeDocument/2006/relationships/image"/><Relationship Id="rId16" Target="../media/image50.svg" Type="http://schemas.openxmlformats.org/officeDocument/2006/relationships/image"/><Relationship Id="rId17" Target="../media/image51.png" Type="http://schemas.openxmlformats.org/officeDocument/2006/relationships/image"/><Relationship Id="rId18" Target="../media/image52.svg" Type="http://schemas.openxmlformats.org/officeDocument/2006/relationships/image"/><Relationship Id="rId19" Target="../media/image53.png" Type="http://schemas.openxmlformats.org/officeDocument/2006/relationships/image"/><Relationship Id="rId2" Target="../media/image23.jpeg" Type="http://schemas.openxmlformats.org/officeDocument/2006/relationships/image"/><Relationship Id="rId20" Target="../media/image54.svg" Type="http://schemas.openxmlformats.org/officeDocument/2006/relationships/image"/><Relationship Id="rId21" Target="../media/image55.png" Type="http://schemas.openxmlformats.org/officeDocument/2006/relationships/image"/><Relationship Id="rId22" Target="../media/image56.svg" Type="http://schemas.openxmlformats.org/officeDocument/2006/relationships/image"/><Relationship Id="rId23" Target="../media/image57.png" Type="http://schemas.openxmlformats.org/officeDocument/2006/relationships/image"/><Relationship Id="rId24" Target="../media/image58.svg" Type="http://schemas.openxmlformats.org/officeDocument/2006/relationships/image"/><Relationship Id="rId25" Target="../media/image59.png" Type="http://schemas.openxmlformats.org/officeDocument/2006/relationships/image"/><Relationship Id="rId26" Target="../media/image60.svg" Type="http://schemas.openxmlformats.org/officeDocument/2006/relationships/image"/><Relationship Id="rId27" Target="../notesSlides/notesSlide8.xml" Type="http://schemas.openxmlformats.org/officeDocument/2006/relationships/notesSlid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4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jpeg" Type="http://schemas.openxmlformats.org/officeDocument/2006/relationships/image"/><Relationship Id="rId3" Target="../media/image65.png" Type="http://schemas.openxmlformats.org/officeDocument/2006/relationships/image"/><Relationship Id="rId4" Target="../media/image66.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67.png" Type="http://schemas.openxmlformats.org/officeDocument/2006/relationships/image"/><Relationship Id="rId8" Target="../media/image68.svg" Type="http://schemas.openxmlformats.org/officeDocument/2006/relationships/image"/><Relationship Id="rId9"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6.svg" Type="http://schemas.openxmlformats.org/officeDocument/2006/relationships/image"/><Relationship Id="rId11" Target="../media/image77.png" Type="http://schemas.openxmlformats.org/officeDocument/2006/relationships/image"/><Relationship Id="rId12" Target="../media/image78.svg" Type="http://schemas.openxmlformats.org/officeDocument/2006/relationships/image"/><Relationship Id="rId13" Target="../media/image79.png" Type="http://schemas.openxmlformats.org/officeDocument/2006/relationships/image"/><Relationship Id="rId14" Target="../media/image80.svg" Type="http://schemas.openxmlformats.org/officeDocument/2006/relationships/image"/><Relationship Id="rId15" Target="../media/image45.png" Type="http://schemas.openxmlformats.org/officeDocument/2006/relationships/image"/><Relationship Id="rId16" Target="../media/image46.svg" Type="http://schemas.openxmlformats.org/officeDocument/2006/relationships/image"/><Relationship Id="rId17" Target="../media/image81.png" Type="http://schemas.openxmlformats.org/officeDocument/2006/relationships/image"/><Relationship Id="rId18" Target="../media/image82.svg" Type="http://schemas.openxmlformats.org/officeDocument/2006/relationships/image"/><Relationship Id="rId19" Target="../media/image83.png" Type="http://schemas.openxmlformats.org/officeDocument/2006/relationships/image"/><Relationship Id="rId2" Target="../media/image23.jpeg" Type="http://schemas.openxmlformats.org/officeDocument/2006/relationships/image"/><Relationship Id="rId20" Target="../media/image84.svg" Type="http://schemas.openxmlformats.org/officeDocument/2006/relationships/image"/><Relationship Id="rId21" Target="../notesSlides/notesSlide11.xml" Type="http://schemas.openxmlformats.org/officeDocument/2006/relationships/notesSlide"/><Relationship Id="rId3" Target="../media/image69.png" Type="http://schemas.openxmlformats.org/officeDocument/2006/relationships/image"/><Relationship Id="rId4" Target="../media/image70.svg" Type="http://schemas.openxmlformats.org/officeDocument/2006/relationships/image"/><Relationship Id="rId5" Target="../media/image71.png" Type="http://schemas.openxmlformats.org/officeDocument/2006/relationships/image"/><Relationship Id="rId6" Target="../media/image72.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7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85.png" Type="http://schemas.openxmlformats.org/officeDocument/2006/relationships/image"/><Relationship Id="rId4" Target="../media/image86.svg" Type="http://schemas.openxmlformats.org/officeDocument/2006/relationships/image"/><Relationship Id="rId5" Target="../media/image87.png" Type="http://schemas.openxmlformats.org/officeDocument/2006/relationships/image"/><Relationship Id="rId6" Target="../media/image88.svg" Type="http://schemas.openxmlformats.org/officeDocument/2006/relationships/image"/><Relationship Id="rId7" Target="../media/image89.png" Type="http://schemas.openxmlformats.org/officeDocument/2006/relationships/image"/><Relationship Id="rId8" Target="../media/image90.svg" Type="http://schemas.openxmlformats.org/officeDocument/2006/relationships/image"/><Relationship Id="rId9"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8.svg" Type="http://schemas.openxmlformats.org/officeDocument/2006/relationships/image"/><Relationship Id="rId11" Target="../media/image85.png" Type="http://schemas.openxmlformats.org/officeDocument/2006/relationships/image"/><Relationship Id="rId12" Target="../media/image86.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15" Target="../media/image99.png" Type="http://schemas.openxmlformats.org/officeDocument/2006/relationships/image"/><Relationship Id="rId16" Target="../media/image100.svg" Type="http://schemas.openxmlformats.org/officeDocument/2006/relationships/image"/><Relationship Id="rId17" Target="../notesSlides/notesSlide13.xml" Type="http://schemas.openxmlformats.org/officeDocument/2006/relationships/notesSlide"/><Relationship Id="rId2" Target="../media/image23.jpe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 Id="rId5" Target="../media/image93.png" Type="http://schemas.openxmlformats.org/officeDocument/2006/relationships/image"/><Relationship Id="rId6" Target="../media/image94.svg" Type="http://schemas.openxmlformats.org/officeDocument/2006/relationships/image"/><Relationship Id="rId7" Target="../media/image95.png" Type="http://schemas.openxmlformats.org/officeDocument/2006/relationships/image"/><Relationship Id="rId8" Target="../media/image96.svg" Type="http://schemas.openxmlformats.org/officeDocument/2006/relationships/image"/><Relationship Id="rId9" Target="../media/image9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8.svg" Type="http://schemas.openxmlformats.org/officeDocument/2006/relationships/image"/><Relationship Id="rId11" Target="../notesSlides/notesSlide14.xml" Type="http://schemas.openxmlformats.org/officeDocument/2006/relationships/notesSlide"/><Relationship Id="rId2" Target="../media/image23.jpeg" Type="http://schemas.openxmlformats.org/officeDocument/2006/relationships/image"/><Relationship Id="rId3" Target="../media/image101.png" Type="http://schemas.openxmlformats.org/officeDocument/2006/relationships/image"/><Relationship Id="rId4" Target="../media/image102.svg" Type="http://schemas.openxmlformats.org/officeDocument/2006/relationships/image"/><Relationship Id="rId5" Target="../media/image103.png" Type="http://schemas.openxmlformats.org/officeDocument/2006/relationships/image"/><Relationship Id="rId6" Target="../media/image104.svg" Type="http://schemas.openxmlformats.org/officeDocument/2006/relationships/image"/><Relationship Id="rId7" Target="../media/image105.png" Type="http://schemas.openxmlformats.org/officeDocument/2006/relationships/image"/><Relationship Id="rId8" Target="../media/image106.svg" Type="http://schemas.openxmlformats.org/officeDocument/2006/relationships/image"/><Relationship Id="rId9" Target="../media/image10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109.png" Type="http://schemas.openxmlformats.org/officeDocument/2006/relationships/image"/><Relationship Id="rId6" Target="../media/image110.svg" Type="http://schemas.openxmlformats.org/officeDocument/2006/relationships/image"/><Relationship Id="rId7" Target="../media/image111.png" Type="http://schemas.openxmlformats.org/officeDocument/2006/relationships/image"/><Relationship Id="rId8" Target="../media/image112.svg" Type="http://schemas.openxmlformats.org/officeDocument/2006/relationships/image"/><Relationship Id="rId9"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8.svg" Type="http://schemas.openxmlformats.org/officeDocument/2006/relationships/image"/><Relationship Id="rId11" Target="../media/image119.png" Type="http://schemas.openxmlformats.org/officeDocument/2006/relationships/image"/><Relationship Id="rId12" Target="../media/image120.svg" Type="http://schemas.openxmlformats.org/officeDocument/2006/relationships/image"/><Relationship Id="rId13" Target="../media/image121.png" Type="http://schemas.openxmlformats.org/officeDocument/2006/relationships/image"/><Relationship Id="rId14" Target="../media/image122.svg" Type="http://schemas.openxmlformats.org/officeDocument/2006/relationships/image"/><Relationship Id="rId15" Target="../media/image123.png" Type="http://schemas.openxmlformats.org/officeDocument/2006/relationships/image"/><Relationship Id="rId16" Target="../media/image124.svg" Type="http://schemas.openxmlformats.org/officeDocument/2006/relationships/image"/><Relationship Id="rId17" Target="../media/image125.png" Type="http://schemas.openxmlformats.org/officeDocument/2006/relationships/image"/><Relationship Id="rId18" Target="../media/image126.svg" Type="http://schemas.openxmlformats.org/officeDocument/2006/relationships/image"/><Relationship Id="rId19" Target="../media/image127.png" Type="http://schemas.openxmlformats.org/officeDocument/2006/relationships/image"/><Relationship Id="rId2" Target="../media/image23.jpeg" Type="http://schemas.openxmlformats.org/officeDocument/2006/relationships/image"/><Relationship Id="rId20" Target="../media/image128.svg" Type="http://schemas.openxmlformats.org/officeDocument/2006/relationships/image"/><Relationship Id="rId21" Target="../media/image129.png" Type="http://schemas.openxmlformats.org/officeDocument/2006/relationships/image"/><Relationship Id="rId22" Target="../media/image130.svg" Type="http://schemas.openxmlformats.org/officeDocument/2006/relationships/image"/><Relationship Id="rId23" Target="../media/image131.png" Type="http://schemas.openxmlformats.org/officeDocument/2006/relationships/image"/><Relationship Id="rId24" Target="../media/image132.svg" Type="http://schemas.openxmlformats.org/officeDocument/2006/relationships/image"/><Relationship Id="rId25" Target="../media/image133.png" Type="http://schemas.openxmlformats.org/officeDocument/2006/relationships/image"/><Relationship Id="rId26" Target="../media/image134.svg" Type="http://schemas.openxmlformats.org/officeDocument/2006/relationships/image"/><Relationship Id="rId27" Target="../media/image135.png" Type="http://schemas.openxmlformats.org/officeDocument/2006/relationships/image"/><Relationship Id="rId28" Target="../media/image136.svg" Type="http://schemas.openxmlformats.org/officeDocument/2006/relationships/image"/><Relationship Id="rId29" Target="../notesSlides/notesSlide16.xml" Type="http://schemas.openxmlformats.org/officeDocument/2006/relationships/notesSlide"/><Relationship Id="rId3" Target="../media/image25.png" Type="http://schemas.openxmlformats.org/officeDocument/2006/relationships/image"/><Relationship Id="rId4" Target="../media/image26.svg" Type="http://schemas.openxmlformats.org/officeDocument/2006/relationships/image"/><Relationship Id="rId5" Target="../media/image113.png" Type="http://schemas.openxmlformats.org/officeDocument/2006/relationships/image"/><Relationship Id="rId6" Target="../media/image114.svg" Type="http://schemas.openxmlformats.org/officeDocument/2006/relationships/image"/><Relationship Id="rId7" Target="../media/image115.png" Type="http://schemas.openxmlformats.org/officeDocument/2006/relationships/image"/><Relationship Id="rId8" Target="../media/image116.svg" Type="http://schemas.openxmlformats.org/officeDocument/2006/relationships/image"/><Relationship Id="rId9" Target="../media/image1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4.svg" Type="http://schemas.openxmlformats.org/officeDocument/2006/relationships/image"/><Relationship Id="rId11" Target="../media/image105.png" Type="http://schemas.openxmlformats.org/officeDocument/2006/relationships/image"/><Relationship Id="rId12" Target="../media/image106.svg" Type="http://schemas.openxmlformats.org/officeDocument/2006/relationships/image"/><Relationship Id="rId13" Target="../notesSlides/notesSlide18.xml" Type="http://schemas.openxmlformats.org/officeDocument/2006/relationships/notesSlide"/><Relationship Id="rId2" Target="../media/image23.jpeg" Type="http://schemas.openxmlformats.org/officeDocument/2006/relationships/image"/><Relationship Id="rId3" Target="../media/image137.png" Type="http://schemas.openxmlformats.org/officeDocument/2006/relationships/image"/><Relationship Id="rId4" Target="../media/image138.svg" Type="http://schemas.openxmlformats.org/officeDocument/2006/relationships/image"/><Relationship Id="rId5" Target="../media/image139.png" Type="http://schemas.openxmlformats.org/officeDocument/2006/relationships/image"/><Relationship Id="rId6" Target="../media/image140.svg" Type="http://schemas.openxmlformats.org/officeDocument/2006/relationships/image"/><Relationship Id="rId7" Target="../media/image141.png" Type="http://schemas.openxmlformats.org/officeDocument/2006/relationships/image"/><Relationship Id="rId8" Target="../media/image142.svg" Type="http://schemas.openxmlformats.org/officeDocument/2006/relationships/image"/><Relationship Id="rId9" Target="../media/image14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jpeg" Type="http://schemas.openxmlformats.org/officeDocument/2006/relationships/image"/><Relationship Id="rId3" Target="../media/image145.png" Type="http://schemas.openxmlformats.org/officeDocument/2006/relationships/image"/><Relationship Id="rId4" Target="../media/image146.svg" Type="http://schemas.openxmlformats.org/officeDocument/2006/relationships/image"/><Relationship Id="rId5"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147.png" Type="http://schemas.openxmlformats.org/officeDocument/2006/relationships/image"/><Relationship Id="rId6" Target="../media/image148.svg" Type="http://schemas.openxmlformats.org/officeDocument/2006/relationships/image"/><Relationship Id="rId7" Target="../media/image149.png" Type="http://schemas.openxmlformats.org/officeDocument/2006/relationships/image"/><Relationship Id="rId8" Target="../media/image150.svg" Type="http://schemas.openxmlformats.org/officeDocument/2006/relationships/image"/><Relationship Id="rId9"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3.jpeg" Type="http://schemas.openxmlformats.org/officeDocument/2006/relationships/image"/><Relationship Id="rId3" Target="../media/image151.png" Type="http://schemas.openxmlformats.org/officeDocument/2006/relationships/image"/><Relationship Id="rId4" Target="../media/image152.svg" Type="http://schemas.openxmlformats.org/officeDocument/2006/relationships/image"/><Relationship Id="rId5" Target="../media/image153.png" Type="http://schemas.openxmlformats.org/officeDocument/2006/relationships/image"/><Relationship Id="rId6" Target="../media/image154.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5.jpeg" Type="http://schemas.openxmlformats.org/officeDocument/2006/relationships/image"/><Relationship Id="rId3" Target="../media/image151.png" Type="http://schemas.openxmlformats.org/officeDocument/2006/relationships/image"/><Relationship Id="rId4" Target="../media/image152.svg" Type="http://schemas.openxmlformats.org/officeDocument/2006/relationships/image"/><Relationship Id="rId5" Target="../media/image156.png" Type="http://schemas.openxmlformats.org/officeDocument/2006/relationships/image"/><Relationship Id="rId6" Target="../media/image157.svg" Type="http://schemas.openxmlformats.org/officeDocument/2006/relationships/image"/><Relationship Id="rId7" Target="../media/image158.png" Type="http://schemas.openxmlformats.org/officeDocument/2006/relationships/image"/><Relationship Id="rId8" Target="../media/image159.svg" Type="http://schemas.openxmlformats.org/officeDocument/2006/relationships/image"/><Relationship Id="rId9"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0.jpeg" Type="http://schemas.openxmlformats.org/officeDocument/2006/relationships/image"/><Relationship Id="rId3" Target="../media/image85.png" Type="http://schemas.openxmlformats.org/officeDocument/2006/relationships/image"/><Relationship Id="rId4" Target="../media/image86.svg" Type="http://schemas.openxmlformats.org/officeDocument/2006/relationships/image"/><Relationship Id="rId5"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3.svg" Type="http://schemas.openxmlformats.org/officeDocument/2006/relationships/image"/><Relationship Id="rId11" Target="../media/image164.png" Type="http://schemas.openxmlformats.org/officeDocument/2006/relationships/image"/><Relationship Id="rId12" Target="../media/image165.svg" Type="http://schemas.openxmlformats.org/officeDocument/2006/relationships/image"/><Relationship Id="rId13" Target="../media/image69.png" Type="http://schemas.openxmlformats.org/officeDocument/2006/relationships/image"/><Relationship Id="rId14" Target="../media/image70.svg" Type="http://schemas.openxmlformats.org/officeDocument/2006/relationships/image"/><Relationship Id="rId15" Target="../media/image166.png" Type="http://schemas.openxmlformats.org/officeDocument/2006/relationships/image"/><Relationship Id="rId16" Target="../media/image167.svg" Type="http://schemas.openxmlformats.org/officeDocument/2006/relationships/image"/><Relationship Id="rId17" Target="../media/image168.png" Type="http://schemas.openxmlformats.org/officeDocument/2006/relationships/image"/><Relationship Id="rId18" Target="../media/image169.svg" Type="http://schemas.openxmlformats.org/officeDocument/2006/relationships/image"/><Relationship Id="rId19" Target="../media/image170.png" Type="http://schemas.openxmlformats.org/officeDocument/2006/relationships/image"/><Relationship Id="rId2" Target="../media/image161.jpeg" Type="http://schemas.openxmlformats.org/officeDocument/2006/relationships/image"/><Relationship Id="rId20" Target="../media/image171.svg" Type="http://schemas.openxmlformats.org/officeDocument/2006/relationships/image"/><Relationship Id="rId21" Target="../notesSlides/notesSlide24.xml" Type="http://schemas.openxmlformats.org/officeDocument/2006/relationships/notesSlide"/><Relationship Id="rId3" Target="../media/image77.png" Type="http://schemas.openxmlformats.org/officeDocument/2006/relationships/image"/><Relationship Id="rId4" Target="../media/image78.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16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6.svg" Type="http://schemas.openxmlformats.org/officeDocument/2006/relationships/image"/><Relationship Id="rId11" Target="../media/image151.png" Type="http://schemas.openxmlformats.org/officeDocument/2006/relationships/image"/><Relationship Id="rId12" Target="../media/image152.svg" Type="http://schemas.openxmlformats.org/officeDocument/2006/relationships/image"/><Relationship Id="rId13" Target="../media/image177.png" Type="http://schemas.openxmlformats.org/officeDocument/2006/relationships/image"/><Relationship Id="rId14" Target="../media/image178.svg" Type="http://schemas.openxmlformats.org/officeDocument/2006/relationships/image"/><Relationship Id="rId15" Target="../media/image147.png" Type="http://schemas.openxmlformats.org/officeDocument/2006/relationships/image"/><Relationship Id="rId16" Target="../media/image148.svg" Type="http://schemas.openxmlformats.org/officeDocument/2006/relationships/image"/><Relationship Id="rId17" Target="../media/image67.png" Type="http://schemas.openxmlformats.org/officeDocument/2006/relationships/image"/><Relationship Id="rId18" Target="../media/image68.svg" Type="http://schemas.openxmlformats.org/officeDocument/2006/relationships/image"/><Relationship Id="rId19" Target="../notesSlides/notesSlide26.xml" Type="http://schemas.openxmlformats.org/officeDocument/2006/relationships/notesSlide"/><Relationship Id="rId2" Target="../media/image172.jpe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85.png" Type="http://schemas.openxmlformats.org/officeDocument/2006/relationships/image"/><Relationship Id="rId6" Target="../media/image86.svg" Type="http://schemas.openxmlformats.org/officeDocument/2006/relationships/image"/><Relationship Id="rId7" Target="../media/image173.png" Type="http://schemas.openxmlformats.org/officeDocument/2006/relationships/image"/><Relationship Id="rId8" Target="../media/image174.svg" Type="http://schemas.openxmlformats.org/officeDocument/2006/relationships/image"/><Relationship Id="rId9" Target="../media/image17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5.svg" Type="http://schemas.openxmlformats.org/officeDocument/2006/relationships/image"/><Relationship Id="rId11" Target="../notesSlides/notesSlide27.xml" Type="http://schemas.openxmlformats.org/officeDocument/2006/relationships/notesSlide"/><Relationship Id="rId2" Target="../media/image172.jpeg" Type="http://schemas.openxmlformats.org/officeDocument/2006/relationships/image"/><Relationship Id="rId3" Target="../media/image115.png" Type="http://schemas.openxmlformats.org/officeDocument/2006/relationships/image"/><Relationship Id="rId4" Target="../media/image179.svg" Type="http://schemas.openxmlformats.org/officeDocument/2006/relationships/image"/><Relationship Id="rId5" Target="../media/image180.png" Type="http://schemas.openxmlformats.org/officeDocument/2006/relationships/image"/><Relationship Id="rId6" Target="../media/image181.svg" Type="http://schemas.openxmlformats.org/officeDocument/2006/relationships/image"/><Relationship Id="rId7" Target="../media/image182.png" Type="http://schemas.openxmlformats.org/officeDocument/2006/relationships/image"/><Relationship Id="rId8" Target="../media/image183.svg" Type="http://schemas.openxmlformats.org/officeDocument/2006/relationships/image"/><Relationship Id="rId9" Target="../media/image18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jpeg" Type="http://schemas.openxmlformats.org/officeDocument/2006/relationships/image"/><Relationship Id="rId3" Target="../media/image186.png" Type="http://schemas.openxmlformats.org/officeDocument/2006/relationships/image"/><Relationship Id="rId4" Target="../media/image187.svg" Type="http://schemas.openxmlformats.org/officeDocument/2006/relationships/image"/><Relationship Id="rId5"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4.svg" Type="http://schemas.openxmlformats.org/officeDocument/2006/relationships/image"/><Relationship Id="rId11" Target="../notesSlides/notesSlide29.xml" Type="http://schemas.openxmlformats.org/officeDocument/2006/relationships/notesSlide"/><Relationship Id="rId2" Target="../media/image172.jpeg" Type="http://schemas.openxmlformats.org/officeDocument/2006/relationships/image"/><Relationship Id="rId3" Target="../media/image180.png" Type="http://schemas.openxmlformats.org/officeDocument/2006/relationships/image"/><Relationship Id="rId4" Target="../media/image181.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15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188.png" Type="http://schemas.openxmlformats.org/officeDocument/2006/relationships/image"/><Relationship Id="rId6" Target="../media/image189.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jpeg" Type="http://schemas.openxmlformats.org/officeDocument/2006/relationships/image"/><Relationship Id="rId3" Target="../media/image153.png" Type="http://schemas.openxmlformats.org/officeDocument/2006/relationships/image"/><Relationship Id="rId4" Target="../media/image154.svg" Type="http://schemas.openxmlformats.org/officeDocument/2006/relationships/image"/><Relationship Id="rId5"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0.svg" Type="http://schemas.openxmlformats.org/officeDocument/2006/relationships/image"/><Relationship Id="rId11" Target="../media/image188.png" Type="http://schemas.openxmlformats.org/officeDocument/2006/relationships/image"/><Relationship Id="rId12" Target="../media/image189.svg" Type="http://schemas.openxmlformats.org/officeDocument/2006/relationships/image"/><Relationship Id="rId13" Target="../media/image192.png" Type="http://schemas.openxmlformats.org/officeDocument/2006/relationships/image"/><Relationship Id="rId14" Target="../media/image193.svg" Type="http://schemas.openxmlformats.org/officeDocument/2006/relationships/image"/><Relationship Id="rId15" Target="../media/image35.png" Type="http://schemas.openxmlformats.org/officeDocument/2006/relationships/image"/><Relationship Id="rId16" Target="../media/image36.svg" Type="http://schemas.openxmlformats.org/officeDocument/2006/relationships/image"/><Relationship Id="rId17" Target="../media/image194.png" Type="http://schemas.openxmlformats.org/officeDocument/2006/relationships/image"/><Relationship Id="rId18" Target="../media/image195.svg" Type="http://schemas.openxmlformats.org/officeDocument/2006/relationships/image"/><Relationship Id="rId19" Target="../media/image196.png" Type="http://schemas.openxmlformats.org/officeDocument/2006/relationships/image"/><Relationship Id="rId2" Target="../media/image172.jpeg" Type="http://schemas.openxmlformats.org/officeDocument/2006/relationships/image"/><Relationship Id="rId20" Target="../media/image197.svg" Type="http://schemas.openxmlformats.org/officeDocument/2006/relationships/image"/><Relationship Id="rId21" Target="../notesSlides/notesSlide32.xml" Type="http://schemas.openxmlformats.org/officeDocument/2006/relationships/notesSlide"/><Relationship Id="rId3" Target="../media/image85.png" Type="http://schemas.openxmlformats.org/officeDocument/2006/relationships/image"/><Relationship Id="rId4" Target="../media/image86.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190.png" Type="http://schemas.openxmlformats.org/officeDocument/2006/relationships/image"/><Relationship Id="rId8" Target="../media/image191.svg" Type="http://schemas.openxmlformats.org/officeDocument/2006/relationships/image"/><Relationship Id="rId9" Target="../media/image6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3.svg" Type="http://schemas.openxmlformats.org/officeDocument/2006/relationships/image"/><Relationship Id="rId11" Target="../media/image204.png" Type="http://schemas.openxmlformats.org/officeDocument/2006/relationships/image"/><Relationship Id="rId12" Target="../media/image205.svg" Type="http://schemas.openxmlformats.org/officeDocument/2006/relationships/image"/><Relationship Id="rId13" Target="../notesSlides/notesSlide33.xml" Type="http://schemas.openxmlformats.org/officeDocument/2006/relationships/notesSlide"/><Relationship Id="rId2" Target="../media/image172.jpeg" Type="http://schemas.openxmlformats.org/officeDocument/2006/relationships/image"/><Relationship Id="rId3" Target="../media/image198.png" Type="http://schemas.openxmlformats.org/officeDocument/2006/relationships/image"/><Relationship Id="rId4" Target="../media/image199.svg" Type="http://schemas.openxmlformats.org/officeDocument/2006/relationships/image"/><Relationship Id="rId5" Target="../media/image190.png" Type="http://schemas.openxmlformats.org/officeDocument/2006/relationships/image"/><Relationship Id="rId6" Target="../media/image191.svg" Type="http://schemas.openxmlformats.org/officeDocument/2006/relationships/image"/><Relationship Id="rId7" Target="../media/image200.png" Type="http://schemas.openxmlformats.org/officeDocument/2006/relationships/image"/><Relationship Id="rId8" Target="../media/image201.svg" Type="http://schemas.openxmlformats.org/officeDocument/2006/relationships/image"/><Relationship Id="rId9" Target="../media/image20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11.svg" Type="http://schemas.openxmlformats.org/officeDocument/2006/relationships/image"/><Relationship Id="rId11" Target="../media/image71.png" Type="http://schemas.openxmlformats.org/officeDocument/2006/relationships/image"/><Relationship Id="rId12" Target="../media/image72.svg" Type="http://schemas.openxmlformats.org/officeDocument/2006/relationships/image"/><Relationship Id="rId13" Target="../media/image87.png" Type="http://schemas.openxmlformats.org/officeDocument/2006/relationships/image"/><Relationship Id="rId14" Target="../media/image88.svg" Type="http://schemas.openxmlformats.org/officeDocument/2006/relationships/image"/><Relationship Id="rId15" Target="../notesSlides/notesSlide34.xml" Type="http://schemas.openxmlformats.org/officeDocument/2006/relationships/notesSlide"/><Relationship Id="rId2" Target="../media/image172.jpeg" Type="http://schemas.openxmlformats.org/officeDocument/2006/relationships/image"/><Relationship Id="rId3" Target="../media/image206.png" Type="http://schemas.openxmlformats.org/officeDocument/2006/relationships/image"/><Relationship Id="rId4" Target="../media/image207.svg" Type="http://schemas.openxmlformats.org/officeDocument/2006/relationships/image"/><Relationship Id="rId5" Target="../media/image85.png" Type="http://schemas.openxmlformats.org/officeDocument/2006/relationships/image"/><Relationship Id="rId6" Target="../media/image86.svg" Type="http://schemas.openxmlformats.org/officeDocument/2006/relationships/image"/><Relationship Id="rId7" Target="../media/image208.png" Type="http://schemas.openxmlformats.org/officeDocument/2006/relationships/image"/><Relationship Id="rId8" Target="../media/image209.svg" Type="http://schemas.openxmlformats.org/officeDocument/2006/relationships/image"/><Relationship Id="rId9" Target="../media/image21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jpeg" Type="http://schemas.openxmlformats.org/officeDocument/2006/relationships/image"/><Relationship Id="rId3"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6.svg" Type="http://schemas.openxmlformats.org/officeDocument/2006/relationships/image"/><Relationship Id="rId11" Target="../media/image109.png" Type="http://schemas.openxmlformats.org/officeDocument/2006/relationships/image"/><Relationship Id="rId12" Target="../media/image110.svg" Type="http://schemas.openxmlformats.org/officeDocument/2006/relationships/image"/><Relationship Id="rId13" Target="../notesSlides/notesSlide36.xml" Type="http://schemas.openxmlformats.org/officeDocument/2006/relationships/notesSlide"/><Relationship Id="rId2" Target="../media/image172.jpeg" Type="http://schemas.openxmlformats.org/officeDocument/2006/relationships/image"/><Relationship Id="rId3" Target="../media/image212.png" Type="http://schemas.openxmlformats.org/officeDocument/2006/relationships/image"/><Relationship Id="rId4" Target="../media/image213.svg" Type="http://schemas.openxmlformats.org/officeDocument/2006/relationships/image"/><Relationship Id="rId5" Target="../media/image214.png" Type="http://schemas.openxmlformats.org/officeDocument/2006/relationships/image"/><Relationship Id="rId6" Target="../media/image215.svg" Type="http://schemas.openxmlformats.org/officeDocument/2006/relationships/image"/><Relationship Id="rId7" Target="../media/image216.png" Type="http://schemas.openxmlformats.org/officeDocument/2006/relationships/image"/><Relationship Id="rId8" Target="../media/image217.svg" Type="http://schemas.openxmlformats.org/officeDocument/2006/relationships/image"/><Relationship Id="rId9" Target="../media/image4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21.svg" Type="http://schemas.openxmlformats.org/officeDocument/2006/relationships/image"/><Relationship Id="rId11" Target="../notesSlides/notesSlide37.xml" Type="http://schemas.openxmlformats.org/officeDocument/2006/relationships/notesSlide"/><Relationship Id="rId2" Target="../media/image172.jpeg" Type="http://schemas.openxmlformats.org/officeDocument/2006/relationships/image"/><Relationship Id="rId3" Target="../media/image218.png" Type="http://schemas.openxmlformats.org/officeDocument/2006/relationships/image"/><Relationship Id="rId4" Target="../media/image219.svg" Type="http://schemas.openxmlformats.org/officeDocument/2006/relationships/image"/><Relationship Id="rId5" Target="../media/image147.png" Type="http://schemas.openxmlformats.org/officeDocument/2006/relationships/image"/><Relationship Id="rId6" Target="../media/image148.svg" Type="http://schemas.openxmlformats.org/officeDocument/2006/relationships/image"/><Relationship Id="rId7" Target="../media/image85.png" Type="http://schemas.openxmlformats.org/officeDocument/2006/relationships/image"/><Relationship Id="rId8" Target="../media/image86.svg" Type="http://schemas.openxmlformats.org/officeDocument/2006/relationships/image"/><Relationship Id="rId9" Target="../media/image22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jpeg" Type="http://schemas.openxmlformats.org/officeDocument/2006/relationships/image"/><Relationship Id="rId3"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2.jpeg" Type="http://schemas.openxmlformats.org/officeDocument/2006/relationships/image"/><Relationship Id="rId3" Target="../media/image222.png" Type="http://schemas.openxmlformats.org/officeDocument/2006/relationships/image"/><Relationship Id="rId4" Target="../media/image223.svg" Type="http://schemas.openxmlformats.org/officeDocument/2006/relationships/image"/><Relationship Id="rId5" Target="../media/image196.png" Type="http://schemas.openxmlformats.org/officeDocument/2006/relationships/image"/><Relationship Id="rId6" Target="../media/image197.svg" Type="http://schemas.openxmlformats.org/officeDocument/2006/relationships/image"/><Relationship Id="rId7" Target="../media/image224.png" Type="http://schemas.openxmlformats.org/officeDocument/2006/relationships/image"/><Relationship Id="rId8" Target="../media/image225.svg" Type="http://schemas.openxmlformats.org/officeDocument/2006/relationships/image"/><Relationship Id="rId9"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jpeg" Type="http://schemas.openxmlformats.org/officeDocument/2006/relationships/image"/><Relationship Id="rId3" Target="../media/image153.png" Type="http://schemas.openxmlformats.org/officeDocument/2006/relationships/image"/><Relationship Id="rId4" Target="../media/image154.svg" Type="http://schemas.openxmlformats.org/officeDocument/2006/relationships/image"/><Relationship Id="rId5"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2.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26.png" Type="http://schemas.openxmlformats.org/officeDocument/2006/relationships/image"/><Relationship Id="rId6" Target="../media/image227.svg" Type="http://schemas.openxmlformats.org/officeDocument/2006/relationships/image"/><Relationship Id="rId7"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1.jpeg" Type="http://schemas.openxmlformats.org/officeDocument/2006/relationships/image"/><Relationship Id="rId3" Target="../media/image228.png" Type="http://schemas.openxmlformats.org/officeDocument/2006/relationships/image"/><Relationship Id="rId4" Target="../media/image229.svg" Type="http://schemas.openxmlformats.org/officeDocument/2006/relationships/image"/><Relationship Id="rId5"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2.jpeg" Type="http://schemas.openxmlformats.org/officeDocument/2006/relationships/image"/><Relationship Id="rId3" Target="../media/image230.png" Type="http://schemas.openxmlformats.org/officeDocument/2006/relationships/image"/><Relationship Id="rId4" Target="../media/image231.svg" Type="http://schemas.openxmlformats.org/officeDocument/2006/relationships/image"/><Relationship Id="rId5" Target="../media/image232.png" Type="http://schemas.openxmlformats.org/officeDocument/2006/relationships/image"/><Relationship Id="rId6" Target="../media/image233.svg" Type="http://schemas.openxmlformats.org/officeDocument/2006/relationships/image"/><Relationship Id="rId7"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41.png" Type="http://schemas.openxmlformats.org/officeDocument/2006/relationships/image"/><Relationship Id="rId2" Target="../media/image234.jpeg" Type="http://schemas.openxmlformats.org/officeDocument/2006/relationships/image"/><Relationship Id="rId3" Target="../media/image235.png" Type="http://schemas.openxmlformats.org/officeDocument/2006/relationships/image"/><Relationship Id="rId4" Target="../media/image236.svg" Type="http://schemas.openxmlformats.org/officeDocument/2006/relationships/image"/><Relationship Id="rId5" Target="../media/image237.png" Type="http://schemas.openxmlformats.org/officeDocument/2006/relationships/image"/><Relationship Id="rId6" Target="../media/image238.svg" Type="http://schemas.openxmlformats.org/officeDocument/2006/relationships/image"/><Relationship Id="rId7" Target="../media/image239.png" Type="http://schemas.openxmlformats.org/officeDocument/2006/relationships/image"/><Relationship Id="rId8" Target="../media/image240.svg" Type="http://schemas.openxmlformats.org/officeDocument/2006/relationships/image"/><Relationship Id="rId9" Target="../notesSlides/notesSlide44.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270000"/>
            <a:ext cx="609600" cy="609600"/>
          </a:xfrm>
          <a:prstGeom prst="rect">
            <a:avLst/>
          </a:prstGeom>
          <a:effectLst>
            <a:outerShdw dir="2700000" dist="0" blurRad="127000" algn="tl" rotWithShape="false">
              <a:srgbClr val="41EAD4">
                <a:alpha val="50000"/>
              </a:srgbClr>
            </a:outerShdw>
          </a:effectLst>
        </p:spPr>
      </p:pic>
      <p:sp>
        <p:nvSpPr>
          <p:cNvPr name="AutoShape 5" id="5"/>
          <p:cNvSpPr/>
          <p:nvPr/>
        </p:nvSpPr>
        <p:spPr>
          <a:xfrm rot="0" flipH="false" flipV="false">
            <a:off x="508000" y="2032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41EAD4"/>
                </a:solidFill>
                <a:latin typeface="Noto Sans SC"/>
                <a:ea typeface="Noto Sans SC"/>
                <a:cs typeface="Noto Sans SC"/>
                <a:sym typeface="Noto Sans SC"/>
              </a:rPr>
              <a:t>AHL-LLM 去中心化旅行平台</a:t>
            </a:r>
            <a:endParaRPr lang="en-US" sz="1100"/>
          </a:p>
        </p:txBody>
      </p:sp>
      <p:cxnSp>
        <p:nvCxnSpPr>
          <p:cNvPr name="Connector 6" id="6"/>
          <p:cNvCxnSpPr/>
          <p:nvPr/>
        </p:nvCxnSpPr>
        <p:spPr>
          <a:xfrm rot="-17188" flipH="false" flipV="false">
            <a:off x="4826016" y="2914650"/>
            <a:ext cx="2540000" cy="12700"/>
          </a:xfrm>
          <a:prstGeom prst="line">
            <a:avLst/>
          </a:prstGeom>
          <a:solidFill>
            <a:srgbClr val="DEE0E3">
              <a:alpha val="100000"/>
            </a:srgbClr>
          </a:solidFill>
          <a:ln w="25400" cmpd="sng" cap="flat">
            <a:solidFill>
              <a:srgbClr val="9B5DE5">
                <a:alpha val="100000"/>
              </a:srgbClr>
            </a:solidFill>
            <a:prstDash val="solid"/>
            <a:round/>
            <a:headEnd type="none" w="lg" len="lg"/>
            <a:tailEnd type="none" w="lg" len="lg"/>
          </a:ln>
          <a:effectLst>
            <a:outerShdw dir="2700000" dist="0" blurRad="63500" algn="tl" rotWithShape="false">
              <a:srgbClr val="9B5DE5">
                <a:alpha val="60000"/>
              </a:srgbClr>
            </a:outerShdw>
          </a:effectLst>
        </p:spPr>
      </p:cxnSp>
      <p:sp>
        <p:nvSpPr>
          <p:cNvPr name="AutoShape 7" id="7"/>
          <p:cNvSpPr/>
          <p:nvPr/>
        </p:nvSpPr>
        <p:spPr>
          <a:xfrm rot="0" flipH="false" flipV="false">
            <a:off x="508000" y="3175000"/>
            <a:ext cx="11176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200" spc="400">
                <a:solidFill>
                  <a:srgbClr val="9B5DE5"/>
                </a:solidFill>
                <a:latin typeface="Noto Sans SC"/>
                <a:ea typeface="Noto Sans SC"/>
                <a:cs typeface="Noto Sans SC"/>
                <a:sym typeface="Noto Sans SC"/>
              </a:rPr>
              <a:t>技术白皮书详解</a:t>
            </a:r>
            <a:endParaRPr lang="en-US" sz="1100"/>
          </a:p>
        </p:txBody>
      </p:sp>
      <p:sp>
        <p:nvSpPr>
          <p:cNvPr name="AutoShape 8" id="8"/>
          <p:cNvSpPr/>
          <p:nvPr/>
        </p:nvSpPr>
        <p:spPr>
          <a:xfrm rot="0" flipH="false" flipV="false">
            <a:off x="508000" y="5715000"/>
            <a:ext cx="11176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汇报人：AHL团队 | 日期：2026年3月</a:t>
            </a:r>
            <a:endParaRPr lang="en-US" sz="1100"/>
          </a:p>
        </p:txBody>
      </p:sp>
      <p:sp>
        <p:nvSpPr>
          <p:cNvPr name="AutoShape 9" id="9"/>
          <p:cNvSpPr/>
          <p:nvPr/>
        </p:nvSpPr>
        <p:spPr>
          <a:xfrm rot="0" flipH="false" flipV="false">
            <a:off x="0" y="6781800"/>
            <a:ext cx="12192000" cy="762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CONTENTS</a:t>
            </a:r>
            <a:endParaRPr lang="en-US" sz="1100"/>
          </a:p>
        </p:txBody>
      </p:sp>
      <p:sp>
        <p:nvSpPr>
          <p:cNvPr name="AutoShape 5" id="5"/>
          <p:cNvSpPr/>
          <p:nvPr/>
        </p:nvSpPr>
        <p:spPr>
          <a:xfrm rot="0" flipH="false" flipV="false">
            <a:off x="762000" y="12065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5080000" cy="762000"/>
          </a:xfrm>
          <a:prstGeom prst="roundRect">
            <a:avLst>
              <a:gd name="adj" fmla="val 166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79600"/>
            <a:ext cx="304800" cy="304800"/>
          </a:xfrm>
          <a:prstGeom prst="rect">
            <a:avLst/>
          </a:prstGeom>
        </p:spPr>
      </p:pic>
      <p:sp>
        <p:nvSpPr>
          <p:cNvPr name="AutoShape 8" id="8"/>
          <p:cNvSpPr/>
          <p:nvPr/>
        </p:nvSpPr>
        <p:spPr>
          <a:xfrm rot="0" flipH="false" flipV="false">
            <a:off x="1460500" y="1714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项目概述</a:t>
            </a:r>
            <a:r>
              <a:rPr lang="en-US" b="false" i="false" strike="noStrike" u="none" sz="1400">
                <a:solidFill>
                  <a:srgbClr val="FFFFFF">
                    <a:alpha val="70196"/>
                  </a:srgbClr>
                </a:solidFill>
                <a:latin typeface="Noto Sans SC"/>
                <a:ea typeface="Noto Sans SC"/>
                <a:cs typeface="Noto Sans SC"/>
                <a:sym typeface="Noto Sans SC"/>
              </a:rPr>
              <a:t>| 一句话定位与核心技术栈</a:t>
            </a:r>
            <a:endParaRPr lang="en-US" sz="1100"/>
          </a:p>
        </p:txBody>
      </p:sp>
      <p:sp>
        <p:nvSpPr>
          <p:cNvPr name="AutoShape 9" id="9"/>
          <p:cNvSpPr/>
          <p:nvPr/>
        </p:nvSpPr>
        <p:spPr>
          <a:xfrm rot="0" flipH="false" flipV="false">
            <a:off x="762000" y="2540000"/>
            <a:ext cx="5080000" cy="762000"/>
          </a:xfrm>
          <a:prstGeom prst="roundRect">
            <a:avLst>
              <a:gd name="adj" fmla="val 166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768600"/>
            <a:ext cx="304800" cy="304800"/>
          </a:xfrm>
          <a:prstGeom prst="rect">
            <a:avLst/>
          </a:prstGeom>
        </p:spPr>
      </p:pic>
      <p:sp>
        <p:nvSpPr>
          <p:cNvPr name="AutoShape 11" id="11"/>
          <p:cNvSpPr/>
          <p:nvPr/>
        </p:nvSpPr>
        <p:spPr>
          <a:xfrm rot="0" flipH="false" flipV="false">
            <a:off x="1460500" y="2603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技术架构</a:t>
            </a:r>
            <a:r>
              <a:rPr lang="en-US" b="false" i="false" strike="noStrike" u="none" sz="1400">
                <a:solidFill>
                  <a:srgbClr val="FFFFFF">
                    <a:alpha val="70196"/>
                  </a:srgbClr>
                </a:solidFill>
                <a:latin typeface="Noto Sans SC"/>
                <a:ea typeface="Noto Sans SC"/>
                <a:cs typeface="Noto Sans SC"/>
                <a:sym typeface="Noto Sans SC"/>
              </a:rPr>
              <a:t>| 大模型、AGENT与SKILL体系</a:t>
            </a:r>
            <a:endParaRPr lang="en-US" sz="1100"/>
          </a:p>
        </p:txBody>
      </p:sp>
      <p:sp>
        <p:nvSpPr>
          <p:cNvPr name="AutoShape 12" id="12"/>
          <p:cNvSpPr/>
          <p:nvPr/>
        </p:nvSpPr>
        <p:spPr>
          <a:xfrm rot="0" flipH="false" flipV="false">
            <a:off x="762000" y="3429000"/>
            <a:ext cx="5080000" cy="762000"/>
          </a:xfrm>
          <a:prstGeom prst="roundRect">
            <a:avLst>
              <a:gd name="adj" fmla="val 166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657600"/>
            <a:ext cx="304800" cy="304800"/>
          </a:xfrm>
          <a:prstGeom prst="rect">
            <a:avLst/>
          </a:prstGeom>
        </p:spPr>
      </p:pic>
      <p:sp>
        <p:nvSpPr>
          <p:cNvPr name="AutoShape 14" id="14"/>
          <p:cNvSpPr/>
          <p:nvPr/>
        </p:nvSpPr>
        <p:spPr>
          <a:xfrm rot="0" flipH="false" flipV="false">
            <a:off x="1460500" y="3492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技术流程</a:t>
            </a:r>
            <a:r>
              <a:rPr lang="en-US" b="false" i="false" strike="noStrike" u="none" sz="1400">
                <a:solidFill>
                  <a:srgbClr val="FFFFFF">
                    <a:alpha val="70196"/>
                  </a:srgbClr>
                </a:solidFill>
                <a:latin typeface="Noto Sans SC"/>
                <a:ea typeface="Noto Sans SC"/>
                <a:cs typeface="Noto Sans SC"/>
                <a:sym typeface="Noto Sans SC"/>
              </a:rPr>
              <a:t>| 用户请求与数据流转</a:t>
            </a:r>
            <a:endParaRPr lang="en-US" sz="1100"/>
          </a:p>
        </p:txBody>
      </p:sp>
      <p:sp>
        <p:nvSpPr>
          <p:cNvPr name="AutoShape 15" id="15"/>
          <p:cNvSpPr/>
          <p:nvPr/>
        </p:nvSpPr>
        <p:spPr>
          <a:xfrm rot="0" flipH="false" flipV="false">
            <a:off x="762000" y="4318000"/>
            <a:ext cx="5080000" cy="762000"/>
          </a:xfrm>
          <a:prstGeom prst="roundRect">
            <a:avLst>
              <a:gd name="adj" fmla="val 166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546600"/>
            <a:ext cx="304800" cy="304800"/>
          </a:xfrm>
          <a:prstGeom prst="rect">
            <a:avLst/>
          </a:prstGeom>
        </p:spPr>
      </p:pic>
      <p:sp>
        <p:nvSpPr>
          <p:cNvPr name="AutoShape 17" id="17"/>
          <p:cNvSpPr/>
          <p:nvPr/>
        </p:nvSpPr>
        <p:spPr>
          <a:xfrm rot="0" flipH="false" flipV="false">
            <a:off x="1460500" y="4381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核心指标</a:t>
            </a:r>
            <a:r>
              <a:rPr lang="en-US" b="false" i="false" strike="noStrike" u="none" sz="1400">
                <a:solidFill>
                  <a:srgbClr val="FFFFFF">
                    <a:alpha val="70196"/>
                  </a:srgbClr>
                </a:solidFill>
                <a:latin typeface="Noto Sans SC"/>
                <a:ea typeface="Noto Sans SC"/>
                <a:cs typeface="Noto Sans SC"/>
                <a:sym typeface="Noto Sans SC"/>
              </a:rPr>
              <a:t>| 系统性能与业务效果</a:t>
            </a:r>
            <a:endParaRPr lang="en-US" sz="1100"/>
          </a:p>
        </p:txBody>
      </p:sp>
      <p:sp>
        <p:nvSpPr>
          <p:cNvPr name="AutoShape 18" id="18"/>
          <p:cNvSpPr/>
          <p:nvPr/>
        </p:nvSpPr>
        <p:spPr>
          <a:xfrm rot="0" flipH="false" flipV="false">
            <a:off x="6350000" y="1651000"/>
            <a:ext cx="5080000" cy="762000"/>
          </a:xfrm>
          <a:prstGeom prst="roundRect">
            <a:avLst>
              <a:gd name="adj" fmla="val 1666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1879600"/>
            <a:ext cx="304800" cy="304800"/>
          </a:xfrm>
          <a:prstGeom prst="rect">
            <a:avLst/>
          </a:prstGeom>
        </p:spPr>
      </p:pic>
      <p:sp>
        <p:nvSpPr>
          <p:cNvPr name="AutoShape 20" id="20"/>
          <p:cNvSpPr/>
          <p:nvPr/>
        </p:nvSpPr>
        <p:spPr>
          <a:xfrm rot="0" flipH="false" flipV="false">
            <a:off x="7048500" y="1714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知识库</a:t>
            </a:r>
            <a:r>
              <a:rPr lang="en-US" b="false" i="false" strike="noStrike" u="none" sz="1400">
                <a:solidFill>
                  <a:srgbClr val="FFFFFF">
                    <a:alpha val="70196"/>
                  </a:srgbClr>
                </a:solidFill>
                <a:latin typeface="Noto Sans SC"/>
                <a:ea typeface="Noto Sans SC"/>
                <a:cs typeface="Noto Sans SC"/>
                <a:sym typeface="Noto Sans SC"/>
              </a:rPr>
              <a:t>| PP&amp;SOP的构建与应用</a:t>
            </a:r>
            <a:endParaRPr lang="en-US" sz="1100"/>
          </a:p>
        </p:txBody>
      </p:sp>
      <p:sp>
        <p:nvSpPr>
          <p:cNvPr name="AutoShape 21" id="21"/>
          <p:cNvSpPr/>
          <p:nvPr/>
        </p:nvSpPr>
        <p:spPr>
          <a:xfrm rot="0" flipH="false" flipV="false">
            <a:off x="6350000" y="2540000"/>
            <a:ext cx="5080000" cy="762000"/>
          </a:xfrm>
          <a:prstGeom prst="roundRect">
            <a:avLst>
              <a:gd name="adj" fmla="val 1666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2768600"/>
            <a:ext cx="304800" cy="304800"/>
          </a:xfrm>
          <a:prstGeom prst="rect">
            <a:avLst/>
          </a:prstGeom>
        </p:spPr>
      </p:pic>
      <p:sp>
        <p:nvSpPr>
          <p:cNvPr name="AutoShape 23" id="23"/>
          <p:cNvSpPr/>
          <p:nvPr/>
        </p:nvSpPr>
        <p:spPr>
          <a:xfrm rot="0" flipH="false" flipV="false">
            <a:off x="7048500" y="2603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竞争对比</a:t>
            </a:r>
            <a:r>
              <a:rPr lang="en-US" b="false" i="false" strike="noStrike" u="none" sz="1400">
                <a:solidFill>
                  <a:srgbClr val="FFFFFF">
                    <a:alpha val="70196"/>
                  </a:srgbClr>
                </a:solidFill>
                <a:latin typeface="Noto Sans SC"/>
                <a:ea typeface="Noto Sans SC"/>
                <a:cs typeface="Noto Sans SC"/>
                <a:sym typeface="Noto Sans SC"/>
              </a:rPr>
              <a:t>| 传统OTA与去中心化平台</a:t>
            </a:r>
            <a:endParaRPr lang="en-US" sz="1100"/>
          </a:p>
        </p:txBody>
      </p:sp>
      <p:sp>
        <p:nvSpPr>
          <p:cNvPr name="AutoShape 24" id="24"/>
          <p:cNvSpPr/>
          <p:nvPr/>
        </p:nvSpPr>
        <p:spPr>
          <a:xfrm rot="0" flipH="false" flipV="false">
            <a:off x="6350000" y="3429000"/>
            <a:ext cx="5080000" cy="762000"/>
          </a:xfrm>
          <a:prstGeom prst="roundRect">
            <a:avLst>
              <a:gd name="adj" fmla="val 1666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604000" y="3657600"/>
            <a:ext cx="304800" cy="304800"/>
          </a:xfrm>
          <a:prstGeom prst="rect">
            <a:avLst/>
          </a:prstGeom>
        </p:spPr>
      </p:pic>
      <p:sp>
        <p:nvSpPr>
          <p:cNvPr name="AutoShape 26" id="26"/>
          <p:cNvSpPr/>
          <p:nvPr/>
        </p:nvSpPr>
        <p:spPr>
          <a:xfrm rot="0" flipH="false" flipV="false">
            <a:off x="7048500" y="3492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实施路径</a:t>
            </a:r>
            <a:r>
              <a:rPr lang="en-US" b="false" i="false" strike="noStrike" u="none" sz="1400">
                <a:solidFill>
                  <a:srgbClr val="FFFFFF">
                    <a:alpha val="70196"/>
                  </a:srgbClr>
                </a:solidFill>
                <a:latin typeface="Noto Sans SC"/>
                <a:ea typeface="Noto Sans SC"/>
                <a:cs typeface="Noto Sans SC"/>
                <a:sym typeface="Noto Sans SC"/>
              </a:rPr>
              <a:t>| 三阶段计划与技术里程碑</a:t>
            </a:r>
            <a:endParaRPr lang="en-US" sz="1100"/>
          </a:p>
        </p:txBody>
      </p:sp>
      <p:sp>
        <p:nvSpPr>
          <p:cNvPr name="AutoShape 27" id="27"/>
          <p:cNvSpPr/>
          <p:nvPr/>
        </p:nvSpPr>
        <p:spPr>
          <a:xfrm rot="0" flipH="false" flipV="false">
            <a:off x="6350000" y="4318000"/>
            <a:ext cx="5080000" cy="762000"/>
          </a:xfrm>
          <a:prstGeom prst="roundRect">
            <a:avLst>
              <a:gd name="adj" fmla="val 1666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604000" y="4546600"/>
            <a:ext cx="304800" cy="304800"/>
          </a:xfrm>
          <a:prstGeom prst="rect">
            <a:avLst/>
          </a:prstGeom>
        </p:spPr>
      </p:pic>
      <p:sp>
        <p:nvSpPr>
          <p:cNvPr name="AutoShape 29" id="29"/>
          <p:cNvSpPr/>
          <p:nvPr/>
        </p:nvSpPr>
        <p:spPr>
          <a:xfrm rot="0" flipH="false" flipV="false">
            <a:off x="7048500" y="4381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团队与愿景</a:t>
            </a:r>
            <a:r>
              <a:rPr lang="en-US" b="false" i="false" strike="noStrike" u="none" sz="1400">
                <a:solidFill>
                  <a:srgbClr val="FFFFFF">
                    <a:alpha val="70196"/>
                  </a:srgbClr>
                </a:solidFill>
                <a:latin typeface="Noto Sans SC"/>
                <a:ea typeface="Noto Sans SC"/>
                <a:cs typeface="Noto Sans SC"/>
                <a:sym typeface="Noto Sans SC"/>
              </a:rPr>
              <a:t>| 黄金三角与未来展望</a:t>
            </a:r>
            <a:endParaRPr lang="en-US" sz="1100"/>
          </a:p>
        </p:txBody>
      </p:sp>
      <p:sp>
        <p:nvSpPr>
          <p:cNvPr name="AutoShape 30" id="30"/>
          <p:cNvSpPr/>
          <p:nvPr/>
        </p:nvSpPr>
        <p:spPr>
          <a:xfrm rot="0" flipH="false" flipV="false">
            <a:off x="0" y="6096000"/>
            <a:ext cx="12192000" cy="25400"/>
          </a:xfrm>
          <a:prstGeom prst="roundRect">
            <a:avLst>
              <a:gd name="adj" fmla="val 0"/>
            </a:avLst>
          </a:prstGeom>
          <a:gradFill rotWithShape="true">
            <a:gsLst>
              <a:gs pos="0">
                <a:srgbClr val="41EAD4">
                  <a:alpha val="0"/>
                </a:srgbClr>
              </a:gs>
              <a:gs pos="50000">
                <a:srgbClr val="41EAD4">
                  <a:alpha val="5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0" y="6223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50196"/>
                  </a:srgbClr>
                </a:solidFill>
                <a:latin typeface="Poppins"/>
                <a:ea typeface="Poppins"/>
                <a:cs typeface="Poppins"/>
                <a:sym typeface="Poppins"/>
              </a:rPr>
              <a:t>AHL-LLM PROJECT OVERVIEW</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524000"/>
            <a:ext cx="12192000" cy="1270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9600">
                <a:solidFill>
                  <a:srgbClr val="41EAD4"/>
                </a:solidFill>
                <a:latin typeface="Noto Sans SC"/>
                <a:ea typeface="Noto Sans SC"/>
                <a:cs typeface="Noto Sans SC"/>
                <a:sym typeface="Noto Sans SC"/>
              </a:rPr>
              <a:t>01</a:t>
            </a:r>
            <a:endParaRPr lang="en-US" sz="1100"/>
          </a:p>
        </p:txBody>
      </p:sp>
      <p:sp>
        <p:nvSpPr>
          <p:cNvPr name="AutoShape 5" id="5"/>
          <p:cNvSpPr/>
          <p:nvPr/>
        </p:nvSpPr>
        <p:spPr>
          <a:xfrm rot="0" flipH="false" flipV="false">
            <a:off x="5715000" y="29845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3238500"/>
            <a:ext cx="1219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项目概述</a:t>
            </a:r>
            <a:endParaRPr lang="en-US" sz="1100"/>
          </a:p>
        </p:txBody>
      </p:sp>
      <p:sp>
        <p:nvSpPr>
          <p:cNvPr name="AutoShape 7" id="7"/>
          <p:cNvSpPr/>
          <p:nvPr/>
        </p:nvSpPr>
        <p:spPr>
          <a:xfrm rot="0" flipH="false" flipV="false">
            <a:off x="0" y="3937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一句话定位与核心技术栈</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943600" y="5334000"/>
            <a:ext cx="304800" cy="304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4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一句话定位</a:t>
            </a:r>
            <a:endParaRPr lang="en-US" sz="1100"/>
          </a:p>
        </p:txBody>
      </p:sp>
      <p:sp>
        <p:nvSpPr>
          <p:cNvPr name="AutoShape 5" id="5"/>
          <p:cNvSpPr/>
          <p:nvPr/>
        </p:nvSpPr>
        <p:spPr>
          <a:xfrm rot="0" flipH="false" flipV="false">
            <a:off x="762000" y="1219200"/>
            <a:ext cx="762000" cy="50800"/>
          </a:xfrm>
          <a:prstGeom prst="roundRect">
            <a:avLst>
              <a:gd name="adj" fmla="val 0"/>
            </a:avLst>
          </a:prstGeom>
          <a:solidFill>
            <a:srgbClr val="41EAD4">
              <a:alpha val="100000"/>
            </a:srgbClr>
          </a:solidFill>
          <a:ln cmpd="sng" cap="flat">
            <a:solidFill>
              <a:srgbClr val="25D1BA">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7142" r="7142" t="7142" b="7142"/>
          <a:stretch>
            <a:fillRect/>
          </a:stretch>
        </p:blipFill>
        <p:spPr>
          <a:xfrm rot="0" flipH="false" flipV="false">
            <a:off x="762000" y="2032000"/>
            <a:ext cx="3048000" cy="1714500"/>
          </a:xfrm>
          <a:prstGeom prst="roundRect">
            <a:avLst>
              <a:gd name="adj" fmla="val 14814"/>
            </a:avLst>
          </a:prstGeom>
          <a:noFill/>
          <a:ln w="25400" cmpd="sng" cap="flat">
            <a:noFill/>
            <a:prstDash val="solid"/>
            <a:round/>
          </a:ln>
          <a:effectLst>
            <a:outerShdw dir="0" dist="0" blurRad="254000" algn="tl" rotWithShape="false">
              <a:srgbClr val="41EAD4">
                <a:alpha val="40000"/>
              </a:srgbClr>
            </a:outerShdw>
          </a:effectLst>
        </p:spPr>
      </p:pic>
      <p:sp>
        <p:nvSpPr>
          <p:cNvPr name="AutoShape 7" id="7"/>
          <p:cNvSpPr/>
          <p:nvPr/>
        </p:nvSpPr>
        <p:spPr>
          <a:xfrm rot="0" flipH="false" flipV="false">
            <a:off x="4318000" y="1841500"/>
            <a:ext cx="660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AHL（AI Hotel Language）是</a:t>
            </a:r>
            <a:r>
              <a:rPr lang="en-US" b="true" i="false" strike="noStrike" u="none" sz="2200">
                <a:solidFill>
                  <a:srgbClr val="41EAD4"/>
                </a:solidFill>
                <a:latin typeface="Noto Sans SC"/>
                <a:ea typeface="Noto Sans SC"/>
                <a:cs typeface="Noto Sans SC"/>
                <a:sym typeface="Noto Sans SC"/>
              </a:rPr>
              <a:t>住宿业首个“大模型+双AGENT”智能托管平台</a:t>
            </a:r>
            <a:r>
              <a:rPr lang="en-US" b="false" i="false" strike="noStrike" u="none" sz="1800">
                <a:solidFill>
                  <a:srgbClr val="E5E7EB"/>
                </a:solidFill>
                <a:latin typeface="Noto Sans SC"/>
                <a:ea typeface="Noto Sans SC"/>
                <a:cs typeface="Noto Sans SC"/>
                <a:sym typeface="Noto Sans SC"/>
              </a:rPr>
              <a:t>，用AI重构酒店民宿运营全链路，让每一家单体酒店都能拥有国际集团级的数字化运营能力。</a:t>
            </a:r>
            <a:endParaRPr lang="en-US" sz="1100"/>
          </a:p>
        </p:txBody>
      </p:sp>
      <p:sp>
        <p:nvSpPr>
          <p:cNvPr name="AutoShape 8" id="8"/>
          <p:cNvSpPr/>
          <p:nvPr/>
        </p:nvSpPr>
        <p:spPr>
          <a:xfrm rot="0" flipH="false" flipV="false">
            <a:off x="762000" y="4191000"/>
            <a:ext cx="1778000" cy="406400"/>
          </a:xfrm>
          <a:prstGeom prst="roundRect">
            <a:avLst>
              <a:gd name="adj" fmla="val 50000"/>
            </a:avLst>
          </a:prstGeom>
          <a:solidFill>
            <a:srgbClr val="9B5DE5">
              <a:alpha val="20000"/>
            </a:srgbClr>
          </a:solidFill>
          <a:ln w="12700" cmpd="sng" cap="flat">
            <a:solidFill>
              <a:srgbClr val="9B5DE5">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9B5DE5"/>
                </a:solidFill>
                <a:latin typeface="Noto Sans SC"/>
                <a:ea typeface="Noto Sans SC"/>
                <a:cs typeface="Noto Sans SC"/>
                <a:sym typeface="Noto Sans SC"/>
              </a:rPr>
              <a:t>AI 驱动变革</a:t>
            </a:r>
            <a:endParaRPr lang="en-US" sz="1100"/>
          </a:p>
        </p:txBody>
      </p:sp>
      <p:sp>
        <p:nvSpPr>
          <p:cNvPr name="AutoShape 9" id="9"/>
          <p:cNvSpPr/>
          <p:nvPr/>
        </p:nvSpPr>
        <p:spPr>
          <a:xfrm rot="0" flipH="false" flipV="false">
            <a:off x="2794000" y="4191000"/>
            <a:ext cx="1778000" cy="406400"/>
          </a:xfrm>
          <a:prstGeom prst="roundRect">
            <a:avLst>
              <a:gd name="adj" fmla="val 50000"/>
            </a:avLst>
          </a:prstGeom>
          <a:solidFill>
            <a:srgbClr val="41EAD4">
              <a:alpha val="20000"/>
            </a:srgbClr>
          </a:solidFill>
          <a:ln w="12700" cmpd="sng" cap="flat">
            <a:solidFill>
              <a:srgbClr val="41EAD4">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200">
                <a:solidFill>
                  <a:srgbClr val="41EAD4"/>
                </a:solidFill>
                <a:latin typeface="Noto Sans SC"/>
                <a:ea typeface="Noto Sans SC"/>
                <a:cs typeface="Noto Sans SC"/>
                <a:sym typeface="Noto Sans SC"/>
              </a:rPr>
              <a:t>全链路重构</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5146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核心技术栈</a:t>
            </a:r>
            <a:endParaRPr lang="en-US" sz="1100"/>
          </a:p>
        </p:txBody>
      </p:sp>
      <p:sp>
        <p:nvSpPr>
          <p:cNvPr name="AutoShape 5" id="5"/>
          <p:cNvSpPr/>
          <p:nvPr/>
        </p:nvSpPr>
        <p:spPr>
          <a:xfrm rot="0" flipH="false" flipV="false">
            <a:off x="762000" y="1397000"/>
            <a:ext cx="10668000" cy="1016000"/>
          </a:xfrm>
          <a:prstGeom prst="roundRect">
            <a:avLst>
              <a:gd name="adj" fmla="val 125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01800"/>
            <a:ext cx="406400" cy="406400"/>
          </a:xfrm>
          <a:prstGeom prst="rect">
            <a:avLst/>
          </a:prstGeom>
        </p:spPr>
      </p:pic>
      <p:sp>
        <p:nvSpPr>
          <p:cNvPr name="AutoShape 7" id="7"/>
          <p:cNvSpPr/>
          <p:nvPr/>
        </p:nvSpPr>
        <p:spPr>
          <a:xfrm rot="0" flipH="false" flipV="false">
            <a:off x="1651000" y="1549400"/>
            <a:ext cx="889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大模型层 (AHL-LLM)</a:t>
            </a:r>
            <a:endParaRPr lang="en-US" sz="1100"/>
          </a:p>
        </p:txBody>
      </p:sp>
      <p:sp>
        <p:nvSpPr>
          <p:cNvPr name="AutoShape 8" id="8"/>
          <p:cNvSpPr/>
          <p:nvPr/>
        </p:nvSpPr>
        <p:spPr>
          <a:xfrm rot="0" flipH="false" flipV="false">
            <a:off x="1651000" y="1930400"/>
            <a:ext cx="889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基于开源模型微调，注入专业知识库，支持多模态交互。</a:t>
            </a:r>
            <a:endParaRPr lang="en-US" sz="1100"/>
          </a:p>
        </p:txBody>
      </p:sp>
      <p:sp>
        <p:nvSpPr>
          <p:cNvPr name="AutoShape 9" id="9"/>
          <p:cNvSpPr/>
          <p:nvPr/>
        </p:nvSpPr>
        <p:spPr>
          <a:xfrm rot="0" flipH="false" flipV="false">
            <a:off x="762000" y="2540000"/>
            <a:ext cx="10668000" cy="1016000"/>
          </a:xfrm>
          <a:prstGeom prst="roundRect">
            <a:avLst>
              <a:gd name="adj" fmla="val 1250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844800"/>
            <a:ext cx="406400" cy="406400"/>
          </a:xfrm>
          <a:prstGeom prst="rect">
            <a:avLst/>
          </a:prstGeom>
        </p:spPr>
      </p:pic>
      <p:sp>
        <p:nvSpPr>
          <p:cNvPr name="AutoShape 11" id="11"/>
          <p:cNvSpPr/>
          <p:nvPr/>
        </p:nvSpPr>
        <p:spPr>
          <a:xfrm rot="0" flipH="false" flipV="false">
            <a:off x="1651000" y="2692400"/>
            <a:ext cx="889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AGENT 执行层</a:t>
            </a:r>
            <a:endParaRPr lang="en-US" sz="1100"/>
          </a:p>
        </p:txBody>
      </p:sp>
      <p:sp>
        <p:nvSpPr>
          <p:cNvPr name="AutoShape 12" id="12"/>
          <p:cNvSpPr/>
          <p:nvPr/>
        </p:nvSpPr>
        <p:spPr>
          <a:xfrm rot="0" flipH="false" flipV="false">
            <a:off x="1651000" y="3073400"/>
            <a:ext cx="889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包含面向消费者的C端AI管家和面向商户的B端AI运营官。</a:t>
            </a:r>
            <a:endParaRPr lang="en-US" sz="1100"/>
          </a:p>
        </p:txBody>
      </p:sp>
      <p:sp>
        <p:nvSpPr>
          <p:cNvPr name="AutoShape 13" id="13"/>
          <p:cNvSpPr/>
          <p:nvPr/>
        </p:nvSpPr>
        <p:spPr>
          <a:xfrm rot="0" flipH="false" flipV="false">
            <a:off x="762000" y="3683000"/>
            <a:ext cx="10668000" cy="1016000"/>
          </a:xfrm>
          <a:prstGeom prst="roundRect">
            <a:avLst>
              <a:gd name="adj" fmla="val 125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987800"/>
            <a:ext cx="406400" cy="406400"/>
          </a:xfrm>
          <a:prstGeom prst="rect">
            <a:avLst/>
          </a:prstGeom>
        </p:spPr>
      </p:pic>
      <p:sp>
        <p:nvSpPr>
          <p:cNvPr name="AutoShape 15" id="15"/>
          <p:cNvSpPr/>
          <p:nvPr/>
        </p:nvSpPr>
        <p:spPr>
          <a:xfrm rot="0" flipH="false" flipV="false">
            <a:off x="1651000" y="3835400"/>
            <a:ext cx="889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SKILL 能力层</a:t>
            </a:r>
            <a:endParaRPr lang="en-US" sz="1100"/>
          </a:p>
        </p:txBody>
      </p:sp>
      <p:sp>
        <p:nvSpPr>
          <p:cNvPr name="AutoShape 16" id="16"/>
          <p:cNvSpPr/>
          <p:nvPr/>
        </p:nvSpPr>
        <p:spPr>
          <a:xfrm rot="0" flipH="false" flipV="false">
            <a:off x="1651000" y="4216400"/>
            <a:ext cx="889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拥有80多个可插拔的专业技能模块，可灵活组合。</a:t>
            </a:r>
            <a:endParaRPr lang="en-US" sz="1100"/>
          </a:p>
        </p:txBody>
      </p:sp>
      <p:sp>
        <p:nvSpPr>
          <p:cNvPr name="AutoShape 17" id="17"/>
          <p:cNvSpPr/>
          <p:nvPr/>
        </p:nvSpPr>
        <p:spPr>
          <a:xfrm rot="0" flipH="false" flipV="false">
            <a:off x="762000" y="4826000"/>
            <a:ext cx="10668000" cy="1016000"/>
          </a:xfrm>
          <a:prstGeom prst="roundRect">
            <a:avLst>
              <a:gd name="adj" fmla="val 1250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130800"/>
            <a:ext cx="406400" cy="406400"/>
          </a:xfrm>
          <a:prstGeom prst="rect">
            <a:avLst/>
          </a:prstGeom>
        </p:spPr>
      </p:pic>
      <p:sp>
        <p:nvSpPr>
          <p:cNvPr name="AutoShape 19" id="19"/>
          <p:cNvSpPr/>
          <p:nvPr/>
        </p:nvSpPr>
        <p:spPr>
          <a:xfrm rot="0" flipH="false" flipV="false">
            <a:off x="1651000" y="4978400"/>
            <a:ext cx="889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向量匹配引擎</a:t>
            </a:r>
            <a:endParaRPr lang="en-US" sz="1100"/>
          </a:p>
        </p:txBody>
      </p:sp>
      <p:sp>
        <p:nvSpPr>
          <p:cNvPr name="AutoShape 20" id="20"/>
          <p:cNvSpPr/>
          <p:nvPr/>
        </p:nvSpPr>
        <p:spPr>
          <a:xfrm rot="0" flipH="false" flipV="false">
            <a:off x="1651000" y="5359400"/>
            <a:ext cx="8890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确保快速响应（&lt;3秒）和高准确率（95%+）的实时推理与决策。</a:t>
            </a:r>
            <a:endParaRPr lang="en-US" sz="1100"/>
          </a:p>
        </p:txBody>
      </p:sp>
      <p:cxnSp>
        <p:nvCxnSpPr>
          <p:cNvPr name="Connector 21" id="21"/>
          <p:cNvCxnSpPr/>
          <p:nvPr/>
        </p:nvCxnSpPr>
        <p:spPr>
          <a:xfrm rot="-4092" flipH="false" flipV="false">
            <a:off x="762004" y="1200150"/>
            <a:ext cx="1066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419600" y="1016000"/>
            <a:ext cx="3352800" cy="177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12000">
                <a:solidFill>
                  <a:srgbClr val="41EAD4"/>
                </a:solidFill>
                <a:latin typeface="SimHei"/>
                <a:ea typeface="SimHei"/>
                <a:cs typeface="SimHei"/>
                <a:sym typeface="SimHei"/>
              </a:rPr>
              <a:t>02</a:t>
            </a:r>
            <a:endParaRPr lang="en-US" sz="1100"/>
          </a:p>
        </p:txBody>
      </p:sp>
      <p:sp>
        <p:nvSpPr>
          <p:cNvPr name="AutoShape 6" id="6"/>
          <p:cNvSpPr/>
          <p:nvPr/>
        </p:nvSpPr>
        <p:spPr>
          <a:xfrm rot="0" flipH="false" flipV="false">
            <a:off x="2286000" y="2921000"/>
            <a:ext cx="762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spc="400">
                <a:solidFill>
                  <a:srgbClr val="FFFFFF"/>
                </a:solidFill>
                <a:latin typeface="SimHei"/>
                <a:ea typeface="SimHei"/>
                <a:cs typeface="SimHei"/>
                <a:sym typeface="SimHei"/>
              </a:rPr>
              <a:t>技术架构详解</a:t>
            </a:r>
            <a:endParaRPr lang="en-US" sz="1100"/>
          </a:p>
        </p:txBody>
      </p:sp>
      <p:sp>
        <p:nvSpPr>
          <p:cNvPr name="AutoShape 7" id="7"/>
          <p:cNvSpPr/>
          <p:nvPr/>
        </p:nvSpPr>
        <p:spPr>
          <a:xfrm rot="0" flipH="false" flipV="false">
            <a:off x="5715000" y="3683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937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200">
                <a:solidFill>
                  <a:srgbClr val="9B5DE5"/>
                </a:solidFill>
                <a:latin typeface="SimHei"/>
                <a:ea typeface="SimHei"/>
                <a:cs typeface="SimHei"/>
                <a:sym typeface="SimHei"/>
              </a:rPr>
              <a:t>大模型 · AGENT · SKILL 体系</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826000"/>
            <a:ext cx="406400" cy="406400"/>
          </a:xfrm>
          <a:prstGeom prst="rect">
            <a:avLst/>
          </a:prstGeom>
        </p:spPr>
      </p:pic>
      <p:sp>
        <p:nvSpPr>
          <p:cNvPr name="AutoShape 10" id="10"/>
          <p:cNvSpPr/>
          <p:nvPr/>
        </p:nvSpPr>
        <p:spPr>
          <a:xfrm rot="0" flipH="false" flipV="false">
            <a:off x="0" y="6832600"/>
            <a:ext cx="12192000" cy="25400"/>
          </a:xfrm>
          <a:prstGeom prst="roundRect">
            <a:avLst>
              <a:gd name="adj" fmla="val 0"/>
            </a:avLst>
          </a:prstGeom>
          <a:gradFill rotWithShape="true">
            <a:gsLst>
              <a:gs pos="0">
                <a:srgbClr val="9B5DE5">
                  <a:alpha val="0"/>
                </a:srgbClr>
              </a:gs>
              <a:gs pos="50000">
                <a:srgbClr val="9B5DE5">
                  <a:alpha val="100000"/>
                </a:srgbClr>
              </a:gs>
              <a:gs pos="100000">
                <a:srgbClr val="9B5DE5">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8333" r="8333" t="16666"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794000" y="508000"/>
            <a:ext cx="6604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FFFF"/>
                </a:solidFill>
                <a:latin typeface="Poppins"/>
                <a:ea typeface="Poppins"/>
                <a:cs typeface="Poppins"/>
                <a:sym typeface="Poppins"/>
              </a:rPr>
              <a:t>大模型层 (AHL-LLM)</a:t>
            </a:r>
            <a:endParaRPr lang="en-US" sz="1100"/>
          </a:p>
        </p:txBody>
      </p:sp>
      <p:sp>
        <p:nvSpPr>
          <p:cNvPr name="AutoShape 5" id="5"/>
          <p:cNvSpPr/>
          <p:nvPr/>
        </p:nvSpPr>
        <p:spPr>
          <a:xfrm rot="0" flipH="false" flipV="false">
            <a:off x="5715000" y="12700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3302000" cy="3302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59000" y="2032000"/>
            <a:ext cx="508000" cy="508000"/>
          </a:xfrm>
          <a:prstGeom prst="rect">
            <a:avLst/>
          </a:prstGeom>
        </p:spPr>
      </p:pic>
      <p:sp>
        <p:nvSpPr>
          <p:cNvPr name="AutoShape 8" id="8"/>
          <p:cNvSpPr/>
          <p:nvPr/>
        </p:nvSpPr>
        <p:spPr>
          <a:xfrm rot="0" flipH="false" flipV="false">
            <a:off x="889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1EAD4"/>
                </a:solidFill>
                <a:latin typeface="Noto Sans SC"/>
                <a:ea typeface="Noto Sans SC"/>
                <a:cs typeface="Noto Sans SC"/>
                <a:sym typeface="Noto Sans SC"/>
              </a:rPr>
              <a:t>模型选择与微调</a:t>
            </a:r>
            <a:endParaRPr lang="en-US" sz="1100"/>
          </a:p>
        </p:txBody>
      </p:sp>
      <p:sp>
        <p:nvSpPr>
          <p:cNvPr name="AutoShape 9" id="9"/>
          <p:cNvSpPr/>
          <p:nvPr/>
        </p:nvSpPr>
        <p:spPr>
          <a:xfrm rot="0" flipH="false" flipV="false">
            <a:off x="889000" y="3175000"/>
            <a:ext cx="3048000" cy="1270000"/>
          </a:xfrm>
          <a:prstGeom prst="rect">
            <a:avLst/>
          </a:prstGeom>
          <a:noFill/>
          <a:ln w="12700" cmpd="sng" cap="flat">
            <a:noFill/>
            <a:prstDash val="solid"/>
            <a:round/>
          </a:ln>
        </p:spPr>
        <p:txBody>
          <a:bodyPr anchor="t"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基于DeepSeek或Qwen等优秀开源大模型，通过高效的LoRA技术进行低成本领域适配，注入酒店行业专业术语与宾服话术。</a:t>
            </a:r>
            <a:endParaRPr lang="en-US" sz="1100"/>
          </a:p>
        </p:txBody>
      </p:sp>
      <p:sp>
        <p:nvSpPr>
          <p:cNvPr name="AutoShape 10" id="10"/>
          <p:cNvSpPr/>
          <p:nvPr/>
        </p:nvSpPr>
        <p:spPr>
          <a:xfrm rot="0" flipH="false" flipV="false">
            <a:off x="4445000" y="1778000"/>
            <a:ext cx="3302000" cy="3302000"/>
          </a:xfrm>
          <a:prstGeom prst="roundRect">
            <a:avLst>
              <a:gd name="adj" fmla="val 384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42000" y="2032000"/>
            <a:ext cx="508000" cy="508000"/>
          </a:xfrm>
          <a:prstGeom prst="rect">
            <a:avLst/>
          </a:prstGeom>
        </p:spPr>
      </p:pic>
      <p:sp>
        <p:nvSpPr>
          <p:cNvPr name="AutoShape 12" id="12"/>
          <p:cNvSpPr/>
          <p:nvPr/>
        </p:nvSpPr>
        <p:spPr>
          <a:xfrm rot="0" flipH="false" flipV="false">
            <a:off x="4572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9B5DE5"/>
                </a:solidFill>
                <a:latin typeface="Noto Sans SC"/>
                <a:ea typeface="Noto Sans SC"/>
                <a:cs typeface="Noto Sans SC"/>
                <a:sym typeface="Noto Sans SC"/>
              </a:rPr>
              <a:t>知识库融合</a:t>
            </a:r>
            <a:endParaRPr lang="en-US" sz="1100"/>
          </a:p>
        </p:txBody>
      </p:sp>
      <p:sp>
        <p:nvSpPr>
          <p:cNvPr name="AutoShape 13" id="13"/>
          <p:cNvSpPr/>
          <p:nvPr/>
        </p:nvSpPr>
        <p:spPr>
          <a:xfrm rot="0" flipH="false" flipV="false">
            <a:off x="4572000" y="3175000"/>
            <a:ext cx="3048000" cy="1270000"/>
          </a:xfrm>
          <a:prstGeom prst="rect">
            <a:avLst/>
          </a:prstGeom>
          <a:noFill/>
          <a:ln w="12700" cmpd="sng" cap="flat">
            <a:noFill/>
            <a:prstDash val="solid"/>
            <a:round/>
          </a:ln>
        </p:spPr>
        <p:txBody>
          <a:bodyPr anchor="t"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构建包含77个行业标准文档、12个运营SOP模块及12种客户群体场景的庞大知识库，通过双向向量体系实现高效管理。</a:t>
            </a:r>
            <a:endParaRPr lang="en-US" sz="1100"/>
          </a:p>
        </p:txBody>
      </p:sp>
      <p:sp>
        <p:nvSpPr>
          <p:cNvPr name="AutoShape 14" id="14"/>
          <p:cNvSpPr/>
          <p:nvPr/>
        </p:nvSpPr>
        <p:spPr>
          <a:xfrm rot="0" flipH="false" flipV="false">
            <a:off x="8128000" y="1778000"/>
            <a:ext cx="3302000" cy="3302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0" y="2032000"/>
            <a:ext cx="508000" cy="508000"/>
          </a:xfrm>
          <a:prstGeom prst="rect">
            <a:avLst/>
          </a:prstGeom>
        </p:spPr>
      </p:pic>
      <p:sp>
        <p:nvSpPr>
          <p:cNvPr name="AutoShape 16" id="16"/>
          <p:cNvSpPr/>
          <p:nvPr/>
        </p:nvSpPr>
        <p:spPr>
          <a:xfrm rot="0" flipH="false" flipV="false">
            <a:off x="8255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1EAD4"/>
                </a:solidFill>
                <a:latin typeface="Noto Sans SC"/>
                <a:ea typeface="Noto Sans SC"/>
                <a:cs typeface="Noto Sans SC"/>
                <a:sym typeface="Noto Sans SC"/>
              </a:rPr>
              <a:t>多模态能力</a:t>
            </a:r>
            <a:endParaRPr lang="en-US" sz="1100"/>
          </a:p>
        </p:txBody>
      </p:sp>
      <p:sp>
        <p:nvSpPr>
          <p:cNvPr name="AutoShape 17" id="17"/>
          <p:cNvSpPr/>
          <p:nvPr/>
        </p:nvSpPr>
        <p:spPr>
          <a:xfrm rot="0" flipH="false" flipV="false">
            <a:off x="8255000" y="3175000"/>
            <a:ext cx="3048000" cy="1270000"/>
          </a:xfrm>
          <a:prstGeom prst="rect">
            <a:avLst/>
          </a:prstGeom>
          <a:noFill/>
          <a:ln w="12700" cmpd="sng" cap="flat">
            <a:noFill/>
            <a:prstDash val="solid"/>
            <a:round/>
          </a:ln>
        </p:spPr>
        <p:txBody>
          <a:bodyPr anchor="t" rtlCol="false" anchorCtr="false" vert="horz" wrap="square" lIns="0" rIns="0" tIns="0" bIns="0"/>
          <a:lstStyle/>
          <a:p>
            <a:pPr algn="just" indent="0">
              <a:lnSpc>
                <a:spcPct val="108333"/>
              </a:lnSpc>
              <a:defRPr/>
            </a:pPr>
            <a:r>
              <a:rPr lang="en-US" b="false" i="false" strike="noStrike" u="none" sz="1400">
                <a:solidFill>
                  <a:srgbClr val="DCDCDC"/>
                </a:solidFill>
                <a:latin typeface="Noto Sans SC"/>
                <a:ea typeface="Noto Sans SC"/>
                <a:cs typeface="Noto Sans SC"/>
                <a:sym typeface="Noto Sans SC"/>
              </a:rPr>
              <a:t>支持文本、语音、图像等多种交互方式，打破单一沟通壁垒，为用户提供更自然、便捷、沉浸式的智能化服务体验。</a:t>
            </a:r>
            <a:endParaRPr lang="en-US" sz="1100"/>
          </a:p>
        </p:txBody>
      </p:sp>
      <p:sp>
        <p:nvSpPr>
          <p:cNvPr name="AutoShape 18" id="18"/>
          <p:cNvSpPr/>
          <p:nvPr/>
        </p:nvSpPr>
        <p:spPr>
          <a:xfrm rot="0" flipH="false" flipV="false">
            <a:off x="762000" y="5461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 站在巨人的肩膀上，打造懂酒店行业的专属大模型 ”</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AGENT执行层 - C端AI管家</a:t>
            </a:r>
            <a:endParaRPr lang="en-US" sz="1100"/>
          </a:p>
        </p:txBody>
      </p:sp>
      <p:sp>
        <p:nvSpPr>
          <p:cNvPr name="AutoShape 5" id="5"/>
          <p:cNvSpPr/>
          <p:nvPr/>
        </p:nvSpPr>
        <p:spPr>
          <a:xfrm rot="0" flipH="false" flipV="false">
            <a:off x="762000" y="1397000"/>
            <a:ext cx="10668000" cy="762000"/>
          </a:xfrm>
          <a:prstGeom prst="roundRect">
            <a:avLst>
              <a:gd name="adj" fmla="val 166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74800"/>
            <a:ext cx="406400" cy="406400"/>
          </a:xfrm>
          <a:prstGeom prst="rect">
            <a:avLst/>
          </a:prstGeom>
        </p:spPr>
      </p:pic>
      <p:sp>
        <p:nvSpPr>
          <p:cNvPr name="AutoShape 7" id="7"/>
          <p:cNvSpPr/>
          <p:nvPr/>
        </p:nvSpPr>
        <p:spPr>
          <a:xfrm rot="0" flipH="false" flipV="false">
            <a:off x="1587500" y="15875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定位：</a:t>
            </a:r>
            <a:r>
              <a:rPr lang="en-US" b="false" i="false" strike="noStrike" u="none" sz="2000">
                <a:solidFill>
                  <a:srgbClr val="FFFFFF">
                    <a:alpha val="90196"/>
                  </a:srgbClr>
                </a:solidFill>
                <a:latin typeface="Noto Sans SC"/>
                <a:ea typeface="Noto Sans SC"/>
                <a:cs typeface="Noto Sans SC"/>
                <a:sym typeface="Noto Sans SC"/>
              </a:rPr>
              <a:t>消费者的</a:t>
            </a:r>
            <a:r>
              <a:rPr lang="en-US" b="true" i="false" strike="noStrike" u="none" sz="2000">
                <a:solidFill>
                  <a:srgbClr val="41EAD4"/>
                </a:solidFill>
                <a:latin typeface="Poppins"/>
                <a:ea typeface="Poppins"/>
                <a:cs typeface="Poppins"/>
                <a:sym typeface="Poppins"/>
              </a:rPr>
              <a:t>7×24小时</a:t>
            </a:r>
            <a:r>
              <a:rPr lang="en-US" b="false" i="false" strike="noStrike" u="none" sz="2000">
                <a:solidFill>
                  <a:srgbClr val="FFFFFF">
                    <a:alpha val="90196"/>
                  </a:srgbClr>
                </a:solidFill>
                <a:latin typeface="Noto Sans SC"/>
                <a:ea typeface="Noto Sans SC"/>
                <a:cs typeface="Noto Sans SC"/>
                <a:sym typeface="Noto Sans SC"/>
              </a:rPr>
              <a:t>智能旅行助手，全流程贴心服务</a:t>
            </a:r>
            <a:endParaRPr lang="en-US" sz="1100"/>
          </a:p>
        </p:txBody>
      </p:sp>
      <p:sp>
        <p:nvSpPr>
          <p:cNvPr name="AutoShape 8" id="8"/>
          <p:cNvSpPr/>
          <p:nvPr/>
        </p:nvSpPr>
        <p:spPr>
          <a:xfrm rot="0" flipH="false" flipV="false">
            <a:off x="762000" y="2413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B5DE5"/>
                </a:solidFill>
                <a:latin typeface="Noto Sans SC"/>
                <a:ea typeface="Noto Sans SC"/>
                <a:cs typeface="Noto Sans SC"/>
                <a:sym typeface="Noto Sans SC"/>
              </a:rPr>
              <a:t>▍核心能力矩阵 (SKILLS)</a:t>
            </a:r>
            <a:endParaRPr lang="en-US" sz="1100"/>
          </a:p>
        </p:txBody>
      </p:sp>
      <p:sp>
        <p:nvSpPr>
          <p:cNvPr name="AutoShape 9" id="9"/>
          <p:cNvSpPr/>
          <p:nvPr/>
        </p:nvSpPr>
        <p:spPr>
          <a:xfrm rot="0" flipH="false" flipV="false">
            <a:off x="762000" y="2921000"/>
            <a:ext cx="1981200" cy="1270000"/>
          </a:xfrm>
          <a:prstGeom prst="roundRect">
            <a:avLst>
              <a:gd name="adj" fmla="val 8000"/>
            </a:avLst>
          </a:prstGeom>
          <a:solidFill>
            <a:srgbClr val="41EAD4">
              <a:alpha val="10000"/>
            </a:srgbClr>
          </a:solidFill>
          <a:ln w="12700" cmpd="sng" cap="flat">
            <a:solidFill>
              <a:srgbClr val="41EAD4">
                <a:alpha val="5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524000" y="3111500"/>
            <a:ext cx="457200" cy="457200"/>
          </a:xfrm>
          <a:prstGeom prst="rect">
            <a:avLst/>
          </a:prstGeom>
        </p:spPr>
      </p:pic>
      <p:sp>
        <p:nvSpPr>
          <p:cNvPr name="AutoShape 11" id="11"/>
          <p:cNvSpPr/>
          <p:nvPr/>
        </p:nvSpPr>
        <p:spPr>
          <a:xfrm rot="0" flipH="false" flipV="false">
            <a:off x="762000" y="3683000"/>
            <a:ext cx="1981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客房服务</a:t>
            </a:r>
            <a:endParaRPr lang="en-US" sz="1100"/>
          </a:p>
        </p:txBody>
      </p:sp>
      <p:sp>
        <p:nvSpPr>
          <p:cNvPr name="AutoShape 12" id="12"/>
          <p:cNvSpPr/>
          <p:nvPr/>
        </p:nvSpPr>
        <p:spPr>
          <a:xfrm rot="0" flipH="false" flipV="false">
            <a:off x="2933700" y="2921000"/>
            <a:ext cx="1981200" cy="1270000"/>
          </a:xfrm>
          <a:prstGeom prst="roundRect">
            <a:avLst>
              <a:gd name="adj" fmla="val 8000"/>
            </a:avLst>
          </a:prstGeom>
          <a:solidFill>
            <a:srgbClr val="9B5DE5">
              <a:alpha val="10000"/>
            </a:srgbClr>
          </a:solidFill>
          <a:ln w="12700" cmpd="sng" cap="flat">
            <a:solidFill>
              <a:srgbClr val="9B5DE5">
                <a:alpha val="5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3695700" y="3111500"/>
            <a:ext cx="457200" cy="457200"/>
          </a:xfrm>
          <a:prstGeom prst="rect">
            <a:avLst/>
          </a:prstGeom>
        </p:spPr>
      </p:pic>
      <p:sp>
        <p:nvSpPr>
          <p:cNvPr name="AutoShape 14" id="14"/>
          <p:cNvSpPr/>
          <p:nvPr/>
        </p:nvSpPr>
        <p:spPr>
          <a:xfrm rot="0" flipH="false" flipV="false">
            <a:off x="2933700" y="3683000"/>
            <a:ext cx="1981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餐饮服务</a:t>
            </a:r>
            <a:endParaRPr lang="en-US" sz="1100"/>
          </a:p>
        </p:txBody>
      </p:sp>
      <p:sp>
        <p:nvSpPr>
          <p:cNvPr name="AutoShape 15" id="15"/>
          <p:cNvSpPr/>
          <p:nvPr/>
        </p:nvSpPr>
        <p:spPr>
          <a:xfrm rot="0" flipH="false" flipV="false">
            <a:off x="5105400" y="2921000"/>
            <a:ext cx="1981200" cy="1270000"/>
          </a:xfrm>
          <a:prstGeom prst="roundRect">
            <a:avLst>
              <a:gd name="adj" fmla="val 8000"/>
            </a:avLst>
          </a:prstGeom>
          <a:solidFill>
            <a:srgbClr val="41EAD4">
              <a:alpha val="10000"/>
            </a:srgbClr>
          </a:solidFill>
          <a:ln w="12700" cmpd="sng" cap="flat">
            <a:solidFill>
              <a:srgbClr val="41EAD4">
                <a:alpha val="5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5867400" y="3111500"/>
            <a:ext cx="457200" cy="457200"/>
          </a:xfrm>
          <a:prstGeom prst="rect">
            <a:avLst/>
          </a:prstGeom>
        </p:spPr>
      </p:pic>
      <p:sp>
        <p:nvSpPr>
          <p:cNvPr name="AutoShape 17" id="17"/>
          <p:cNvSpPr/>
          <p:nvPr/>
        </p:nvSpPr>
        <p:spPr>
          <a:xfrm rot="0" flipH="false" flipV="false">
            <a:off x="5105400" y="3683000"/>
            <a:ext cx="1981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宴会服务</a:t>
            </a:r>
            <a:endParaRPr lang="en-US" sz="1100"/>
          </a:p>
        </p:txBody>
      </p:sp>
      <p:sp>
        <p:nvSpPr>
          <p:cNvPr name="AutoShape 18" id="18"/>
          <p:cNvSpPr/>
          <p:nvPr/>
        </p:nvSpPr>
        <p:spPr>
          <a:xfrm rot="0" flipH="false" flipV="false">
            <a:off x="7277100" y="2921000"/>
            <a:ext cx="1981200" cy="1270000"/>
          </a:xfrm>
          <a:prstGeom prst="roundRect">
            <a:avLst>
              <a:gd name="adj" fmla="val 8000"/>
            </a:avLst>
          </a:prstGeom>
          <a:solidFill>
            <a:srgbClr val="9B5DE5">
              <a:alpha val="10000"/>
            </a:srgbClr>
          </a:solidFill>
          <a:ln w="12700" cmpd="sng" cap="flat">
            <a:solidFill>
              <a:srgbClr val="9B5DE5">
                <a:alpha val="5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039100" y="3111500"/>
            <a:ext cx="457200" cy="457200"/>
          </a:xfrm>
          <a:prstGeom prst="rect">
            <a:avLst/>
          </a:prstGeom>
        </p:spPr>
      </p:pic>
      <p:sp>
        <p:nvSpPr>
          <p:cNvPr name="AutoShape 20" id="20"/>
          <p:cNvSpPr/>
          <p:nvPr/>
        </p:nvSpPr>
        <p:spPr>
          <a:xfrm rot="0" flipH="false" flipV="false">
            <a:off x="7277100" y="3683000"/>
            <a:ext cx="1981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前厅礼宾</a:t>
            </a:r>
            <a:endParaRPr lang="en-US" sz="1100"/>
          </a:p>
        </p:txBody>
      </p:sp>
      <p:sp>
        <p:nvSpPr>
          <p:cNvPr name="AutoShape 21" id="21"/>
          <p:cNvSpPr/>
          <p:nvPr/>
        </p:nvSpPr>
        <p:spPr>
          <a:xfrm rot="0" flipH="false" flipV="false">
            <a:off x="9448800" y="2921000"/>
            <a:ext cx="1981200" cy="1270000"/>
          </a:xfrm>
          <a:prstGeom prst="roundRect">
            <a:avLst>
              <a:gd name="adj" fmla="val 8000"/>
            </a:avLst>
          </a:prstGeom>
          <a:solidFill>
            <a:srgbClr val="41EAD4">
              <a:alpha val="10000"/>
            </a:srgbClr>
          </a:solidFill>
          <a:ln w="12700" cmpd="sng" cap="flat">
            <a:solidFill>
              <a:srgbClr val="41EAD4">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210800" y="3111500"/>
            <a:ext cx="457200" cy="457200"/>
          </a:xfrm>
          <a:prstGeom prst="rect">
            <a:avLst/>
          </a:prstGeom>
        </p:spPr>
      </p:pic>
      <p:sp>
        <p:nvSpPr>
          <p:cNvPr name="AutoShape 23" id="23"/>
          <p:cNvSpPr/>
          <p:nvPr/>
        </p:nvSpPr>
        <p:spPr>
          <a:xfrm rot="0" flipH="false" flipV="false">
            <a:off x="9448800" y="3683000"/>
            <a:ext cx="1981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第四空间零售</a:t>
            </a:r>
            <a:endParaRPr lang="en-US" sz="1100"/>
          </a:p>
        </p:txBody>
      </p:sp>
      <p:sp>
        <p:nvSpPr>
          <p:cNvPr name="AutoShape 24" id="24"/>
          <p:cNvSpPr/>
          <p:nvPr/>
        </p:nvSpPr>
        <p:spPr>
          <a:xfrm rot="0" flipH="false" flipV="false">
            <a:off x="762000" y="4445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B5DE5"/>
                </a:solidFill>
                <a:latin typeface="Noto Sans SC"/>
                <a:ea typeface="Noto Sans SC"/>
                <a:cs typeface="Noto Sans SC"/>
                <a:sym typeface="Noto Sans SC"/>
              </a:rPr>
              <a:t>▍高效交互闭环流程</a:t>
            </a:r>
            <a:endParaRPr lang="en-US" sz="1100"/>
          </a:p>
        </p:txBody>
      </p:sp>
      <p:sp>
        <p:nvSpPr>
          <p:cNvPr name="AutoShape 25" id="25"/>
          <p:cNvSpPr/>
          <p:nvPr/>
        </p:nvSpPr>
        <p:spPr>
          <a:xfrm rot="0" flipH="false" flipV="false">
            <a:off x="762000" y="4953000"/>
            <a:ext cx="10668000" cy="1016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1016000" y="5143500"/>
            <a:ext cx="304800" cy="304800"/>
          </a:xfrm>
          <a:prstGeom prst="rect">
            <a:avLst/>
          </a:prstGeom>
        </p:spPr>
      </p:pic>
      <p:sp>
        <p:nvSpPr>
          <p:cNvPr name="AutoShape 27" id="27"/>
          <p:cNvSpPr/>
          <p:nvPr/>
        </p:nvSpPr>
        <p:spPr>
          <a:xfrm rot="0" flipH="false" flipV="false">
            <a:off x="1397000" y="5080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需求输入</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FFFFFF">
                    <a:alpha val="60000"/>
                  </a:srgbClr>
                </a:solidFill>
                <a:latin typeface="Noto Sans SC"/>
                <a:ea typeface="Noto Sans SC"/>
                <a:cs typeface="Noto Sans SC"/>
                <a:sym typeface="Noto Sans SC"/>
              </a:rPr>
              <a:t>语音/文字/NLP</a:t>
            </a:r>
            <a:endParaRPr lang="en-US" sz="1100"/>
          </a:p>
        </p:txBody>
      </p:sp>
      <p:pic>
        <p:nvPicPr>
          <p:cNvPr name="Picture 28" id="28"/>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2984500" y="5334000"/>
            <a:ext cx="254000" cy="254000"/>
          </a:xfrm>
          <a:prstGeom prst="rect">
            <a:avLst/>
          </a:prstGeom>
        </p:spPr>
      </p:pic>
      <p:pic>
        <p:nvPicPr>
          <p:cNvPr name="Picture 29" id="29"/>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3365500" y="5143500"/>
            <a:ext cx="304800" cy="304800"/>
          </a:xfrm>
          <a:prstGeom prst="rect">
            <a:avLst/>
          </a:prstGeom>
        </p:spPr>
      </p:pic>
      <p:sp>
        <p:nvSpPr>
          <p:cNvPr name="AutoShape 30" id="30"/>
          <p:cNvSpPr/>
          <p:nvPr/>
        </p:nvSpPr>
        <p:spPr>
          <a:xfrm rot="0" flipH="false" flipV="false">
            <a:off x="3746500" y="5080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意图识别</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FFFFFF">
                    <a:alpha val="60000"/>
                  </a:srgbClr>
                </a:solidFill>
                <a:latin typeface="Noto Sans SC"/>
                <a:ea typeface="Noto Sans SC"/>
                <a:cs typeface="Noto Sans SC"/>
                <a:sym typeface="Noto Sans SC"/>
              </a:rPr>
              <a:t>理解真实诉求</a:t>
            </a:r>
            <a:endParaRPr lang="en-US" sz="1100"/>
          </a:p>
        </p:txBody>
      </p:sp>
      <p:pic>
        <p:nvPicPr>
          <p:cNvPr name="Picture 31" id="31"/>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5334000" y="5334000"/>
            <a:ext cx="254000" cy="254000"/>
          </a:xfrm>
          <a:prstGeom prst="rect">
            <a:avLst/>
          </a:prstGeom>
        </p:spPr>
      </p:pic>
      <p:pic>
        <p:nvPicPr>
          <p:cNvPr name="Picture 32" id="32"/>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flipH="false" flipV="false">
            <a:off x="5715000" y="5143500"/>
            <a:ext cx="304800" cy="304800"/>
          </a:xfrm>
          <a:prstGeom prst="rect">
            <a:avLst/>
          </a:prstGeom>
        </p:spPr>
      </p:pic>
      <p:sp>
        <p:nvSpPr>
          <p:cNvPr name="AutoShape 33" id="33"/>
          <p:cNvSpPr/>
          <p:nvPr/>
        </p:nvSpPr>
        <p:spPr>
          <a:xfrm rot="0" flipH="false" flipV="false">
            <a:off x="6096000" y="5080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Skill调用</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FFFFFF">
                    <a:alpha val="60000"/>
                  </a:srgbClr>
                </a:solidFill>
                <a:latin typeface="Noto Sans SC"/>
                <a:ea typeface="Noto Sans SC"/>
                <a:cs typeface="Noto Sans SC"/>
                <a:sym typeface="Noto Sans SC"/>
              </a:rPr>
              <a:t>匹配最佳服务</a:t>
            </a:r>
            <a:endParaRPr lang="en-US" sz="1100"/>
          </a:p>
        </p:txBody>
      </p:sp>
      <p:pic>
        <p:nvPicPr>
          <p:cNvPr name="Picture 34" id="34"/>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7683500" y="5334000"/>
            <a:ext cx="254000" cy="254000"/>
          </a:xfrm>
          <a:prstGeom prst="rect">
            <a:avLst/>
          </a:prstGeom>
        </p:spPr>
      </p:pic>
      <p:pic>
        <p:nvPicPr>
          <p:cNvPr name="Picture 35" id="35"/>
          <p:cNvPicPr>
            <a:picLocks noChangeAspect="true"/>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0" flipH="false" flipV="false">
            <a:off x="8064500" y="5143500"/>
            <a:ext cx="304800" cy="304800"/>
          </a:xfrm>
          <a:prstGeom prst="rect">
            <a:avLst/>
          </a:prstGeom>
        </p:spPr>
      </p:pic>
      <p:sp>
        <p:nvSpPr>
          <p:cNvPr name="AutoShape 36" id="36"/>
          <p:cNvSpPr/>
          <p:nvPr/>
        </p:nvSpPr>
        <p:spPr>
          <a:xfrm rot="0" flipH="false" flipV="false">
            <a:off x="8445500" y="50800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1EAD4"/>
                </a:solidFill>
                <a:latin typeface="Noto Sans SC"/>
                <a:ea typeface="Noto Sans SC"/>
                <a:cs typeface="Noto Sans SC"/>
                <a:sym typeface="Noto Sans SC"/>
              </a:rPr>
              <a:t>服务完成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FFFFFF">
                    <a:alpha val="60000"/>
                  </a:srgbClr>
                </a:solidFill>
                <a:latin typeface="Noto Sans SC"/>
                <a:ea typeface="Noto Sans SC"/>
                <a:cs typeface="Noto Sans SC"/>
                <a:sym typeface="Noto Sans SC"/>
              </a:rPr>
              <a:t>3分钟极速响应</a:t>
            </a:r>
            <a:endParaRPr lang="en-US" sz="1100"/>
          </a:p>
        </p:txBody>
      </p:sp>
      <p:pic>
        <p:nvPicPr>
          <p:cNvPr name="Picture 37" id="37"/>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10033000" y="5334000"/>
            <a:ext cx="254000" cy="254000"/>
          </a:xfrm>
          <a:prstGeom prst="rect">
            <a:avLst/>
          </a:prstGeom>
        </p:spPr>
      </p:pic>
      <p:pic>
        <p:nvPicPr>
          <p:cNvPr name="Picture 38" id="38"/>
          <p:cNvPicPr>
            <a:picLocks noChangeAspect="true"/>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flipH="false" flipV="false">
            <a:off x="10414000" y="5143500"/>
            <a:ext cx="304800" cy="304800"/>
          </a:xfrm>
          <a:prstGeom prst="rect">
            <a:avLst/>
          </a:prstGeom>
        </p:spPr>
      </p:pic>
      <p:sp>
        <p:nvSpPr>
          <p:cNvPr name="AutoShape 39" id="39"/>
          <p:cNvSpPr/>
          <p:nvPr/>
        </p:nvSpPr>
        <p:spPr>
          <a:xfrm rot="0" flipH="false" flipV="false">
            <a:off x="10731500" y="5080000"/>
            <a:ext cx="76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B5DE5"/>
                </a:solidFill>
                <a:latin typeface="Noto Sans SC"/>
                <a:ea typeface="Noto Sans SC"/>
                <a:cs typeface="Noto Sans SC"/>
                <a:sym typeface="Noto Sans SC"/>
              </a:rPr>
              <a:t>学习</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FFFFFF">
                    <a:alpha val="60000"/>
                  </a:srgbClr>
                </a:solidFill>
                <a:latin typeface="Noto Sans SC"/>
                <a:ea typeface="Noto Sans SC"/>
                <a:cs typeface="Noto Sans SC"/>
                <a:sym typeface="Noto Sans SC"/>
              </a:rPr>
              <a:t>持续迭代</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812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AGENT执行层 - B端AI运营官</a:t>
            </a:r>
            <a:endParaRPr lang="en-US" sz="1100"/>
          </a:p>
        </p:txBody>
      </p:sp>
      <p:sp>
        <p:nvSpPr>
          <p:cNvPr name="AutoShape 5" id="5"/>
          <p:cNvSpPr/>
          <p:nvPr/>
        </p:nvSpPr>
        <p:spPr>
          <a:xfrm rot="0" flipH="false" flipV="false">
            <a:off x="762000" y="1651000"/>
            <a:ext cx="3302000" cy="2794000"/>
          </a:xfrm>
          <a:prstGeom prst="roundRect">
            <a:avLst>
              <a:gd name="adj" fmla="val 454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7" id="7"/>
          <p:cNvSpPr/>
          <p:nvPr/>
        </p:nvSpPr>
        <p:spPr>
          <a:xfrm rot="0" flipH="false" flipV="false">
            <a:off x="1524000" y="1879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核心定位</a:t>
            </a:r>
            <a:endParaRPr lang="en-US" sz="1100"/>
          </a:p>
        </p:txBody>
      </p:sp>
      <p:sp>
        <p:nvSpPr>
          <p:cNvPr name="AutoShape 8" id="8"/>
          <p:cNvSpPr/>
          <p:nvPr/>
        </p:nvSpPr>
        <p:spPr>
          <a:xfrm rot="0" flipH="false" flipV="false">
            <a:off x="1016000" y="2413000"/>
            <a:ext cx="2794000" cy="1524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800">
                <a:solidFill>
                  <a:srgbClr val="E5E7EB"/>
                </a:solidFill>
                <a:latin typeface="Noto Sans SC"/>
                <a:ea typeface="Noto Sans SC"/>
                <a:cs typeface="Noto Sans SC"/>
                <a:sym typeface="Noto Sans SC"/>
              </a:rPr>
              <a:t>酒店与民宿的自主运营大脑，深度整合业务流与数据流，替代人工完成重复性运营工作。</a:t>
            </a:r>
            <a:endParaRPr lang="en-US" sz="1100"/>
          </a:p>
        </p:txBody>
      </p:sp>
      <p:sp>
        <p:nvSpPr>
          <p:cNvPr name="AutoShape 9" id="9"/>
          <p:cNvSpPr/>
          <p:nvPr/>
        </p:nvSpPr>
        <p:spPr>
          <a:xfrm rot="0" flipH="false" flipV="false">
            <a:off x="4445000" y="1651000"/>
            <a:ext cx="3302000" cy="2794000"/>
          </a:xfrm>
          <a:prstGeom prst="roundRect">
            <a:avLst>
              <a:gd name="adj" fmla="val 4545"/>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05000"/>
            <a:ext cx="406400" cy="406400"/>
          </a:xfrm>
          <a:prstGeom prst="rect">
            <a:avLst/>
          </a:prstGeom>
        </p:spPr>
      </p:pic>
      <p:sp>
        <p:nvSpPr>
          <p:cNvPr name="AutoShape 11" id="11"/>
          <p:cNvSpPr/>
          <p:nvPr/>
        </p:nvSpPr>
        <p:spPr>
          <a:xfrm rot="0" flipH="false" flipV="false">
            <a:off x="5207000" y="1879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能力矩阵</a:t>
            </a:r>
            <a:endParaRPr lang="en-US" sz="1100"/>
          </a:p>
        </p:txBody>
      </p:sp>
      <p:sp>
        <p:nvSpPr>
          <p:cNvPr name="AutoShape 12" id="12"/>
          <p:cNvSpPr/>
          <p:nvPr/>
        </p:nvSpPr>
        <p:spPr>
          <a:xfrm rot="0" flipH="false" flipV="false">
            <a:off x="4699000" y="2413000"/>
            <a:ext cx="2794000" cy="1524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800">
                <a:solidFill>
                  <a:srgbClr val="E5E7EB"/>
                </a:solidFill>
                <a:latin typeface="Noto Sans SC"/>
                <a:ea typeface="Noto Sans SC"/>
                <a:cs typeface="Noto Sans SC"/>
                <a:sym typeface="Noto Sans SC"/>
              </a:rPr>
              <a:t>覆盖收益管理、前厅运营、客房管理、餐饮运营、市场营销等九大SKILL群，全面接管日常运营。</a:t>
            </a:r>
            <a:endParaRPr lang="en-US" sz="1100"/>
          </a:p>
        </p:txBody>
      </p:sp>
      <p:sp>
        <p:nvSpPr>
          <p:cNvPr name="AutoShape 13" id="13"/>
          <p:cNvSpPr/>
          <p:nvPr/>
        </p:nvSpPr>
        <p:spPr>
          <a:xfrm rot="0" flipH="false" flipV="false">
            <a:off x="8128000" y="1651000"/>
            <a:ext cx="3302000" cy="2794000"/>
          </a:xfrm>
          <a:prstGeom prst="roundRect">
            <a:avLst>
              <a:gd name="adj" fmla="val 454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905000"/>
            <a:ext cx="406400" cy="406400"/>
          </a:xfrm>
          <a:prstGeom prst="rect">
            <a:avLst/>
          </a:prstGeom>
        </p:spPr>
      </p:pic>
      <p:sp>
        <p:nvSpPr>
          <p:cNvPr name="AutoShape 15" id="15"/>
          <p:cNvSpPr/>
          <p:nvPr/>
        </p:nvSpPr>
        <p:spPr>
          <a:xfrm rot="0" flipH="false" flipV="false">
            <a:off x="8890000" y="1879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自主决策</a:t>
            </a:r>
            <a:endParaRPr lang="en-US" sz="1100"/>
          </a:p>
        </p:txBody>
      </p:sp>
      <p:sp>
        <p:nvSpPr>
          <p:cNvPr name="AutoShape 16" id="16"/>
          <p:cNvSpPr/>
          <p:nvPr/>
        </p:nvSpPr>
        <p:spPr>
          <a:xfrm rot="0" flipH="false" flipV="false">
            <a:off x="8382000" y="2413000"/>
            <a:ext cx="2794000" cy="1524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800">
                <a:solidFill>
                  <a:srgbClr val="E5E7EB"/>
                </a:solidFill>
                <a:latin typeface="Noto Sans SC"/>
                <a:ea typeface="Noto Sans SC"/>
                <a:cs typeface="Noto Sans SC"/>
                <a:sym typeface="Noto Sans SC"/>
              </a:rPr>
              <a:t>具备自动调价、智能排班、库存预警等核心能力，基于实时数据自主做出决策，实现降本增效。</a:t>
            </a:r>
            <a:endParaRPr lang="en-US" sz="1100"/>
          </a:p>
        </p:txBody>
      </p:sp>
      <p:sp>
        <p:nvSpPr>
          <p:cNvPr name="AutoShape 17" id="17"/>
          <p:cNvSpPr/>
          <p:nvPr/>
        </p:nvSpPr>
        <p:spPr>
          <a:xfrm rot="0" flipH="false" flipV="false">
            <a:off x="762000" y="4953000"/>
            <a:ext cx="106680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207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赋能酒店从“人工驱动”向“AI智能驱动”转型，构建24小时不间断的高效运营体系</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SKILL可插拔体系</a:t>
            </a:r>
            <a:endParaRPr lang="en-US" sz="1100"/>
          </a:p>
        </p:txBody>
      </p:sp>
      <p:sp>
        <p:nvSpPr>
          <p:cNvPr name="AutoShape 5" id="5"/>
          <p:cNvSpPr/>
          <p:nvPr/>
        </p:nvSpPr>
        <p:spPr>
          <a:xfrm rot="0" flipH="false" flipV="false">
            <a:off x="762000" y="1397000"/>
            <a:ext cx="10668000" cy="1016000"/>
          </a:xfrm>
          <a:prstGeom prst="roundRect">
            <a:avLst>
              <a:gd name="adj" fmla="val 125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01800"/>
            <a:ext cx="406400" cy="406400"/>
          </a:xfrm>
          <a:prstGeom prst="rect">
            <a:avLst/>
          </a:prstGeom>
        </p:spPr>
      </p:pic>
      <p:sp>
        <p:nvSpPr>
          <p:cNvPr name="AutoShape 7" id="7"/>
          <p:cNvSpPr/>
          <p:nvPr/>
        </p:nvSpPr>
        <p:spPr>
          <a:xfrm rot="0" flipH="false" flipV="false">
            <a:off x="1524000" y="1587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设计理念</a:t>
            </a:r>
            <a:endParaRPr lang="en-US" sz="1100"/>
          </a:p>
        </p:txBody>
      </p:sp>
      <p:sp>
        <p:nvSpPr>
          <p:cNvPr name="AutoShape 8" id="8"/>
          <p:cNvSpPr/>
          <p:nvPr/>
        </p:nvSpPr>
        <p:spPr>
          <a:xfrm rot="0" flipH="false" flipV="false">
            <a:off x="1524000" y="1968500"/>
            <a:ext cx="812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像乐高积木一样，各个SKILL模块可以灵活组合，满足不同酒店的个性化需求。</a:t>
            </a:r>
            <a:endParaRPr lang="en-US" sz="1100"/>
          </a:p>
        </p:txBody>
      </p:sp>
      <p:sp>
        <p:nvSpPr>
          <p:cNvPr name="AutoShape 9" id="9"/>
          <p:cNvSpPr/>
          <p:nvPr/>
        </p:nvSpPr>
        <p:spPr>
          <a:xfrm rot="0" flipH="false" flipV="false">
            <a:off x="762000" y="2667000"/>
            <a:ext cx="10668000" cy="1651000"/>
          </a:xfrm>
          <a:prstGeom prst="roundRect">
            <a:avLst>
              <a:gd name="adj" fmla="val 7692"/>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921000"/>
            <a:ext cx="406400" cy="406400"/>
          </a:xfrm>
          <a:prstGeom prst="rect">
            <a:avLst/>
          </a:prstGeom>
        </p:spPr>
      </p:pic>
      <p:sp>
        <p:nvSpPr>
          <p:cNvPr name="AutoShape 11" id="11"/>
          <p:cNvSpPr/>
          <p:nvPr/>
        </p:nvSpPr>
        <p:spPr>
          <a:xfrm rot="0" flipH="false" flipV="false">
            <a:off x="1524000" y="2857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核心优势对比</a:t>
            </a:r>
            <a:endParaRPr lang="en-US" sz="1100"/>
          </a:p>
        </p:txBody>
      </p:sp>
      <p:sp>
        <p:nvSpPr>
          <p:cNvPr name="AutoShape 12" id="12"/>
          <p:cNvSpPr/>
          <p:nvPr/>
        </p:nvSpPr>
        <p:spPr>
          <a:xfrm rot="0" flipH="false" flipV="false">
            <a:off x="1524000" y="33020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E5E7EB"/>
                </a:solidFill>
                <a:latin typeface="Noto Sans SC"/>
                <a:ea typeface="Noto Sans SC"/>
                <a:cs typeface="Noto Sans SC"/>
                <a:sym typeface="Noto Sans SC"/>
              </a:rPr>
              <a:t>•</a:t>
            </a:r>
            <a:r>
              <a:rPr lang="en-US" b="true" i="false" strike="noStrike" u="none" sz="1400">
                <a:solidFill>
                  <a:srgbClr val="FFFFFF"/>
                </a:solidFill>
                <a:latin typeface="Noto Sans SC"/>
                <a:ea typeface="Noto Sans SC"/>
                <a:cs typeface="Noto Sans SC"/>
                <a:sym typeface="Noto Sans SC"/>
              </a:rPr>
              <a:t>灵活性：</a:t>
            </a:r>
            <a:r>
              <a:rPr lang="en-US" b="false" i="false" strike="noStrike" u="none" sz="1400">
                <a:solidFill>
                  <a:srgbClr val="D1D5DB"/>
                </a:solidFill>
                <a:latin typeface="Noto Sans SC"/>
                <a:ea typeface="Noto Sans SC"/>
                <a:cs typeface="Noto Sans SC"/>
                <a:sym typeface="Noto Sans SC"/>
              </a:rPr>
              <a:t>支持动态增减功能模块</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E5E7EB"/>
                </a:solidFill>
                <a:latin typeface="Noto Sans SC"/>
                <a:ea typeface="Noto Sans SC"/>
                <a:cs typeface="Noto Sans SC"/>
                <a:sym typeface="Noto Sans SC"/>
              </a:rPr>
              <a:t>•</a:t>
            </a:r>
            <a:r>
              <a:rPr lang="en-US" b="true" i="false" strike="noStrike" u="none" sz="1400">
                <a:solidFill>
                  <a:srgbClr val="FFFFFF"/>
                </a:solidFill>
                <a:latin typeface="Noto Sans SC"/>
                <a:ea typeface="Noto Sans SC"/>
                <a:cs typeface="Noto Sans SC"/>
                <a:sym typeface="Noto Sans SC"/>
              </a:rPr>
              <a:t>迭代速度：</a:t>
            </a:r>
            <a:r>
              <a:rPr lang="en-US" b="false" i="false" strike="noStrike" u="none" sz="1400">
                <a:solidFill>
                  <a:srgbClr val="D1D5DB"/>
                </a:solidFill>
                <a:latin typeface="Noto Sans SC"/>
                <a:ea typeface="Noto Sans SC"/>
                <a:cs typeface="Noto Sans SC"/>
                <a:sym typeface="Noto Sans SC"/>
              </a:rPr>
              <a:t>单点更新，秒级生效</a:t>
            </a:r>
          </a:p>
        </p:txBody>
      </p:sp>
      <p:sp>
        <p:nvSpPr>
          <p:cNvPr name="AutoShape 13" id="13"/>
          <p:cNvSpPr/>
          <p:nvPr/>
        </p:nvSpPr>
        <p:spPr>
          <a:xfrm rot="0" flipH="false" flipV="false">
            <a:off x="5588000" y="33020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E5E7EB"/>
                </a:solidFill>
                <a:latin typeface="Noto Sans SC"/>
                <a:ea typeface="Noto Sans SC"/>
                <a:cs typeface="Noto Sans SC"/>
                <a:sym typeface="Noto Sans SC"/>
              </a:rPr>
              <a:t>•</a:t>
            </a:r>
            <a:r>
              <a:rPr lang="en-US" b="true" i="false" strike="noStrike" u="none" sz="1400">
                <a:solidFill>
                  <a:srgbClr val="FFFFFF"/>
                </a:solidFill>
                <a:latin typeface="Noto Sans SC"/>
                <a:ea typeface="Noto Sans SC"/>
                <a:cs typeface="Noto Sans SC"/>
                <a:sym typeface="Noto Sans SC"/>
              </a:rPr>
              <a:t>扩展性：</a:t>
            </a:r>
            <a:r>
              <a:rPr lang="en-US" b="false" i="false" strike="noStrike" u="none" sz="1400">
                <a:solidFill>
                  <a:srgbClr val="D1D5DB"/>
                </a:solidFill>
                <a:latin typeface="Noto Sans SC"/>
                <a:ea typeface="Noto Sans SC"/>
                <a:cs typeface="Noto Sans SC"/>
                <a:sym typeface="Noto Sans SC"/>
              </a:rPr>
              <a:t>标准化接口，易于集成</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400">
                <a:solidFill>
                  <a:srgbClr val="E5E7EB"/>
                </a:solidFill>
                <a:latin typeface="Noto Sans SC"/>
                <a:ea typeface="Noto Sans SC"/>
                <a:cs typeface="Noto Sans SC"/>
                <a:sym typeface="Noto Sans SC"/>
              </a:rPr>
              <a:t>•</a:t>
            </a:r>
            <a:r>
              <a:rPr lang="en-US" b="true" i="false" strike="noStrike" u="none" sz="1400">
                <a:solidFill>
                  <a:srgbClr val="FFFFFF"/>
                </a:solidFill>
                <a:latin typeface="Noto Sans SC"/>
                <a:ea typeface="Noto Sans SC"/>
                <a:cs typeface="Noto Sans SC"/>
                <a:sym typeface="Noto Sans SC"/>
              </a:rPr>
              <a:t>学习进化：</a:t>
            </a:r>
            <a:r>
              <a:rPr lang="en-US" b="false" i="false" strike="noStrike" u="none" sz="1400">
                <a:solidFill>
                  <a:srgbClr val="D1D5DB"/>
                </a:solidFill>
                <a:latin typeface="Noto Sans SC"/>
                <a:ea typeface="Noto Sans SC"/>
                <a:cs typeface="Noto Sans SC"/>
                <a:sym typeface="Noto Sans SC"/>
              </a:rPr>
              <a:t>数据驱动，持续优化</a:t>
            </a:r>
          </a:p>
        </p:txBody>
      </p:sp>
      <p:sp>
        <p:nvSpPr>
          <p:cNvPr name="AutoShape 14" id="14"/>
          <p:cNvSpPr/>
          <p:nvPr/>
        </p:nvSpPr>
        <p:spPr>
          <a:xfrm rot="0" flipH="false" flipV="false">
            <a:off x="762000" y="4572000"/>
            <a:ext cx="10668000" cy="1397000"/>
          </a:xfrm>
          <a:prstGeom prst="roundRect">
            <a:avLst>
              <a:gd name="adj" fmla="val 909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826000"/>
            <a:ext cx="406400" cy="406400"/>
          </a:xfrm>
          <a:prstGeom prst="rect">
            <a:avLst/>
          </a:prstGeom>
        </p:spPr>
      </p:pic>
      <p:sp>
        <p:nvSpPr>
          <p:cNvPr name="AutoShape 16" id="16"/>
          <p:cNvSpPr/>
          <p:nvPr/>
        </p:nvSpPr>
        <p:spPr>
          <a:xfrm rot="0" flipH="false" flipV="false">
            <a:off x="1524000" y="4762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多业态适配</a:t>
            </a:r>
            <a:endParaRPr lang="en-US" sz="1100"/>
          </a:p>
        </p:txBody>
      </p:sp>
      <p:sp>
        <p:nvSpPr>
          <p:cNvPr name="AutoShape 17" id="17"/>
          <p:cNvSpPr/>
          <p:nvPr/>
        </p:nvSpPr>
        <p:spPr>
          <a:xfrm rot="0" flipH="false" flipV="false">
            <a:off x="1524000" y="5207000"/>
            <a:ext cx="2667000" cy="508000"/>
          </a:xfrm>
          <a:prstGeom prst="roundRect">
            <a:avLst>
              <a:gd name="adj" fmla="val 12500"/>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524000" y="5270500"/>
            <a:ext cx="2667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商务酒店：</a:t>
            </a:r>
            <a:r>
              <a:rPr lang="en-US" b="false" i="false" strike="noStrike" u="none" sz="1400">
                <a:solidFill>
                  <a:srgbClr val="D1D5DB"/>
                </a:solidFill>
                <a:latin typeface="Noto Sans SC"/>
                <a:ea typeface="Noto Sans SC"/>
                <a:cs typeface="Noto Sans SC"/>
                <a:sym typeface="Noto Sans SC"/>
              </a:rPr>
              <a:t>高效办公 + 极速退房</a:t>
            </a:r>
            <a:endParaRPr lang="en-US" sz="1100"/>
          </a:p>
        </p:txBody>
      </p:sp>
      <p:sp>
        <p:nvSpPr>
          <p:cNvPr name="AutoShape 19" id="19"/>
          <p:cNvSpPr/>
          <p:nvPr/>
        </p:nvSpPr>
        <p:spPr>
          <a:xfrm rot="0" flipH="false" flipV="false">
            <a:off x="4381500" y="5207000"/>
            <a:ext cx="2667000" cy="508000"/>
          </a:xfrm>
          <a:prstGeom prst="roundRect">
            <a:avLst>
              <a:gd name="adj" fmla="val 12500"/>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381500" y="5270500"/>
            <a:ext cx="2667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度假酒店：</a:t>
            </a:r>
            <a:r>
              <a:rPr lang="en-US" b="false" i="false" strike="noStrike" u="none" sz="1400">
                <a:solidFill>
                  <a:srgbClr val="D1D5DB"/>
                </a:solidFill>
                <a:latin typeface="Noto Sans SC"/>
                <a:ea typeface="Noto Sans SC"/>
                <a:cs typeface="Noto Sans SC"/>
                <a:sym typeface="Noto Sans SC"/>
              </a:rPr>
              <a:t>行程规划 + 智能导览</a:t>
            </a:r>
            <a:endParaRPr lang="en-US" sz="1100"/>
          </a:p>
        </p:txBody>
      </p:sp>
      <p:sp>
        <p:nvSpPr>
          <p:cNvPr name="AutoShape 21" id="21"/>
          <p:cNvSpPr/>
          <p:nvPr/>
        </p:nvSpPr>
        <p:spPr>
          <a:xfrm rot="0" flipH="false" flipV="false">
            <a:off x="7239000" y="5207000"/>
            <a:ext cx="2667000" cy="508000"/>
          </a:xfrm>
          <a:prstGeom prst="roundRect">
            <a:avLst>
              <a:gd name="adj" fmla="val 12500"/>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239000" y="5270500"/>
            <a:ext cx="2667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康养酒店：</a:t>
            </a:r>
            <a:r>
              <a:rPr lang="en-US" b="false" i="false" strike="noStrike" u="none" sz="1400">
                <a:solidFill>
                  <a:srgbClr val="D1D5DB"/>
                </a:solidFill>
                <a:latin typeface="Noto Sans SC"/>
                <a:ea typeface="Noto Sans SC"/>
                <a:cs typeface="Noto Sans SC"/>
                <a:sym typeface="Noto Sans SC"/>
              </a:rPr>
              <a:t>健康监测 + 膳食推荐</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22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向量匹配引擎</a:t>
            </a:r>
            <a:endParaRPr lang="en-US" sz="1100"/>
          </a:p>
        </p:txBody>
      </p:sp>
      <p:sp>
        <p:nvSpPr>
          <p:cNvPr name="AutoShape 5" id="5"/>
          <p:cNvSpPr/>
          <p:nvPr/>
        </p:nvSpPr>
        <p:spPr>
          <a:xfrm rot="0" flipH="false" flipV="false">
            <a:off x="762000" y="1397000"/>
            <a:ext cx="2476500" cy="1397000"/>
          </a:xfrm>
          <a:prstGeom prst="roundRect">
            <a:avLst>
              <a:gd name="adj" fmla="val 9090"/>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587500"/>
            <a:ext cx="406400" cy="406400"/>
          </a:xfrm>
          <a:prstGeom prst="rect">
            <a:avLst/>
          </a:prstGeom>
        </p:spPr>
      </p:pic>
      <p:sp>
        <p:nvSpPr>
          <p:cNvPr name="AutoShape 7" id="7"/>
          <p:cNvSpPr/>
          <p:nvPr/>
        </p:nvSpPr>
        <p:spPr>
          <a:xfrm rot="0" flipH="false" flipV="false">
            <a:off x="1397000" y="1549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响应速度</a:t>
            </a:r>
            <a:endParaRPr lang="en-US" sz="1100"/>
          </a:p>
        </p:txBody>
      </p:sp>
      <p:sp>
        <p:nvSpPr>
          <p:cNvPr name="AutoShape 8" id="8"/>
          <p:cNvSpPr/>
          <p:nvPr/>
        </p:nvSpPr>
        <p:spPr>
          <a:xfrm rot="0" flipH="false" flipV="false">
            <a:off x="889000" y="2032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41EAD4"/>
                </a:solidFill>
                <a:latin typeface="Poppins"/>
                <a:ea typeface="Poppins"/>
                <a:cs typeface="Poppins"/>
                <a:sym typeface="Poppins"/>
              </a:rPr>
              <a:t>&lt; 3s</a:t>
            </a:r>
            <a:endParaRPr lang="en-US" sz="1100"/>
          </a:p>
        </p:txBody>
      </p:sp>
      <p:sp>
        <p:nvSpPr>
          <p:cNvPr name="AutoShape 9" id="9"/>
          <p:cNvSpPr/>
          <p:nvPr/>
        </p:nvSpPr>
        <p:spPr>
          <a:xfrm rot="0" flipH="false" flipV="false">
            <a:off x="3492500" y="1397000"/>
            <a:ext cx="2476500" cy="1397000"/>
          </a:xfrm>
          <a:prstGeom prst="roundRect">
            <a:avLst>
              <a:gd name="adj" fmla="val 9090"/>
            </a:avLst>
          </a:prstGeom>
          <a:solidFill>
            <a:srgbClr val="FFFFFF">
              <a:alpha val="8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83000" y="1587500"/>
            <a:ext cx="406400" cy="406400"/>
          </a:xfrm>
          <a:prstGeom prst="rect">
            <a:avLst/>
          </a:prstGeom>
        </p:spPr>
      </p:pic>
      <p:sp>
        <p:nvSpPr>
          <p:cNvPr name="AutoShape 11" id="11"/>
          <p:cNvSpPr/>
          <p:nvPr/>
        </p:nvSpPr>
        <p:spPr>
          <a:xfrm rot="0" flipH="false" flipV="false">
            <a:off x="4127500" y="1549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匹配准确率</a:t>
            </a:r>
            <a:endParaRPr lang="en-US" sz="1100"/>
          </a:p>
        </p:txBody>
      </p:sp>
      <p:sp>
        <p:nvSpPr>
          <p:cNvPr name="AutoShape 12" id="12"/>
          <p:cNvSpPr/>
          <p:nvPr/>
        </p:nvSpPr>
        <p:spPr>
          <a:xfrm rot="0" flipH="false" flipV="false">
            <a:off x="3619500" y="2032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9B5DE5"/>
                </a:solidFill>
                <a:latin typeface="Poppins"/>
                <a:ea typeface="Poppins"/>
                <a:cs typeface="Poppins"/>
                <a:sym typeface="Poppins"/>
              </a:rPr>
              <a:t>95%+</a:t>
            </a:r>
            <a:endParaRPr lang="en-US" sz="1100"/>
          </a:p>
        </p:txBody>
      </p:sp>
      <p:sp>
        <p:nvSpPr>
          <p:cNvPr name="AutoShape 13" id="13"/>
          <p:cNvSpPr/>
          <p:nvPr/>
        </p:nvSpPr>
        <p:spPr>
          <a:xfrm rot="0" flipH="false" flipV="false">
            <a:off x="6223000" y="1397000"/>
            <a:ext cx="2476500" cy="1397000"/>
          </a:xfrm>
          <a:prstGeom prst="roundRect">
            <a:avLst>
              <a:gd name="adj" fmla="val 9090"/>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13500" y="1587500"/>
            <a:ext cx="406400" cy="406400"/>
          </a:xfrm>
          <a:prstGeom prst="rect">
            <a:avLst/>
          </a:prstGeom>
        </p:spPr>
      </p:pic>
      <p:sp>
        <p:nvSpPr>
          <p:cNvPr name="AutoShape 15" id="15"/>
          <p:cNvSpPr/>
          <p:nvPr/>
        </p:nvSpPr>
        <p:spPr>
          <a:xfrm rot="0" flipH="false" flipV="false">
            <a:off x="6858000" y="1549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并发能力</a:t>
            </a:r>
            <a:endParaRPr lang="en-US" sz="1100"/>
          </a:p>
        </p:txBody>
      </p:sp>
      <p:sp>
        <p:nvSpPr>
          <p:cNvPr name="AutoShape 16" id="16"/>
          <p:cNvSpPr/>
          <p:nvPr/>
        </p:nvSpPr>
        <p:spPr>
          <a:xfrm rot="0" flipH="false" flipV="false">
            <a:off x="6350000" y="2032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41EAD4"/>
                </a:solidFill>
                <a:latin typeface="Poppins"/>
                <a:ea typeface="Poppins"/>
                <a:cs typeface="Poppins"/>
                <a:sym typeface="Poppins"/>
              </a:rPr>
              <a:t>1000+ QPS</a:t>
            </a:r>
            <a:endParaRPr lang="en-US" sz="1100"/>
          </a:p>
        </p:txBody>
      </p:sp>
      <p:sp>
        <p:nvSpPr>
          <p:cNvPr name="AutoShape 17" id="17"/>
          <p:cNvSpPr/>
          <p:nvPr/>
        </p:nvSpPr>
        <p:spPr>
          <a:xfrm rot="0" flipH="false" flipV="false">
            <a:off x="8953500" y="1397000"/>
            <a:ext cx="2476500" cy="1397000"/>
          </a:xfrm>
          <a:prstGeom prst="roundRect">
            <a:avLst>
              <a:gd name="adj" fmla="val 9090"/>
            </a:avLst>
          </a:prstGeom>
          <a:solidFill>
            <a:srgbClr val="FFFFFF">
              <a:alpha val="8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44000" y="1587500"/>
            <a:ext cx="406400" cy="406400"/>
          </a:xfrm>
          <a:prstGeom prst="rect">
            <a:avLst/>
          </a:prstGeom>
        </p:spPr>
      </p:pic>
      <p:sp>
        <p:nvSpPr>
          <p:cNvPr name="AutoShape 19" id="19"/>
          <p:cNvSpPr/>
          <p:nvPr/>
        </p:nvSpPr>
        <p:spPr>
          <a:xfrm rot="0" flipH="false" flipV="false">
            <a:off x="9588500" y="1549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服务可用性</a:t>
            </a:r>
            <a:endParaRPr lang="en-US" sz="1100"/>
          </a:p>
        </p:txBody>
      </p:sp>
      <p:sp>
        <p:nvSpPr>
          <p:cNvPr name="AutoShape 20" id="20"/>
          <p:cNvSpPr/>
          <p:nvPr/>
        </p:nvSpPr>
        <p:spPr>
          <a:xfrm rot="0" flipH="false" flipV="false">
            <a:off x="9080500" y="2032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9B5DE5"/>
                </a:solidFill>
                <a:latin typeface="Poppins"/>
                <a:ea typeface="Poppins"/>
                <a:cs typeface="Poppins"/>
                <a:sym typeface="Poppins"/>
              </a:rPr>
              <a:t>99.9%</a:t>
            </a:r>
            <a:endParaRPr lang="en-US" sz="1100"/>
          </a:p>
        </p:txBody>
      </p:sp>
      <p:sp>
        <p:nvSpPr>
          <p:cNvPr name="AutoShape 21" id="21"/>
          <p:cNvSpPr/>
          <p:nvPr/>
        </p:nvSpPr>
        <p:spPr>
          <a:xfrm rot="0" flipH="false" flipV="false">
            <a:off x="762000" y="3111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1EAD4"/>
                </a:solidFill>
                <a:latin typeface="Noto Sans SC"/>
                <a:ea typeface="Noto Sans SC"/>
                <a:cs typeface="Noto Sans SC"/>
                <a:sym typeface="Noto Sans SC"/>
              </a:rPr>
              <a:t>匹配计算逻辑框架</a:t>
            </a:r>
            <a:endParaRPr lang="en-US" sz="1100"/>
          </a:p>
        </p:txBody>
      </p:sp>
      <p:sp>
        <p:nvSpPr>
          <p:cNvPr name="AutoShape 22" id="22"/>
          <p:cNvSpPr/>
          <p:nvPr/>
        </p:nvSpPr>
        <p:spPr>
          <a:xfrm rot="0" flipH="false" flipV="false">
            <a:off x="762000" y="3556000"/>
            <a:ext cx="10668000" cy="1778000"/>
          </a:xfrm>
          <a:prstGeom prst="roundRect">
            <a:avLst>
              <a:gd name="adj" fmla="val 7142"/>
            </a:avLst>
          </a:prstGeom>
          <a:solidFill>
            <a:srgbClr val="FFFFFF">
              <a:alpha val="5000"/>
            </a:srgbClr>
          </a:solidFill>
          <a:ln w="12700" cmpd="sng" cap="flat">
            <a:solidFill>
              <a:srgbClr val="41EAD4">
                <a:alpha val="20000"/>
              </a:srgbClr>
            </a:solidFill>
            <a:prstDash val="dash"/>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143000" y="3873500"/>
            <a:ext cx="508000" cy="508000"/>
          </a:xfrm>
          <a:prstGeom prst="rect">
            <a:avLst/>
          </a:prstGeom>
        </p:spPr>
      </p:pic>
      <p:sp>
        <p:nvSpPr>
          <p:cNvPr name="AutoShape 24" id="24"/>
          <p:cNvSpPr/>
          <p:nvPr/>
        </p:nvSpPr>
        <p:spPr>
          <a:xfrm rot="0" flipH="false" flipV="false">
            <a:off x="1778000" y="3873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通用维度</a:t>
            </a:r>
            <a:endParaRPr lang="en-US" sz="1100"/>
          </a:p>
        </p:txBody>
      </p:sp>
      <p:sp>
        <p:nvSpPr>
          <p:cNvPr name="AutoShape 25" id="25"/>
          <p:cNvSpPr/>
          <p:nvPr/>
        </p:nvSpPr>
        <p:spPr>
          <a:xfrm rot="0" flipH="false" flipV="false">
            <a:off x="1778000" y="4254500"/>
            <a:ext cx="2032000" cy="31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场景标签 / 基础偏好</a:t>
            </a:r>
            <a:endParaRPr lang="en-US" sz="1100"/>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3937000" y="4000500"/>
            <a:ext cx="304800" cy="304800"/>
          </a:xfrm>
          <a:prstGeom prst="rect">
            <a:avLst/>
          </a:prstGeom>
        </p:spPr>
      </p:pic>
      <p:pic>
        <p:nvPicPr>
          <p:cNvPr name="Picture 27" id="27"/>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4445000" y="3873500"/>
            <a:ext cx="508000" cy="508000"/>
          </a:xfrm>
          <a:prstGeom prst="rect">
            <a:avLst/>
          </a:prstGeom>
        </p:spPr>
      </p:pic>
      <p:sp>
        <p:nvSpPr>
          <p:cNvPr name="AutoShape 28" id="28"/>
          <p:cNvSpPr/>
          <p:nvPr/>
        </p:nvSpPr>
        <p:spPr>
          <a:xfrm rot="0" flipH="false" flipV="false">
            <a:off x="5080000" y="3873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特异化维度</a:t>
            </a:r>
            <a:endParaRPr lang="en-US" sz="1100"/>
          </a:p>
        </p:txBody>
      </p:sp>
      <p:sp>
        <p:nvSpPr>
          <p:cNvPr name="AutoShape 29" id="29"/>
          <p:cNvSpPr/>
          <p:nvPr/>
        </p:nvSpPr>
        <p:spPr>
          <a:xfrm rot="0" flipH="false" flipV="false">
            <a:off x="5080000" y="4254500"/>
            <a:ext cx="2032000" cy="31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用户画像 / 历史行为</a:t>
            </a:r>
            <a:endParaRPr lang="en-US" sz="1100"/>
          </a:p>
        </p:txBody>
      </p:sp>
      <p:pic>
        <p:nvPicPr>
          <p:cNvPr name="Picture 30" id="3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7239000" y="4000500"/>
            <a:ext cx="304800" cy="304800"/>
          </a:xfrm>
          <a:prstGeom prst="rect">
            <a:avLst/>
          </a:prstGeom>
        </p:spPr>
      </p:pic>
      <p:pic>
        <p:nvPicPr>
          <p:cNvPr name="Picture 31" id="31"/>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7747000" y="3873500"/>
            <a:ext cx="508000" cy="508000"/>
          </a:xfrm>
          <a:prstGeom prst="rect">
            <a:avLst/>
          </a:prstGeom>
        </p:spPr>
      </p:pic>
      <p:sp>
        <p:nvSpPr>
          <p:cNvPr name="AutoShape 32" id="32"/>
          <p:cNvSpPr/>
          <p:nvPr/>
        </p:nvSpPr>
        <p:spPr>
          <a:xfrm rot="0" flipH="false" flipV="false">
            <a:off x="8382000" y="3873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实时动态系数</a:t>
            </a:r>
            <a:endParaRPr lang="en-US" sz="1100"/>
          </a:p>
        </p:txBody>
      </p:sp>
      <p:sp>
        <p:nvSpPr>
          <p:cNvPr name="AutoShape 33" id="33"/>
          <p:cNvSpPr/>
          <p:nvPr/>
        </p:nvSpPr>
        <p:spPr>
          <a:xfrm rot="0" flipH="false" flipV="false">
            <a:off x="8382000" y="4254500"/>
            <a:ext cx="2032000" cy="31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供需热度 / 实时状态</a:t>
            </a:r>
            <a:endParaRPr lang="en-US" sz="1100"/>
          </a:p>
        </p:txBody>
      </p:sp>
      <p:pic>
        <p:nvPicPr>
          <p:cNvPr name="Picture 34" id="34"/>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5943600" y="4699000"/>
            <a:ext cx="304800" cy="304800"/>
          </a:xfrm>
          <a:prstGeom prst="rect">
            <a:avLst/>
          </a:prstGeom>
        </p:spPr>
      </p:pic>
      <p:sp>
        <p:nvSpPr>
          <p:cNvPr name="AutoShape 35" id="35"/>
          <p:cNvSpPr/>
          <p:nvPr/>
        </p:nvSpPr>
        <p:spPr>
          <a:xfrm rot="0" flipH="false" flipV="false">
            <a:off x="4191000" y="5016500"/>
            <a:ext cx="3810000" cy="406400"/>
          </a:xfrm>
          <a:prstGeom prst="roundRect">
            <a:avLst>
              <a:gd name="adj" fmla="val 31250"/>
            </a:avLst>
          </a:prstGeom>
          <a:gradFill rotWithShape="true">
            <a:gsLst>
              <a:gs pos="0">
                <a:srgbClr val="41EAD4">
                  <a:alpha val="20000"/>
                </a:srgbClr>
              </a:gs>
              <a:gs pos="100000">
                <a:srgbClr val="9B5DE5">
                  <a:alpha val="2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4191000" y="5016500"/>
            <a:ext cx="3810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综合计算 ➔ 精准匹配结果输出</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419600" y="1270000"/>
            <a:ext cx="3352800" cy="1778000"/>
          </a:xfrm>
          <a:prstGeom prst="rect">
            <a:avLst/>
          </a:prstGeom>
          <a:noFill/>
          <a:ln w="12700" cmpd="sng" cap="flat">
            <a:noFill/>
            <a:prstDash val="solid"/>
            <a:round/>
          </a:ln>
          <a:effectLst>
            <a:outerShdw dir="2700000" dist="0" blurRad="254000" algn="tl" rotWithShape="false">
              <a:srgbClr val="41EAD4">
                <a:alpha val="40000"/>
              </a:srgbClr>
            </a:outerShdw>
          </a:effectLst>
        </p:spPr>
        <p:txBody>
          <a:bodyPr anchor="ctr" rtlCol="false" anchorCtr="false" vert="horz" wrap="none" lIns="0" rIns="0" tIns="0" bIns="0"/>
          <a:lstStyle/>
          <a:p>
            <a:pPr algn="ctr" indent="0">
              <a:lnSpc>
                <a:spcPct val="125000"/>
              </a:lnSpc>
              <a:defRPr/>
            </a:pPr>
            <a:r>
              <a:rPr lang="en-US" b="true" i="false" strike="noStrike" u="none" sz="12000">
                <a:solidFill>
                  <a:srgbClr val="41EAD4"/>
                </a:solidFill>
                <a:latin typeface="DIN Alternate"/>
                <a:ea typeface="DIN Alternate"/>
                <a:cs typeface="DIN Alternate"/>
                <a:sym typeface="DIN Alternate"/>
              </a:rPr>
              <a:t>03</a:t>
            </a:r>
            <a:endParaRPr lang="en-US" sz="1100"/>
          </a:p>
        </p:txBody>
      </p:sp>
      <p:sp>
        <p:nvSpPr>
          <p:cNvPr name="AutoShape 6" id="6"/>
          <p:cNvSpPr/>
          <p:nvPr/>
        </p:nvSpPr>
        <p:spPr>
          <a:xfrm rot="0" flipH="false" flipV="false">
            <a:off x="5715000" y="3175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4978400" y="3429000"/>
            <a:ext cx="22352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技术流程</a:t>
            </a:r>
            <a:endParaRPr lang="en-US" sz="1100"/>
          </a:p>
        </p:txBody>
      </p:sp>
      <p:sp>
        <p:nvSpPr>
          <p:cNvPr name="AutoShape 8" id="8"/>
          <p:cNvSpPr/>
          <p:nvPr/>
        </p:nvSpPr>
        <p:spPr>
          <a:xfrm rot="0" flipH="false" flipV="false">
            <a:off x="3556000" y="4127500"/>
            <a:ext cx="508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用户请求与数据流转</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334000" y="4953000"/>
            <a:ext cx="304800" cy="304800"/>
          </a:xfrm>
          <a:prstGeom prst="rect">
            <a:avLst/>
          </a:prstGeom>
        </p:spPr>
      </p:pic>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943600" y="4953000"/>
            <a:ext cx="304800" cy="304800"/>
          </a:xfrm>
          <a:prstGeom prst="rect">
            <a:avLst/>
          </a:prstGeom>
        </p:spPr>
      </p:pic>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53200" y="4953000"/>
            <a:ext cx="304800" cy="304800"/>
          </a:xfrm>
          <a:prstGeom prst="rect">
            <a:avLst/>
          </a:prstGeom>
        </p:spPr>
      </p:pic>
      <p:sp>
        <p:nvSpPr>
          <p:cNvPr name="AutoShape 12" id="12"/>
          <p:cNvSpPr/>
          <p:nvPr/>
        </p:nvSpPr>
        <p:spPr>
          <a:xfrm rot="0" flipH="false" flipV="false">
            <a:off x="0" y="6096000"/>
            <a:ext cx="12192000" cy="254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000" spc="200">
                <a:solidFill>
                  <a:srgbClr val="FFFFFF">
                    <a:alpha val="30196"/>
                  </a:srgbClr>
                </a:solidFill>
                <a:latin typeface="Arial"/>
                <a:ea typeface="Arial"/>
                <a:cs typeface="Arial"/>
                <a:sym typeface="Arial"/>
              </a:rPr>
              <a:t>TECHNICAL ARCHITECTURE &amp; DATA FLOW</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57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用户请求处理流程</a:t>
            </a:r>
            <a:endParaRPr lang="en-US" sz="1100"/>
          </a:p>
        </p:txBody>
      </p:sp>
      <p:sp>
        <p:nvSpPr>
          <p:cNvPr name="AutoShape 5" id="5"/>
          <p:cNvSpPr/>
          <p:nvPr/>
        </p:nvSpPr>
        <p:spPr>
          <a:xfrm rot="0" flipH="false" flipV="false">
            <a:off x="762000" y="1778000"/>
            <a:ext cx="1905000" cy="2794000"/>
          </a:xfrm>
          <a:prstGeom prst="roundRect">
            <a:avLst>
              <a:gd name="adj" fmla="val 6666"/>
            </a:avLst>
          </a:prstGeom>
          <a:solidFill>
            <a:srgbClr val="0D1B2A">
              <a:alpha val="90000"/>
            </a:srgbClr>
          </a:solidFill>
          <a:ln w="25400" cmpd="sng" cap="flat">
            <a:solidFill>
              <a:srgbClr val="41EAD4">
                <a:alpha val="100000"/>
              </a:srgbClr>
            </a:solidFill>
            <a:prstDash val="solid"/>
            <a:round/>
          </a:ln>
          <a:effectLst>
            <a:outerShdw dir="2700000" dist="0" blurRad="127000" algn="tl" rotWithShape="false">
              <a:srgbClr val="41EAD4">
                <a:alpha val="30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460500" y="2032000"/>
            <a:ext cx="508000" cy="508000"/>
          </a:xfrm>
          <a:prstGeom prst="rect">
            <a:avLst/>
          </a:prstGeom>
        </p:spPr>
      </p:pic>
      <p:sp>
        <p:nvSpPr>
          <p:cNvPr name="AutoShape 7" id="7"/>
          <p:cNvSpPr/>
          <p:nvPr/>
        </p:nvSpPr>
        <p:spPr>
          <a:xfrm rot="0" flipH="false" flipV="false">
            <a:off x="889000" y="2667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用户需求输入</a:t>
            </a:r>
            <a:endParaRPr lang="en-US" sz="1100"/>
          </a:p>
        </p:txBody>
      </p:sp>
      <p:sp>
        <p:nvSpPr>
          <p:cNvPr name="AutoShape 8" id="8"/>
          <p:cNvSpPr/>
          <p:nvPr/>
        </p:nvSpPr>
        <p:spPr>
          <a:xfrm rot="0" flipH="false" flipV="false">
            <a:off x="889000" y="31115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支持文本、语音、图像等多种交互方式输入</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2768600" y="3022600"/>
            <a:ext cx="304800" cy="304800"/>
          </a:xfrm>
          <a:prstGeom prst="rect">
            <a:avLst/>
          </a:prstGeom>
        </p:spPr>
      </p:pic>
      <p:sp>
        <p:nvSpPr>
          <p:cNvPr name="AutoShape 10" id="10"/>
          <p:cNvSpPr/>
          <p:nvPr/>
        </p:nvSpPr>
        <p:spPr>
          <a:xfrm rot="0" flipH="false" flipV="false">
            <a:off x="2952750" y="1778000"/>
            <a:ext cx="1905000" cy="2794000"/>
          </a:xfrm>
          <a:prstGeom prst="roundRect">
            <a:avLst>
              <a:gd name="adj" fmla="val 6666"/>
            </a:avLst>
          </a:prstGeom>
          <a:solidFill>
            <a:srgbClr val="0D1B2A">
              <a:alpha val="90000"/>
            </a:srgbClr>
          </a:solidFill>
          <a:ln w="25400" cmpd="sng" cap="flat">
            <a:solidFill>
              <a:srgbClr val="9B5DE5">
                <a:alpha val="100000"/>
              </a:srgbClr>
            </a:solidFill>
            <a:prstDash val="solid"/>
            <a:round/>
          </a:ln>
          <a:effectLst>
            <a:outerShdw dir="2700000" dist="0" blurRad="127000" algn="tl" rotWithShape="false">
              <a:srgbClr val="9B5DE5">
                <a:alpha val="30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3651250" y="2032000"/>
            <a:ext cx="508000" cy="508000"/>
          </a:xfrm>
          <a:prstGeom prst="rect">
            <a:avLst/>
          </a:prstGeom>
        </p:spPr>
      </p:pic>
      <p:sp>
        <p:nvSpPr>
          <p:cNvPr name="AutoShape 12" id="12"/>
          <p:cNvSpPr/>
          <p:nvPr/>
        </p:nvSpPr>
        <p:spPr>
          <a:xfrm rot="0" flipH="false" flipV="false">
            <a:off x="3079750" y="2667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NLP 处理</a:t>
            </a:r>
            <a:endParaRPr lang="en-US" sz="1100"/>
          </a:p>
        </p:txBody>
      </p:sp>
      <p:sp>
        <p:nvSpPr>
          <p:cNvPr name="AutoShape 13" id="13"/>
          <p:cNvSpPr/>
          <p:nvPr/>
        </p:nvSpPr>
        <p:spPr>
          <a:xfrm rot="0" flipH="false" flipV="false">
            <a:off x="3079750" y="31115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进行意图识别、实体提取和情感分析理解</a:t>
            </a:r>
            <a:endParaRPr lang="en-US" sz="1100"/>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4959350" y="3022600"/>
            <a:ext cx="304800" cy="304800"/>
          </a:xfrm>
          <a:prstGeom prst="rect">
            <a:avLst/>
          </a:prstGeom>
        </p:spPr>
      </p:pic>
      <p:sp>
        <p:nvSpPr>
          <p:cNvPr name="AutoShape 15" id="15"/>
          <p:cNvSpPr/>
          <p:nvPr/>
        </p:nvSpPr>
        <p:spPr>
          <a:xfrm rot="0" flipH="false" flipV="false">
            <a:off x="5143500" y="1778000"/>
            <a:ext cx="1905000" cy="2794000"/>
          </a:xfrm>
          <a:prstGeom prst="roundRect">
            <a:avLst>
              <a:gd name="adj" fmla="val 6666"/>
            </a:avLst>
          </a:prstGeom>
          <a:solidFill>
            <a:srgbClr val="0D1B2A">
              <a:alpha val="90000"/>
            </a:srgbClr>
          </a:solidFill>
          <a:ln w="25400" cmpd="sng" cap="flat">
            <a:solidFill>
              <a:srgbClr val="41EAD4">
                <a:alpha val="100000"/>
              </a:srgbClr>
            </a:solidFill>
            <a:prstDash val="solid"/>
            <a:round/>
          </a:ln>
          <a:effectLst>
            <a:outerShdw dir="2700000" dist="0" blurRad="127000" algn="tl" rotWithShape="false">
              <a:srgbClr val="41EAD4">
                <a:alpha val="30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5842000" y="2032000"/>
            <a:ext cx="508000" cy="508000"/>
          </a:xfrm>
          <a:prstGeom prst="rect">
            <a:avLst/>
          </a:prstGeom>
        </p:spPr>
      </p:pic>
      <p:sp>
        <p:nvSpPr>
          <p:cNvPr name="AutoShape 17" id="17"/>
          <p:cNvSpPr/>
          <p:nvPr/>
        </p:nvSpPr>
        <p:spPr>
          <a:xfrm rot="0" flipH="false" flipV="false">
            <a:off x="5270500" y="2667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向量匹配引擎</a:t>
            </a:r>
            <a:endParaRPr lang="en-US" sz="1100"/>
          </a:p>
        </p:txBody>
      </p:sp>
      <p:sp>
        <p:nvSpPr>
          <p:cNvPr name="AutoShape 18" id="18"/>
          <p:cNvSpPr/>
          <p:nvPr/>
        </p:nvSpPr>
        <p:spPr>
          <a:xfrm rot="0" flipH="false" flipV="false">
            <a:off x="5270500" y="31115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检索最合适的SKILL技能包并计算相似度</a:t>
            </a:r>
            <a:endParaRPr lang="en-US" sz="1100"/>
          </a:p>
        </p:txBody>
      </p:sp>
      <p:pic>
        <p:nvPicPr>
          <p:cNvPr name="Picture 19" id="1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150100" y="3022600"/>
            <a:ext cx="304800" cy="304800"/>
          </a:xfrm>
          <a:prstGeom prst="rect">
            <a:avLst/>
          </a:prstGeom>
        </p:spPr>
      </p:pic>
      <p:sp>
        <p:nvSpPr>
          <p:cNvPr name="AutoShape 20" id="20"/>
          <p:cNvSpPr/>
          <p:nvPr/>
        </p:nvSpPr>
        <p:spPr>
          <a:xfrm rot="0" flipH="false" flipV="false">
            <a:off x="7334250" y="1778000"/>
            <a:ext cx="1905000" cy="2794000"/>
          </a:xfrm>
          <a:prstGeom prst="roundRect">
            <a:avLst>
              <a:gd name="adj" fmla="val 6666"/>
            </a:avLst>
          </a:prstGeom>
          <a:solidFill>
            <a:srgbClr val="0D1B2A">
              <a:alpha val="90000"/>
            </a:srgbClr>
          </a:solidFill>
          <a:ln w="25400" cmpd="sng" cap="flat">
            <a:solidFill>
              <a:srgbClr val="9B5DE5">
                <a:alpha val="100000"/>
              </a:srgbClr>
            </a:solidFill>
            <a:prstDash val="solid"/>
            <a:round/>
          </a:ln>
          <a:effectLst>
            <a:outerShdw dir="2700000" dist="0" blurRad="127000" algn="tl" rotWithShape="false">
              <a:srgbClr val="9B5DE5">
                <a:alpha val="30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032750" y="2032000"/>
            <a:ext cx="508000" cy="508000"/>
          </a:xfrm>
          <a:prstGeom prst="rect">
            <a:avLst/>
          </a:prstGeom>
        </p:spPr>
      </p:pic>
      <p:sp>
        <p:nvSpPr>
          <p:cNvPr name="AutoShape 22" id="22"/>
          <p:cNvSpPr/>
          <p:nvPr/>
        </p:nvSpPr>
        <p:spPr>
          <a:xfrm rot="0" flipH="false" flipV="false">
            <a:off x="7461250" y="2667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AGENT 执行</a:t>
            </a:r>
            <a:endParaRPr lang="en-US" sz="1100"/>
          </a:p>
        </p:txBody>
      </p:sp>
      <p:sp>
        <p:nvSpPr>
          <p:cNvPr name="AutoShape 23" id="23"/>
          <p:cNvSpPr/>
          <p:nvPr/>
        </p:nvSpPr>
        <p:spPr>
          <a:xfrm rot="0" flipH="false" flipV="false">
            <a:off x="7461250" y="31115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由C端AI管家或B端AI运营官执行具体任务</a:t>
            </a:r>
            <a:endParaRPr lang="en-US" sz="1100"/>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340850" y="3022600"/>
            <a:ext cx="304800" cy="304800"/>
          </a:xfrm>
          <a:prstGeom prst="rect">
            <a:avLst/>
          </a:prstGeom>
        </p:spPr>
      </p:pic>
      <p:sp>
        <p:nvSpPr>
          <p:cNvPr name="AutoShape 25" id="25"/>
          <p:cNvSpPr/>
          <p:nvPr/>
        </p:nvSpPr>
        <p:spPr>
          <a:xfrm rot="0" flipH="false" flipV="false">
            <a:off x="9525000" y="1778000"/>
            <a:ext cx="1905000" cy="2794000"/>
          </a:xfrm>
          <a:prstGeom prst="roundRect">
            <a:avLst>
              <a:gd name="adj" fmla="val 6666"/>
            </a:avLst>
          </a:prstGeom>
          <a:solidFill>
            <a:srgbClr val="0D1B2A">
              <a:alpha val="90000"/>
            </a:srgbClr>
          </a:solidFill>
          <a:ln w="25400" cmpd="sng" cap="flat">
            <a:solidFill>
              <a:srgbClr val="41EAD4">
                <a:alpha val="100000"/>
              </a:srgbClr>
            </a:solidFill>
            <a:prstDash val="solid"/>
            <a:round/>
          </a:ln>
          <a:effectLst>
            <a:outerShdw dir="2700000" dist="0" blurRad="127000" algn="tl" rotWithShape="false">
              <a:srgbClr val="41EAD4">
                <a:alpha val="30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10223500" y="2032000"/>
            <a:ext cx="508000" cy="508000"/>
          </a:xfrm>
          <a:prstGeom prst="rect">
            <a:avLst/>
          </a:prstGeom>
        </p:spPr>
      </p:pic>
      <p:sp>
        <p:nvSpPr>
          <p:cNvPr name="AutoShape 27" id="27"/>
          <p:cNvSpPr/>
          <p:nvPr/>
        </p:nvSpPr>
        <p:spPr>
          <a:xfrm rot="0" flipH="false" flipV="false">
            <a:off x="9652000" y="2667000"/>
            <a:ext cx="165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结果与反馈</a:t>
            </a:r>
            <a:endParaRPr lang="en-US" sz="1100"/>
          </a:p>
        </p:txBody>
      </p:sp>
      <p:sp>
        <p:nvSpPr>
          <p:cNvPr name="AutoShape 28" id="28"/>
          <p:cNvSpPr/>
          <p:nvPr/>
        </p:nvSpPr>
        <p:spPr>
          <a:xfrm rot="0" flipH="false" flipV="false">
            <a:off x="9652000" y="3111500"/>
            <a:ext cx="1651000" cy="1016000"/>
          </a:xfrm>
          <a:prstGeom prst="rect">
            <a:avLst/>
          </a:prstGeom>
          <a:noFill/>
          <a:ln w="12700" cmpd="sng" cap="flat">
            <a:noFill/>
            <a:prstDash val="solid"/>
            <a:round/>
          </a:ln>
        </p:spPr>
        <p:txBody>
          <a:bodyPr anchor="t" rtlCol="false" anchorCtr="false" vert="horz" wrap="square" lIns="0" rIns="0" tIns="0" bIns="0"/>
          <a:lstStyle/>
          <a:p>
            <a:pPr algn="ctr" indent="0">
              <a:lnSpc>
                <a:spcPct val="100000"/>
              </a:lnSpc>
              <a:defRPr/>
            </a:pPr>
            <a:r>
              <a:rPr lang="en-US" b="false" i="false" strike="noStrike" u="none" sz="1400">
                <a:solidFill>
                  <a:srgbClr val="FFFFFF">
                    <a:alpha val="80000"/>
                  </a:srgbClr>
                </a:solidFill>
                <a:latin typeface="Noto Sans SC"/>
                <a:ea typeface="Noto Sans SC"/>
                <a:cs typeface="Noto Sans SC"/>
                <a:sym typeface="Noto Sans SC"/>
              </a:rPr>
              <a:t>返回结果给用户，并根据反馈持续优化模型</a:t>
            </a:r>
            <a:endParaRPr lang="en-US" sz="1100"/>
          </a:p>
        </p:txBody>
      </p:sp>
      <p:sp>
        <p:nvSpPr>
          <p:cNvPr name="AutoShape 29" id="29"/>
          <p:cNvSpPr/>
          <p:nvPr/>
        </p:nvSpPr>
        <p:spPr>
          <a:xfrm rot="0" flipH="false" flipV="false">
            <a:off x="762000" y="5080000"/>
            <a:ext cx="106680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762000" y="5334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60000"/>
                  </a:srgbClr>
                </a:solidFill>
                <a:latin typeface="Noto Sans SC"/>
                <a:ea typeface="Noto Sans SC"/>
                <a:cs typeface="Noto Sans SC"/>
                <a:sym typeface="Noto Sans SC"/>
              </a:rPr>
              <a:t>全链路闭环处理 · 毫秒级响应 · 持续自我进化</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5146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数据流架构</a:t>
            </a:r>
            <a:endParaRPr lang="en-US" sz="1100"/>
          </a:p>
        </p:txBody>
      </p:sp>
      <p:sp>
        <p:nvSpPr>
          <p:cNvPr name="AutoShape 5" id="5"/>
          <p:cNvSpPr/>
          <p:nvPr/>
        </p:nvSpPr>
        <p:spPr>
          <a:xfrm rot="0" flipH="false" flipV="false">
            <a:off x="762000" y="1524000"/>
            <a:ext cx="3302000" cy="1524000"/>
          </a:xfrm>
          <a:prstGeom prst="roundRect">
            <a:avLst>
              <a:gd name="adj" fmla="val 8333"/>
            </a:avLst>
          </a:prstGeom>
          <a:solidFill>
            <a:srgbClr val="0D1B2A">
              <a:alpha val="60000"/>
            </a:srgbClr>
          </a:solidFill>
          <a:ln w="12700" cmpd="sng" cap="flat">
            <a:solidFill>
              <a:srgbClr val="41EAD4">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508000" cy="508000"/>
          </a:xfrm>
          <a:prstGeom prst="rect">
            <a:avLst/>
          </a:prstGeom>
        </p:spPr>
      </p:pic>
      <p:sp>
        <p:nvSpPr>
          <p:cNvPr name="AutoShape 7" id="7"/>
          <p:cNvSpPr/>
          <p:nvPr/>
        </p:nvSpPr>
        <p:spPr>
          <a:xfrm rot="0" flipH="false" flipV="false">
            <a:off x="1651000" y="1714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C端用户侧</a:t>
            </a:r>
            <a:endParaRPr lang="en-US" sz="1100"/>
          </a:p>
        </p:txBody>
      </p:sp>
      <p:sp>
        <p:nvSpPr>
          <p:cNvPr name="AutoShape 8" id="8"/>
          <p:cNvSpPr/>
          <p:nvPr/>
        </p:nvSpPr>
        <p:spPr>
          <a:xfrm rot="0" flipH="false" flipV="false">
            <a:off x="1016000" y="2286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采集用户行为、偏好数据，构建多维用户向量，精准刻画用户画像。</a:t>
            </a:r>
            <a:endParaRPr lang="en-US" sz="1100"/>
          </a:p>
        </p:txBody>
      </p:sp>
      <p:sp>
        <p:nvSpPr>
          <p:cNvPr name="AutoShape 9" id="9"/>
          <p:cNvSpPr/>
          <p:nvPr/>
        </p:nvSpPr>
        <p:spPr>
          <a:xfrm rot="0" flipH="false" flipV="false">
            <a:off x="8128000" y="1524000"/>
            <a:ext cx="3302000" cy="1524000"/>
          </a:xfrm>
          <a:prstGeom prst="roundRect">
            <a:avLst>
              <a:gd name="adj" fmla="val 8333"/>
            </a:avLst>
          </a:prstGeom>
          <a:solidFill>
            <a:srgbClr val="0D1B2A">
              <a:alpha val="60000"/>
            </a:srgbClr>
          </a:solidFill>
          <a:ln w="12700" cmpd="sng" cap="flat">
            <a:solidFill>
              <a:srgbClr val="9B5DE5">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8382000" y="1778000"/>
            <a:ext cx="508000" cy="508000"/>
          </a:xfrm>
          <a:prstGeom prst="rect">
            <a:avLst/>
          </a:prstGeom>
        </p:spPr>
      </p:pic>
      <p:sp>
        <p:nvSpPr>
          <p:cNvPr name="AutoShape 11" id="11"/>
          <p:cNvSpPr/>
          <p:nvPr/>
        </p:nvSpPr>
        <p:spPr>
          <a:xfrm rot="0" flipH="false" flipV="false">
            <a:off x="9017000" y="1714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B端商户侧</a:t>
            </a:r>
            <a:endParaRPr lang="en-US" sz="1100"/>
          </a:p>
        </p:txBody>
      </p:sp>
      <p:sp>
        <p:nvSpPr>
          <p:cNvPr name="AutoShape 12" id="12"/>
          <p:cNvSpPr/>
          <p:nvPr/>
        </p:nvSpPr>
        <p:spPr>
          <a:xfrm rot="0" flipH="false" flipV="false">
            <a:off x="8382000" y="2286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整合经营数据与运营指标，生成商户特征向量，反映商品与服务能力。</a:t>
            </a:r>
            <a:endParaRPr lang="en-US" sz="1100"/>
          </a:p>
        </p:txBody>
      </p:sp>
      <p:sp>
        <p:nvSpPr>
          <p:cNvPr name="AutoShape 13" id="13"/>
          <p:cNvSpPr/>
          <p:nvPr/>
        </p:nvSpPr>
        <p:spPr>
          <a:xfrm rot="0" flipH="false" flipV="false">
            <a:off x="4445000" y="3175000"/>
            <a:ext cx="3302000" cy="1524000"/>
          </a:xfrm>
          <a:prstGeom prst="roundRect">
            <a:avLst>
              <a:gd name="adj" fmla="val 8333"/>
            </a:avLst>
          </a:prstGeom>
          <a:solidFill>
            <a:srgbClr val="0D1B2A">
              <a:alpha val="60000"/>
            </a:srgbClr>
          </a:solidFill>
          <a:ln w="12700" cmpd="sng" cap="flat">
            <a:solidFill>
              <a:srgbClr val="FFFFFF">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699000" y="3429000"/>
            <a:ext cx="508000" cy="508000"/>
          </a:xfrm>
          <a:prstGeom prst="rect">
            <a:avLst/>
          </a:prstGeom>
        </p:spPr>
      </p:pic>
      <p:sp>
        <p:nvSpPr>
          <p:cNvPr name="AutoShape 15" id="15"/>
          <p:cNvSpPr/>
          <p:nvPr/>
        </p:nvSpPr>
        <p:spPr>
          <a:xfrm rot="0" flipH="false" flipV="false">
            <a:off x="5334000" y="3365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双向匹配引擎</a:t>
            </a:r>
            <a:endParaRPr lang="en-US" sz="1100"/>
          </a:p>
        </p:txBody>
      </p:sp>
      <p:sp>
        <p:nvSpPr>
          <p:cNvPr name="AutoShape 16" id="16"/>
          <p:cNvSpPr/>
          <p:nvPr/>
        </p:nvSpPr>
        <p:spPr>
          <a:xfrm rot="0" flipH="false" flipV="false">
            <a:off x="4699000" y="3937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结合实时动态系数（库存/价格/需求），将用户向量与商户向量进行智能匹配。</a:t>
            </a:r>
            <a:endParaRPr lang="en-US" sz="1100"/>
          </a:p>
        </p:txBody>
      </p:sp>
      <p:sp>
        <p:nvSpPr>
          <p:cNvPr name="AutoShape 17" id="17"/>
          <p:cNvSpPr/>
          <p:nvPr/>
        </p:nvSpPr>
        <p:spPr>
          <a:xfrm rot="0" flipH="false" flipV="false">
            <a:off x="762000" y="4953000"/>
            <a:ext cx="10668000" cy="1016000"/>
          </a:xfrm>
          <a:prstGeom prst="roundRect">
            <a:avLst>
              <a:gd name="adj" fmla="val 12500"/>
            </a:avLst>
          </a:prstGeom>
          <a:solidFill>
            <a:srgbClr val="0D1B2A">
              <a:alpha val="60000"/>
            </a:srgbClr>
          </a:solidFill>
          <a:ln w="12700" cmpd="sng" cap="flat">
            <a:solidFill>
              <a:srgbClr val="41EAD4">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257800"/>
            <a:ext cx="406400" cy="406400"/>
          </a:xfrm>
          <a:prstGeom prst="rect">
            <a:avLst/>
          </a:prstGeom>
        </p:spPr>
      </p:pic>
      <p:sp>
        <p:nvSpPr>
          <p:cNvPr name="AutoShape 19" id="19"/>
          <p:cNvSpPr/>
          <p:nvPr/>
        </p:nvSpPr>
        <p:spPr>
          <a:xfrm rot="0" flipH="false" flipV="false">
            <a:off x="1524000" y="5270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精准推荐列表</a:t>
            </a:r>
            <a:endParaRPr lang="en-US" sz="1100"/>
          </a:p>
        </p:txBody>
      </p:sp>
      <p:sp>
        <p:nvSpPr>
          <p:cNvPr name="AutoShape 20" id="20"/>
          <p:cNvSpPr/>
          <p:nvPr/>
        </p:nvSpPr>
        <p:spPr>
          <a:xfrm rot="0" flipH="false" flipV="false">
            <a:off x="3556000" y="5308600"/>
            <a:ext cx="635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90196"/>
                  </a:srgbClr>
                </a:solidFill>
                <a:latin typeface="Noto Sans SC"/>
                <a:ea typeface="Noto Sans SC"/>
                <a:cs typeface="Noto Sans SC"/>
                <a:sym typeface="Noto Sans SC"/>
              </a:rPr>
              <a:t>实现供需高效对接，驱动业务增长与用户体验提升</a:t>
            </a:r>
            <a:endParaRPr lang="en-US" sz="1100"/>
          </a:p>
        </p:txBody>
      </p:sp>
      <p:cxnSp>
        <p:nvCxnSpPr>
          <p:cNvPr name="Connector 21" id="21"/>
          <p:cNvCxnSpPr/>
          <p:nvPr/>
        </p:nvCxnSpPr>
        <p:spPr>
          <a:xfrm rot="1398078" flipH="false" flipV="false">
            <a:off x="2320037" y="3486157"/>
            <a:ext cx="2217960" cy="12700"/>
          </a:xfrm>
          <a:prstGeom prst="straightConnector1">
            <a:avLst/>
          </a:prstGeom>
          <a:solidFill>
            <a:srgbClr val="DEE0E3">
              <a:alpha val="100000"/>
            </a:srgbClr>
          </a:solidFill>
          <a:ln w="25400" cmpd="sng" cap="flat">
            <a:solidFill>
              <a:srgbClr val="FFFFFF">
                <a:alpha val="30000"/>
              </a:srgbClr>
            </a:solidFill>
            <a:prstDash val="dash"/>
            <a:round/>
            <a:headEnd type="none" w="lg" len="lg"/>
            <a:tailEnd type="arrow" w="med" len="med"/>
          </a:ln>
        </p:spPr>
      </p:cxnSp>
      <p:cxnSp>
        <p:nvCxnSpPr>
          <p:cNvPr name="Connector 22" id="22"/>
          <p:cNvCxnSpPr/>
          <p:nvPr/>
        </p:nvCxnSpPr>
        <p:spPr>
          <a:xfrm rot="9362553" flipH="false" flipV="false">
            <a:off x="7654004" y="3486157"/>
            <a:ext cx="2217960" cy="12700"/>
          </a:xfrm>
          <a:prstGeom prst="straightConnector1">
            <a:avLst/>
          </a:prstGeom>
          <a:solidFill>
            <a:srgbClr val="DEE0E3">
              <a:alpha val="100000"/>
            </a:srgbClr>
          </a:solidFill>
          <a:ln w="25400" cmpd="sng" cap="flat">
            <a:solidFill>
              <a:srgbClr val="FFFFFF">
                <a:alpha val="30000"/>
              </a:srgbClr>
            </a:solidFill>
            <a:prstDash val="dash"/>
            <a:round/>
            <a:headEnd type="none" w="lg" len="lg"/>
            <a:tailEnd type="arrow" w="med" len="med"/>
          </a:ln>
        </p:spPr>
      </p:cxnSp>
      <p:cxnSp>
        <p:nvCxnSpPr>
          <p:cNvPr name="Connector 23" id="23"/>
          <p:cNvCxnSpPr/>
          <p:nvPr/>
        </p:nvCxnSpPr>
        <p:spPr>
          <a:xfrm rot="5228255" flipH="false" flipV="false">
            <a:off x="5969000" y="4819809"/>
            <a:ext cx="254000" cy="12700"/>
          </a:xfrm>
          <a:prstGeom prst="straightConnector1">
            <a:avLst/>
          </a:prstGeom>
          <a:solidFill>
            <a:srgbClr val="DEE0E3">
              <a:alpha val="100000"/>
            </a:srgbClr>
          </a:solidFill>
          <a:ln w="25400" cmpd="sng" cap="flat">
            <a:solidFill>
              <a:srgbClr val="FFFFFF">
                <a:alpha val="30000"/>
              </a:srgbClr>
            </a:solidFill>
            <a:prstDash val="dash"/>
            <a:round/>
            <a:headEnd type="none" w="lg" len="lg"/>
            <a:tailEnd type="arrow" w="med" len="med"/>
          </a:ln>
        </p:spPr>
      </p:cxn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978400" y="1397000"/>
            <a:ext cx="2235200" cy="1270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41EAD4"/>
                </a:solidFill>
                <a:latin typeface="Noto Sans SC"/>
                <a:ea typeface="Noto Sans SC"/>
                <a:cs typeface="Noto Sans SC"/>
                <a:sym typeface="Noto Sans SC"/>
              </a:rPr>
              <a:t>04</a:t>
            </a:r>
            <a:endParaRPr lang="en-US" sz="1100"/>
          </a:p>
        </p:txBody>
      </p:sp>
      <p:sp>
        <p:nvSpPr>
          <p:cNvPr name="AutoShape 6" id="6"/>
          <p:cNvSpPr/>
          <p:nvPr/>
        </p:nvSpPr>
        <p:spPr>
          <a:xfrm rot="0" flipH="false" flipV="false">
            <a:off x="5715000" y="2794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4749800" y="3048000"/>
            <a:ext cx="26924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核心性能指标</a:t>
            </a:r>
            <a:endParaRPr lang="en-US" sz="1100"/>
          </a:p>
        </p:txBody>
      </p:sp>
      <p:sp>
        <p:nvSpPr>
          <p:cNvPr name="AutoShape 8" id="8"/>
          <p:cNvSpPr/>
          <p:nvPr/>
        </p:nvSpPr>
        <p:spPr>
          <a:xfrm rot="0" flipH="false" flipV="false">
            <a:off x="4699000" y="3746500"/>
            <a:ext cx="2794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200">
                <a:solidFill>
                  <a:srgbClr val="FFFFFF">
                    <a:alpha val="70196"/>
                  </a:srgbClr>
                </a:solidFill>
                <a:latin typeface="Noto Sans SC"/>
                <a:ea typeface="Noto Sans SC"/>
                <a:cs typeface="Noto Sans SC"/>
                <a:sym typeface="Noto Sans SC"/>
              </a:rPr>
              <a:t>系统性能与业务效果</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207000" y="4572000"/>
            <a:ext cx="406400" cy="406400"/>
          </a:xfrm>
          <a:prstGeom prst="rect">
            <a:avLst/>
          </a:prstGeom>
        </p:spPr>
      </p:pic>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92800" y="4572000"/>
            <a:ext cx="406400" cy="406400"/>
          </a:xfrm>
          <a:prstGeom prst="rect">
            <a:avLst/>
          </a:prstGeom>
        </p:spPr>
      </p:pic>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78600" y="4572000"/>
            <a:ext cx="406400" cy="406400"/>
          </a:xfrm>
          <a:prstGeom prst="rect">
            <a:avLst/>
          </a:prstGeom>
        </p:spPr>
      </p:pic>
      <p:sp>
        <p:nvSpPr>
          <p:cNvPr name="AutoShape 12" id="12"/>
          <p:cNvSpPr/>
          <p:nvPr/>
        </p:nvSpPr>
        <p:spPr>
          <a:xfrm rot="0" flipH="false" flipV="false">
            <a:off x="0" y="6781800"/>
            <a:ext cx="12192000" cy="76200"/>
          </a:xfrm>
          <a:prstGeom prst="roundRect">
            <a:avLst>
              <a:gd name="adj" fmla="val 0"/>
            </a:avLst>
          </a:prstGeom>
          <a:gradFill rotWithShape="true">
            <a:gsLst>
              <a:gs pos="0">
                <a:srgbClr val="9B5DE5">
                  <a:alpha val="0"/>
                </a:srgbClr>
              </a:gs>
              <a:gs pos="50000">
                <a:srgbClr val="9B5DE5">
                  <a:alpha val="100000"/>
                </a:srgbClr>
              </a:gs>
              <a:gs pos="100000">
                <a:srgbClr val="9B5DE5">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22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核心性能指标</a:t>
            </a:r>
            <a:endParaRPr lang="en-US" sz="1100"/>
          </a:p>
        </p:txBody>
      </p:sp>
      <p:sp>
        <p:nvSpPr>
          <p:cNvPr name="AutoShape 5" id="5"/>
          <p:cNvSpPr/>
          <p:nvPr/>
        </p:nvSpPr>
        <p:spPr>
          <a:xfrm rot="0" flipH="false" flipV="false">
            <a:off x="762000" y="1524000"/>
            <a:ext cx="5080000" cy="4064000"/>
          </a:xfrm>
          <a:prstGeom prst="roundRect">
            <a:avLst>
              <a:gd name="adj" fmla="val 3125"/>
            </a:avLst>
          </a:prstGeom>
          <a:solidFill>
            <a:srgbClr val="FFFFFF">
              <a:alpha val="5000"/>
            </a:srgbClr>
          </a:solidFill>
          <a:ln w="12700" cmpd="sng" cap="flat">
            <a:solidFill>
              <a:srgbClr val="41EAD4">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52600"/>
            <a:ext cx="304800" cy="304800"/>
          </a:xfrm>
          <a:prstGeom prst="rect">
            <a:avLst/>
          </a:prstGeom>
        </p:spPr>
      </p:pic>
      <p:sp>
        <p:nvSpPr>
          <p:cNvPr name="AutoShape 7" id="7"/>
          <p:cNvSpPr/>
          <p:nvPr/>
        </p:nvSpPr>
        <p:spPr>
          <a:xfrm rot="0" flipH="false" flipV="false">
            <a:off x="1397000" y="1714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系统性能指标</a:t>
            </a:r>
            <a:endParaRPr lang="en-US" sz="1100"/>
          </a:p>
        </p:txBody>
      </p:sp>
      <p:cxnSp>
        <p:nvCxnSpPr>
          <p:cNvPr name="Connector 8" id="8"/>
          <p:cNvCxnSpPr/>
          <p:nvPr/>
        </p:nvCxnSpPr>
        <p:spPr>
          <a:xfrm rot="-9549" flipH="false" flipV="false">
            <a:off x="1016009" y="2152650"/>
            <a:ext cx="4572000" cy="12700"/>
          </a:xfrm>
          <a:prstGeom prst="line">
            <a:avLst/>
          </a:prstGeom>
          <a:solidFill>
            <a:srgbClr val="DEE0E3">
              <a:alpha val="100000"/>
            </a:srgbClr>
          </a:solidFill>
          <a:ln w="12700" cmpd="sng" cap="flat">
            <a:solidFill>
              <a:srgbClr val="41EAD4">
                <a:alpha val="30000"/>
              </a:srgbClr>
            </a:solidFill>
            <a:prstDash val="solid"/>
            <a:round/>
            <a:headEnd type="none" w="med" len="med"/>
            <a:tailEnd type="none" w="med" len="med"/>
          </a:ln>
        </p:spPr>
      </p:cxn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413000"/>
            <a:ext cx="254000" cy="254000"/>
          </a:xfrm>
          <a:prstGeom prst="rect">
            <a:avLst/>
          </a:prstGeom>
        </p:spPr>
      </p:pic>
      <p:sp>
        <p:nvSpPr>
          <p:cNvPr name="AutoShape 10" id="10"/>
          <p:cNvSpPr/>
          <p:nvPr/>
        </p:nvSpPr>
        <p:spPr>
          <a:xfrm rot="0" flipH="false" flipV="false">
            <a:off x="1397000" y="2362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响应速度：</a:t>
            </a:r>
            <a:r>
              <a:rPr lang="en-US" b="true" i="false" strike="noStrike" u="none" sz="1800">
                <a:solidFill>
                  <a:srgbClr val="41EAD4"/>
                </a:solidFill>
                <a:latin typeface="Poppins"/>
                <a:ea typeface="Poppins"/>
                <a:cs typeface="Poppins"/>
                <a:sym typeface="Poppins"/>
              </a:rPr>
              <a:t>&lt; 3秒</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2921000"/>
            <a:ext cx="254000" cy="254000"/>
          </a:xfrm>
          <a:prstGeom prst="rect">
            <a:avLst/>
          </a:prstGeom>
        </p:spPr>
      </p:pic>
      <p:sp>
        <p:nvSpPr>
          <p:cNvPr name="AutoShape 12" id="12"/>
          <p:cNvSpPr/>
          <p:nvPr/>
        </p:nvSpPr>
        <p:spPr>
          <a:xfrm rot="0" flipH="false" flipV="false">
            <a:off x="1397000" y="2870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匹配准确率：</a:t>
            </a:r>
            <a:r>
              <a:rPr lang="en-US" b="true" i="false" strike="noStrike" u="none" sz="1800">
                <a:solidFill>
                  <a:srgbClr val="41EAD4"/>
                </a:solidFill>
                <a:latin typeface="Poppins"/>
                <a:ea typeface="Poppins"/>
                <a:cs typeface="Poppins"/>
                <a:sym typeface="Poppins"/>
              </a:rPr>
              <a:t>95%+</a:t>
            </a:r>
            <a:endParaRPr lang="en-US" sz="1100"/>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3429000"/>
            <a:ext cx="254000" cy="254000"/>
          </a:xfrm>
          <a:prstGeom prst="rect">
            <a:avLst/>
          </a:prstGeom>
        </p:spPr>
      </p:pic>
      <p:sp>
        <p:nvSpPr>
          <p:cNvPr name="AutoShape 14" id="14"/>
          <p:cNvSpPr/>
          <p:nvPr/>
        </p:nvSpPr>
        <p:spPr>
          <a:xfrm rot="0" flipH="false" flipV="false">
            <a:off x="1397000" y="3378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系统可用性：</a:t>
            </a:r>
            <a:r>
              <a:rPr lang="en-US" b="true" i="false" strike="noStrike" u="none" sz="1800">
                <a:solidFill>
                  <a:srgbClr val="41EAD4"/>
                </a:solidFill>
                <a:latin typeface="Poppins"/>
                <a:ea typeface="Poppins"/>
                <a:cs typeface="Poppins"/>
                <a:sym typeface="Poppins"/>
              </a:rPr>
              <a:t>99.9%</a:t>
            </a:r>
            <a:endParaRPr lang="en-US" sz="1100"/>
          </a:p>
        </p:txBody>
      </p: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3937000"/>
            <a:ext cx="254000" cy="254000"/>
          </a:xfrm>
          <a:prstGeom prst="rect">
            <a:avLst/>
          </a:prstGeom>
        </p:spPr>
      </p:pic>
      <p:sp>
        <p:nvSpPr>
          <p:cNvPr name="AutoShape 16" id="16"/>
          <p:cNvSpPr/>
          <p:nvPr/>
        </p:nvSpPr>
        <p:spPr>
          <a:xfrm rot="0" flipH="false" flipV="false">
            <a:off x="1397000" y="3886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并发处理：</a:t>
            </a:r>
            <a:r>
              <a:rPr lang="en-US" b="true" i="false" strike="noStrike" u="none" sz="1800">
                <a:solidFill>
                  <a:srgbClr val="41EAD4"/>
                </a:solidFill>
                <a:latin typeface="Poppins"/>
                <a:ea typeface="Poppins"/>
                <a:cs typeface="Poppins"/>
                <a:sym typeface="Poppins"/>
              </a:rPr>
              <a:t>1000+ QPS</a:t>
            </a:r>
            <a:endParaRPr lang="en-US" sz="1100"/>
          </a:p>
        </p:txBody>
      </p:sp>
      <p:pic>
        <p:nvPicPr>
          <p:cNvPr name="Picture 17" id="17"/>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16000" y="4445000"/>
            <a:ext cx="254000" cy="254000"/>
          </a:xfrm>
          <a:prstGeom prst="rect">
            <a:avLst/>
          </a:prstGeom>
        </p:spPr>
      </p:pic>
      <p:sp>
        <p:nvSpPr>
          <p:cNvPr name="AutoShape 18" id="18"/>
          <p:cNvSpPr/>
          <p:nvPr/>
        </p:nvSpPr>
        <p:spPr>
          <a:xfrm rot="0" flipH="false" flipV="false">
            <a:off x="1397000" y="4394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知识库规模：</a:t>
            </a:r>
            <a:r>
              <a:rPr lang="en-US" b="true" i="false" strike="noStrike" u="none" sz="1800">
                <a:solidFill>
                  <a:srgbClr val="41EAD4"/>
                </a:solidFill>
                <a:latin typeface="Poppins"/>
                <a:ea typeface="Poppins"/>
                <a:cs typeface="Poppins"/>
                <a:sym typeface="Poppins"/>
              </a:rPr>
              <a:t>12,000+ KB</a:t>
            </a:r>
            <a:endParaRPr lang="en-US" sz="1100"/>
          </a:p>
        </p:txBody>
      </p:sp>
      <p:sp>
        <p:nvSpPr>
          <p:cNvPr name="AutoShape 19" id="19"/>
          <p:cNvSpPr/>
          <p:nvPr/>
        </p:nvSpPr>
        <p:spPr>
          <a:xfrm rot="0" flipH="false" flipV="false">
            <a:off x="6350000" y="1524000"/>
            <a:ext cx="5080000" cy="4064000"/>
          </a:xfrm>
          <a:prstGeom prst="roundRect">
            <a:avLst>
              <a:gd name="adj" fmla="val 3125"/>
            </a:avLst>
          </a:prstGeom>
          <a:solidFill>
            <a:srgbClr val="FFFFFF">
              <a:alpha val="5000"/>
            </a:srgbClr>
          </a:solidFill>
          <a:ln w="12700" cmpd="sng" cap="flat">
            <a:solidFill>
              <a:srgbClr val="9B5DE5">
                <a:alpha val="10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604000" y="1752600"/>
            <a:ext cx="304800" cy="304800"/>
          </a:xfrm>
          <a:prstGeom prst="rect">
            <a:avLst/>
          </a:prstGeom>
        </p:spPr>
      </p:pic>
      <p:sp>
        <p:nvSpPr>
          <p:cNvPr name="AutoShape 21" id="21"/>
          <p:cNvSpPr/>
          <p:nvPr/>
        </p:nvSpPr>
        <p:spPr>
          <a:xfrm rot="0" flipH="false" flipV="false">
            <a:off x="6985000" y="17145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业务效果指标</a:t>
            </a:r>
            <a:endParaRPr lang="en-US" sz="1100"/>
          </a:p>
        </p:txBody>
      </p:sp>
      <p:cxnSp>
        <p:nvCxnSpPr>
          <p:cNvPr name="Connector 22" id="22"/>
          <p:cNvCxnSpPr/>
          <p:nvPr/>
        </p:nvCxnSpPr>
        <p:spPr>
          <a:xfrm rot="-9549" flipH="false" flipV="false">
            <a:off x="6604009" y="2152650"/>
            <a:ext cx="4572000" cy="12700"/>
          </a:xfrm>
          <a:prstGeom prst="line">
            <a:avLst/>
          </a:prstGeom>
          <a:solidFill>
            <a:srgbClr val="DEE0E3">
              <a:alpha val="100000"/>
            </a:srgbClr>
          </a:solidFill>
          <a:ln w="12700" cmpd="sng" cap="flat">
            <a:solidFill>
              <a:srgbClr val="9B5DE5">
                <a:alpha val="30000"/>
              </a:srgbClr>
            </a:solidFill>
            <a:prstDash val="solid"/>
            <a:round/>
            <a:headEnd type="none" w="med" len="med"/>
            <a:tailEnd type="none" w="med" len="med"/>
          </a:ln>
        </p:spPr>
      </p:cxnSp>
      <p:pic>
        <p:nvPicPr>
          <p:cNvPr name="Picture 23" id="23"/>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604000" y="2413000"/>
            <a:ext cx="254000" cy="254000"/>
          </a:xfrm>
          <a:prstGeom prst="rect">
            <a:avLst/>
          </a:prstGeom>
        </p:spPr>
      </p:pic>
      <p:sp>
        <p:nvSpPr>
          <p:cNvPr name="AutoShape 24" id="24"/>
          <p:cNvSpPr/>
          <p:nvPr/>
        </p:nvSpPr>
        <p:spPr>
          <a:xfrm rot="0" flipH="false" flipV="false">
            <a:off x="6985000" y="2362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RevPAR提升：</a:t>
            </a:r>
            <a:r>
              <a:rPr lang="en-US" b="true" i="false" strike="noStrike" u="none" sz="1800">
                <a:solidFill>
                  <a:srgbClr val="9B5DE5"/>
                </a:solidFill>
                <a:latin typeface="Poppins"/>
                <a:ea typeface="Poppins"/>
                <a:cs typeface="Poppins"/>
                <a:sym typeface="Poppins"/>
              </a:rPr>
              <a:t>15-30%</a:t>
            </a:r>
            <a:endParaRPr lang="en-US" sz="1100"/>
          </a:p>
        </p:txBody>
      </p:sp>
      <p:pic>
        <p:nvPicPr>
          <p:cNvPr name="Picture 25" id="25"/>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6604000" y="2857500"/>
            <a:ext cx="254000" cy="254000"/>
          </a:xfrm>
          <a:prstGeom prst="rect">
            <a:avLst/>
          </a:prstGeom>
        </p:spPr>
      </p:pic>
      <p:sp>
        <p:nvSpPr>
          <p:cNvPr name="AutoShape 26" id="26"/>
          <p:cNvSpPr/>
          <p:nvPr/>
        </p:nvSpPr>
        <p:spPr>
          <a:xfrm rot="0" flipH="false" flipV="false">
            <a:off x="6985000" y="28067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佣金成本降低：</a:t>
            </a:r>
            <a:r>
              <a:rPr lang="en-US" b="true" i="false" strike="noStrike" u="none" sz="1800">
                <a:solidFill>
                  <a:srgbClr val="9B5DE5"/>
                </a:solidFill>
                <a:latin typeface="Poppins"/>
                <a:ea typeface="Poppins"/>
                <a:cs typeface="Poppins"/>
                <a:sym typeface="Poppins"/>
              </a:rPr>
              <a:t>50%+</a:t>
            </a:r>
            <a:endParaRPr lang="en-US" sz="1100"/>
          </a:p>
        </p:txBody>
      </p:sp>
      <p:pic>
        <p:nvPicPr>
          <p:cNvPr name="Picture 27" id="27"/>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flipH="false" flipV="false">
            <a:off x="6604000" y="3302000"/>
            <a:ext cx="254000" cy="254000"/>
          </a:xfrm>
          <a:prstGeom prst="rect">
            <a:avLst/>
          </a:prstGeom>
        </p:spPr>
      </p:pic>
      <p:sp>
        <p:nvSpPr>
          <p:cNvPr name="AutoShape 28" id="28"/>
          <p:cNvSpPr/>
          <p:nvPr/>
        </p:nvSpPr>
        <p:spPr>
          <a:xfrm rot="0" flipH="false" flipV="false">
            <a:off x="6985000" y="3251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人工成本降低：</a:t>
            </a:r>
            <a:r>
              <a:rPr lang="en-US" b="true" i="false" strike="noStrike" u="none" sz="1800">
                <a:solidFill>
                  <a:srgbClr val="9B5DE5"/>
                </a:solidFill>
                <a:latin typeface="Poppins"/>
                <a:ea typeface="Poppins"/>
                <a:cs typeface="Poppins"/>
                <a:sym typeface="Poppins"/>
              </a:rPr>
              <a:t>30%+</a:t>
            </a:r>
            <a:endParaRPr lang="en-US" sz="1100"/>
          </a:p>
        </p:txBody>
      </p:sp>
      <p:pic>
        <p:nvPicPr>
          <p:cNvPr name="Picture 29" id="29"/>
          <p:cNvPicPr>
            <a:picLocks noChangeAspect="true"/>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0" flipH="false" flipV="false">
            <a:off x="6604000" y="3746500"/>
            <a:ext cx="254000" cy="254000"/>
          </a:xfrm>
          <a:prstGeom prst="rect">
            <a:avLst/>
          </a:prstGeom>
        </p:spPr>
      </p:pic>
      <p:sp>
        <p:nvSpPr>
          <p:cNvPr name="AutoShape 30" id="30"/>
          <p:cNvSpPr/>
          <p:nvPr/>
        </p:nvSpPr>
        <p:spPr>
          <a:xfrm rot="0" flipH="false" flipV="false">
            <a:off x="6985000" y="36957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获客成本降低：</a:t>
            </a:r>
            <a:r>
              <a:rPr lang="en-US" b="true" i="false" strike="noStrike" u="none" sz="1800">
                <a:solidFill>
                  <a:srgbClr val="9B5DE5"/>
                </a:solidFill>
                <a:latin typeface="Poppins"/>
                <a:ea typeface="Poppins"/>
                <a:cs typeface="Poppins"/>
                <a:sym typeface="Poppins"/>
              </a:rPr>
              <a:t>40%+</a:t>
            </a:r>
            <a:endParaRPr lang="en-US" sz="1100"/>
          </a:p>
        </p:txBody>
      </p:sp>
      <p:pic>
        <p:nvPicPr>
          <p:cNvPr name="Picture 31" id="31"/>
          <p:cNvPicPr>
            <a:picLocks noChangeAspect="true"/>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flipH="false" flipV="false">
            <a:off x="6604000" y="4191000"/>
            <a:ext cx="254000" cy="254000"/>
          </a:xfrm>
          <a:prstGeom prst="rect">
            <a:avLst/>
          </a:prstGeom>
        </p:spPr>
      </p:pic>
      <p:sp>
        <p:nvSpPr>
          <p:cNvPr name="AutoShape 32" id="32"/>
          <p:cNvSpPr/>
          <p:nvPr/>
        </p:nvSpPr>
        <p:spPr>
          <a:xfrm rot="0" flipH="false" flipV="false">
            <a:off x="6985000" y="41402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好评率提升：</a:t>
            </a:r>
            <a:r>
              <a:rPr lang="en-US" b="true" i="false" strike="noStrike" u="none" sz="1800">
                <a:solidFill>
                  <a:srgbClr val="9B5DE5"/>
                </a:solidFill>
                <a:latin typeface="Poppins"/>
                <a:ea typeface="Poppins"/>
                <a:cs typeface="Poppins"/>
                <a:sym typeface="Poppins"/>
              </a:rPr>
              <a:t>20%+</a:t>
            </a:r>
            <a:endParaRPr lang="en-US" sz="1100"/>
          </a:p>
        </p:txBody>
      </p:sp>
      <p:pic>
        <p:nvPicPr>
          <p:cNvPr name="Picture 33" id="33"/>
          <p:cNvPicPr>
            <a:picLocks noChangeAspect="true"/>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0" flipH="false" flipV="false">
            <a:off x="6604000" y="4635500"/>
            <a:ext cx="254000" cy="254000"/>
          </a:xfrm>
          <a:prstGeom prst="rect">
            <a:avLst/>
          </a:prstGeom>
        </p:spPr>
      </p:pic>
      <p:sp>
        <p:nvSpPr>
          <p:cNvPr name="AutoShape 34" id="34"/>
          <p:cNvSpPr/>
          <p:nvPr/>
        </p:nvSpPr>
        <p:spPr>
          <a:xfrm rot="0" flipH="false" flipV="false">
            <a:off x="6985000" y="4584700"/>
            <a:ext cx="4318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复购率提升：</a:t>
            </a:r>
            <a:r>
              <a:rPr lang="en-US" b="true" i="false" strike="noStrike" u="none" sz="1800">
                <a:solidFill>
                  <a:srgbClr val="9B5DE5"/>
                </a:solidFill>
                <a:latin typeface="Poppins"/>
                <a:ea typeface="Poppins"/>
                <a:cs typeface="Poppins"/>
                <a:sym typeface="Poppins"/>
              </a:rPr>
              <a:t>25%+</a:t>
            </a:r>
            <a:endParaRPr lang="en-US" sz="1100"/>
          </a:p>
        </p:txBody>
      </p:sp>
      <p:sp>
        <p:nvSpPr>
          <p:cNvPr name="AutoShape 35" id="35"/>
          <p:cNvSpPr/>
          <p:nvPr/>
        </p:nvSpPr>
        <p:spPr>
          <a:xfrm rot="0" flipH="false" flipV="false">
            <a:off x="0" y="680720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419600" y="1397000"/>
            <a:ext cx="3352800" cy="177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12000">
                <a:solidFill>
                  <a:srgbClr val="41EAD4"/>
                </a:solidFill>
                <a:latin typeface="DIN Alternate"/>
                <a:ea typeface="DIN Alternate"/>
                <a:cs typeface="DIN Alternate"/>
                <a:sym typeface="DIN Alternate"/>
              </a:rPr>
              <a:t>05</a:t>
            </a:r>
            <a:endParaRPr lang="en-US" sz="1100"/>
          </a:p>
        </p:txBody>
      </p:sp>
      <p:sp>
        <p:nvSpPr>
          <p:cNvPr name="AutoShape 5" id="5"/>
          <p:cNvSpPr/>
          <p:nvPr/>
        </p:nvSpPr>
        <p:spPr>
          <a:xfrm rot="0" flipH="false" flipV="false">
            <a:off x="5715000" y="3302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2286000" y="3556000"/>
            <a:ext cx="762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竞争对比</a:t>
            </a:r>
            <a:endParaRPr lang="en-US" sz="1100"/>
          </a:p>
        </p:txBody>
      </p:sp>
      <p:sp>
        <p:nvSpPr>
          <p:cNvPr name="AutoShape 7" id="7"/>
          <p:cNvSpPr/>
          <p:nvPr/>
        </p:nvSpPr>
        <p:spPr>
          <a:xfrm rot="0" flipH="false" flipV="false">
            <a:off x="1016000" y="4191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传统OTA与去中心化平台</a:t>
            </a:r>
            <a:endParaRPr lang="en-US" sz="1100"/>
          </a:p>
        </p:txBody>
      </p:sp>
      <p:sp>
        <p:nvSpPr>
          <p:cNvPr name="AutoShape 8" id="8"/>
          <p:cNvSpPr/>
          <p:nvPr/>
        </p:nvSpPr>
        <p:spPr>
          <a:xfrm rot="0" flipH="false" flipV="false">
            <a:off x="0" y="6781800"/>
            <a:ext cx="12192000" cy="76200"/>
          </a:xfrm>
          <a:prstGeom prst="roundRect">
            <a:avLst>
              <a:gd name="adj" fmla="val 0"/>
            </a:avLst>
          </a:prstGeom>
          <a:gradFill rotWithShape="true">
            <a:gsLst>
              <a:gs pos="0">
                <a:srgbClr val="0D1B2A">
                  <a:alpha val="100000"/>
                </a:srgbClr>
              </a:gs>
              <a:gs pos="50000">
                <a:srgbClr val="41EAD4">
                  <a:alpha val="100000"/>
                </a:srgbClr>
              </a:gs>
              <a:gs pos="100000">
                <a:srgbClr val="0D1B2A">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90551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传统OTA vs AHL去中心化平台</a:t>
            </a:r>
            <a:endParaRPr lang="en-US" sz="1100"/>
          </a:p>
        </p:txBody>
      </p:sp>
      <p:sp>
        <p:nvSpPr>
          <p:cNvPr name="AutoShape 5" id="5"/>
          <p:cNvSpPr/>
          <p:nvPr/>
        </p:nvSpPr>
        <p:spPr>
          <a:xfrm rot="0" flipH="false" flipV="false">
            <a:off x="1778000" y="1397000"/>
            <a:ext cx="4572000" cy="457200"/>
          </a:xfrm>
          <a:prstGeom prst="roundRect">
            <a:avLst>
              <a:gd name="adj" fmla="val 27777"/>
            </a:avLst>
          </a:prstGeom>
          <a:solidFill>
            <a:srgbClr val="9B5DE5">
              <a:alpha val="20000"/>
            </a:srgbClr>
          </a:solidFill>
          <a:ln w="12700" cmpd="sng" cap="flat">
            <a:solidFill>
              <a:srgbClr val="9B5DE5">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9B5DE5"/>
                </a:solidFill>
                <a:latin typeface="Noto Sans SC"/>
                <a:ea typeface="Noto Sans SC"/>
                <a:cs typeface="Noto Sans SC"/>
                <a:sym typeface="Noto Sans SC"/>
              </a:rPr>
              <a:t>传统OTA平台</a:t>
            </a:r>
            <a:endParaRPr lang="en-US" sz="1100"/>
          </a:p>
        </p:txBody>
      </p:sp>
      <p:sp>
        <p:nvSpPr>
          <p:cNvPr name="AutoShape 6" id="6"/>
          <p:cNvSpPr/>
          <p:nvPr/>
        </p:nvSpPr>
        <p:spPr>
          <a:xfrm rot="0" flipH="false" flipV="false">
            <a:off x="6604000" y="1397000"/>
            <a:ext cx="4572000" cy="457200"/>
          </a:xfrm>
          <a:prstGeom prst="roundRect">
            <a:avLst>
              <a:gd name="adj" fmla="val 27777"/>
            </a:avLst>
          </a:prstGeom>
          <a:solidFill>
            <a:srgbClr val="41EAD4">
              <a:alpha val="20000"/>
            </a:srgbClr>
          </a:solidFill>
          <a:ln w="12700" cmpd="sng" cap="flat">
            <a:solidFill>
              <a:srgbClr val="41EAD4">
                <a:alpha val="100000"/>
              </a:srgbClr>
            </a:solid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1EAD4"/>
                </a:solidFill>
                <a:latin typeface="Noto Sans SC"/>
                <a:ea typeface="Noto Sans SC"/>
                <a:cs typeface="Noto Sans SC"/>
                <a:sym typeface="Noto Sans SC"/>
              </a:rPr>
              <a:t>AHL去中心化平台</a:t>
            </a:r>
            <a:endParaRPr lang="en-US" sz="1100"/>
          </a:p>
        </p:txBody>
      </p:sp>
      <p:sp>
        <p:nvSpPr>
          <p:cNvPr name="AutoShape 7" id="7"/>
          <p:cNvSpPr/>
          <p:nvPr/>
        </p:nvSpPr>
        <p:spPr>
          <a:xfrm rot="0" flipH="false" flipV="false">
            <a:off x="381000" y="2032000"/>
            <a:ext cx="11430000" cy="711200"/>
          </a:xfrm>
          <a:prstGeom prst="roundRect">
            <a:avLst>
              <a:gd name="adj" fmla="val 8928"/>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1500" y="2235200"/>
            <a:ext cx="304800" cy="304800"/>
          </a:xfrm>
          <a:prstGeom prst="rect">
            <a:avLst/>
          </a:prstGeom>
        </p:spPr>
      </p:pic>
      <p:sp>
        <p:nvSpPr>
          <p:cNvPr name="AutoShape 9" id="9"/>
          <p:cNvSpPr/>
          <p:nvPr/>
        </p:nvSpPr>
        <p:spPr>
          <a:xfrm rot="0" flipH="false" flipV="false">
            <a:off x="952500" y="2197100"/>
            <a:ext cx="101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80000"/>
                  </a:srgbClr>
                </a:solidFill>
                <a:latin typeface="Noto Sans SC"/>
                <a:ea typeface="Noto Sans SC"/>
                <a:cs typeface="Noto Sans SC"/>
                <a:sym typeface="Noto Sans SC"/>
              </a:rPr>
              <a:t>佣金模式</a:t>
            </a:r>
            <a:endParaRPr lang="en-US" sz="1100"/>
          </a:p>
        </p:txBody>
      </p:sp>
      <p:sp>
        <p:nvSpPr>
          <p:cNvPr name="AutoShape 10" id="10"/>
          <p:cNvSpPr/>
          <p:nvPr/>
        </p:nvSpPr>
        <p:spPr>
          <a:xfrm rot="0" flipH="false" flipV="false">
            <a:off x="2032000" y="21971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收取</a:t>
            </a:r>
            <a:r>
              <a:rPr lang="en-US" b="true" i="false" strike="noStrike" u="none" sz="1800">
                <a:solidFill>
                  <a:srgbClr val="F87171"/>
                </a:solidFill>
                <a:latin typeface="Noto Sans SC"/>
                <a:ea typeface="Noto Sans SC"/>
                <a:cs typeface="Noto Sans SC"/>
                <a:sym typeface="Noto Sans SC"/>
              </a:rPr>
              <a:t>15-25%</a:t>
            </a:r>
            <a:r>
              <a:rPr lang="en-US" b="false" i="false" strike="noStrike" u="none" sz="1800">
                <a:solidFill>
                  <a:srgbClr val="E5E7EB"/>
                </a:solidFill>
                <a:latin typeface="Noto Sans SC"/>
                <a:ea typeface="Noto Sans SC"/>
                <a:cs typeface="Noto Sans SC"/>
                <a:sym typeface="Noto Sans SC"/>
              </a:rPr>
              <a:t>高额佣金</a:t>
            </a:r>
            <a:endParaRPr lang="en-US" sz="1100"/>
          </a:p>
        </p:txBody>
      </p:sp>
      <p:sp>
        <p:nvSpPr>
          <p:cNvPr name="AutoShape 11" id="11"/>
          <p:cNvSpPr/>
          <p:nvPr/>
        </p:nvSpPr>
        <p:spPr>
          <a:xfrm rot="0" flipH="false" flipV="false">
            <a:off x="6731000" y="21971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仅收</a:t>
            </a:r>
            <a:r>
              <a:rPr lang="en-US" b="true" i="false" strike="noStrike" u="none" sz="1800">
                <a:solidFill>
                  <a:srgbClr val="41EAD4"/>
                </a:solidFill>
                <a:latin typeface="Noto Sans SC"/>
                <a:ea typeface="Noto Sans SC"/>
                <a:cs typeface="Noto Sans SC"/>
                <a:sym typeface="Noto Sans SC"/>
              </a:rPr>
              <a:t>2%</a:t>
            </a:r>
            <a:r>
              <a:rPr lang="en-US" b="false" i="false" strike="noStrike" u="none" sz="1800">
                <a:solidFill>
                  <a:srgbClr val="E5E7EB"/>
                </a:solidFill>
                <a:latin typeface="Noto Sans SC"/>
                <a:ea typeface="Noto Sans SC"/>
                <a:cs typeface="Noto Sans SC"/>
                <a:sym typeface="Noto Sans SC"/>
              </a:rPr>
              <a:t>技术服务费</a:t>
            </a:r>
            <a:endParaRPr lang="en-US" sz="1100"/>
          </a:p>
        </p:txBody>
      </p:sp>
      <p:sp>
        <p:nvSpPr>
          <p:cNvPr name="AutoShape 12" id="12"/>
          <p:cNvSpPr/>
          <p:nvPr/>
        </p:nvSpPr>
        <p:spPr>
          <a:xfrm rot="0" flipH="false" flipV="false">
            <a:off x="381000" y="2870200"/>
            <a:ext cx="11430000" cy="711200"/>
          </a:xfrm>
          <a:prstGeom prst="roundRect">
            <a:avLst>
              <a:gd name="adj" fmla="val 8928"/>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1500" y="3073400"/>
            <a:ext cx="304800" cy="304800"/>
          </a:xfrm>
          <a:prstGeom prst="rect">
            <a:avLst/>
          </a:prstGeom>
        </p:spPr>
      </p:pic>
      <p:sp>
        <p:nvSpPr>
          <p:cNvPr name="AutoShape 14" id="14"/>
          <p:cNvSpPr/>
          <p:nvPr/>
        </p:nvSpPr>
        <p:spPr>
          <a:xfrm rot="0" flipH="false" flipV="false">
            <a:off x="952500" y="3035300"/>
            <a:ext cx="101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80000"/>
                  </a:srgbClr>
                </a:solidFill>
                <a:latin typeface="Noto Sans SC"/>
                <a:ea typeface="Noto Sans SC"/>
                <a:cs typeface="Noto Sans SC"/>
                <a:sym typeface="Noto Sans SC"/>
              </a:rPr>
              <a:t>数据归属</a:t>
            </a:r>
            <a:endParaRPr lang="en-US" sz="1100"/>
          </a:p>
        </p:txBody>
      </p:sp>
      <p:sp>
        <p:nvSpPr>
          <p:cNvPr name="AutoShape 15" id="15"/>
          <p:cNvSpPr/>
          <p:nvPr/>
        </p:nvSpPr>
        <p:spPr>
          <a:xfrm rot="0" flipH="false" flipV="false">
            <a:off x="2032000" y="30353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平台掌控，商户无所有权</a:t>
            </a:r>
            <a:endParaRPr lang="en-US" sz="1100"/>
          </a:p>
        </p:txBody>
      </p:sp>
      <p:sp>
        <p:nvSpPr>
          <p:cNvPr name="AutoShape 16" id="16"/>
          <p:cNvSpPr/>
          <p:nvPr/>
        </p:nvSpPr>
        <p:spPr>
          <a:xfrm rot="0" flipH="false" flipV="false">
            <a:off x="6731000" y="30353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数据回归</a:t>
            </a:r>
            <a:r>
              <a:rPr lang="en-US" b="true" i="false" strike="noStrike" u="none" sz="1800">
                <a:solidFill>
                  <a:srgbClr val="41EAD4"/>
                </a:solidFill>
                <a:latin typeface="Noto Sans SC"/>
                <a:ea typeface="Noto Sans SC"/>
                <a:cs typeface="Noto Sans SC"/>
                <a:sym typeface="Noto Sans SC"/>
              </a:rPr>
              <a:t>商户自有</a:t>
            </a:r>
            <a:endParaRPr lang="en-US" sz="1100"/>
          </a:p>
        </p:txBody>
      </p:sp>
      <p:sp>
        <p:nvSpPr>
          <p:cNvPr name="AutoShape 17" id="17"/>
          <p:cNvSpPr/>
          <p:nvPr/>
        </p:nvSpPr>
        <p:spPr>
          <a:xfrm rot="0" flipH="false" flipV="false">
            <a:off x="381000" y="3708400"/>
            <a:ext cx="11430000" cy="711200"/>
          </a:xfrm>
          <a:prstGeom prst="roundRect">
            <a:avLst>
              <a:gd name="adj" fmla="val 8928"/>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1500" y="3911600"/>
            <a:ext cx="304800" cy="304800"/>
          </a:xfrm>
          <a:prstGeom prst="rect">
            <a:avLst/>
          </a:prstGeom>
        </p:spPr>
      </p:pic>
      <p:sp>
        <p:nvSpPr>
          <p:cNvPr name="AutoShape 19" id="19"/>
          <p:cNvSpPr/>
          <p:nvPr/>
        </p:nvSpPr>
        <p:spPr>
          <a:xfrm rot="0" flipH="false" flipV="false">
            <a:off x="952500" y="3873500"/>
            <a:ext cx="101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80000"/>
                  </a:srgbClr>
                </a:solidFill>
                <a:latin typeface="Noto Sans SC"/>
                <a:ea typeface="Noto Sans SC"/>
                <a:cs typeface="Noto Sans SC"/>
                <a:sym typeface="Noto Sans SC"/>
              </a:rPr>
              <a:t>服务响应</a:t>
            </a:r>
            <a:endParaRPr lang="en-US" sz="1100"/>
          </a:p>
        </p:txBody>
      </p:sp>
      <p:sp>
        <p:nvSpPr>
          <p:cNvPr name="AutoShape 20" id="20"/>
          <p:cNvSpPr/>
          <p:nvPr/>
        </p:nvSpPr>
        <p:spPr>
          <a:xfrm rot="0" flipH="false" flipV="false">
            <a:off x="2032000" y="38735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被动式问答，流程繁琐</a:t>
            </a:r>
            <a:endParaRPr lang="en-US" sz="1100"/>
          </a:p>
        </p:txBody>
      </p:sp>
      <p:sp>
        <p:nvSpPr>
          <p:cNvPr name="AutoShape 21" id="21"/>
          <p:cNvSpPr/>
          <p:nvPr/>
        </p:nvSpPr>
        <p:spPr>
          <a:xfrm rot="0" flipH="false" flipV="false">
            <a:off x="6731000" y="38735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AI驱动</a:t>
            </a:r>
            <a:r>
              <a:rPr lang="en-US" b="true" i="false" strike="noStrike" u="none" sz="1800">
                <a:solidFill>
                  <a:srgbClr val="41EAD4"/>
                </a:solidFill>
                <a:latin typeface="Noto Sans SC"/>
                <a:ea typeface="Noto Sans SC"/>
                <a:cs typeface="Noto Sans SC"/>
                <a:sym typeface="Noto Sans SC"/>
              </a:rPr>
              <a:t>主动式服务</a:t>
            </a:r>
            <a:endParaRPr lang="en-US" sz="1100"/>
          </a:p>
        </p:txBody>
      </p:sp>
      <p:sp>
        <p:nvSpPr>
          <p:cNvPr name="AutoShape 22" id="22"/>
          <p:cNvSpPr/>
          <p:nvPr/>
        </p:nvSpPr>
        <p:spPr>
          <a:xfrm rot="0" flipH="false" flipV="false">
            <a:off x="381000" y="4546600"/>
            <a:ext cx="11430000" cy="711200"/>
          </a:xfrm>
          <a:prstGeom prst="roundRect">
            <a:avLst>
              <a:gd name="adj" fmla="val 8928"/>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571500" y="4749800"/>
            <a:ext cx="304800" cy="304800"/>
          </a:xfrm>
          <a:prstGeom prst="rect">
            <a:avLst/>
          </a:prstGeom>
        </p:spPr>
      </p:pic>
      <p:sp>
        <p:nvSpPr>
          <p:cNvPr name="AutoShape 24" id="24"/>
          <p:cNvSpPr/>
          <p:nvPr/>
        </p:nvSpPr>
        <p:spPr>
          <a:xfrm rot="0" flipH="false" flipV="false">
            <a:off x="952500" y="4711700"/>
            <a:ext cx="101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80000"/>
                  </a:srgbClr>
                </a:solidFill>
                <a:latin typeface="Noto Sans SC"/>
                <a:ea typeface="Noto Sans SC"/>
                <a:cs typeface="Noto Sans SC"/>
                <a:sym typeface="Noto Sans SC"/>
              </a:rPr>
              <a:t>个性化</a:t>
            </a:r>
            <a:endParaRPr lang="en-US" sz="1100"/>
          </a:p>
        </p:txBody>
      </p:sp>
      <p:sp>
        <p:nvSpPr>
          <p:cNvPr name="AutoShape 25" id="25"/>
          <p:cNvSpPr/>
          <p:nvPr/>
        </p:nvSpPr>
        <p:spPr>
          <a:xfrm rot="0" flipH="false" flipV="false">
            <a:off x="2032000" y="47117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推荐算法受限，千人一面</a:t>
            </a:r>
            <a:endParaRPr lang="en-US" sz="1100"/>
          </a:p>
        </p:txBody>
      </p:sp>
      <p:sp>
        <p:nvSpPr>
          <p:cNvPr name="AutoShape 26" id="26"/>
          <p:cNvSpPr/>
          <p:nvPr/>
        </p:nvSpPr>
        <p:spPr>
          <a:xfrm rot="0" flipH="false" flipV="false">
            <a:off x="6731000" y="47117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基于用户画像</a:t>
            </a:r>
            <a:r>
              <a:rPr lang="en-US" b="true" i="false" strike="noStrike" u="none" sz="1800">
                <a:solidFill>
                  <a:srgbClr val="41EAD4"/>
                </a:solidFill>
                <a:latin typeface="Noto Sans SC"/>
                <a:ea typeface="Noto Sans SC"/>
                <a:cs typeface="Noto Sans SC"/>
                <a:sym typeface="Noto Sans SC"/>
              </a:rPr>
              <a:t>深度定制</a:t>
            </a:r>
            <a:endParaRPr lang="en-US" sz="1100"/>
          </a:p>
        </p:txBody>
      </p:sp>
      <p:sp>
        <p:nvSpPr>
          <p:cNvPr name="AutoShape 27" id="27"/>
          <p:cNvSpPr/>
          <p:nvPr/>
        </p:nvSpPr>
        <p:spPr>
          <a:xfrm rot="0" flipH="false" flipV="false">
            <a:off x="381000" y="5384800"/>
            <a:ext cx="11430000" cy="711200"/>
          </a:xfrm>
          <a:prstGeom prst="roundRect">
            <a:avLst>
              <a:gd name="adj" fmla="val 8928"/>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571500" y="5588000"/>
            <a:ext cx="304800" cy="304800"/>
          </a:xfrm>
          <a:prstGeom prst="rect">
            <a:avLst/>
          </a:prstGeom>
        </p:spPr>
      </p:pic>
      <p:sp>
        <p:nvSpPr>
          <p:cNvPr name="AutoShape 29" id="29"/>
          <p:cNvSpPr/>
          <p:nvPr/>
        </p:nvSpPr>
        <p:spPr>
          <a:xfrm rot="0" flipH="false" flipV="false">
            <a:off x="952500" y="5549900"/>
            <a:ext cx="101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80000"/>
                  </a:srgbClr>
                </a:solidFill>
                <a:latin typeface="Noto Sans SC"/>
                <a:ea typeface="Noto Sans SC"/>
                <a:cs typeface="Noto Sans SC"/>
                <a:sym typeface="Noto Sans SC"/>
              </a:rPr>
              <a:t>商户能力</a:t>
            </a:r>
            <a:endParaRPr lang="en-US" sz="1100"/>
          </a:p>
        </p:txBody>
      </p:sp>
      <p:sp>
        <p:nvSpPr>
          <p:cNvPr name="AutoShape 30" id="30"/>
          <p:cNvSpPr/>
          <p:nvPr/>
        </p:nvSpPr>
        <p:spPr>
          <a:xfrm rot="0" flipH="false" flipV="false">
            <a:off x="2032000" y="55499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依赖平台流量，缺乏自主权</a:t>
            </a:r>
            <a:endParaRPr lang="en-US" sz="1100"/>
          </a:p>
        </p:txBody>
      </p:sp>
      <p:sp>
        <p:nvSpPr>
          <p:cNvPr name="AutoShape 31" id="31"/>
          <p:cNvSpPr/>
          <p:nvPr/>
        </p:nvSpPr>
        <p:spPr>
          <a:xfrm rot="0" flipH="false" flipV="false">
            <a:off x="6731000" y="55499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E5E7EB"/>
                </a:solidFill>
                <a:latin typeface="Noto Sans SC"/>
                <a:ea typeface="Noto Sans SC"/>
                <a:cs typeface="Noto Sans SC"/>
                <a:sym typeface="Noto Sans SC"/>
              </a:rPr>
              <a:t>赋予商户</a:t>
            </a:r>
            <a:r>
              <a:rPr lang="en-US" b="true" i="false" strike="noStrike" u="none" sz="1800">
                <a:solidFill>
                  <a:srgbClr val="41EAD4"/>
                </a:solidFill>
                <a:latin typeface="Noto Sans SC"/>
                <a:ea typeface="Noto Sans SC"/>
                <a:cs typeface="Noto Sans SC"/>
                <a:sym typeface="Noto Sans SC"/>
              </a:rPr>
              <a:t>自有AI能力</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699000" y="1397000"/>
            <a:ext cx="2794000" cy="1397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9600">
                <a:solidFill>
                  <a:srgbClr val="41EAD4"/>
                </a:solidFill>
                <a:latin typeface="SimHei"/>
                <a:ea typeface="SimHei"/>
                <a:cs typeface="SimHei"/>
                <a:sym typeface="SimHei"/>
              </a:rPr>
              <a:t>06</a:t>
            </a:r>
            <a:endParaRPr lang="en-US" sz="1100"/>
          </a:p>
        </p:txBody>
      </p:sp>
      <p:sp>
        <p:nvSpPr>
          <p:cNvPr name="AutoShape 5" id="5"/>
          <p:cNvSpPr/>
          <p:nvPr/>
        </p:nvSpPr>
        <p:spPr>
          <a:xfrm rot="0" flipH="false" flipV="false">
            <a:off x="5334000" y="2921000"/>
            <a:ext cx="1524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3175000"/>
            <a:ext cx="1016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SimHei"/>
                <a:ea typeface="SimHei"/>
                <a:cs typeface="SimHei"/>
                <a:sym typeface="SimHei"/>
              </a:rPr>
              <a:t>实施路径与团队</a:t>
            </a:r>
            <a:endParaRPr lang="en-US" sz="1100"/>
          </a:p>
        </p:txBody>
      </p:sp>
      <p:sp>
        <p:nvSpPr>
          <p:cNvPr name="AutoShape 7" id="7"/>
          <p:cNvSpPr/>
          <p:nvPr/>
        </p:nvSpPr>
        <p:spPr>
          <a:xfrm rot="0" flipH="false" flipV="false">
            <a:off x="1016000" y="3810000"/>
            <a:ext cx="10160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800">
                <a:solidFill>
                  <a:srgbClr val="FFFFFF">
                    <a:alpha val="80000"/>
                  </a:srgbClr>
                </a:solidFill>
                <a:latin typeface="SimHei"/>
                <a:ea typeface="SimHei"/>
                <a:cs typeface="SimHei"/>
                <a:sym typeface="SimHei"/>
              </a:rPr>
              <a:t>三阶段计划与黄金三角团队</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4826000"/>
            <a:ext cx="609600" cy="609600"/>
          </a:xfrm>
          <a:prstGeom prst="rect">
            <a:avLst/>
          </a:prstGeom>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5029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实施路径与技术里程碑</a:t>
            </a:r>
            <a:endParaRPr lang="en-US" sz="1100"/>
          </a:p>
        </p:txBody>
      </p:sp>
      <p:sp>
        <p:nvSpPr>
          <p:cNvPr name="AutoShape 5" id="5"/>
          <p:cNvSpPr/>
          <p:nvPr/>
        </p:nvSpPr>
        <p:spPr>
          <a:xfrm rot="0" flipH="false" flipV="false">
            <a:off x="762000" y="1397000"/>
            <a:ext cx="3302000" cy="1778000"/>
          </a:xfrm>
          <a:prstGeom prst="roundRect">
            <a:avLst>
              <a:gd name="adj" fmla="val 7142"/>
            </a:avLst>
          </a:prstGeom>
          <a:solidFill>
            <a:srgbClr val="41EAD4">
              <a:alpha val="10000"/>
            </a:srgbClr>
          </a:solidFill>
          <a:ln w="25400" cmpd="sng" cap="flat">
            <a:solidFill>
              <a:srgbClr val="41EAD4">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87500"/>
            <a:ext cx="406400" cy="406400"/>
          </a:xfrm>
          <a:prstGeom prst="rect">
            <a:avLst/>
          </a:prstGeom>
        </p:spPr>
      </p:pic>
      <p:sp>
        <p:nvSpPr>
          <p:cNvPr name="AutoShape 7" id="7"/>
          <p:cNvSpPr/>
          <p:nvPr/>
        </p:nvSpPr>
        <p:spPr>
          <a:xfrm rot="0" flipH="false" flipV="false">
            <a:off x="1524000" y="1549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Poppins"/>
                <a:ea typeface="Poppins"/>
                <a:cs typeface="Poppins"/>
                <a:sym typeface="Poppins"/>
              </a:rPr>
              <a:t>Phase 1 (1-2月)</a:t>
            </a:r>
            <a:endParaRPr lang="en-US" sz="1100"/>
          </a:p>
        </p:txBody>
      </p:sp>
      <p:sp>
        <p:nvSpPr>
          <p:cNvPr name="AutoShape 8" id="8"/>
          <p:cNvSpPr/>
          <p:nvPr/>
        </p:nvSpPr>
        <p:spPr>
          <a:xfrm rot="0" flipH="false" flipV="false">
            <a:off x="1016000" y="2032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600">
                <a:solidFill>
                  <a:srgbClr val="DCDCDC"/>
                </a:solidFill>
                <a:latin typeface="Noto Sans SC"/>
                <a:ea typeface="Noto Sans SC"/>
                <a:cs typeface="Noto Sans SC"/>
                <a:sym typeface="Noto Sans SC"/>
              </a:rPr>
              <a:t>核心SKILL开发，完成底层框架搭建，实现MVP版本上线验证。</a:t>
            </a:r>
            <a:endParaRPr lang="en-US" sz="1100"/>
          </a:p>
        </p:txBody>
      </p:sp>
      <p:sp>
        <p:nvSpPr>
          <p:cNvPr name="AutoShape 9" id="9"/>
          <p:cNvSpPr/>
          <p:nvPr/>
        </p:nvSpPr>
        <p:spPr>
          <a:xfrm rot="0" flipH="false" flipV="false">
            <a:off x="4445000" y="1397000"/>
            <a:ext cx="3302000" cy="1778000"/>
          </a:xfrm>
          <a:prstGeom prst="roundRect">
            <a:avLst>
              <a:gd name="adj" fmla="val 7142"/>
            </a:avLst>
          </a:prstGeom>
          <a:solidFill>
            <a:srgbClr val="9B5DE5">
              <a:alpha val="10000"/>
            </a:srgbClr>
          </a:solidFill>
          <a:ln w="25400" cmpd="sng" cap="flat">
            <a:solidFill>
              <a:srgbClr val="9B5DE5">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587500"/>
            <a:ext cx="406400" cy="406400"/>
          </a:xfrm>
          <a:prstGeom prst="rect">
            <a:avLst/>
          </a:prstGeom>
        </p:spPr>
      </p:pic>
      <p:sp>
        <p:nvSpPr>
          <p:cNvPr name="AutoShape 11" id="11"/>
          <p:cNvSpPr/>
          <p:nvPr/>
        </p:nvSpPr>
        <p:spPr>
          <a:xfrm rot="0" flipH="false" flipV="false">
            <a:off x="5207000" y="1549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Poppins"/>
                <a:ea typeface="Poppins"/>
                <a:cs typeface="Poppins"/>
                <a:sym typeface="Poppins"/>
              </a:rPr>
              <a:t>Phase 2 (3-6月)</a:t>
            </a:r>
            <a:endParaRPr lang="en-US" sz="1100"/>
          </a:p>
        </p:txBody>
      </p:sp>
      <p:sp>
        <p:nvSpPr>
          <p:cNvPr name="AutoShape 12" id="12"/>
          <p:cNvSpPr/>
          <p:nvPr/>
        </p:nvSpPr>
        <p:spPr>
          <a:xfrm rot="0" flipH="false" flipV="false">
            <a:off x="4699000" y="2032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600">
                <a:solidFill>
                  <a:srgbClr val="DCDCDC"/>
                </a:solidFill>
                <a:latin typeface="Noto Sans SC"/>
                <a:ea typeface="Noto Sans SC"/>
                <a:cs typeface="Noto Sans SC"/>
                <a:sym typeface="Noto Sans SC"/>
              </a:rPr>
              <a:t>扩展场景SKILL，覆盖主要业务场景，实现全业态功能闭环。</a:t>
            </a:r>
            <a:endParaRPr lang="en-US" sz="1100"/>
          </a:p>
        </p:txBody>
      </p:sp>
      <p:sp>
        <p:nvSpPr>
          <p:cNvPr name="AutoShape 13" id="13"/>
          <p:cNvSpPr/>
          <p:nvPr/>
        </p:nvSpPr>
        <p:spPr>
          <a:xfrm rot="0" flipH="false" flipV="false">
            <a:off x="8128000" y="1397000"/>
            <a:ext cx="3302000" cy="1778000"/>
          </a:xfrm>
          <a:prstGeom prst="roundRect">
            <a:avLst>
              <a:gd name="adj" fmla="val 7142"/>
            </a:avLst>
          </a:prstGeom>
          <a:gradFill rotWithShape="true">
            <a:gsLst>
              <a:gs pos="0">
                <a:srgbClr val="41EAD4">
                  <a:alpha val="10000"/>
                </a:srgbClr>
              </a:gs>
              <a:gs pos="100000">
                <a:srgbClr val="9B5DE5">
                  <a:alpha val="10000"/>
                </a:srgbClr>
              </a:gs>
            </a:gsLst>
            <a:lin ang="2700000"/>
          </a:gradFill>
          <a:ln w="25400" cmpd="sng" cap="flat">
            <a:solidFill>
              <a:srgbClr val="FFFFFF">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587500"/>
            <a:ext cx="406400" cy="406400"/>
          </a:xfrm>
          <a:prstGeom prst="rect">
            <a:avLst/>
          </a:prstGeom>
        </p:spPr>
      </p:pic>
      <p:sp>
        <p:nvSpPr>
          <p:cNvPr name="AutoShape 15" id="15"/>
          <p:cNvSpPr/>
          <p:nvPr/>
        </p:nvSpPr>
        <p:spPr>
          <a:xfrm rot="0" flipH="false" flipV="false">
            <a:off x="8890000" y="15494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Poppins"/>
                <a:ea typeface="Poppins"/>
                <a:cs typeface="Poppins"/>
                <a:sym typeface="Poppins"/>
              </a:rPr>
              <a:t>Phase 3 (7-12月)</a:t>
            </a:r>
            <a:endParaRPr lang="en-US" sz="1100"/>
          </a:p>
        </p:txBody>
      </p:sp>
      <p:sp>
        <p:nvSpPr>
          <p:cNvPr name="AutoShape 16" id="16"/>
          <p:cNvSpPr/>
          <p:nvPr/>
        </p:nvSpPr>
        <p:spPr>
          <a:xfrm rot="0" flipH="false" flipV="false">
            <a:off x="8382000" y="2032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600">
                <a:solidFill>
                  <a:srgbClr val="DCDCDC"/>
                </a:solidFill>
                <a:latin typeface="Noto Sans SC"/>
                <a:ea typeface="Noto Sans SC"/>
                <a:cs typeface="Noto Sans SC"/>
                <a:sym typeface="Noto Sans SC"/>
              </a:rPr>
              <a:t>开放SKILL市场，引入第三方开发者，构建繁荣的生态系统。</a:t>
            </a:r>
            <a:endParaRPr lang="en-US" sz="1100"/>
          </a:p>
        </p:txBody>
      </p:sp>
      <p:sp>
        <p:nvSpPr>
          <p:cNvPr name="AutoShape 17" id="17"/>
          <p:cNvSpPr/>
          <p:nvPr/>
        </p:nvSpPr>
        <p:spPr>
          <a:xfrm rot="0" flipH="false" flipV="false">
            <a:off x="762000" y="3556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关键技术里程碑</a:t>
            </a:r>
            <a:endParaRPr lang="en-US" sz="1100"/>
          </a:p>
        </p:txBody>
      </p:sp>
      <p:cxnSp>
        <p:nvCxnSpPr>
          <p:cNvPr name="Connector 18" id="18"/>
          <p:cNvCxnSpPr/>
          <p:nvPr/>
        </p:nvCxnSpPr>
        <p:spPr>
          <a:xfrm rot="-4092" flipH="false" flipV="false">
            <a:off x="762004" y="4311650"/>
            <a:ext cx="10668000" cy="12700"/>
          </a:xfrm>
          <a:prstGeom prst="line">
            <a:avLst/>
          </a:prstGeom>
          <a:solidFill>
            <a:srgbClr val="DEE0E3">
              <a:alpha val="100000"/>
            </a:srgbClr>
          </a:solidFill>
          <a:ln w="25400" cmpd="sng" cap="flat">
            <a:solidFill>
              <a:srgbClr val="FFFFFF">
                <a:alpha val="30000"/>
              </a:srgbClr>
            </a:solidFill>
            <a:prstDash val="solid"/>
            <a:round/>
            <a:headEnd type="none" w="lg" len="lg"/>
            <a:tailEnd type="none" w="lg" len="lg"/>
          </a:ln>
        </p:spPr>
      </p:cxnSp>
      <p:sp>
        <p:nvSpPr>
          <p:cNvPr name="AutoShape 19" id="19"/>
          <p:cNvSpPr/>
          <p:nvPr/>
        </p:nvSpPr>
        <p:spPr>
          <a:xfrm rot="0" flipH="false" flipV="false">
            <a:off x="762000" y="4241800"/>
            <a:ext cx="152400" cy="152400"/>
          </a:xfrm>
          <a:prstGeom prst="ellipse">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4445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1EAD4"/>
                </a:solidFill>
                <a:latin typeface="Poppins"/>
                <a:ea typeface="Poppins"/>
                <a:cs typeface="Poppins"/>
                <a:sym typeface="Poppins"/>
              </a:rPr>
              <a:t>第1个月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完成核心LLM模型微调与适配</a:t>
            </a:r>
          </a:p>
        </p:txBody>
      </p:sp>
      <p:sp>
        <p:nvSpPr>
          <p:cNvPr name="AutoShape 21" id="21"/>
          <p:cNvSpPr/>
          <p:nvPr/>
        </p:nvSpPr>
        <p:spPr>
          <a:xfrm rot="0" flipH="false" flipV="false">
            <a:off x="3175000" y="4241800"/>
            <a:ext cx="152400" cy="152400"/>
          </a:xfrm>
          <a:prstGeom prst="ellipse">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3175000" y="4445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1EAD4"/>
                </a:solidFill>
                <a:latin typeface="Poppins"/>
                <a:ea typeface="Poppins"/>
                <a:cs typeface="Poppins"/>
                <a:sym typeface="Poppins"/>
              </a:rPr>
              <a:t>第2个月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MVP版本上线，用户反馈收集</a:t>
            </a:r>
          </a:p>
        </p:txBody>
      </p:sp>
      <p:sp>
        <p:nvSpPr>
          <p:cNvPr name="AutoShape 23" id="23"/>
          <p:cNvSpPr/>
          <p:nvPr/>
        </p:nvSpPr>
        <p:spPr>
          <a:xfrm rot="0" flipH="false" flipV="false">
            <a:off x="5588000" y="4241800"/>
            <a:ext cx="152400" cy="152400"/>
          </a:xfrm>
          <a:prstGeom prst="ellipse">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5588000" y="4445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B5DE5"/>
                </a:solidFill>
                <a:latin typeface="Poppins"/>
                <a:ea typeface="Poppins"/>
                <a:cs typeface="Poppins"/>
                <a:sym typeface="Poppins"/>
              </a:rPr>
              <a:t>第3-4个月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扩展3个核心场景SKILL开发</a:t>
            </a:r>
          </a:p>
        </p:txBody>
      </p:sp>
      <p:sp>
        <p:nvSpPr>
          <p:cNvPr name="AutoShape 25" id="25"/>
          <p:cNvSpPr/>
          <p:nvPr/>
        </p:nvSpPr>
        <p:spPr>
          <a:xfrm rot="0" flipH="false" flipV="false">
            <a:off x="8001000" y="4241800"/>
            <a:ext cx="152400" cy="152400"/>
          </a:xfrm>
          <a:prstGeom prst="ellipse">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001000" y="4445000"/>
            <a:ext cx="190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9B5DE5"/>
                </a:solidFill>
                <a:latin typeface="Poppins"/>
                <a:ea typeface="Poppins"/>
                <a:cs typeface="Poppins"/>
                <a:sym typeface="Poppins"/>
              </a:rPr>
              <a:t>第6个月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全业态覆盖，性能优化完成</a:t>
            </a:r>
          </a:p>
        </p:txBody>
      </p:sp>
      <p:sp>
        <p:nvSpPr>
          <p:cNvPr name="AutoShape 27" id="27"/>
          <p:cNvSpPr/>
          <p:nvPr/>
        </p:nvSpPr>
        <p:spPr>
          <a:xfrm rot="0" flipH="false" flipV="false">
            <a:off x="10414000" y="4241800"/>
            <a:ext cx="152400" cy="1524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10414000" y="4445000"/>
            <a:ext cx="152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Poppins"/>
                <a:ea typeface="Poppins"/>
                <a:cs typeface="Poppins"/>
                <a:sym typeface="Poppins"/>
              </a:rPr>
              <a:t>第12个月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开放平台正式发布</a:t>
            </a:r>
          </a:p>
        </p:txBody>
      </p:sp>
      <p:sp>
        <p:nvSpPr>
          <p:cNvPr name="AutoShape 29" id="29"/>
          <p:cNvSpPr/>
          <p:nvPr/>
        </p:nvSpPr>
        <p:spPr>
          <a:xfrm rot="0" flipH="false" flipV="false">
            <a:off x="0" y="680720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4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黄金三角团队</a:t>
            </a:r>
            <a:endParaRPr lang="en-US" sz="1100"/>
          </a:p>
        </p:txBody>
      </p:sp>
      <p:sp>
        <p:nvSpPr>
          <p:cNvPr name="AutoShape 5" id="5"/>
          <p:cNvSpPr/>
          <p:nvPr/>
        </p:nvSpPr>
        <p:spPr>
          <a:xfrm rot="0" flipH="false" flipV="false">
            <a:off x="762000" y="1651000"/>
            <a:ext cx="3302000" cy="3302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08200" y="1905000"/>
            <a:ext cx="609600" cy="609600"/>
          </a:xfrm>
          <a:prstGeom prst="rect">
            <a:avLst/>
          </a:prstGeom>
        </p:spPr>
      </p:pic>
      <p:sp>
        <p:nvSpPr>
          <p:cNvPr name="AutoShape 7" id="7"/>
          <p:cNvSpPr/>
          <p:nvPr/>
        </p:nvSpPr>
        <p:spPr>
          <a:xfrm rot="0" flipH="false" flipV="false">
            <a:off x="889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Noto Sans SC"/>
                <a:ea typeface="Noto Sans SC"/>
                <a:cs typeface="Noto Sans SC"/>
                <a:sym typeface="Noto Sans SC"/>
              </a:rPr>
              <a:t>张实</a:t>
            </a:r>
            <a:endParaRPr lang="en-US" sz="1100"/>
          </a:p>
        </p:txBody>
      </p:sp>
      <p:sp>
        <p:nvSpPr>
          <p:cNvPr name="AutoShape 8" id="8"/>
          <p:cNvSpPr/>
          <p:nvPr/>
        </p:nvSpPr>
        <p:spPr>
          <a:xfrm rot="0" flipH="false" flipV="false">
            <a:off x="889000" y="3048000"/>
            <a:ext cx="3048000" cy="317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1EAD4"/>
                </a:solidFill>
                <a:latin typeface="Noto Sans SC"/>
                <a:ea typeface="Noto Sans SC"/>
                <a:cs typeface="Noto Sans SC"/>
                <a:sym typeface="Noto Sans SC"/>
              </a:rPr>
              <a:t>项目总控</a:t>
            </a:r>
            <a:endParaRPr lang="en-US" sz="1100"/>
          </a:p>
        </p:txBody>
      </p:sp>
      <p:sp>
        <p:nvSpPr>
          <p:cNvPr name="AutoShape 9" id="9"/>
          <p:cNvSpPr/>
          <p:nvPr/>
        </p:nvSpPr>
        <p:spPr>
          <a:xfrm rot="0" flipH="false" flipV="false">
            <a:off x="1016000" y="3492500"/>
            <a:ext cx="2794000" cy="1143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拥有24年酒店业经验，多家集团高管背景，负责产业洞察与资源整合。</a:t>
            </a:r>
            <a:endParaRPr lang="en-US" sz="1100"/>
          </a:p>
        </p:txBody>
      </p:sp>
      <p:sp>
        <p:nvSpPr>
          <p:cNvPr name="AutoShape 10" id="10"/>
          <p:cNvSpPr/>
          <p:nvPr/>
        </p:nvSpPr>
        <p:spPr>
          <a:xfrm rot="0" flipH="false" flipV="false">
            <a:off x="4445000" y="1651000"/>
            <a:ext cx="3302000" cy="3302000"/>
          </a:xfrm>
          <a:prstGeom prst="roundRect">
            <a:avLst>
              <a:gd name="adj" fmla="val 384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91200" y="1905000"/>
            <a:ext cx="609600" cy="609600"/>
          </a:xfrm>
          <a:prstGeom prst="rect">
            <a:avLst/>
          </a:prstGeom>
        </p:spPr>
      </p:pic>
      <p:sp>
        <p:nvSpPr>
          <p:cNvPr name="AutoShape 12" id="12"/>
          <p:cNvSpPr/>
          <p:nvPr/>
        </p:nvSpPr>
        <p:spPr>
          <a:xfrm rot="0" flipH="false" flipV="false">
            <a:off x="4572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Noto Sans SC"/>
                <a:ea typeface="Noto Sans SC"/>
                <a:cs typeface="Noto Sans SC"/>
                <a:sym typeface="Noto Sans SC"/>
              </a:rPr>
              <a:t>李源</a:t>
            </a:r>
            <a:endParaRPr lang="en-US" sz="1100"/>
          </a:p>
        </p:txBody>
      </p:sp>
      <p:sp>
        <p:nvSpPr>
          <p:cNvPr name="AutoShape 13" id="13"/>
          <p:cNvSpPr/>
          <p:nvPr/>
        </p:nvSpPr>
        <p:spPr>
          <a:xfrm rot="0" flipH="false" flipV="false">
            <a:off x="4572000" y="3048000"/>
            <a:ext cx="3048000" cy="317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9B5DE5"/>
                </a:solidFill>
                <a:latin typeface="Noto Sans SC"/>
                <a:ea typeface="Noto Sans SC"/>
                <a:cs typeface="Noto Sans SC"/>
                <a:sym typeface="Noto Sans SC"/>
              </a:rPr>
              <a:t>CTO / AI博士</a:t>
            </a:r>
            <a:endParaRPr lang="en-US" sz="1100"/>
          </a:p>
        </p:txBody>
      </p:sp>
      <p:sp>
        <p:nvSpPr>
          <p:cNvPr name="AutoShape 14" id="14"/>
          <p:cNvSpPr/>
          <p:nvPr/>
        </p:nvSpPr>
        <p:spPr>
          <a:xfrm rot="0" flipH="false" flipV="false">
            <a:off x="4699000" y="3492500"/>
            <a:ext cx="2794000" cy="1143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华中科大AI博士，10年+AI研发经验，负责技术架构与算法攻坚。</a:t>
            </a:r>
            <a:endParaRPr lang="en-US" sz="1100"/>
          </a:p>
        </p:txBody>
      </p:sp>
      <p:sp>
        <p:nvSpPr>
          <p:cNvPr name="AutoShape 15" id="15"/>
          <p:cNvSpPr/>
          <p:nvPr/>
        </p:nvSpPr>
        <p:spPr>
          <a:xfrm rot="0" flipH="false" flipV="false">
            <a:off x="8128000" y="1651000"/>
            <a:ext cx="3302000" cy="3302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474200" y="1905000"/>
            <a:ext cx="609600" cy="609600"/>
          </a:xfrm>
          <a:prstGeom prst="rect">
            <a:avLst/>
          </a:prstGeom>
        </p:spPr>
      </p:pic>
      <p:sp>
        <p:nvSpPr>
          <p:cNvPr name="AutoShape 17" id="17"/>
          <p:cNvSpPr/>
          <p:nvPr/>
        </p:nvSpPr>
        <p:spPr>
          <a:xfrm rot="0" flipH="false" flipV="false">
            <a:off x="8255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Noto Sans SC"/>
                <a:ea typeface="Noto Sans SC"/>
                <a:cs typeface="Noto Sans SC"/>
                <a:sym typeface="Noto Sans SC"/>
              </a:rPr>
              <a:t>陈思序</a:t>
            </a:r>
            <a:endParaRPr lang="en-US" sz="1100"/>
          </a:p>
        </p:txBody>
      </p:sp>
      <p:sp>
        <p:nvSpPr>
          <p:cNvPr name="AutoShape 18" id="18"/>
          <p:cNvSpPr/>
          <p:nvPr/>
        </p:nvSpPr>
        <p:spPr>
          <a:xfrm rot="0" flipH="false" flipV="false">
            <a:off x="8255000" y="3048000"/>
            <a:ext cx="3048000" cy="317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41EAD4"/>
                </a:solidFill>
                <a:latin typeface="Noto Sans SC"/>
                <a:ea typeface="Noto Sans SC"/>
                <a:cs typeface="Noto Sans SC"/>
                <a:sym typeface="Noto Sans SC"/>
              </a:rPr>
              <a:t>CSO / 战略专家</a:t>
            </a:r>
            <a:endParaRPr lang="en-US" sz="1100"/>
          </a:p>
        </p:txBody>
      </p:sp>
      <p:sp>
        <p:nvSpPr>
          <p:cNvPr name="AutoShape 19" id="19"/>
          <p:cNvSpPr/>
          <p:nvPr/>
        </p:nvSpPr>
        <p:spPr>
          <a:xfrm rot="0" flipH="false" flipV="false">
            <a:off x="8382000" y="3492500"/>
            <a:ext cx="2794000" cy="1143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FFFFFF">
                    <a:alpha val="80000"/>
                  </a:srgbClr>
                </a:solidFill>
                <a:latin typeface="Noto Sans SC"/>
                <a:ea typeface="Noto Sans SC"/>
                <a:cs typeface="Noto Sans SC"/>
                <a:sym typeface="Noto Sans SC"/>
              </a:rPr>
              <a:t>世界500强战略背景，PE/VC经验，负责战略规划与生态建设。</a:t>
            </a:r>
            <a:endParaRPr lang="en-US" sz="1100"/>
          </a:p>
        </p:txBody>
      </p:sp>
      <p:sp>
        <p:nvSpPr>
          <p:cNvPr name="AutoShape 20" id="20"/>
          <p:cNvSpPr/>
          <p:nvPr/>
        </p:nvSpPr>
        <p:spPr>
          <a:xfrm rot="0" flipH="false" flipV="false">
            <a:off x="762000" y="5461000"/>
            <a:ext cx="106680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5715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60000"/>
                  </a:srgbClr>
                </a:solidFill>
                <a:latin typeface="Noto Sans SC"/>
                <a:ea typeface="Noto Sans SC"/>
                <a:cs typeface="Noto Sans SC"/>
                <a:sym typeface="Noto Sans SC"/>
              </a:rPr>
              <a:t>技术 · 战略 · 产业洞察 全方位驱动项目发展</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778000"/>
            <a:ext cx="12192000" cy="1016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6000">
                <a:solidFill>
                  <a:srgbClr val="41EAD4"/>
                </a:solidFill>
                <a:latin typeface="Arial Black"/>
                <a:ea typeface="Arial Black"/>
                <a:cs typeface="Arial Black"/>
                <a:sym typeface="Arial Black"/>
              </a:rPr>
              <a:t>THANK YOU</a:t>
            </a:r>
            <a:endParaRPr lang="en-US" sz="1100"/>
          </a:p>
        </p:txBody>
      </p:sp>
      <p:sp>
        <p:nvSpPr>
          <p:cNvPr name="AutoShape 5" id="5"/>
          <p:cNvSpPr/>
          <p:nvPr/>
        </p:nvSpPr>
        <p:spPr>
          <a:xfrm rot="0" flipH="false" flipV="false">
            <a:off x="381000" y="2794000"/>
            <a:ext cx="1143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200">
                <a:solidFill>
                  <a:srgbClr val="E0E0E0"/>
                </a:solidFill>
                <a:latin typeface="Noto Sans SC"/>
                <a:ea typeface="Noto Sans SC"/>
                <a:cs typeface="Noto Sans SC"/>
                <a:sym typeface="Noto Sans SC"/>
              </a:rPr>
              <a:t>期待与您携手，共创住宿业智能新未来</a:t>
            </a:r>
            <a:endParaRPr lang="en-US" sz="1100"/>
          </a:p>
        </p:txBody>
      </p:sp>
      <p:sp>
        <p:nvSpPr>
          <p:cNvPr name="AutoShape 6" id="6"/>
          <p:cNvSpPr/>
          <p:nvPr/>
        </p:nvSpPr>
        <p:spPr>
          <a:xfrm rot="0" flipH="false" flipV="false">
            <a:off x="5715000" y="3429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651000" y="3937000"/>
            <a:ext cx="8890000" cy="1270000"/>
          </a:xfrm>
          <a:prstGeom prst="roundRect">
            <a:avLst>
              <a:gd name="adj" fmla="val 100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032000" y="4191000"/>
            <a:ext cx="304800" cy="304800"/>
          </a:xfrm>
          <a:prstGeom prst="rect">
            <a:avLst/>
          </a:prstGeom>
        </p:spPr>
      </p:pic>
      <p:sp>
        <p:nvSpPr>
          <p:cNvPr name="AutoShape 9" id="9"/>
          <p:cNvSpPr/>
          <p:nvPr/>
        </p:nvSpPr>
        <p:spPr>
          <a:xfrm rot="0" flipH="false" flipV="false">
            <a:off x="2413000" y="4127500"/>
            <a:ext cx="2286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项目总控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800">
                <a:solidFill>
                  <a:srgbClr val="FFFFFF"/>
                </a:solidFill>
                <a:latin typeface="Noto Sans SC"/>
                <a:ea typeface="Noto Sans SC"/>
                <a:cs typeface="Noto Sans SC"/>
                <a:sym typeface="Noto Sans SC"/>
              </a:rPr>
              <a:t>张实</a:t>
            </a: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4191000"/>
            <a:ext cx="304800" cy="304800"/>
          </a:xfrm>
          <a:prstGeom prst="rect">
            <a:avLst/>
          </a:prstGeom>
        </p:spPr>
      </p:pic>
      <p:sp>
        <p:nvSpPr>
          <p:cNvPr name="AutoShape 11" id="11"/>
          <p:cNvSpPr/>
          <p:nvPr/>
        </p:nvSpPr>
        <p:spPr>
          <a:xfrm rot="0" flipH="false" flipV="false">
            <a:off x="5080000" y="4127500"/>
            <a:ext cx="2286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联系电话</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800">
                <a:solidFill>
                  <a:srgbClr val="FFFFFF"/>
                </a:solidFill>
                <a:latin typeface="Noto Sans SC"/>
                <a:ea typeface="Noto Sans SC"/>
                <a:cs typeface="Noto Sans SC"/>
                <a:sym typeface="Noto Sans SC"/>
              </a:rPr>
              <a:t>17760348653</a:t>
            </a: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366000" y="4191000"/>
            <a:ext cx="304800" cy="304800"/>
          </a:xfrm>
          <a:prstGeom prst="rect">
            <a:avLst/>
          </a:prstGeom>
        </p:spPr>
      </p:pic>
      <p:sp>
        <p:nvSpPr>
          <p:cNvPr name="AutoShape 13" id="13"/>
          <p:cNvSpPr/>
          <p:nvPr/>
        </p:nvSpPr>
        <p:spPr>
          <a:xfrm rot="0" flipH="false" flipV="false">
            <a:off x="7747000" y="4127500"/>
            <a:ext cx="2540000" cy="63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电子邮箱</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600">
                <a:solidFill>
                  <a:srgbClr val="FFFFFF"/>
                </a:solidFill>
                <a:latin typeface="Noto Sans SC"/>
                <a:ea typeface="Noto Sans SC"/>
                <a:cs typeface="Noto Sans SC"/>
                <a:sym typeface="Noto Sans SC"/>
              </a:rPr>
              <a:t>ericzhangshi@163.com</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397000"/>
            <a:ext cx="609600" cy="609600"/>
          </a:xfrm>
          <a:prstGeom prst="rect">
            <a:avLst/>
          </a:prstGeom>
        </p:spPr>
      </p:pic>
      <p:sp>
        <p:nvSpPr>
          <p:cNvPr name="AutoShape 5" id="5"/>
          <p:cNvSpPr/>
          <p:nvPr/>
        </p:nvSpPr>
        <p:spPr>
          <a:xfrm rot="0" flipH="false" flipV="false">
            <a:off x="2743200" y="2159000"/>
            <a:ext cx="67056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AHL-LLM技术白皮书</a:t>
            </a:r>
            <a:endParaRPr lang="en-US" sz="1100"/>
          </a:p>
        </p:txBody>
      </p:sp>
      <p:sp>
        <p:nvSpPr>
          <p:cNvPr name="AutoShape 6" id="6"/>
          <p:cNvSpPr/>
          <p:nvPr/>
        </p:nvSpPr>
        <p:spPr>
          <a:xfrm rot="0" flipH="false" flipV="false">
            <a:off x="5588000" y="3111500"/>
            <a:ext cx="1016000" cy="50800"/>
          </a:xfrm>
          <a:prstGeom prst="roundRect">
            <a:avLst>
              <a:gd name="adj" fmla="val 0"/>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3429000"/>
            <a:ext cx="1092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200">
                <a:solidFill>
                  <a:srgbClr val="FFFFFF">
                    <a:alpha val="90196"/>
                  </a:srgbClr>
                </a:solidFill>
                <a:latin typeface="Noto Sans SC"/>
                <a:ea typeface="Noto Sans SC"/>
                <a:cs typeface="Noto Sans SC"/>
                <a:sym typeface="Noto Sans SC"/>
              </a:rPr>
              <a:t>基于大语言模型的住宿业智能运营平台</a:t>
            </a:r>
            <a:endParaRPr lang="en-US" sz="1100"/>
          </a:p>
        </p:txBody>
      </p:sp>
      <p:sp>
        <p:nvSpPr>
          <p:cNvPr name="AutoShape 8" id="8"/>
          <p:cNvSpPr/>
          <p:nvPr/>
        </p:nvSpPr>
        <p:spPr>
          <a:xfrm rot="0" flipH="false" flipV="false">
            <a:off x="4445000" y="5461000"/>
            <a:ext cx="3302000" cy="457200"/>
          </a:xfrm>
          <a:prstGeom prst="roundRect">
            <a:avLst>
              <a:gd name="adj" fmla="val 50000"/>
            </a:avLst>
          </a:prstGeom>
          <a:solidFill>
            <a:srgbClr val="9B5DE5">
              <a:alpha val="20000"/>
            </a:srgbClr>
          </a:solidFill>
          <a:ln w="12700" cmpd="sng" cap="flat">
            <a:solidFill>
              <a:srgbClr val="9B5DE5">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5537200"/>
            <a:ext cx="3302000" cy="3048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DCDCDC"/>
                </a:solidFill>
                <a:latin typeface="Noto Sans SC"/>
                <a:ea typeface="Noto Sans SC"/>
                <a:cs typeface="Noto Sans SC"/>
                <a:sym typeface="Noto Sans SC"/>
              </a:rPr>
              <a:t>版本 v1.0 | 2026年3月24日</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CONTENTS</a:t>
            </a:r>
            <a:endParaRPr lang="en-US" sz="1100"/>
          </a:p>
        </p:txBody>
      </p:sp>
      <p:sp>
        <p:nvSpPr>
          <p:cNvPr name="AutoShape 5" id="5"/>
          <p:cNvSpPr/>
          <p:nvPr/>
        </p:nvSpPr>
        <p:spPr>
          <a:xfrm rot="0" flipH="false" flipV="false">
            <a:off x="762000" y="12065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19300"/>
            <a:ext cx="406400" cy="406400"/>
          </a:xfrm>
          <a:prstGeom prst="rect">
            <a:avLst/>
          </a:prstGeom>
        </p:spPr>
      </p:pic>
      <p:sp>
        <p:nvSpPr>
          <p:cNvPr name="AutoShape 8" id="8"/>
          <p:cNvSpPr/>
          <p:nvPr/>
        </p:nvSpPr>
        <p:spPr>
          <a:xfrm rot="0" flipH="false" flipV="false">
            <a:off x="1460500" y="1841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01</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项目背景与技术定位</a:t>
            </a:r>
          </a:p>
        </p:txBody>
      </p:sp>
      <p:sp>
        <p:nvSpPr>
          <p:cNvPr name="AutoShape 9" id="9"/>
          <p:cNvSpPr/>
          <p:nvPr/>
        </p:nvSpPr>
        <p:spPr>
          <a:xfrm rot="0" flipH="false" flipV="false">
            <a:off x="4445000" y="16510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019300"/>
            <a:ext cx="406400" cy="406400"/>
          </a:xfrm>
          <a:prstGeom prst="rect">
            <a:avLst/>
          </a:prstGeom>
        </p:spPr>
      </p:pic>
      <p:sp>
        <p:nvSpPr>
          <p:cNvPr name="AutoShape 11" id="11"/>
          <p:cNvSpPr/>
          <p:nvPr/>
        </p:nvSpPr>
        <p:spPr>
          <a:xfrm rot="0" flipH="false" flipV="false">
            <a:off x="5143500" y="1841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02</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技术架构</a:t>
            </a:r>
          </a:p>
        </p:txBody>
      </p:sp>
      <p:sp>
        <p:nvSpPr>
          <p:cNvPr name="AutoShape 12" id="12"/>
          <p:cNvSpPr/>
          <p:nvPr/>
        </p:nvSpPr>
        <p:spPr>
          <a:xfrm rot="0" flipH="false" flipV="false">
            <a:off x="8128000" y="16510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2019300"/>
            <a:ext cx="406400" cy="406400"/>
          </a:xfrm>
          <a:prstGeom prst="rect">
            <a:avLst/>
          </a:prstGeom>
        </p:spPr>
      </p:pic>
      <p:sp>
        <p:nvSpPr>
          <p:cNvPr name="AutoShape 14" id="14"/>
          <p:cNvSpPr/>
          <p:nvPr/>
        </p:nvSpPr>
        <p:spPr>
          <a:xfrm rot="0" flipH="false" flipV="false">
            <a:off x="8826500" y="1841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03</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核心算法</a:t>
            </a:r>
          </a:p>
        </p:txBody>
      </p:sp>
      <p:sp>
        <p:nvSpPr>
          <p:cNvPr name="AutoShape 15" id="15"/>
          <p:cNvSpPr/>
          <p:nvPr/>
        </p:nvSpPr>
        <p:spPr>
          <a:xfrm rot="0" flipH="false" flipV="false">
            <a:off x="762000" y="29845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3352800"/>
            <a:ext cx="406400" cy="406400"/>
          </a:xfrm>
          <a:prstGeom prst="rect">
            <a:avLst/>
          </a:prstGeom>
        </p:spPr>
      </p:pic>
      <p:sp>
        <p:nvSpPr>
          <p:cNvPr name="AutoShape 17" id="17"/>
          <p:cNvSpPr/>
          <p:nvPr/>
        </p:nvSpPr>
        <p:spPr>
          <a:xfrm rot="0" flipH="false" flipV="false">
            <a:off x="1460500" y="3175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04</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SKILL体系</a:t>
            </a:r>
          </a:p>
        </p:txBody>
      </p:sp>
      <p:sp>
        <p:nvSpPr>
          <p:cNvPr name="AutoShape 18" id="18"/>
          <p:cNvSpPr/>
          <p:nvPr/>
        </p:nvSpPr>
        <p:spPr>
          <a:xfrm rot="0" flipH="false" flipV="false">
            <a:off x="4445000" y="29845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635500" y="3352800"/>
            <a:ext cx="406400" cy="406400"/>
          </a:xfrm>
          <a:prstGeom prst="rect">
            <a:avLst/>
          </a:prstGeom>
        </p:spPr>
      </p:pic>
      <p:sp>
        <p:nvSpPr>
          <p:cNvPr name="AutoShape 20" id="20"/>
          <p:cNvSpPr/>
          <p:nvPr/>
        </p:nvSpPr>
        <p:spPr>
          <a:xfrm rot="0" flipH="false" flipV="false">
            <a:off x="5143500" y="3175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05</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知识库与知识图谱</a:t>
            </a:r>
          </a:p>
        </p:txBody>
      </p:sp>
      <p:sp>
        <p:nvSpPr>
          <p:cNvPr name="AutoShape 21" id="21"/>
          <p:cNvSpPr/>
          <p:nvPr/>
        </p:nvSpPr>
        <p:spPr>
          <a:xfrm rot="0" flipH="false" flipV="false">
            <a:off x="8128000" y="29845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318500" y="3352800"/>
            <a:ext cx="406400" cy="406400"/>
          </a:xfrm>
          <a:prstGeom prst="rect">
            <a:avLst/>
          </a:prstGeom>
        </p:spPr>
      </p:pic>
      <p:sp>
        <p:nvSpPr>
          <p:cNvPr name="AutoShape 23" id="23"/>
          <p:cNvSpPr/>
          <p:nvPr/>
        </p:nvSpPr>
        <p:spPr>
          <a:xfrm rot="0" flipH="false" flipV="false">
            <a:off x="8826500" y="31750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06</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性能优化与工程实践</a:t>
            </a:r>
          </a:p>
        </p:txBody>
      </p:sp>
      <p:sp>
        <p:nvSpPr>
          <p:cNvPr name="AutoShape 24" id="24"/>
          <p:cNvSpPr/>
          <p:nvPr/>
        </p:nvSpPr>
        <p:spPr>
          <a:xfrm rot="0" flipH="false" flipV="false">
            <a:off x="762000" y="43180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52500" y="4686300"/>
            <a:ext cx="406400" cy="406400"/>
          </a:xfrm>
          <a:prstGeom prst="rect">
            <a:avLst/>
          </a:prstGeom>
        </p:spPr>
      </p:pic>
      <p:sp>
        <p:nvSpPr>
          <p:cNvPr name="AutoShape 26" id="26"/>
          <p:cNvSpPr/>
          <p:nvPr/>
        </p:nvSpPr>
        <p:spPr>
          <a:xfrm rot="0" flipH="false" flipV="false">
            <a:off x="1460500" y="4508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07</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实施路径与技术路线图</a:t>
            </a:r>
          </a:p>
        </p:txBody>
      </p:sp>
      <p:sp>
        <p:nvSpPr>
          <p:cNvPr name="AutoShape 27" id="27"/>
          <p:cNvSpPr/>
          <p:nvPr/>
        </p:nvSpPr>
        <p:spPr>
          <a:xfrm rot="0" flipH="false" flipV="false">
            <a:off x="4445000" y="43180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4635500" y="4686300"/>
            <a:ext cx="406400" cy="406400"/>
          </a:xfrm>
          <a:prstGeom prst="rect">
            <a:avLst/>
          </a:prstGeom>
        </p:spPr>
      </p:pic>
      <p:sp>
        <p:nvSpPr>
          <p:cNvPr name="AutoShape 29" id="29"/>
          <p:cNvSpPr/>
          <p:nvPr/>
        </p:nvSpPr>
        <p:spPr>
          <a:xfrm rot="0" flipH="false" flipV="false">
            <a:off x="5143500" y="4508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08</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团队与资质</a:t>
            </a:r>
          </a:p>
        </p:txBody>
      </p:sp>
      <p:sp>
        <p:nvSpPr>
          <p:cNvPr name="AutoShape 30" id="30"/>
          <p:cNvSpPr/>
          <p:nvPr/>
        </p:nvSpPr>
        <p:spPr>
          <a:xfrm rot="0" flipH="false" flipV="false">
            <a:off x="8128000" y="4318000"/>
            <a:ext cx="3302000" cy="1143000"/>
          </a:xfrm>
          <a:prstGeom prst="roundRect">
            <a:avLst>
              <a:gd name="adj" fmla="val 1111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8318500" y="4686300"/>
            <a:ext cx="406400" cy="406400"/>
          </a:xfrm>
          <a:prstGeom prst="rect">
            <a:avLst/>
          </a:prstGeom>
        </p:spPr>
      </p:pic>
      <p:sp>
        <p:nvSpPr>
          <p:cNvPr name="AutoShape 32" id="32"/>
          <p:cNvSpPr/>
          <p:nvPr/>
        </p:nvSpPr>
        <p:spPr>
          <a:xfrm rot="0" flipH="false" flipV="false">
            <a:off x="8826500" y="45085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9B5DE5"/>
                </a:solidFill>
                <a:latin typeface="Poppins"/>
                <a:ea typeface="Poppins"/>
                <a:cs typeface="Poppins"/>
                <a:sym typeface="Poppins"/>
              </a:rPr>
              <a:t>09</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FFFFFF"/>
                </a:solidFill>
                <a:latin typeface="Noto Sans SC"/>
                <a:ea typeface="Noto Sans SC"/>
                <a:cs typeface="Noto Sans SC"/>
                <a:sym typeface="Noto Sans SC"/>
              </a:rPr>
              <a:t>风险与合规</a:t>
            </a:r>
          </a:p>
        </p:txBody>
      </p:sp>
      <p:sp>
        <p:nvSpPr>
          <p:cNvPr name="AutoShape 33" id="33"/>
          <p:cNvSpPr/>
          <p:nvPr/>
        </p:nvSpPr>
        <p:spPr>
          <a:xfrm rot="0" flipH="false" flipV="false">
            <a:off x="0" y="6096000"/>
            <a:ext cx="12192000" cy="25400"/>
          </a:xfrm>
          <a:prstGeom prst="roundRect">
            <a:avLst>
              <a:gd name="adj" fmla="val 0"/>
            </a:avLst>
          </a:prstGeom>
          <a:gradFill rotWithShape="true">
            <a:gsLst>
              <a:gs pos="0">
                <a:srgbClr val="0D1B2A">
                  <a:alpha val="0"/>
                </a:srgbClr>
              </a:gs>
              <a:gs pos="50000">
                <a:srgbClr val="41EAD4">
                  <a:alpha val="50000"/>
                </a:srgbClr>
              </a:gs>
              <a:gs pos="100000">
                <a:srgbClr val="0D1B2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0" y="6223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40000"/>
                  </a:srgbClr>
                </a:solidFill>
                <a:latin typeface="Poppins"/>
                <a:ea typeface="Poppins"/>
                <a:cs typeface="Poppins"/>
                <a:sym typeface="Poppins"/>
              </a:rPr>
              <a:t>AHL-LLM TECHNICAL WHITEPAPER</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651000"/>
            <a:ext cx="12192000" cy="1016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6000">
                <a:solidFill>
                  <a:srgbClr val="41EAD4"/>
                </a:solidFill>
                <a:latin typeface="Noto Sans SC"/>
                <a:ea typeface="Noto Sans SC"/>
                <a:cs typeface="Noto Sans SC"/>
                <a:sym typeface="Noto Sans SC"/>
              </a:rPr>
              <a:t>01</a:t>
            </a:r>
            <a:endParaRPr lang="en-US" sz="1100"/>
          </a:p>
        </p:txBody>
      </p:sp>
      <p:sp>
        <p:nvSpPr>
          <p:cNvPr name="AutoShape 5" id="5"/>
          <p:cNvSpPr/>
          <p:nvPr/>
        </p:nvSpPr>
        <p:spPr>
          <a:xfrm rot="0" flipH="false" flipV="false">
            <a:off x="5715000" y="2794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3048000"/>
            <a:ext cx="1219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200">
                <a:solidFill>
                  <a:srgbClr val="FFFFFF"/>
                </a:solidFill>
                <a:latin typeface="Noto Sans SC"/>
                <a:ea typeface="Noto Sans SC"/>
                <a:cs typeface="Noto Sans SC"/>
                <a:sym typeface="Noto Sans SC"/>
              </a:rPr>
              <a:t>项目背景与技术定位</a:t>
            </a:r>
            <a:endParaRPr lang="en-US" sz="1100"/>
          </a:p>
        </p:txBody>
      </p:sp>
      <p:sp>
        <p:nvSpPr>
          <p:cNvPr name="AutoShape 7" id="7"/>
          <p:cNvSpPr/>
          <p:nvPr/>
        </p:nvSpPr>
        <p:spPr>
          <a:xfrm rot="0" flipH="false" flipV="false">
            <a:off x="0" y="3683000"/>
            <a:ext cx="1219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spc="100">
                <a:solidFill>
                  <a:srgbClr val="FFFFFF">
                    <a:alpha val="80000"/>
                  </a:srgbClr>
                </a:solidFill>
                <a:latin typeface="Noto Sans SC"/>
                <a:ea typeface="Noto Sans SC"/>
                <a:cs typeface="Noto Sans SC"/>
                <a:sym typeface="Noto Sans SC"/>
              </a:rPr>
              <a:t>行业痛点与技术机遇</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943600" y="5080000"/>
            <a:ext cx="304800" cy="304800"/>
          </a:xfrm>
          <a:prstGeom prst="rect">
            <a:avLst/>
          </a:prstGeom>
        </p:spPr>
      </p:pic>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50292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行业痛点与技术机遇</a:t>
            </a:r>
            <a:endParaRPr lang="en-US" sz="1100"/>
          </a:p>
        </p:txBody>
      </p:sp>
      <p:sp>
        <p:nvSpPr>
          <p:cNvPr name="AutoShape 5" id="5"/>
          <p:cNvSpPr/>
          <p:nvPr/>
        </p:nvSpPr>
        <p:spPr>
          <a:xfrm rot="0" flipH="false" flipV="false">
            <a:off x="762000" y="1397000"/>
            <a:ext cx="5080000" cy="4318000"/>
          </a:xfrm>
          <a:prstGeom prst="roundRect">
            <a:avLst>
              <a:gd name="adj" fmla="val 294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87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41EAD4"/>
                </a:solidFill>
                <a:latin typeface="Noto Sans SC"/>
                <a:ea typeface="Noto Sans SC"/>
                <a:cs typeface="Noto Sans SC"/>
                <a:sym typeface="Noto Sans SC"/>
              </a:rPr>
              <a:t>行业痛点 | Industry Pain Points</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59000"/>
            <a:ext cx="304800" cy="304800"/>
          </a:xfrm>
          <a:prstGeom prst="rect">
            <a:avLst/>
          </a:prstGeom>
        </p:spPr>
      </p:pic>
      <p:sp>
        <p:nvSpPr>
          <p:cNvPr name="AutoShape 8" id="8"/>
          <p:cNvSpPr/>
          <p:nvPr/>
        </p:nvSpPr>
        <p:spPr>
          <a:xfrm rot="0" flipH="false" flipV="false">
            <a:off x="1397000" y="21082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E6"/>
                </a:solidFill>
                <a:latin typeface="Noto Sans SC"/>
                <a:ea typeface="Noto Sans SC"/>
                <a:cs typeface="Noto Sans SC"/>
                <a:sym typeface="Noto Sans SC"/>
              </a:rPr>
              <a:t>运营效率低：</a:t>
            </a:r>
            <a:r>
              <a:rPr lang="en-US" b="false" i="false" strike="noStrike" u="none" sz="1600">
                <a:solidFill>
                  <a:srgbClr val="FFFFFF">
                    <a:alpha val="70196"/>
                  </a:srgbClr>
                </a:solidFill>
                <a:latin typeface="Noto Sans SC"/>
                <a:ea typeface="Noto Sans SC"/>
                <a:cs typeface="Noto Sans SC"/>
                <a:sym typeface="Noto Sans SC"/>
              </a:rPr>
              <a:t>传统流程繁琐，人工操作占比高</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667000"/>
            <a:ext cx="304800" cy="304800"/>
          </a:xfrm>
          <a:prstGeom prst="rect">
            <a:avLst/>
          </a:prstGeom>
        </p:spPr>
      </p:pic>
      <p:sp>
        <p:nvSpPr>
          <p:cNvPr name="AutoShape 10" id="10"/>
          <p:cNvSpPr/>
          <p:nvPr/>
        </p:nvSpPr>
        <p:spPr>
          <a:xfrm rot="0" flipH="false" flipV="false">
            <a:off x="1397000" y="26162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E6"/>
                </a:solidFill>
                <a:latin typeface="Noto Sans SC"/>
                <a:ea typeface="Noto Sans SC"/>
                <a:cs typeface="Noto Sans SC"/>
                <a:sym typeface="Noto Sans SC"/>
              </a:rPr>
              <a:t>数据孤岛：</a:t>
            </a:r>
            <a:r>
              <a:rPr lang="en-US" b="false" i="false" strike="noStrike" u="none" sz="1600">
                <a:solidFill>
                  <a:srgbClr val="FFFFFF">
                    <a:alpha val="70196"/>
                  </a:srgbClr>
                </a:solidFill>
                <a:latin typeface="Noto Sans SC"/>
                <a:ea typeface="Noto Sans SC"/>
                <a:cs typeface="Noto Sans SC"/>
                <a:sym typeface="Noto Sans SC"/>
              </a:rPr>
              <a:t>各系统割裂，数据价值难以挖掘</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175000"/>
            <a:ext cx="304800" cy="304800"/>
          </a:xfrm>
          <a:prstGeom prst="rect">
            <a:avLst/>
          </a:prstGeom>
        </p:spPr>
      </p:pic>
      <p:sp>
        <p:nvSpPr>
          <p:cNvPr name="AutoShape 12" id="12"/>
          <p:cNvSpPr/>
          <p:nvPr/>
        </p:nvSpPr>
        <p:spPr>
          <a:xfrm rot="0" flipH="false" flipV="false">
            <a:off x="1397000" y="31242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E6"/>
                </a:solidFill>
                <a:latin typeface="Noto Sans SC"/>
                <a:ea typeface="Noto Sans SC"/>
                <a:cs typeface="Noto Sans SC"/>
                <a:sym typeface="Noto Sans SC"/>
              </a:rPr>
              <a:t>人才依赖：</a:t>
            </a:r>
            <a:r>
              <a:rPr lang="en-US" b="false" i="false" strike="noStrike" u="none" sz="1600">
                <a:solidFill>
                  <a:srgbClr val="FFFFFF">
                    <a:alpha val="70196"/>
                  </a:srgbClr>
                </a:solidFill>
                <a:latin typeface="Noto Sans SC"/>
                <a:ea typeface="Noto Sans SC"/>
                <a:cs typeface="Noto Sans SC"/>
                <a:sym typeface="Noto Sans SC"/>
              </a:rPr>
              <a:t>高度依赖资深运营，复制成本高</a:t>
            </a:r>
            <a:endParaRPr lang="en-US" sz="1100"/>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3683000"/>
            <a:ext cx="304800" cy="304800"/>
          </a:xfrm>
          <a:prstGeom prst="rect">
            <a:avLst/>
          </a:prstGeom>
        </p:spPr>
      </p:pic>
      <p:sp>
        <p:nvSpPr>
          <p:cNvPr name="AutoShape 14" id="14"/>
          <p:cNvSpPr/>
          <p:nvPr/>
        </p:nvSpPr>
        <p:spPr>
          <a:xfrm rot="0" flipH="false" flipV="false">
            <a:off x="1397000" y="36322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E6"/>
                </a:solidFill>
                <a:latin typeface="Noto Sans SC"/>
                <a:ea typeface="Noto Sans SC"/>
                <a:cs typeface="Noto Sans SC"/>
                <a:sym typeface="Noto Sans SC"/>
              </a:rPr>
              <a:t>成本高企：</a:t>
            </a:r>
            <a:r>
              <a:rPr lang="en-US" b="false" i="false" strike="noStrike" u="none" sz="1600">
                <a:solidFill>
                  <a:srgbClr val="FFFFFF">
                    <a:alpha val="70196"/>
                  </a:srgbClr>
                </a:solidFill>
                <a:latin typeface="Noto Sans SC"/>
                <a:ea typeface="Noto Sans SC"/>
                <a:cs typeface="Noto Sans SC"/>
                <a:sym typeface="Noto Sans SC"/>
              </a:rPr>
              <a:t>获客与服务成本逐年上升</a:t>
            </a:r>
            <a:endParaRPr lang="en-US" sz="1100"/>
          </a:p>
        </p:txBody>
      </p: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4191000"/>
            <a:ext cx="304800" cy="304800"/>
          </a:xfrm>
          <a:prstGeom prst="rect">
            <a:avLst/>
          </a:prstGeom>
        </p:spPr>
      </p:pic>
      <p:sp>
        <p:nvSpPr>
          <p:cNvPr name="AutoShape 16" id="16"/>
          <p:cNvSpPr/>
          <p:nvPr/>
        </p:nvSpPr>
        <p:spPr>
          <a:xfrm rot="0" flipH="false" flipV="false">
            <a:off x="1397000" y="41402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E6"/>
                </a:solidFill>
                <a:latin typeface="Noto Sans SC"/>
                <a:ea typeface="Noto Sans SC"/>
                <a:cs typeface="Noto Sans SC"/>
                <a:sym typeface="Noto Sans SC"/>
              </a:rPr>
              <a:t>个性化弱：</a:t>
            </a:r>
            <a:r>
              <a:rPr lang="en-US" b="false" i="false" strike="noStrike" u="none" sz="1600">
                <a:solidFill>
                  <a:srgbClr val="FFFFFF">
                    <a:alpha val="70196"/>
                  </a:srgbClr>
                </a:solidFill>
                <a:latin typeface="Noto Sans SC"/>
                <a:ea typeface="Noto Sans SC"/>
                <a:cs typeface="Noto Sans SC"/>
                <a:sym typeface="Noto Sans SC"/>
              </a:rPr>
              <a:t>难以规模化提供定制化服务体验</a:t>
            </a:r>
            <a:endParaRPr lang="en-US" sz="1100"/>
          </a:p>
        </p:txBody>
      </p:sp>
      <p:sp>
        <p:nvSpPr>
          <p:cNvPr name="AutoShape 17" id="17"/>
          <p:cNvSpPr/>
          <p:nvPr/>
        </p:nvSpPr>
        <p:spPr>
          <a:xfrm rot="0" flipH="false" flipV="false">
            <a:off x="6350000" y="1397000"/>
            <a:ext cx="5080000" cy="4318000"/>
          </a:xfrm>
          <a:prstGeom prst="roundRect">
            <a:avLst>
              <a:gd name="adj" fmla="val 2941"/>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04000" y="15875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9B5DE5"/>
                </a:solidFill>
                <a:latin typeface="Noto Sans SC"/>
                <a:ea typeface="Noto Sans SC"/>
                <a:cs typeface="Noto Sans SC"/>
                <a:sym typeface="Noto Sans SC"/>
              </a:rPr>
              <a:t>技术机遇 | Technological Opportunities</a:t>
            </a:r>
            <a:endParaRPr lang="en-US" sz="1100"/>
          </a:p>
        </p:txBody>
      </p:sp>
      <p:sp>
        <p:nvSpPr>
          <p:cNvPr name="AutoShape 19" id="19"/>
          <p:cNvSpPr/>
          <p:nvPr/>
        </p:nvSpPr>
        <p:spPr>
          <a:xfrm rot="0" flipH="false" flipV="false">
            <a:off x="6604000" y="2159000"/>
            <a:ext cx="4572000" cy="762000"/>
          </a:xfrm>
          <a:prstGeom prst="roundRect">
            <a:avLst>
              <a:gd name="adj" fmla="val 8333"/>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731000" y="2336800"/>
            <a:ext cx="406400" cy="406400"/>
          </a:xfrm>
          <a:prstGeom prst="rect">
            <a:avLst/>
          </a:prstGeom>
        </p:spPr>
      </p:pic>
      <p:sp>
        <p:nvSpPr>
          <p:cNvPr name="AutoShape 21" id="21"/>
          <p:cNvSpPr/>
          <p:nvPr/>
        </p:nvSpPr>
        <p:spPr>
          <a:xfrm rot="0" flipH="false" flipV="false">
            <a:off x="7239000" y="2222500"/>
            <a:ext cx="393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E6"/>
                </a:solidFill>
                <a:latin typeface="Noto Sans SC"/>
                <a:ea typeface="Noto Sans SC"/>
                <a:cs typeface="Noto Sans SC"/>
                <a:sym typeface="Noto Sans SC"/>
              </a:rPr>
              <a:t>BERT / GPT-3 时代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大模型技术萌芽，通用能力初步显现</a:t>
            </a:r>
          </a:p>
        </p:txBody>
      </p:sp>
      <p:sp>
        <p:nvSpPr>
          <p:cNvPr name="AutoShape 22" id="22"/>
          <p:cNvSpPr/>
          <p:nvPr/>
        </p:nvSpPr>
        <p:spPr>
          <a:xfrm rot="0" flipH="false" flipV="false">
            <a:off x="6604000" y="3048000"/>
            <a:ext cx="4572000" cy="762000"/>
          </a:xfrm>
          <a:prstGeom prst="roundRect">
            <a:avLst>
              <a:gd name="adj" fmla="val 8333"/>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731000" y="3225800"/>
            <a:ext cx="406400" cy="406400"/>
          </a:xfrm>
          <a:prstGeom prst="rect">
            <a:avLst/>
          </a:prstGeom>
        </p:spPr>
      </p:pic>
      <p:sp>
        <p:nvSpPr>
          <p:cNvPr name="AutoShape 24" id="24"/>
          <p:cNvSpPr/>
          <p:nvPr/>
        </p:nvSpPr>
        <p:spPr>
          <a:xfrm rot="0" flipH="false" flipV="false">
            <a:off x="7239000" y="3111500"/>
            <a:ext cx="393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E6E6E6"/>
                </a:solidFill>
                <a:latin typeface="Noto Sans SC"/>
                <a:ea typeface="Noto Sans SC"/>
                <a:cs typeface="Noto Sans SC"/>
                <a:sym typeface="Noto Sans SC"/>
              </a:rPr>
              <a:t>2024 开源模型崛起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技术成熟度爆发，行业应用成本大幅降低</a:t>
            </a:r>
          </a:p>
        </p:txBody>
      </p:sp>
      <p:sp>
        <p:nvSpPr>
          <p:cNvPr name="AutoShape 25" id="25"/>
          <p:cNvSpPr/>
          <p:nvPr/>
        </p:nvSpPr>
        <p:spPr>
          <a:xfrm rot="0" flipH="false" flipV="false">
            <a:off x="6604000" y="3937000"/>
            <a:ext cx="4572000" cy="889000"/>
          </a:xfrm>
          <a:prstGeom prst="roundRect">
            <a:avLst>
              <a:gd name="adj" fmla="val 7142"/>
            </a:avLst>
          </a:prstGeom>
          <a:gradFill rotWithShape="true">
            <a:gsLst>
              <a:gs pos="0">
                <a:srgbClr val="9B5DE5">
                  <a:alpha val="20000"/>
                </a:srgbClr>
              </a:gs>
              <a:gs pos="100000">
                <a:srgbClr val="41EAD4">
                  <a:alpha val="20000"/>
                </a:srgbClr>
              </a:gs>
            </a:gsLst>
            <a:lin ang="0"/>
          </a:gradFill>
          <a:ln w="12700" cmpd="sng" cap="flat">
            <a:solidFill>
              <a:srgbClr val="9B5DE5">
                <a:alpha val="10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731000" y="4178300"/>
            <a:ext cx="406400" cy="406400"/>
          </a:xfrm>
          <a:prstGeom prst="rect">
            <a:avLst/>
          </a:prstGeom>
        </p:spPr>
      </p:pic>
      <p:sp>
        <p:nvSpPr>
          <p:cNvPr name="AutoShape 27" id="27"/>
          <p:cNvSpPr/>
          <p:nvPr/>
        </p:nvSpPr>
        <p:spPr>
          <a:xfrm rot="0" flipH="false" flipV="false">
            <a:off x="7239000" y="4000500"/>
            <a:ext cx="3937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AHL：住宿业首个 LLM 应用平台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聚焦垂直领域，解决行业核心痛点</a:t>
            </a:r>
          </a:p>
        </p:txBody>
      </p:sp>
      <p:cxnSp>
        <p:nvCxnSpPr>
          <p:cNvPr name="Connector 28" id="28"/>
          <p:cNvCxnSpPr/>
          <p:nvPr/>
        </p:nvCxnSpPr>
        <p:spPr>
          <a:xfrm rot="-4092" flipH="false" flipV="false">
            <a:off x="762004" y="6089650"/>
            <a:ext cx="1066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9" id="29"/>
          <p:cNvSpPr/>
          <p:nvPr/>
        </p:nvSpPr>
        <p:spPr>
          <a:xfrm rot="0" flipH="false" flipV="false">
            <a:off x="762000" y="6223000"/>
            <a:ext cx="10668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40000"/>
                  </a:srgbClr>
                </a:solidFill>
                <a:latin typeface="Poppins"/>
                <a:ea typeface="Poppins"/>
                <a:cs typeface="Poppins"/>
                <a:sym typeface="Poppins"/>
              </a:rPr>
              <a:t>EMPOWERING HOSPITALITY INDUSTRY WITH GENERATIVE AI</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技术定位与核心技术矩阵</a:t>
            </a:r>
            <a:endParaRPr lang="en-US" sz="1100"/>
          </a:p>
        </p:txBody>
      </p:sp>
      <p:sp>
        <p:nvSpPr>
          <p:cNvPr name="AutoShape 5" id="5"/>
          <p:cNvSpPr/>
          <p:nvPr/>
        </p:nvSpPr>
        <p:spPr>
          <a:xfrm rot="0" flipH="false" flipV="false">
            <a:off x="762000" y="1397000"/>
            <a:ext cx="10668000" cy="1016000"/>
          </a:xfrm>
          <a:prstGeom prst="roundRect">
            <a:avLst>
              <a:gd name="adj" fmla="val 125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01800"/>
            <a:ext cx="406400" cy="406400"/>
          </a:xfrm>
          <a:prstGeom prst="rect">
            <a:avLst/>
          </a:prstGeom>
        </p:spPr>
      </p:pic>
      <p:sp>
        <p:nvSpPr>
          <p:cNvPr name="AutoShape 7" id="7"/>
          <p:cNvSpPr/>
          <p:nvPr/>
        </p:nvSpPr>
        <p:spPr>
          <a:xfrm rot="0" flipH="false" flipV="false">
            <a:off x="1524000" y="1524000"/>
            <a:ext cx="965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800">
                <a:solidFill>
                  <a:srgbClr val="E5E7EB"/>
                </a:solidFill>
                <a:latin typeface="Noto Sans SC"/>
                <a:ea typeface="Noto Sans SC"/>
                <a:cs typeface="Noto Sans SC"/>
                <a:sym typeface="Noto Sans SC"/>
              </a:rPr>
              <a:t>AHL定位为</a:t>
            </a:r>
            <a:r>
              <a:rPr lang="en-US" b="true" i="false" strike="noStrike" u="none" sz="1800">
                <a:solidFill>
                  <a:srgbClr val="41EAD4"/>
                </a:solidFill>
                <a:latin typeface="Noto Sans SC"/>
                <a:ea typeface="Noto Sans SC"/>
                <a:cs typeface="Noto Sans SC"/>
                <a:sym typeface="Noto Sans SC"/>
              </a:rPr>
              <a:t>AI软件企业</a:t>
            </a:r>
            <a:r>
              <a:rPr lang="en-US" b="false" i="false" strike="noStrike" u="none" sz="1800">
                <a:solidFill>
                  <a:srgbClr val="E5E7EB"/>
                </a:solidFill>
                <a:latin typeface="Noto Sans SC"/>
                <a:ea typeface="Noto Sans SC"/>
                <a:cs typeface="Noto Sans SC"/>
                <a:sym typeface="Noto Sans SC"/>
              </a:rPr>
              <a:t>，聚焦</a:t>
            </a:r>
            <a:r>
              <a:rPr lang="en-US" b="true" i="false" strike="noStrike" u="none" sz="1800">
                <a:solidFill>
                  <a:srgbClr val="9B5DE5"/>
                </a:solidFill>
                <a:latin typeface="Noto Sans SC"/>
                <a:ea typeface="Noto Sans SC"/>
                <a:cs typeface="Noto Sans SC"/>
                <a:sym typeface="Noto Sans SC"/>
              </a:rPr>
              <a:t>大语言模型应用、AGENT架构与向量检索</a:t>
            </a:r>
            <a:r>
              <a:rPr lang="en-US" b="false" i="false" strike="noStrike" u="none" sz="1800">
                <a:solidFill>
                  <a:srgbClr val="E5E7EB"/>
                </a:solidFill>
                <a:latin typeface="Noto Sans SC"/>
                <a:ea typeface="Noto Sans SC"/>
                <a:cs typeface="Noto Sans SC"/>
                <a:sym typeface="Noto Sans SC"/>
              </a:rPr>
              <a:t>技术，致力于打造领先的</a:t>
            </a:r>
            <a:r>
              <a:rPr lang="en-US" b="true" i="false" strike="noStrike" u="none" sz="1800">
                <a:solidFill>
                  <a:srgbClr val="41EAD4"/>
                </a:solidFill>
                <a:latin typeface="Noto Sans SC"/>
                <a:ea typeface="Noto Sans SC"/>
                <a:cs typeface="Noto Sans SC"/>
                <a:sym typeface="Noto Sans SC"/>
              </a:rPr>
              <a:t>住宿业AI赋能平台</a:t>
            </a:r>
            <a:r>
              <a:rPr lang="en-US" b="false" i="false" strike="noStrike" u="none" sz="1800">
                <a:solidFill>
                  <a:srgbClr val="E5E7EB"/>
                </a:solidFill>
                <a:latin typeface="Noto Sans SC"/>
                <a:ea typeface="Noto Sans SC"/>
                <a:cs typeface="Noto Sans SC"/>
                <a:sym typeface="Noto Sans SC"/>
              </a:rPr>
              <a:t>。</a:t>
            </a:r>
            <a:endParaRPr lang="en-US" sz="1100"/>
          </a:p>
        </p:txBody>
      </p:sp>
      <p:sp>
        <p:nvSpPr>
          <p:cNvPr name="AutoShape 8" id="8"/>
          <p:cNvSpPr/>
          <p:nvPr/>
        </p:nvSpPr>
        <p:spPr>
          <a:xfrm rot="0" flipH="false" flipV="false">
            <a:off x="762000" y="266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核心技术矩阵层级</a:t>
            </a:r>
            <a:endParaRPr lang="en-US" sz="1100"/>
          </a:p>
        </p:txBody>
      </p:sp>
      <p:sp>
        <p:nvSpPr>
          <p:cNvPr name="AutoShape 9" id="9"/>
          <p:cNvSpPr/>
          <p:nvPr/>
        </p:nvSpPr>
        <p:spPr>
          <a:xfrm rot="0" flipH="false" flipV="false">
            <a:off x="762000" y="3175000"/>
            <a:ext cx="10668000" cy="889000"/>
          </a:xfrm>
          <a:prstGeom prst="roundRect">
            <a:avLst>
              <a:gd name="adj" fmla="val 14285"/>
            </a:avLst>
          </a:prstGeom>
          <a:gradFill rotWithShape="true">
            <a:gsLst>
              <a:gs pos="0">
                <a:srgbClr val="41EAD4">
                  <a:alpha val="15000"/>
                </a:srgbClr>
              </a:gs>
              <a:gs pos="100000">
                <a:srgbClr val="41EAD4">
                  <a:alpha val="5000"/>
                </a:srgbClr>
              </a:gs>
            </a:gsLst>
            <a:lin ang="0"/>
          </a:gradFill>
          <a:ln w="12700" cmpd="sng" cap="flat">
            <a:solidFill>
              <a:srgbClr val="41EAD4">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16300"/>
            <a:ext cx="406400" cy="406400"/>
          </a:xfrm>
          <a:prstGeom prst="rect">
            <a:avLst/>
          </a:prstGeom>
        </p:spPr>
      </p:pic>
      <p:sp>
        <p:nvSpPr>
          <p:cNvPr name="AutoShape 11" id="11"/>
          <p:cNvSpPr/>
          <p:nvPr/>
        </p:nvSpPr>
        <p:spPr>
          <a:xfrm rot="0" flipH="false" flipV="false">
            <a:off x="1524000" y="3429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41EAD4"/>
                </a:solidFill>
                <a:latin typeface="Noto Sans SC"/>
                <a:ea typeface="Noto Sans SC"/>
                <a:cs typeface="Noto Sans SC"/>
                <a:sym typeface="Noto Sans SC"/>
              </a:rPr>
              <a:t>应用层</a:t>
            </a:r>
            <a:endParaRPr lang="en-US" sz="1100"/>
          </a:p>
        </p:txBody>
      </p:sp>
      <p:sp>
        <p:nvSpPr>
          <p:cNvPr name="AutoShape 12" id="12"/>
          <p:cNvSpPr/>
          <p:nvPr/>
        </p:nvSpPr>
        <p:spPr>
          <a:xfrm rot="0" flipH="false" flipV="false">
            <a:off x="3175000" y="3429000"/>
            <a:ext cx="736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C端 AGENT 交互 · B端 AGENT 运营 · 智能管理平台</a:t>
            </a:r>
            <a:endParaRPr lang="en-US" sz="1100"/>
          </a:p>
        </p:txBody>
      </p:sp>
      <p:sp>
        <p:nvSpPr>
          <p:cNvPr name="AutoShape 13" id="13"/>
          <p:cNvSpPr/>
          <p:nvPr/>
        </p:nvSpPr>
        <p:spPr>
          <a:xfrm rot="0" flipH="false" flipV="false">
            <a:off x="762000" y="4191000"/>
            <a:ext cx="10668000" cy="889000"/>
          </a:xfrm>
          <a:prstGeom prst="roundRect">
            <a:avLst>
              <a:gd name="adj" fmla="val 14285"/>
            </a:avLst>
          </a:prstGeom>
          <a:gradFill rotWithShape="true">
            <a:gsLst>
              <a:gs pos="0">
                <a:srgbClr val="9B5DE5">
                  <a:alpha val="15000"/>
                </a:srgbClr>
              </a:gs>
              <a:gs pos="100000">
                <a:srgbClr val="9B5DE5">
                  <a:alpha val="5000"/>
                </a:srgbClr>
              </a:gs>
            </a:gsLst>
            <a:lin ang="0"/>
          </a:gradFill>
          <a:ln w="12700" cmpd="sng" cap="flat">
            <a:solidFill>
              <a:srgbClr val="9B5DE5">
                <a:alpha val="4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432300"/>
            <a:ext cx="406400" cy="406400"/>
          </a:xfrm>
          <a:prstGeom prst="rect">
            <a:avLst/>
          </a:prstGeom>
        </p:spPr>
      </p:pic>
      <p:sp>
        <p:nvSpPr>
          <p:cNvPr name="AutoShape 15" id="15"/>
          <p:cNvSpPr/>
          <p:nvPr/>
        </p:nvSpPr>
        <p:spPr>
          <a:xfrm rot="0" flipH="false" flipV="false">
            <a:off x="1524000" y="4445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B5DE5"/>
                </a:solidFill>
                <a:latin typeface="Noto Sans SC"/>
                <a:ea typeface="Noto Sans SC"/>
                <a:cs typeface="Noto Sans SC"/>
                <a:sym typeface="Noto Sans SC"/>
              </a:rPr>
              <a:t>技术层</a:t>
            </a:r>
            <a:endParaRPr lang="en-US" sz="1100"/>
          </a:p>
        </p:txBody>
      </p:sp>
      <p:sp>
        <p:nvSpPr>
          <p:cNvPr name="AutoShape 16" id="16"/>
          <p:cNvSpPr/>
          <p:nvPr/>
        </p:nvSpPr>
        <p:spPr>
          <a:xfrm rot="0" flipH="false" flipV="false">
            <a:off x="3175000" y="4445000"/>
            <a:ext cx="736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AGENT 智能架构 · SKILL 技能编排 · 多模态感知处理</a:t>
            </a:r>
            <a:endParaRPr lang="en-US" sz="1100"/>
          </a:p>
        </p:txBody>
      </p:sp>
      <p:sp>
        <p:nvSpPr>
          <p:cNvPr name="AutoShape 17" id="17"/>
          <p:cNvSpPr/>
          <p:nvPr/>
        </p:nvSpPr>
        <p:spPr>
          <a:xfrm rot="0" flipH="false" flipV="false">
            <a:off x="762000" y="5207000"/>
            <a:ext cx="10668000" cy="889000"/>
          </a:xfrm>
          <a:prstGeom prst="roundRect">
            <a:avLst>
              <a:gd name="adj" fmla="val 14285"/>
            </a:avLst>
          </a:prstGeom>
          <a:gradFill rotWithShape="true">
            <a:gsLst>
              <a:gs pos="0">
                <a:srgbClr val="3B82F6">
                  <a:alpha val="15000"/>
                </a:srgbClr>
              </a:gs>
              <a:gs pos="100000">
                <a:srgbClr val="3B82F6">
                  <a:alpha val="5000"/>
                </a:srgbClr>
              </a:gs>
            </a:gsLst>
            <a:lin ang="0"/>
          </a:gradFill>
          <a:ln w="12700" cmpd="sng" cap="flat">
            <a:solidFill>
              <a:srgbClr val="3B82F6">
                <a:alpha val="4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448300"/>
            <a:ext cx="406400" cy="406400"/>
          </a:xfrm>
          <a:prstGeom prst="rect">
            <a:avLst/>
          </a:prstGeom>
        </p:spPr>
      </p:pic>
      <p:sp>
        <p:nvSpPr>
          <p:cNvPr name="AutoShape 19" id="19"/>
          <p:cNvSpPr/>
          <p:nvPr/>
        </p:nvSpPr>
        <p:spPr>
          <a:xfrm rot="0" flipH="false" flipV="false">
            <a:off x="1524000" y="5461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3B82F6"/>
                </a:solidFill>
                <a:latin typeface="Noto Sans SC"/>
                <a:ea typeface="Noto Sans SC"/>
                <a:cs typeface="Noto Sans SC"/>
                <a:sym typeface="Noto Sans SC"/>
              </a:rPr>
              <a:t>基础层</a:t>
            </a:r>
            <a:endParaRPr lang="en-US" sz="1100"/>
          </a:p>
        </p:txBody>
      </p:sp>
      <p:sp>
        <p:nvSpPr>
          <p:cNvPr name="AutoShape 20" id="20"/>
          <p:cNvSpPr/>
          <p:nvPr/>
        </p:nvSpPr>
        <p:spPr>
          <a:xfrm rot="0" flipH="false" flipV="false">
            <a:off x="3175000" y="5461000"/>
            <a:ext cx="736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E5E7EB"/>
                </a:solidFill>
                <a:latin typeface="Noto Sans SC"/>
                <a:ea typeface="Noto Sans SC"/>
                <a:cs typeface="Noto Sans SC"/>
                <a:sym typeface="Noto Sans SC"/>
              </a:rPr>
              <a:t>大语言模型基座 · 行业模型微调 · 高性能向量数据库</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381000" y="381000"/>
            <a:ext cx="11430000" cy="6096000"/>
          </a:xfrm>
          <a:prstGeom prst="roundRect">
            <a:avLst>
              <a:gd name="adj" fmla="val 0"/>
            </a:avLst>
          </a:prstGeom>
          <a:solidFill>
            <a:srgbClr val="FFFFFF">
              <a:alpha val="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838700" y="1397000"/>
            <a:ext cx="2514600" cy="1270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41EAD4"/>
                </a:solidFill>
                <a:latin typeface="SimHei"/>
                <a:ea typeface="SimHei"/>
                <a:cs typeface="SimHei"/>
                <a:sym typeface="SimHei"/>
              </a:rPr>
              <a:t>02</a:t>
            </a:r>
            <a:endParaRPr lang="en-US" sz="1100"/>
          </a:p>
        </p:txBody>
      </p:sp>
      <p:sp>
        <p:nvSpPr>
          <p:cNvPr name="AutoShape 6" id="6"/>
          <p:cNvSpPr/>
          <p:nvPr/>
        </p:nvSpPr>
        <p:spPr>
          <a:xfrm rot="0" flipH="false" flipV="false">
            <a:off x="5200650" y="2667000"/>
            <a:ext cx="17907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2800" spc="400">
                <a:solidFill>
                  <a:srgbClr val="FFFFFF"/>
                </a:solidFill>
                <a:latin typeface="SimHei"/>
                <a:ea typeface="SimHei"/>
                <a:cs typeface="SimHei"/>
                <a:sym typeface="SimHei"/>
              </a:rPr>
              <a:t>技术架构</a:t>
            </a:r>
            <a:endParaRPr lang="en-US" sz="1100"/>
          </a:p>
        </p:txBody>
      </p:sp>
      <p:cxnSp>
        <p:nvCxnSpPr>
          <p:cNvPr name="Connector 7" id="7"/>
          <p:cNvCxnSpPr/>
          <p:nvPr/>
        </p:nvCxnSpPr>
        <p:spPr>
          <a:xfrm rot="-34376" flipH="false" flipV="false">
            <a:off x="5461032" y="3295650"/>
            <a:ext cx="1270000" cy="12700"/>
          </a:xfrm>
          <a:prstGeom prst="line">
            <a:avLst/>
          </a:prstGeom>
          <a:solidFill>
            <a:srgbClr val="DEE0E3">
              <a:alpha val="100000"/>
            </a:srgbClr>
          </a:solidFill>
          <a:ln w="25400" cmpd="sng" cap="flat">
            <a:solidFill>
              <a:srgbClr val="9B5DE5">
                <a:alpha val="100000"/>
              </a:srgbClr>
            </a:solidFill>
            <a:prstDash val="solid"/>
            <a:round/>
            <a:headEnd type="none" w="lg" len="lg"/>
            <a:tailEnd type="none" w="lg" len="lg"/>
          </a:ln>
        </p:spPr>
      </p:cxnSp>
      <p:sp>
        <p:nvSpPr>
          <p:cNvPr name="AutoShape 8" id="8"/>
          <p:cNvSpPr/>
          <p:nvPr/>
        </p:nvSpPr>
        <p:spPr>
          <a:xfrm rot="0" flipH="false" flipV="false">
            <a:off x="4749800" y="3556000"/>
            <a:ext cx="26924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600" spc="200">
                <a:solidFill>
                  <a:srgbClr val="FFFFFF">
                    <a:alpha val="80000"/>
                  </a:srgbClr>
                </a:solidFill>
                <a:latin typeface="SimHei"/>
                <a:ea typeface="SimHei"/>
                <a:cs typeface="SimHei"/>
                <a:sym typeface="SimHei"/>
              </a:rPr>
              <a:t>四层技术架构与技术栈详情</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318000"/>
            <a:ext cx="406400" cy="406400"/>
          </a:xfrm>
          <a:prstGeom prst="rect">
            <a:avLst/>
          </a:prstGeom>
        </p:spPr>
      </p:pic>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006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整体架构</a:t>
            </a:r>
            <a:endParaRPr lang="en-US" sz="1100"/>
          </a:p>
        </p:txBody>
      </p:sp>
      <p:sp>
        <p:nvSpPr>
          <p:cNvPr name="AutoShape 5" id="5"/>
          <p:cNvSpPr/>
          <p:nvPr/>
        </p:nvSpPr>
        <p:spPr>
          <a:xfrm rot="0" flipH="false" flipV="false">
            <a:off x="762000" y="1397000"/>
            <a:ext cx="10668000" cy="1016000"/>
          </a:xfrm>
          <a:prstGeom prst="roundRect">
            <a:avLst>
              <a:gd name="adj" fmla="val 125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508000" cy="508000"/>
          </a:xfrm>
          <a:prstGeom prst="rect">
            <a:avLst/>
          </a:prstGeom>
        </p:spPr>
      </p:pic>
      <p:sp>
        <p:nvSpPr>
          <p:cNvPr name="AutoShape 7" id="7"/>
          <p:cNvSpPr/>
          <p:nvPr/>
        </p:nvSpPr>
        <p:spPr>
          <a:xfrm rot="0" flipH="false" flipV="false">
            <a:off x="1714500" y="1587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应用交互层</a:t>
            </a:r>
            <a:endParaRPr lang="en-US" sz="1100"/>
          </a:p>
        </p:txBody>
      </p:sp>
      <p:sp>
        <p:nvSpPr>
          <p:cNvPr name="AutoShape 8" id="8"/>
          <p:cNvSpPr/>
          <p:nvPr/>
        </p:nvSpPr>
        <p:spPr>
          <a:xfrm rot="0" flipH="false" flipV="false">
            <a:off x="1714500" y="1968500"/>
            <a:ext cx="698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面向C端用户、B端商户和运营管理的交互界面，提供统一的入口体验。</a:t>
            </a:r>
            <a:endParaRPr lang="en-US" sz="1100"/>
          </a:p>
        </p:txBody>
      </p:sp>
      <p:sp>
        <p:nvSpPr>
          <p:cNvPr name="AutoShape 9" id="9"/>
          <p:cNvSpPr/>
          <p:nvPr/>
        </p:nvSpPr>
        <p:spPr>
          <a:xfrm rot="0" flipH="false" flipV="false">
            <a:off x="762000" y="2603500"/>
            <a:ext cx="10668000" cy="1016000"/>
          </a:xfrm>
          <a:prstGeom prst="roundRect">
            <a:avLst>
              <a:gd name="adj" fmla="val 1250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857500"/>
            <a:ext cx="508000" cy="508000"/>
          </a:xfrm>
          <a:prstGeom prst="rect">
            <a:avLst/>
          </a:prstGeom>
        </p:spPr>
      </p:pic>
      <p:sp>
        <p:nvSpPr>
          <p:cNvPr name="AutoShape 11" id="11"/>
          <p:cNvSpPr/>
          <p:nvPr/>
        </p:nvSpPr>
        <p:spPr>
          <a:xfrm rot="0" flipH="false" flipV="false">
            <a:off x="1714500" y="2794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双AGENT层</a:t>
            </a:r>
            <a:endParaRPr lang="en-US" sz="1100"/>
          </a:p>
        </p:txBody>
      </p:sp>
      <p:sp>
        <p:nvSpPr>
          <p:cNvPr name="AutoShape 12" id="12"/>
          <p:cNvSpPr/>
          <p:nvPr/>
        </p:nvSpPr>
        <p:spPr>
          <a:xfrm rot="0" flipH="false" flipV="false">
            <a:off x="1714500" y="3175000"/>
            <a:ext cx="698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包含C端AI管家和B端AI运营官，负责精准的需求理解、智能决策和任务执行。</a:t>
            </a:r>
            <a:endParaRPr lang="en-US" sz="1100"/>
          </a:p>
        </p:txBody>
      </p:sp>
      <p:sp>
        <p:nvSpPr>
          <p:cNvPr name="AutoShape 13" id="13"/>
          <p:cNvSpPr/>
          <p:nvPr/>
        </p:nvSpPr>
        <p:spPr>
          <a:xfrm rot="0" flipH="false" flipV="false">
            <a:off x="762000" y="3810000"/>
            <a:ext cx="10668000" cy="1016000"/>
          </a:xfrm>
          <a:prstGeom prst="roundRect">
            <a:avLst>
              <a:gd name="adj" fmla="val 125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064000"/>
            <a:ext cx="508000" cy="508000"/>
          </a:xfrm>
          <a:prstGeom prst="rect">
            <a:avLst/>
          </a:prstGeom>
        </p:spPr>
      </p:pic>
      <p:sp>
        <p:nvSpPr>
          <p:cNvPr name="AutoShape 15" id="15"/>
          <p:cNvSpPr/>
          <p:nvPr/>
        </p:nvSpPr>
        <p:spPr>
          <a:xfrm rot="0" flipH="false" flipV="false">
            <a:off x="1714500" y="4000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SKILL执行层</a:t>
            </a:r>
            <a:endParaRPr lang="en-US" sz="1100"/>
          </a:p>
        </p:txBody>
      </p:sp>
      <p:sp>
        <p:nvSpPr>
          <p:cNvPr name="AutoShape 16" id="16"/>
          <p:cNvSpPr/>
          <p:nvPr/>
        </p:nvSpPr>
        <p:spPr>
          <a:xfrm rot="0" flipH="false" flipV="false">
            <a:off x="1714500" y="4381500"/>
            <a:ext cx="698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由80多个可插拔的SKILLs组成，是平台具体业务能力的执行者，支持灵活扩展。</a:t>
            </a:r>
            <a:endParaRPr lang="en-US" sz="1100"/>
          </a:p>
        </p:txBody>
      </p:sp>
      <p:sp>
        <p:nvSpPr>
          <p:cNvPr name="AutoShape 17" id="17"/>
          <p:cNvSpPr/>
          <p:nvPr/>
        </p:nvSpPr>
        <p:spPr>
          <a:xfrm rot="0" flipH="false" flipV="false">
            <a:off x="762000" y="5016500"/>
            <a:ext cx="10668000" cy="1016000"/>
          </a:xfrm>
          <a:prstGeom prst="roundRect">
            <a:avLst>
              <a:gd name="adj" fmla="val 12500"/>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270500"/>
            <a:ext cx="508000" cy="508000"/>
          </a:xfrm>
          <a:prstGeom prst="rect">
            <a:avLst/>
          </a:prstGeom>
        </p:spPr>
      </p:pic>
      <p:sp>
        <p:nvSpPr>
          <p:cNvPr name="AutoShape 19" id="19"/>
          <p:cNvSpPr/>
          <p:nvPr/>
        </p:nvSpPr>
        <p:spPr>
          <a:xfrm rot="0" flipH="false" flipV="false">
            <a:off x="1714500" y="5207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基础能力层</a:t>
            </a:r>
            <a:endParaRPr lang="en-US" sz="1100"/>
          </a:p>
        </p:txBody>
      </p:sp>
      <p:sp>
        <p:nvSpPr>
          <p:cNvPr name="AutoShape 20" id="20"/>
          <p:cNvSpPr/>
          <p:nvPr/>
        </p:nvSpPr>
        <p:spPr>
          <a:xfrm rot="0" flipH="false" flipV="false">
            <a:off x="1714500" y="5588000"/>
            <a:ext cx="698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提供LLM推理、知识库检索、向量匹配等核心基础能力，支撑上层业务逻辑。</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2514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技术栈详情</a:t>
            </a:r>
            <a:endParaRPr lang="en-US" sz="1100"/>
          </a:p>
        </p:txBody>
      </p:sp>
      <p:sp>
        <p:nvSpPr>
          <p:cNvPr name="AutoShape 5" id="5"/>
          <p:cNvSpPr/>
          <p:nvPr/>
        </p:nvSpPr>
        <p:spPr>
          <a:xfrm rot="0" flipH="false" flipV="false">
            <a:off x="762000" y="1651000"/>
            <a:ext cx="3378200" cy="3556000"/>
          </a:xfrm>
          <a:prstGeom prst="roundRect">
            <a:avLst>
              <a:gd name="adj" fmla="val 3759"/>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508000" cy="508000"/>
          </a:xfrm>
          <a:prstGeom prst="rect">
            <a:avLst/>
          </a:prstGeom>
        </p:spPr>
      </p:pic>
      <p:sp>
        <p:nvSpPr>
          <p:cNvPr name="AutoShape 7" id="7"/>
          <p:cNvSpPr/>
          <p:nvPr/>
        </p:nvSpPr>
        <p:spPr>
          <a:xfrm rot="0" flipH="false" flipV="false">
            <a:off x="1651000" y="1968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41EAD4"/>
                </a:solidFill>
                <a:latin typeface="Noto Sans SC"/>
                <a:ea typeface="Noto Sans SC"/>
                <a:cs typeface="Noto Sans SC"/>
                <a:sym typeface="Noto Sans SC"/>
              </a:rPr>
              <a:t>基础模型层</a:t>
            </a:r>
            <a:endParaRPr lang="en-US" sz="1100"/>
          </a:p>
        </p:txBody>
      </p:sp>
      <p:sp>
        <p:nvSpPr>
          <p:cNvPr name="AutoShape 8" id="8"/>
          <p:cNvSpPr/>
          <p:nvPr/>
        </p:nvSpPr>
        <p:spPr>
          <a:xfrm rot="0" flipH="false" flipV="false">
            <a:off x="1016000" y="2540000"/>
            <a:ext cx="28702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800">
                <a:solidFill>
                  <a:srgbClr val="FFFFFF"/>
                </a:solidFill>
                <a:latin typeface="Noto Sans SC"/>
                <a:ea typeface="Noto Sans SC"/>
                <a:cs typeface="Noto Sans SC"/>
                <a:sym typeface="Noto Sans SC"/>
              </a:rPr>
              <a:t>选用</a:t>
            </a:r>
            <a:r>
              <a:rPr lang="en-US" b="true" i="false" strike="noStrike" u="none" sz="1800">
                <a:solidFill>
                  <a:srgbClr val="41EAD4"/>
                </a:solidFill>
                <a:latin typeface="Noto Sans SC"/>
                <a:ea typeface="Noto Sans SC"/>
                <a:cs typeface="Noto Sans SC"/>
                <a:sym typeface="Noto Sans SC"/>
              </a:rPr>
              <a:t>DeepSeek-7B</a:t>
            </a:r>
            <a:r>
              <a:rPr lang="en-US" b="false" i="false" strike="noStrike" u="none" sz="1800">
                <a:solidFill>
                  <a:srgbClr val="FFFFFF"/>
                </a:solidFill>
                <a:latin typeface="Noto Sans SC"/>
                <a:ea typeface="Noto Sans SC"/>
                <a:cs typeface="Noto Sans SC"/>
                <a:sym typeface="Noto Sans SC"/>
              </a:rPr>
              <a:t>和</a:t>
            </a:r>
            <a:r>
              <a:rPr lang="en-US" b="true" i="false" strike="noStrike" u="none" sz="1800">
                <a:solidFill>
                  <a:srgbClr val="41EAD4"/>
                </a:solidFill>
                <a:latin typeface="Noto Sans SC"/>
                <a:ea typeface="Noto Sans SC"/>
                <a:cs typeface="Noto Sans SC"/>
                <a:sym typeface="Noto Sans SC"/>
              </a:rPr>
              <a:t>Qwen-7B</a:t>
            </a:r>
            <a:r>
              <a:rPr lang="en-US" b="false" i="false" strike="noStrike" u="none" sz="1800">
                <a:solidFill>
                  <a:srgbClr val="FFFFFF"/>
                </a:solidFill>
                <a:latin typeface="Noto Sans SC"/>
                <a:ea typeface="Noto Sans SC"/>
                <a:cs typeface="Noto Sans SC"/>
                <a:sym typeface="Noto Sans SC"/>
              </a:rPr>
              <a:t>作为基座，采用 LoRA 进行高效微调，推理引擎选用高性能的 vLLM。</a:t>
            </a:r>
            <a:endParaRPr lang="en-US" sz="1100"/>
          </a:p>
        </p:txBody>
      </p:sp>
      <p:sp>
        <p:nvSpPr>
          <p:cNvPr name="AutoShape 9" id="9"/>
          <p:cNvSpPr/>
          <p:nvPr/>
        </p:nvSpPr>
        <p:spPr>
          <a:xfrm rot="0" flipH="false" flipV="false">
            <a:off x="4394200" y="1651000"/>
            <a:ext cx="3378200" cy="3556000"/>
          </a:xfrm>
          <a:prstGeom prst="roundRect">
            <a:avLst>
              <a:gd name="adj" fmla="val 3759"/>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1905000"/>
            <a:ext cx="508000" cy="508000"/>
          </a:xfrm>
          <a:prstGeom prst="rect">
            <a:avLst/>
          </a:prstGeom>
        </p:spPr>
      </p:pic>
      <p:sp>
        <p:nvSpPr>
          <p:cNvPr name="AutoShape 11" id="11"/>
          <p:cNvSpPr/>
          <p:nvPr/>
        </p:nvSpPr>
        <p:spPr>
          <a:xfrm rot="0" flipH="false" flipV="false">
            <a:off x="5283200" y="1968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9B5DE5"/>
                </a:solidFill>
                <a:latin typeface="Noto Sans SC"/>
                <a:ea typeface="Noto Sans SC"/>
                <a:cs typeface="Noto Sans SC"/>
                <a:sym typeface="Noto Sans SC"/>
              </a:rPr>
              <a:t>数据存储层</a:t>
            </a:r>
            <a:endParaRPr lang="en-US" sz="1100"/>
          </a:p>
        </p:txBody>
      </p:sp>
      <p:sp>
        <p:nvSpPr>
          <p:cNvPr name="AutoShape 12" id="12"/>
          <p:cNvSpPr/>
          <p:nvPr/>
        </p:nvSpPr>
        <p:spPr>
          <a:xfrm rot="0" flipH="false" flipV="false">
            <a:off x="4648200" y="2540000"/>
            <a:ext cx="28702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800">
                <a:solidFill>
                  <a:srgbClr val="FFFFFF"/>
                </a:solidFill>
                <a:latin typeface="Noto Sans SC"/>
                <a:ea typeface="Noto Sans SC"/>
                <a:cs typeface="Noto Sans SC"/>
                <a:sym typeface="Noto Sans SC"/>
              </a:rPr>
              <a:t>使用</a:t>
            </a:r>
            <a:r>
              <a:rPr lang="en-US" b="true" i="false" strike="noStrike" u="none" sz="1800">
                <a:solidFill>
                  <a:srgbClr val="9B5DE5"/>
                </a:solidFill>
                <a:latin typeface="Noto Sans SC"/>
                <a:ea typeface="Noto Sans SC"/>
                <a:cs typeface="Noto Sans SC"/>
                <a:sym typeface="Noto Sans SC"/>
              </a:rPr>
              <a:t>Milvus</a:t>
            </a:r>
            <a:r>
              <a:rPr lang="en-US" b="false" i="false" strike="noStrike" u="none" sz="1800">
                <a:solidFill>
                  <a:srgbClr val="FFFFFF"/>
                </a:solidFill>
                <a:latin typeface="Noto Sans SC"/>
                <a:ea typeface="Noto Sans SC"/>
                <a:cs typeface="Noto Sans SC"/>
                <a:sym typeface="Noto Sans SC"/>
              </a:rPr>
              <a:t>存储向量数据，关系型数据存储于</a:t>
            </a:r>
            <a:r>
              <a:rPr lang="en-US" b="true" i="false" strike="noStrike" u="none" sz="1800">
                <a:solidFill>
                  <a:srgbClr val="9B5DE5"/>
                </a:solidFill>
                <a:latin typeface="Noto Sans SC"/>
                <a:ea typeface="Noto Sans SC"/>
                <a:cs typeface="Noto Sans SC"/>
                <a:sym typeface="Noto Sans SC"/>
              </a:rPr>
              <a:t>PostgreSQL</a:t>
            </a:r>
            <a:r>
              <a:rPr lang="en-US" b="false" i="false" strike="noStrike" u="none" sz="1800">
                <a:solidFill>
                  <a:srgbClr val="FFFFFF"/>
                </a:solidFill>
                <a:latin typeface="Noto Sans SC"/>
                <a:ea typeface="Noto Sans SC"/>
                <a:cs typeface="Noto Sans SC"/>
                <a:sym typeface="Noto Sans SC"/>
              </a:rPr>
              <a:t>，利用 Redis 构建高速缓存系统。</a:t>
            </a:r>
            <a:endParaRPr lang="en-US" sz="1100"/>
          </a:p>
        </p:txBody>
      </p:sp>
      <p:sp>
        <p:nvSpPr>
          <p:cNvPr name="AutoShape 13" id="13"/>
          <p:cNvSpPr/>
          <p:nvPr/>
        </p:nvSpPr>
        <p:spPr>
          <a:xfrm rot="0" flipH="false" flipV="false">
            <a:off x="8026400" y="1651000"/>
            <a:ext cx="3378200" cy="3556000"/>
          </a:xfrm>
          <a:prstGeom prst="roundRect">
            <a:avLst>
              <a:gd name="adj" fmla="val 3759"/>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1905000"/>
            <a:ext cx="508000" cy="508000"/>
          </a:xfrm>
          <a:prstGeom prst="rect">
            <a:avLst/>
          </a:prstGeom>
        </p:spPr>
      </p:pic>
      <p:sp>
        <p:nvSpPr>
          <p:cNvPr name="AutoShape 15" id="15"/>
          <p:cNvSpPr/>
          <p:nvPr/>
        </p:nvSpPr>
        <p:spPr>
          <a:xfrm rot="0" flipH="false" flipV="false">
            <a:off x="8915400" y="1968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41EAD4"/>
                </a:solidFill>
                <a:latin typeface="Noto Sans SC"/>
                <a:ea typeface="Noto Sans SC"/>
                <a:cs typeface="Noto Sans SC"/>
                <a:sym typeface="Noto Sans SC"/>
              </a:rPr>
              <a:t>应用框架层</a:t>
            </a:r>
            <a:endParaRPr lang="en-US" sz="1100"/>
          </a:p>
        </p:txBody>
      </p:sp>
      <p:sp>
        <p:nvSpPr>
          <p:cNvPr name="AutoShape 16" id="16"/>
          <p:cNvSpPr/>
          <p:nvPr/>
        </p:nvSpPr>
        <p:spPr>
          <a:xfrm rot="0" flipH="false" flipV="false">
            <a:off x="8280400" y="2540000"/>
            <a:ext cx="28702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800">
                <a:solidFill>
                  <a:srgbClr val="FFFFFF"/>
                </a:solidFill>
                <a:latin typeface="Noto Sans SC"/>
                <a:ea typeface="Noto Sans SC"/>
                <a:cs typeface="Noto Sans SC"/>
                <a:sym typeface="Noto Sans SC"/>
              </a:rPr>
              <a:t>后端基于</a:t>
            </a:r>
            <a:r>
              <a:rPr lang="en-US" b="true" i="false" strike="noStrike" u="none" sz="1800">
                <a:solidFill>
                  <a:srgbClr val="41EAD4"/>
                </a:solidFill>
                <a:latin typeface="Noto Sans SC"/>
                <a:ea typeface="Noto Sans SC"/>
                <a:cs typeface="Noto Sans SC"/>
                <a:sym typeface="Noto Sans SC"/>
              </a:rPr>
              <a:t>FastAPI</a:t>
            </a:r>
            <a:r>
              <a:rPr lang="en-US" b="false" i="false" strike="noStrike" u="none" sz="1800">
                <a:solidFill>
                  <a:srgbClr val="FFFFFF"/>
                </a:solidFill>
                <a:latin typeface="Noto Sans SC"/>
                <a:ea typeface="Noto Sans SC"/>
                <a:cs typeface="Noto Sans SC"/>
                <a:sym typeface="Noto Sans SC"/>
              </a:rPr>
              <a:t>开发，通过 Celery 处理异步任务，RabbitMQ 负责消息分发，Kubernetes 进行容器编排。</a:t>
            </a:r>
            <a:endParaRPr lang="en-US" sz="1100"/>
          </a:p>
        </p:txBody>
      </p:sp>
      <p:sp>
        <p:nvSpPr>
          <p:cNvPr name="AutoShape 17" id="17"/>
          <p:cNvSpPr/>
          <p:nvPr/>
        </p:nvSpPr>
        <p:spPr>
          <a:xfrm rot="0" flipH="false" flipV="false">
            <a:off x="762000" y="5588000"/>
            <a:ext cx="10642600" cy="25400"/>
          </a:xfrm>
          <a:prstGeom prst="roundRect">
            <a:avLst>
              <a:gd name="adj" fmla="val 0"/>
            </a:avLst>
          </a:prstGeom>
          <a:gradFill rotWithShape="true">
            <a:gsLst>
              <a:gs pos="0">
                <a:srgbClr val="41EAD4">
                  <a:alpha val="0"/>
                </a:srgbClr>
              </a:gs>
              <a:gs pos="50000">
                <a:srgbClr val="41EAD4">
                  <a:alpha val="100000"/>
                </a:srgbClr>
              </a:gs>
              <a:gs pos="100000">
                <a:srgbClr val="41EAD4">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778500"/>
            <a:ext cx="106426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全栈技术选型聚焦高性能、高可用与可扩展性，构建企业级 AI 应用底座</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5842000"/>
          </a:xfrm>
          <a:prstGeom prst="roundRect">
            <a:avLst>
              <a:gd name="adj" fmla="val 2173"/>
            </a:avLst>
          </a:prstGeom>
          <a:solidFill>
            <a:srgbClr val="FFFFFF">
              <a:alpha val="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419600" y="1016000"/>
            <a:ext cx="3352800" cy="1651000"/>
          </a:xfrm>
          <a:prstGeom prst="rect">
            <a:avLst/>
          </a:prstGeom>
          <a:noFill/>
          <a:ln w="12700" cmpd="sng" cap="flat">
            <a:noFill/>
            <a:prstDash val="solid"/>
            <a:round/>
          </a:ln>
          <a:effectLst>
            <a:outerShdw dir="0" dist="0" blurRad="254000" algn="tl" rotWithShape="false">
              <a:srgbClr val="41EAD4">
                <a:alpha val="50000"/>
              </a:srgbClr>
            </a:outerShdw>
          </a:effectLst>
        </p:spPr>
        <p:txBody>
          <a:bodyPr anchor="ctr" rtlCol="false" anchorCtr="false" vert="horz" wrap="none" lIns="0" rIns="0" tIns="0" bIns="0"/>
          <a:lstStyle/>
          <a:p>
            <a:pPr algn="ctr" indent="0">
              <a:lnSpc>
                <a:spcPct val="125000"/>
              </a:lnSpc>
              <a:defRPr/>
            </a:pPr>
            <a:r>
              <a:rPr lang="en-US" b="true" i="false" strike="noStrike" u="none" sz="12000">
                <a:solidFill>
                  <a:srgbClr val="41EAD4"/>
                </a:solidFill>
                <a:latin typeface="Noto Sans SC"/>
                <a:ea typeface="Noto Sans SC"/>
                <a:cs typeface="Noto Sans SC"/>
                <a:sym typeface="Noto Sans SC"/>
              </a:rPr>
              <a:t>03</a:t>
            </a:r>
            <a:endParaRPr lang="en-US" sz="1100"/>
          </a:p>
        </p:txBody>
      </p:sp>
      <p:sp>
        <p:nvSpPr>
          <p:cNvPr name="AutoShape 6" id="6"/>
          <p:cNvSpPr/>
          <p:nvPr/>
        </p:nvSpPr>
        <p:spPr>
          <a:xfrm rot="0" flipH="false" flipV="false">
            <a:off x="5092700" y="2794000"/>
            <a:ext cx="20066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核心算法</a:t>
            </a:r>
            <a:endParaRPr lang="en-US" sz="1100"/>
          </a:p>
        </p:txBody>
      </p:sp>
      <p:cxnSp>
        <p:nvCxnSpPr>
          <p:cNvPr name="Connector 7" id="7"/>
          <p:cNvCxnSpPr/>
          <p:nvPr/>
        </p:nvCxnSpPr>
        <p:spPr>
          <a:xfrm rot="-34376" flipH="false" flipV="false">
            <a:off x="5461032" y="3549650"/>
            <a:ext cx="1270000" cy="12700"/>
          </a:xfrm>
          <a:prstGeom prst="line">
            <a:avLst/>
          </a:prstGeom>
          <a:solidFill>
            <a:srgbClr val="DEE0E3">
              <a:alpha val="100000"/>
            </a:srgbClr>
          </a:solidFill>
          <a:ln w="38100" cmpd="sng" cap="flat">
            <a:solidFill>
              <a:srgbClr val="9B5DE5">
                <a:alpha val="100000"/>
              </a:srgbClr>
            </a:solidFill>
            <a:prstDash val="solid"/>
            <a:round/>
            <a:headEnd type="none" w="lg" len="lg"/>
            <a:tailEnd type="none" w="lg" len="lg"/>
          </a:ln>
        </p:spPr>
      </p:cxnSp>
      <p:sp>
        <p:nvSpPr>
          <p:cNvPr name="AutoShape 8" id="8"/>
          <p:cNvSpPr/>
          <p:nvPr/>
        </p:nvSpPr>
        <p:spPr>
          <a:xfrm rot="0" flipH="false" flipV="false">
            <a:off x="1016000" y="3937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E5E7EB">
                    <a:alpha val="90196"/>
                  </a:srgbClr>
                </a:solidFill>
                <a:latin typeface="Noto Sans SC"/>
                <a:ea typeface="Noto Sans SC"/>
                <a:cs typeface="Noto Sans SC"/>
                <a:sym typeface="Noto Sans SC"/>
              </a:rPr>
              <a:t>大语言模型微调 | AGENT架构 | 向量检索引擎</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826000"/>
            <a:ext cx="406400" cy="406400"/>
          </a:xfrm>
          <a:prstGeom prst="rect">
            <a:avLst/>
          </a:prstGeom>
        </p:spPr>
      </p:pic>
      <p:sp>
        <p:nvSpPr>
          <p:cNvPr name="AutoShape 10" id="10"/>
          <p:cNvSpPr/>
          <p:nvPr/>
        </p:nvSpPr>
        <p:spPr>
          <a:xfrm rot="0" flipH="false" flipV="false">
            <a:off x="2286000" y="5334000"/>
            <a:ext cx="7620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9B5DE5">
                    <a:alpha val="80000"/>
                  </a:srgbClr>
                </a:solidFill>
                <a:latin typeface="Noto Sans SC"/>
                <a:ea typeface="Noto Sans SC"/>
                <a:cs typeface="Noto Sans SC"/>
                <a:sym typeface="Noto Sans SC"/>
              </a:rPr>
              <a:t>CORE ALGORITHM &amp; ARCHITECTURE</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大语言模型微调</a:t>
            </a:r>
            <a:endParaRPr lang="en-US" sz="1100"/>
          </a:p>
        </p:txBody>
      </p:sp>
      <p:sp>
        <p:nvSpPr>
          <p:cNvPr name="AutoShape 5" id="5"/>
          <p:cNvSpPr/>
          <p:nvPr/>
        </p:nvSpPr>
        <p:spPr>
          <a:xfrm rot="0" flipH="false" flipV="false">
            <a:off x="762000" y="1524000"/>
            <a:ext cx="5080000" cy="3556000"/>
          </a:xfrm>
          <a:prstGeom prst="roundRect">
            <a:avLst>
              <a:gd name="adj" fmla="val 3571"/>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304800" cy="304800"/>
          </a:xfrm>
          <a:prstGeom prst="rect">
            <a:avLst/>
          </a:prstGeom>
        </p:spPr>
      </p:pic>
      <p:sp>
        <p:nvSpPr>
          <p:cNvPr name="AutoShape 7" id="7"/>
          <p:cNvSpPr/>
          <p:nvPr/>
        </p:nvSpPr>
        <p:spPr>
          <a:xfrm rot="0" flipH="false" flipV="false">
            <a:off x="1397000" y="17399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LoRA 微调原理与优势</a:t>
            </a:r>
            <a:endParaRPr lang="en-US" sz="1100"/>
          </a:p>
        </p:txBody>
      </p:sp>
      <p:sp>
        <p:nvSpPr>
          <p:cNvPr name="AutoShape 8" id="8"/>
          <p:cNvSpPr/>
          <p:nvPr/>
        </p:nvSpPr>
        <p:spPr>
          <a:xfrm rot="0" flipH="false" flipV="false">
            <a:off x="1016000" y="22225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600">
                <a:solidFill>
                  <a:srgbClr val="E5E7EB"/>
                </a:solidFill>
                <a:latin typeface="Noto Sans SC"/>
                <a:ea typeface="Noto Sans SC"/>
                <a:cs typeface="Noto Sans SC"/>
                <a:sym typeface="Noto Sans SC"/>
              </a:rPr>
              <a:t>通过低秩分解矩阵（Low-Rank Adaptation），在冻结原始模型权重的同时注入可训练的旁路矩阵，实现高效的领域适配。</a:t>
            </a:r>
            <a:endParaRPr lang="en-US" sz="1100"/>
          </a:p>
        </p:txBody>
      </p:sp>
      <p:sp>
        <p:nvSpPr>
          <p:cNvPr name="AutoShape 9" id="9"/>
          <p:cNvSpPr/>
          <p:nvPr/>
        </p:nvSpPr>
        <p:spPr>
          <a:xfrm rot="0" flipH="false" flipV="false">
            <a:off x="1016000" y="3302000"/>
            <a:ext cx="4572000" cy="457200"/>
          </a:xfrm>
          <a:prstGeom prst="roundRect">
            <a:avLst>
              <a:gd name="adj" fmla="val 13888"/>
            </a:avLst>
          </a:prstGeom>
          <a:solidFill>
            <a:srgbClr val="41EAD4">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143000" y="3416300"/>
            <a:ext cx="228600" cy="228600"/>
          </a:xfrm>
          <a:prstGeom prst="rect">
            <a:avLst/>
          </a:prstGeom>
        </p:spPr>
      </p:pic>
      <p:sp>
        <p:nvSpPr>
          <p:cNvPr name="AutoShape 11" id="11"/>
          <p:cNvSpPr/>
          <p:nvPr/>
        </p:nvSpPr>
        <p:spPr>
          <a:xfrm rot="0" flipH="false" flipV="false">
            <a:off x="1460500" y="33782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参数量极低：</a:t>
            </a:r>
            <a:r>
              <a:rPr lang="en-US" b="false" i="false" strike="noStrike" u="none" sz="1400">
                <a:solidFill>
                  <a:srgbClr val="D1D5DB"/>
                </a:solidFill>
                <a:latin typeface="Noto Sans SC"/>
                <a:ea typeface="Noto Sans SC"/>
                <a:cs typeface="Noto Sans SC"/>
                <a:sym typeface="Noto Sans SC"/>
              </a:rPr>
              <a:t>仅训练0.1%-1%的参数，节省存储</a:t>
            </a:r>
            <a:endParaRPr lang="en-US" sz="1100"/>
          </a:p>
        </p:txBody>
      </p:sp>
      <p:sp>
        <p:nvSpPr>
          <p:cNvPr name="AutoShape 12" id="12"/>
          <p:cNvSpPr/>
          <p:nvPr/>
        </p:nvSpPr>
        <p:spPr>
          <a:xfrm rot="0" flipH="false" flipV="false">
            <a:off x="1016000" y="3835400"/>
            <a:ext cx="4572000" cy="457200"/>
          </a:xfrm>
          <a:prstGeom prst="roundRect">
            <a:avLst>
              <a:gd name="adj" fmla="val 13888"/>
            </a:avLst>
          </a:prstGeom>
          <a:solidFill>
            <a:srgbClr val="41EAD4">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143000" y="3949700"/>
            <a:ext cx="228600" cy="228600"/>
          </a:xfrm>
          <a:prstGeom prst="rect">
            <a:avLst/>
          </a:prstGeom>
        </p:spPr>
      </p:pic>
      <p:sp>
        <p:nvSpPr>
          <p:cNvPr name="AutoShape 14" id="14"/>
          <p:cNvSpPr/>
          <p:nvPr/>
        </p:nvSpPr>
        <p:spPr>
          <a:xfrm rot="0" flipH="false" flipV="false">
            <a:off x="1460500" y="39116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显存占用少：</a:t>
            </a:r>
            <a:r>
              <a:rPr lang="en-US" b="false" i="false" strike="noStrike" u="none" sz="1400">
                <a:solidFill>
                  <a:srgbClr val="D1D5DB"/>
                </a:solidFill>
                <a:latin typeface="Noto Sans SC"/>
                <a:ea typeface="Noto Sans SC"/>
                <a:cs typeface="Noto Sans SC"/>
                <a:sym typeface="Noto Sans SC"/>
              </a:rPr>
              <a:t>大幅降低训练门槛，适配消费级显卡</a:t>
            </a:r>
            <a:endParaRPr lang="en-US" sz="1100"/>
          </a:p>
        </p:txBody>
      </p:sp>
      <p:sp>
        <p:nvSpPr>
          <p:cNvPr name="AutoShape 15" id="15"/>
          <p:cNvSpPr/>
          <p:nvPr/>
        </p:nvSpPr>
        <p:spPr>
          <a:xfrm rot="0" flipH="false" flipV="false">
            <a:off x="1016000" y="4368800"/>
            <a:ext cx="4572000" cy="457200"/>
          </a:xfrm>
          <a:prstGeom prst="roundRect">
            <a:avLst>
              <a:gd name="adj" fmla="val 13888"/>
            </a:avLst>
          </a:prstGeom>
          <a:solidFill>
            <a:srgbClr val="41EAD4">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143000" y="4483100"/>
            <a:ext cx="228600" cy="228600"/>
          </a:xfrm>
          <a:prstGeom prst="rect">
            <a:avLst/>
          </a:prstGeom>
        </p:spPr>
      </p:pic>
      <p:sp>
        <p:nvSpPr>
          <p:cNvPr name="AutoShape 17" id="17"/>
          <p:cNvSpPr/>
          <p:nvPr/>
        </p:nvSpPr>
        <p:spPr>
          <a:xfrm rot="0" flipH="false" flipV="false">
            <a:off x="1460500" y="44450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solidFill>
                <a:latin typeface="Noto Sans SC"/>
                <a:ea typeface="Noto Sans SC"/>
                <a:cs typeface="Noto Sans SC"/>
                <a:sym typeface="Noto Sans SC"/>
              </a:rPr>
              <a:t>训练速度快：</a:t>
            </a:r>
            <a:r>
              <a:rPr lang="en-US" b="false" i="false" strike="noStrike" u="none" sz="1400">
                <a:solidFill>
                  <a:srgbClr val="D1D5DB"/>
                </a:solidFill>
                <a:latin typeface="Noto Sans SC"/>
                <a:ea typeface="Noto Sans SC"/>
                <a:cs typeface="Noto Sans SC"/>
                <a:sym typeface="Noto Sans SC"/>
              </a:rPr>
              <a:t>收敛速度快，迭代周期显著缩短</a:t>
            </a:r>
            <a:endParaRPr lang="en-US" sz="1100"/>
          </a:p>
        </p:txBody>
      </p:sp>
      <p:sp>
        <p:nvSpPr>
          <p:cNvPr name="AutoShape 18" id="18"/>
          <p:cNvSpPr/>
          <p:nvPr/>
        </p:nvSpPr>
        <p:spPr>
          <a:xfrm rot="0" flipH="false" flipV="false">
            <a:off x="6350000" y="1524000"/>
            <a:ext cx="5080000" cy="3556000"/>
          </a:xfrm>
          <a:prstGeom prst="roundRect">
            <a:avLst>
              <a:gd name="adj" fmla="val 3571"/>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1778000"/>
            <a:ext cx="304800" cy="304800"/>
          </a:xfrm>
          <a:prstGeom prst="rect">
            <a:avLst/>
          </a:prstGeom>
        </p:spPr>
      </p:pic>
      <p:sp>
        <p:nvSpPr>
          <p:cNvPr name="AutoShape 20" id="20"/>
          <p:cNvSpPr/>
          <p:nvPr/>
        </p:nvSpPr>
        <p:spPr>
          <a:xfrm rot="0" flipH="false" flipV="false">
            <a:off x="6985000" y="17399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多模态训练数据构建</a:t>
            </a:r>
            <a:endParaRPr lang="en-US" sz="1100"/>
          </a:p>
        </p:txBody>
      </p:sp>
      <p:sp>
        <p:nvSpPr>
          <p:cNvPr name="AutoShape 21" id="21"/>
          <p:cNvSpPr/>
          <p:nvPr/>
        </p:nvSpPr>
        <p:spPr>
          <a:xfrm rot="0" flipH="false" flipV="false">
            <a:off x="6604000" y="2286000"/>
            <a:ext cx="2222500" cy="1143000"/>
          </a:xfrm>
          <a:prstGeom prst="roundRect">
            <a:avLst>
              <a:gd name="adj" fmla="val 11111"/>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794500" y="2476500"/>
            <a:ext cx="304800" cy="304800"/>
          </a:xfrm>
          <a:prstGeom prst="rect">
            <a:avLst/>
          </a:prstGeom>
        </p:spPr>
      </p:pic>
      <p:sp>
        <p:nvSpPr>
          <p:cNvPr name="AutoShape 23" id="23"/>
          <p:cNvSpPr/>
          <p:nvPr/>
        </p:nvSpPr>
        <p:spPr>
          <a:xfrm rot="0" flipH="false" flipV="false">
            <a:off x="6731000" y="2857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Poppins"/>
                <a:ea typeface="Poppins"/>
                <a:cs typeface="Poppins"/>
                <a:sym typeface="Poppins"/>
              </a:rPr>
              <a:t>2000+</a:t>
            </a:r>
            <a:r>
              <a:rPr lang="en-US" b="false" i="false" strike="noStrike" u="none" sz="1400">
                <a:solidFill>
                  <a:srgbClr val="D1D5DB"/>
                </a:solidFill>
                <a:latin typeface="Noto Sans SC"/>
                <a:ea typeface="Noto Sans SC"/>
                <a:cs typeface="Noto Sans SC"/>
                <a:sym typeface="Noto Sans SC"/>
              </a:rPr>
              <a:t>KB</a:t>
            </a:r>
            <a:endParaRPr lang="en-US" sz="1100"/>
          </a:p>
        </p:txBody>
      </p:sp>
      <p:sp>
        <p:nvSpPr>
          <p:cNvPr name="AutoShape 24" id="24"/>
          <p:cNvSpPr/>
          <p:nvPr/>
        </p:nvSpPr>
        <p:spPr>
          <a:xfrm rot="0" flipH="false" flipV="false">
            <a:off x="6731000" y="32385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A78BFA"/>
                </a:solidFill>
                <a:latin typeface="Noto Sans SC"/>
                <a:ea typeface="Noto Sans SC"/>
                <a:cs typeface="Noto Sans SC"/>
                <a:sym typeface="Noto Sans SC"/>
              </a:rPr>
              <a:t>PP&amp;SOP 专业文档</a:t>
            </a:r>
            <a:endParaRPr lang="en-US" sz="1100"/>
          </a:p>
        </p:txBody>
      </p:sp>
      <p:sp>
        <p:nvSpPr>
          <p:cNvPr name="AutoShape 25" id="25"/>
          <p:cNvSpPr/>
          <p:nvPr/>
        </p:nvSpPr>
        <p:spPr>
          <a:xfrm rot="0" flipH="false" flipV="false">
            <a:off x="8953500" y="2286000"/>
            <a:ext cx="2222500" cy="1143000"/>
          </a:xfrm>
          <a:prstGeom prst="roundRect">
            <a:avLst>
              <a:gd name="adj" fmla="val 11111"/>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144000" y="2476500"/>
            <a:ext cx="304800" cy="304800"/>
          </a:xfrm>
          <a:prstGeom prst="rect">
            <a:avLst/>
          </a:prstGeom>
        </p:spPr>
      </p:pic>
      <p:sp>
        <p:nvSpPr>
          <p:cNvPr name="AutoShape 27" id="27"/>
          <p:cNvSpPr/>
          <p:nvPr/>
        </p:nvSpPr>
        <p:spPr>
          <a:xfrm rot="0" flipH="false" flipV="false">
            <a:off x="9080500" y="2857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Poppins"/>
                <a:ea typeface="Poppins"/>
                <a:cs typeface="Poppins"/>
                <a:sym typeface="Poppins"/>
              </a:rPr>
              <a:t>5000+</a:t>
            </a:r>
            <a:r>
              <a:rPr lang="en-US" b="false" i="false" strike="noStrike" u="none" sz="1400">
                <a:solidFill>
                  <a:srgbClr val="D1D5DB"/>
                </a:solidFill>
                <a:latin typeface="Noto Sans SC"/>
                <a:ea typeface="Noto Sans SC"/>
                <a:cs typeface="Noto Sans SC"/>
                <a:sym typeface="Noto Sans SC"/>
              </a:rPr>
              <a:t>条</a:t>
            </a:r>
            <a:endParaRPr lang="en-US" sz="1100"/>
          </a:p>
        </p:txBody>
      </p:sp>
      <p:sp>
        <p:nvSpPr>
          <p:cNvPr name="AutoShape 28" id="28"/>
          <p:cNvSpPr/>
          <p:nvPr/>
        </p:nvSpPr>
        <p:spPr>
          <a:xfrm rot="0" flipH="false" flipV="false">
            <a:off x="9080500" y="32385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A78BFA"/>
                </a:solidFill>
                <a:latin typeface="Noto Sans SC"/>
                <a:ea typeface="Noto Sans SC"/>
                <a:cs typeface="Noto Sans SC"/>
                <a:sym typeface="Noto Sans SC"/>
              </a:rPr>
              <a:t>行业专属术语库</a:t>
            </a:r>
            <a:endParaRPr lang="en-US" sz="1100"/>
          </a:p>
        </p:txBody>
      </p:sp>
      <p:sp>
        <p:nvSpPr>
          <p:cNvPr name="AutoShape 29" id="29"/>
          <p:cNvSpPr/>
          <p:nvPr/>
        </p:nvSpPr>
        <p:spPr>
          <a:xfrm rot="0" flipH="false" flipV="false">
            <a:off x="6604000" y="3556000"/>
            <a:ext cx="2222500" cy="1143000"/>
          </a:xfrm>
          <a:prstGeom prst="roundRect">
            <a:avLst>
              <a:gd name="adj" fmla="val 11111"/>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794500" y="3746500"/>
            <a:ext cx="304800" cy="304800"/>
          </a:xfrm>
          <a:prstGeom prst="rect">
            <a:avLst/>
          </a:prstGeom>
        </p:spPr>
      </p:pic>
      <p:sp>
        <p:nvSpPr>
          <p:cNvPr name="AutoShape 31" id="31"/>
          <p:cNvSpPr/>
          <p:nvPr/>
        </p:nvSpPr>
        <p:spPr>
          <a:xfrm rot="0" flipH="false" flipV="false">
            <a:off x="6731000" y="4127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Poppins"/>
                <a:ea typeface="Poppins"/>
                <a:cs typeface="Poppins"/>
                <a:sym typeface="Poppins"/>
              </a:rPr>
              <a:t>10W+</a:t>
            </a:r>
            <a:r>
              <a:rPr lang="en-US" b="false" i="false" strike="noStrike" u="none" sz="1400">
                <a:solidFill>
                  <a:srgbClr val="D1D5DB"/>
                </a:solidFill>
                <a:latin typeface="Noto Sans SC"/>
                <a:ea typeface="Noto Sans SC"/>
                <a:cs typeface="Noto Sans SC"/>
                <a:sym typeface="Noto Sans SC"/>
              </a:rPr>
              <a:t>条</a:t>
            </a:r>
            <a:endParaRPr lang="en-US" sz="1100"/>
          </a:p>
        </p:txBody>
      </p:sp>
      <p:sp>
        <p:nvSpPr>
          <p:cNvPr name="AutoShape 32" id="32"/>
          <p:cNvSpPr/>
          <p:nvPr/>
        </p:nvSpPr>
        <p:spPr>
          <a:xfrm rot="0" flipH="false" flipV="false">
            <a:off x="6731000" y="45085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A78BFA"/>
                </a:solidFill>
                <a:latin typeface="Noto Sans SC"/>
                <a:ea typeface="Noto Sans SC"/>
                <a:cs typeface="Noto Sans SC"/>
                <a:sym typeface="Noto Sans SC"/>
              </a:rPr>
              <a:t>真实对话交互语料</a:t>
            </a:r>
            <a:endParaRPr lang="en-US" sz="1100"/>
          </a:p>
        </p:txBody>
      </p:sp>
      <p:sp>
        <p:nvSpPr>
          <p:cNvPr name="AutoShape 33" id="33"/>
          <p:cNvSpPr/>
          <p:nvPr/>
        </p:nvSpPr>
        <p:spPr>
          <a:xfrm rot="0" flipH="false" flipV="false">
            <a:off x="8953500" y="3556000"/>
            <a:ext cx="2222500" cy="1143000"/>
          </a:xfrm>
          <a:prstGeom prst="roundRect">
            <a:avLst>
              <a:gd name="adj" fmla="val 11111"/>
            </a:avLst>
          </a:prstGeom>
          <a:solidFill>
            <a:srgbClr val="9B5DE5">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9144000" y="3746500"/>
            <a:ext cx="304800" cy="304800"/>
          </a:xfrm>
          <a:prstGeom prst="rect">
            <a:avLst/>
          </a:prstGeom>
        </p:spPr>
      </p:pic>
      <p:sp>
        <p:nvSpPr>
          <p:cNvPr name="AutoShape 35" id="35"/>
          <p:cNvSpPr/>
          <p:nvPr/>
        </p:nvSpPr>
        <p:spPr>
          <a:xfrm rot="0" flipH="false" flipV="false">
            <a:off x="9080500" y="4127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Poppins"/>
                <a:ea typeface="Poppins"/>
                <a:cs typeface="Poppins"/>
                <a:sym typeface="Poppins"/>
              </a:rPr>
              <a:t>100W+</a:t>
            </a:r>
            <a:r>
              <a:rPr lang="en-US" b="false" i="false" strike="noStrike" u="none" sz="1400">
                <a:solidFill>
                  <a:srgbClr val="D1D5DB"/>
                </a:solidFill>
                <a:latin typeface="Noto Sans SC"/>
                <a:ea typeface="Noto Sans SC"/>
                <a:cs typeface="Noto Sans SC"/>
                <a:sym typeface="Noto Sans SC"/>
              </a:rPr>
              <a:t>条</a:t>
            </a:r>
            <a:endParaRPr lang="en-US" sz="1100"/>
          </a:p>
        </p:txBody>
      </p:sp>
      <p:sp>
        <p:nvSpPr>
          <p:cNvPr name="AutoShape 36" id="36"/>
          <p:cNvSpPr/>
          <p:nvPr/>
        </p:nvSpPr>
        <p:spPr>
          <a:xfrm rot="0" flipH="false" flipV="false">
            <a:off x="9080500" y="4508500"/>
            <a:ext cx="1778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A78BFA"/>
                </a:solidFill>
                <a:latin typeface="Noto Sans SC"/>
                <a:ea typeface="Noto Sans SC"/>
                <a:cs typeface="Noto Sans SC"/>
                <a:sym typeface="Noto Sans SC"/>
              </a:rPr>
              <a:t>历史运营业务数据</a:t>
            </a:r>
            <a:endParaRPr lang="en-US" sz="1100"/>
          </a:p>
        </p:txBody>
      </p:sp>
      <p:sp>
        <p:nvSpPr>
          <p:cNvPr name="AutoShape 37" id="37"/>
          <p:cNvSpPr/>
          <p:nvPr/>
        </p:nvSpPr>
        <p:spPr>
          <a:xfrm rot="0" flipH="false" flipV="false">
            <a:off x="0" y="6807200"/>
            <a:ext cx="12192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4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AGENT架构</a:t>
            </a:r>
            <a:endParaRPr lang="en-US" sz="1100"/>
          </a:p>
        </p:txBody>
      </p:sp>
      <p:sp>
        <p:nvSpPr>
          <p:cNvPr name="AutoShape 5" id="5"/>
          <p:cNvSpPr/>
          <p:nvPr/>
        </p:nvSpPr>
        <p:spPr>
          <a:xfrm rot="0" flipH="false" flipV="false">
            <a:off x="762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核心模块 (Core Modules)</a:t>
            </a:r>
            <a:endParaRPr lang="en-US" sz="1100"/>
          </a:p>
        </p:txBody>
      </p:sp>
      <p:sp>
        <p:nvSpPr>
          <p:cNvPr name="AutoShape 6" id="6"/>
          <p:cNvSpPr/>
          <p:nvPr/>
        </p:nvSpPr>
        <p:spPr>
          <a:xfrm rot="0" flipH="false" flipV="false">
            <a:off x="762000" y="1905000"/>
            <a:ext cx="2476500" cy="1270000"/>
          </a:xfrm>
          <a:prstGeom prst="roundRect">
            <a:avLst>
              <a:gd name="adj" fmla="val 10000"/>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95500"/>
            <a:ext cx="406400" cy="406400"/>
          </a:xfrm>
          <a:prstGeom prst="rect">
            <a:avLst/>
          </a:prstGeom>
        </p:spPr>
      </p:pic>
      <p:sp>
        <p:nvSpPr>
          <p:cNvPr name="AutoShape 8" id="8"/>
          <p:cNvSpPr/>
          <p:nvPr/>
        </p:nvSpPr>
        <p:spPr>
          <a:xfrm rot="0" flipH="false" flipV="false">
            <a:off x="1460500" y="20574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规划器</a:t>
            </a:r>
            <a:endParaRPr lang="en-US" sz="1100"/>
          </a:p>
        </p:txBody>
      </p:sp>
      <p:sp>
        <p:nvSpPr>
          <p:cNvPr name="AutoShape 9" id="9"/>
          <p:cNvSpPr/>
          <p:nvPr/>
        </p:nvSpPr>
        <p:spPr>
          <a:xfrm rot="0" flipH="false" flipV="false">
            <a:off x="952500" y="2540000"/>
            <a:ext cx="2095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拆解复杂任务，制定执行计划</a:t>
            </a:r>
            <a:endParaRPr lang="en-US" sz="1100"/>
          </a:p>
        </p:txBody>
      </p:sp>
      <p:sp>
        <p:nvSpPr>
          <p:cNvPr name="AutoShape 10" id="10"/>
          <p:cNvSpPr/>
          <p:nvPr/>
        </p:nvSpPr>
        <p:spPr>
          <a:xfrm rot="0" flipH="false" flipV="false">
            <a:off x="3365500" y="1905000"/>
            <a:ext cx="2476500" cy="1270000"/>
          </a:xfrm>
          <a:prstGeom prst="roundRect">
            <a:avLst>
              <a:gd name="adj" fmla="val 10000"/>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556000" y="2095500"/>
            <a:ext cx="406400" cy="406400"/>
          </a:xfrm>
          <a:prstGeom prst="rect">
            <a:avLst/>
          </a:prstGeom>
        </p:spPr>
      </p:pic>
      <p:sp>
        <p:nvSpPr>
          <p:cNvPr name="AutoShape 12" id="12"/>
          <p:cNvSpPr/>
          <p:nvPr/>
        </p:nvSpPr>
        <p:spPr>
          <a:xfrm rot="0" flipH="false" flipV="false">
            <a:off x="4064000" y="20574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记忆</a:t>
            </a:r>
            <a:endParaRPr lang="en-US" sz="1100"/>
          </a:p>
        </p:txBody>
      </p:sp>
      <p:sp>
        <p:nvSpPr>
          <p:cNvPr name="AutoShape 13" id="13"/>
          <p:cNvSpPr/>
          <p:nvPr/>
        </p:nvSpPr>
        <p:spPr>
          <a:xfrm rot="0" flipH="false" flipV="false">
            <a:off x="3556000" y="2540000"/>
            <a:ext cx="2095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存储历史交互与环境信息</a:t>
            </a:r>
            <a:endParaRPr lang="en-US" sz="1100"/>
          </a:p>
        </p:txBody>
      </p:sp>
      <p:sp>
        <p:nvSpPr>
          <p:cNvPr name="AutoShape 14" id="14"/>
          <p:cNvSpPr/>
          <p:nvPr/>
        </p:nvSpPr>
        <p:spPr>
          <a:xfrm rot="0" flipH="false" flipV="false">
            <a:off x="762000" y="3302000"/>
            <a:ext cx="2476500" cy="1270000"/>
          </a:xfrm>
          <a:prstGeom prst="roundRect">
            <a:avLst>
              <a:gd name="adj" fmla="val 10000"/>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3492500"/>
            <a:ext cx="406400" cy="406400"/>
          </a:xfrm>
          <a:prstGeom prst="rect">
            <a:avLst/>
          </a:prstGeom>
        </p:spPr>
      </p:pic>
      <p:sp>
        <p:nvSpPr>
          <p:cNvPr name="AutoShape 16" id="16"/>
          <p:cNvSpPr/>
          <p:nvPr/>
        </p:nvSpPr>
        <p:spPr>
          <a:xfrm rot="0" flipH="false" flipV="false">
            <a:off x="1460500" y="34544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工具箱</a:t>
            </a:r>
            <a:endParaRPr lang="en-US" sz="1100"/>
          </a:p>
        </p:txBody>
      </p:sp>
      <p:sp>
        <p:nvSpPr>
          <p:cNvPr name="AutoShape 17" id="17"/>
          <p:cNvSpPr/>
          <p:nvPr/>
        </p:nvSpPr>
        <p:spPr>
          <a:xfrm rot="0" flipH="false" flipV="false">
            <a:off x="952500" y="3937000"/>
            <a:ext cx="2095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集成搜索、计算等外部能力</a:t>
            </a:r>
            <a:endParaRPr lang="en-US" sz="1100"/>
          </a:p>
        </p:txBody>
      </p:sp>
      <p:sp>
        <p:nvSpPr>
          <p:cNvPr name="AutoShape 18" id="18"/>
          <p:cNvSpPr/>
          <p:nvPr/>
        </p:nvSpPr>
        <p:spPr>
          <a:xfrm rot="0" flipH="false" flipV="false">
            <a:off x="3365500" y="3302000"/>
            <a:ext cx="2476500" cy="1270000"/>
          </a:xfrm>
          <a:prstGeom prst="roundRect">
            <a:avLst>
              <a:gd name="adj" fmla="val 10000"/>
            </a:avLst>
          </a:prstGeom>
          <a:solidFill>
            <a:srgbClr val="FFFFFF">
              <a:alpha val="8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556000" y="3492500"/>
            <a:ext cx="406400" cy="406400"/>
          </a:xfrm>
          <a:prstGeom prst="rect">
            <a:avLst/>
          </a:prstGeom>
        </p:spPr>
      </p:pic>
      <p:sp>
        <p:nvSpPr>
          <p:cNvPr name="AutoShape 20" id="20"/>
          <p:cNvSpPr/>
          <p:nvPr/>
        </p:nvSpPr>
        <p:spPr>
          <a:xfrm rot="0" flipH="false" flipV="false">
            <a:off x="4064000" y="3454400"/>
            <a:ext cx="1651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执行器</a:t>
            </a:r>
            <a:endParaRPr lang="en-US" sz="1100"/>
          </a:p>
        </p:txBody>
      </p:sp>
      <p:sp>
        <p:nvSpPr>
          <p:cNvPr name="AutoShape 21" id="21"/>
          <p:cNvSpPr/>
          <p:nvPr/>
        </p:nvSpPr>
        <p:spPr>
          <a:xfrm rot="0" flipH="false" flipV="false">
            <a:off x="3556000" y="3937000"/>
            <a:ext cx="2095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执行具体动作并生成反馈</a:t>
            </a:r>
            <a:endParaRPr lang="en-US" sz="1100"/>
          </a:p>
        </p:txBody>
      </p:sp>
      <p:sp>
        <p:nvSpPr>
          <p:cNvPr name="AutoShape 22" id="22"/>
          <p:cNvSpPr/>
          <p:nvPr/>
        </p:nvSpPr>
        <p:spPr>
          <a:xfrm rot="0" flipH="false" flipV="false">
            <a:off x="6350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ReAct 自主决策范式 (Logic)</a:t>
            </a:r>
            <a:endParaRPr lang="en-US" sz="1100"/>
          </a:p>
        </p:txBody>
      </p:sp>
      <p:sp>
        <p:nvSpPr>
          <p:cNvPr name="AutoShape 23" id="23"/>
          <p:cNvSpPr/>
          <p:nvPr/>
        </p:nvSpPr>
        <p:spPr>
          <a:xfrm rot="0" flipH="false" flipV="false">
            <a:off x="6350000" y="1905000"/>
            <a:ext cx="5080000" cy="2667000"/>
          </a:xfrm>
          <a:prstGeom prst="roundRect">
            <a:avLst>
              <a:gd name="adj" fmla="val 4761"/>
            </a:avLst>
          </a:prstGeom>
          <a:solidFill>
            <a:srgbClr val="000000">
              <a:alpha val="40000"/>
            </a:srgbClr>
          </a:solidFill>
          <a:ln w="12700" cmpd="sng" cap="flat">
            <a:solidFill>
              <a:srgbClr val="9B5DE5">
                <a:alpha val="4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77000" y="2032000"/>
            <a:ext cx="4826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9B5DE5"/>
                </a:solidFill>
                <a:latin typeface="Roboto Mono"/>
                <a:ea typeface="Roboto Mono"/>
                <a:cs typeface="Roboto Mono"/>
                <a:sym typeface="Roboto Mono"/>
              </a:rPr>
              <a:t>def</a:t>
            </a:r>
            <a:r>
              <a:rPr lang="en-US" b="false" i="false" strike="noStrike" u="none" sz="1400">
                <a:solidFill>
                  <a:srgbClr val="FFFFFF"/>
                </a:solidFill>
                <a:latin typeface="Roboto Mono"/>
                <a:ea typeface="Roboto Mono"/>
                <a:cs typeface="Roboto Mono"/>
                <a:sym typeface="Roboto Mono"/>
              </a:rPr>
              <a:t>react_loop(agent, task):</a:t>
            </a:r>
            <a:r>
              <a:rPr lang="en-US" b="false" i="false" strike="noStrike" u="none" sz="1400">
                <a:solidFill>
                  <a:srgbClr val="1F2329"/>
                </a:solidFill>
                <a:latin typeface="Roboto Mono"/>
                <a:ea typeface="Roboto Mono"/>
                <a:cs typeface="Roboto Mono"/>
                <a:sym typeface="Roboto Mono"/>
              </a:rPr>
              <a:t/>
            </a:r>
            <a:endParaRPr lang="en-US" sz="1100"/>
          </a:p>
          <a:p>
            <a:pPr algn="l" indent="0">
              <a:lnSpc>
                <a:spcPct val="108333"/>
              </a:lnSpc>
            </a:pPr>
            <a:r>
              <a:rPr lang="en-US" b="false" i="false" strike="noStrike" u="none" sz="1400">
                <a:solidFill>
                  <a:srgbClr val="9B5DE5"/>
                </a:solidFill>
                <a:latin typeface="Roboto Mono"/>
                <a:ea typeface="Roboto Mono"/>
                <a:cs typeface="Roboto Mono"/>
                <a:sym typeface="Roboto Mono"/>
              </a:rPr>
              <a:t>while</a:t>
            </a:r>
            <a:r>
              <a:rPr lang="en-US" b="false" i="false" strike="noStrike" u="none" sz="1400">
                <a:solidFill>
                  <a:srgbClr val="FFFFFF"/>
                </a:solidFill>
                <a:latin typeface="Roboto Mono"/>
                <a:ea typeface="Roboto Mono"/>
                <a:cs typeface="Roboto Mono"/>
                <a:sym typeface="Roboto Mono"/>
              </a:rPr>
              <a:t>not task.done:</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FFFFFF"/>
                </a:solidFill>
                <a:latin typeface="Roboto Mono"/>
                <a:ea typeface="Roboto Mono"/>
                <a:cs typeface="Roboto Mono"/>
                <a:sym typeface="Roboto Mono"/>
              </a:rPr>
              <a:t># 1. 思考 (Reason)</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FFFFFF"/>
                </a:solidFill>
                <a:latin typeface="Roboto Mono"/>
                <a:ea typeface="Roboto Mono"/>
                <a:cs typeface="Roboto Mono"/>
                <a:sym typeface="Roboto Mono"/>
              </a:rPr>
              <a:t>thought = agent.plan(task)</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FFFFFF"/>
                </a:solidFill>
                <a:latin typeface="Roboto Mono"/>
                <a:ea typeface="Roboto Mono"/>
                <a:cs typeface="Roboto Mono"/>
                <a:sym typeface="Roboto Mono"/>
              </a:rPr>
              <a:t># 2. 行动 (Act)</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FFFFFF"/>
                </a:solidFill>
                <a:latin typeface="Roboto Mono"/>
                <a:ea typeface="Roboto Mono"/>
                <a:cs typeface="Roboto Mono"/>
                <a:sym typeface="Roboto Mono"/>
              </a:rPr>
              <a:t>action = agent.execute(thought)</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FFFFFF"/>
                </a:solidFill>
                <a:latin typeface="Roboto Mono"/>
                <a:ea typeface="Roboto Mono"/>
                <a:cs typeface="Roboto Mono"/>
                <a:sym typeface="Roboto Mono"/>
              </a:rPr>
              <a:t># 3. 观察 (Observe)</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FFFFFF"/>
                </a:solidFill>
                <a:latin typeface="Roboto Mono"/>
                <a:ea typeface="Roboto Mono"/>
                <a:cs typeface="Roboto Mono"/>
                <a:sym typeface="Roboto Mono"/>
              </a:rPr>
              <a:t>obs = env.step(action)</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FFFFFF"/>
                </a:solidFill>
                <a:latin typeface="Roboto Mono"/>
                <a:ea typeface="Roboto Mono"/>
                <a:cs typeface="Roboto Mono"/>
                <a:sym typeface="Roboto Mono"/>
              </a:rPr>
              <a:t>agent.memory.add(obs)</a:t>
            </a:r>
          </a:p>
        </p:txBody>
      </p:sp>
      <p:sp>
        <p:nvSpPr>
          <p:cNvPr name="AutoShape 25" id="25"/>
          <p:cNvSpPr/>
          <p:nvPr/>
        </p:nvSpPr>
        <p:spPr>
          <a:xfrm rot="0" flipH="false" flipV="false">
            <a:off x="762000" y="4953000"/>
            <a:ext cx="10668000" cy="762000"/>
          </a:xfrm>
          <a:prstGeom prst="roundRect">
            <a:avLst>
              <a:gd name="adj" fmla="val 16666"/>
            </a:avLst>
          </a:prstGeom>
          <a:gradFill rotWithShape="true">
            <a:gsLst>
              <a:gs pos="0">
                <a:srgbClr val="41EAD4">
                  <a:alpha val="10000"/>
                </a:srgbClr>
              </a:gs>
              <a:gs pos="100000">
                <a:srgbClr val="9B5DE5">
                  <a:alpha val="10000"/>
                </a:srgbClr>
              </a:gs>
            </a:gsLst>
            <a:lin ang="0"/>
          </a:gra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181600"/>
            <a:ext cx="304800" cy="304800"/>
          </a:xfrm>
          <a:prstGeom prst="rect">
            <a:avLst/>
          </a:prstGeom>
        </p:spPr>
      </p:pic>
      <p:sp>
        <p:nvSpPr>
          <p:cNvPr name="AutoShape 27" id="27"/>
          <p:cNvSpPr/>
          <p:nvPr/>
        </p:nvSpPr>
        <p:spPr>
          <a:xfrm rot="0" flipH="false" flipV="false">
            <a:off x="1460500" y="5143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DCDCDC"/>
                </a:solidFill>
                <a:latin typeface="Noto Sans SC"/>
                <a:ea typeface="Noto Sans SC"/>
                <a:cs typeface="Noto Sans SC"/>
                <a:sym typeface="Noto Sans SC"/>
              </a:rPr>
              <a:t>AGENT通过</a:t>
            </a:r>
            <a:r>
              <a:rPr lang="en-US" b="true" i="false" strike="noStrike" u="none" sz="1600">
                <a:solidFill>
                  <a:srgbClr val="41EAD4"/>
                </a:solidFill>
                <a:latin typeface="Noto Sans SC"/>
                <a:ea typeface="Noto Sans SC"/>
                <a:cs typeface="Noto Sans SC"/>
                <a:sym typeface="Noto Sans SC"/>
              </a:rPr>
              <a:t>ReAct 闭环</a:t>
            </a:r>
            <a:r>
              <a:rPr lang="en-US" b="false" i="false" strike="noStrike" u="none" sz="1600">
                <a:solidFill>
                  <a:srgbClr val="DCDCDC"/>
                </a:solidFill>
                <a:latin typeface="Noto Sans SC"/>
                <a:ea typeface="Noto Sans SC"/>
                <a:cs typeface="Noto Sans SC"/>
                <a:sym typeface="Noto Sans SC"/>
              </a:rPr>
              <a:t>实现从感知到决策的全流程自主化，结合记忆与工具使用，解决复杂任务。</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4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向量检索引擎</a:t>
            </a:r>
            <a:endParaRPr lang="en-US" sz="1100"/>
          </a:p>
        </p:txBody>
      </p:sp>
      <p:sp>
        <p:nvSpPr>
          <p:cNvPr name="AutoShape 5" id="5"/>
          <p:cNvSpPr/>
          <p:nvPr/>
        </p:nvSpPr>
        <p:spPr>
          <a:xfrm rot="0" flipH="false" flipV="false">
            <a:off x="762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核心检索流程</a:t>
            </a:r>
            <a:endParaRPr lang="en-US" sz="1100"/>
          </a:p>
        </p:txBody>
      </p:sp>
      <p:sp>
        <p:nvSpPr>
          <p:cNvPr name="AutoShape 6" id="6"/>
          <p:cNvSpPr/>
          <p:nvPr/>
        </p:nvSpPr>
        <p:spPr>
          <a:xfrm rot="0" flipH="false" flipV="false">
            <a:off x="762000" y="1905000"/>
            <a:ext cx="5080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46300"/>
            <a:ext cx="406400" cy="406400"/>
          </a:xfrm>
          <a:prstGeom prst="rect">
            <a:avLst/>
          </a:prstGeom>
        </p:spPr>
      </p:pic>
      <p:sp>
        <p:nvSpPr>
          <p:cNvPr name="AutoShape 8" id="8"/>
          <p:cNvSpPr/>
          <p:nvPr/>
        </p:nvSpPr>
        <p:spPr>
          <a:xfrm rot="0" flipH="false" flipV="false">
            <a:off x="1587500" y="20320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用户查询与向量化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接收自然语言输入，转化为高维向量表示</a:t>
            </a:r>
          </a:p>
        </p:txBody>
      </p:sp>
      <p:sp>
        <p:nvSpPr>
          <p:cNvPr name="AutoShape 9" id="9"/>
          <p:cNvSpPr/>
          <p:nvPr/>
        </p:nvSpPr>
        <p:spPr>
          <a:xfrm rot="0" flipH="false" flipV="false">
            <a:off x="762000" y="2921000"/>
            <a:ext cx="5080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162300"/>
            <a:ext cx="406400" cy="406400"/>
          </a:xfrm>
          <a:prstGeom prst="rect">
            <a:avLst/>
          </a:prstGeom>
        </p:spPr>
      </p:pic>
      <p:sp>
        <p:nvSpPr>
          <p:cNvPr name="AutoShape 11" id="11"/>
          <p:cNvSpPr/>
          <p:nvPr/>
        </p:nvSpPr>
        <p:spPr>
          <a:xfrm rot="0" flipH="false" flipV="false">
            <a:off x="1587500" y="30480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混合检索策略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结合 BM25 与向量检索，快速召回候选集</a:t>
            </a:r>
          </a:p>
        </p:txBody>
      </p:sp>
      <p:sp>
        <p:nvSpPr>
          <p:cNvPr name="AutoShape 12" id="12"/>
          <p:cNvSpPr/>
          <p:nvPr/>
        </p:nvSpPr>
        <p:spPr>
          <a:xfrm rot="0" flipH="false" flipV="false">
            <a:off x="762000" y="3937000"/>
            <a:ext cx="5080000" cy="889000"/>
          </a:xfrm>
          <a:prstGeom prst="roundRect">
            <a:avLst>
              <a:gd name="adj" fmla="val 14285"/>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178300"/>
            <a:ext cx="406400" cy="406400"/>
          </a:xfrm>
          <a:prstGeom prst="rect">
            <a:avLst/>
          </a:prstGeom>
        </p:spPr>
      </p:pic>
      <p:sp>
        <p:nvSpPr>
          <p:cNvPr name="AutoShape 14" id="14"/>
          <p:cNvSpPr/>
          <p:nvPr/>
        </p:nvSpPr>
        <p:spPr>
          <a:xfrm rot="0" flipH="false" flipV="false">
            <a:off x="1587500" y="4064000"/>
            <a:ext cx="406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精排与结果返回</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交叉注意力重排序，返回Top-N精准结果</a:t>
            </a:r>
          </a:p>
        </p:txBody>
      </p:sp>
      <p:sp>
        <p:nvSpPr>
          <p:cNvPr name="AutoShape 15" id="15"/>
          <p:cNvSpPr/>
          <p:nvPr/>
        </p:nvSpPr>
        <p:spPr>
          <a:xfrm rot="0" flipH="false" flipV="false">
            <a:off x="6350000" y="13970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关键性能指标</a:t>
            </a:r>
            <a:endParaRPr lang="en-US" sz="1100"/>
          </a:p>
        </p:txBody>
      </p:sp>
      <p:sp>
        <p:nvSpPr>
          <p:cNvPr name="AutoShape 16" id="16"/>
          <p:cNvSpPr/>
          <p:nvPr/>
        </p:nvSpPr>
        <p:spPr>
          <a:xfrm rot="0" flipH="false" flipV="false">
            <a:off x="6350000" y="1905000"/>
            <a:ext cx="1524000" cy="1524000"/>
          </a:xfrm>
          <a:prstGeom prst="roundRect">
            <a:avLst>
              <a:gd name="adj" fmla="val 8333"/>
            </a:avLst>
          </a:prstGeom>
          <a:solidFill>
            <a:srgbClr val="9B5DE5">
              <a:alpha val="10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883400" y="2095500"/>
            <a:ext cx="457200" cy="457200"/>
          </a:xfrm>
          <a:prstGeom prst="rect">
            <a:avLst/>
          </a:prstGeom>
        </p:spPr>
      </p:pic>
      <p:sp>
        <p:nvSpPr>
          <p:cNvPr name="AutoShape 18" id="18"/>
          <p:cNvSpPr/>
          <p:nvPr/>
        </p:nvSpPr>
        <p:spPr>
          <a:xfrm rot="0" flipH="false" flipV="false">
            <a:off x="6350000" y="2603500"/>
            <a:ext cx="152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FFFFFF"/>
                </a:solidFill>
                <a:latin typeface="Poppins"/>
                <a:ea typeface="Poppins"/>
                <a:cs typeface="Poppins"/>
                <a:sym typeface="Poppins"/>
              </a:rPr>
              <a:t>&lt; 3s</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平均响应时间</a:t>
            </a:r>
          </a:p>
        </p:txBody>
      </p:sp>
      <p:sp>
        <p:nvSpPr>
          <p:cNvPr name="AutoShape 19" id="19"/>
          <p:cNvSpPr/>
          <p:nvPr/>
        </p:nvSpPr>
        <p:spPr>
          <a:xfrm rot="0" flipH="false" flipV="false">
            <a:off x="8001000" y="1905000"/>
            <a:ext cx="1524000" cy="1524000"/>
          </a:xfrm>
          <a:prstGeom prst="roundRect">
            <a:avLst>
              <a:gd name="adj" fmla="val 8333"/>
            </a:avLst>
          </a:prstGeom>
          <a:solidFill>
            <a:srgbClr val="9B5DE5">
              <a:alpha val="10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534400" y="2095500"/>
            <a:ext cx="457200" cy="457200"/>
          </a:xfrm>
          <a:prstGeom prst="rect">
            <a:avLst/>
          </a:prstGeom>
        </p:spPr>
      </p:pic>
      <p:sp>
        <p:nvSpPr>
          <p:cNvPr name="AutoShape 21" id="21"/>
          <p:cNvSpPr/>
          <p:nvPr/>
        </p:nvSpPr>
        <p:spPr>
          <a:xfrm rot="0" flipH="false" flipV="false">
            <a:off x="8001000" y="2603500"/>
            <a:ext cx="152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FFFFFF"/>
                </a:solidFill>
                <a:latin typeface="Poppins"/>
                <a:ea typeface="Poppins"/>
                <a:cs typeface="Poppins"/>
                <a:sym typeface="Poppins"/>
              </a:rPr>
              <a:t>&gt; 95%</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检索准确率</a:t>
            </a:r>
          </a:p>
        </p:txBody>
      </p:sp>
      <p:sp>
        <p:nvSpPr>
          <p:cNvPr name="AutoShape 22" id="22"/>
          <p:cNvSpPr/>
          <p:nvPr/>
        </p:nvSpPr>
        <p:spPr>
          <a:xfrm rot="0" flipH="false" flipV="false">
            <a:off x="9652000" y="1905000"/>
            <a:ext cx="1524000" cy="1524000"/>
          </a:xfrm>
          <a:prstGeom prst="roundRect">
            <a:avLst>
              <a:gd name="adj" fmla="val 8333"/>
            </a:avLst>
          </a:prstGeom>
          <a:solidFill>
            <a:srgbClr val="9B5DE5">
              <a:alpha val="10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185400" y="2095500"/>
            <a:ext cx="457200" cy="457200"/>
          </a:xfrm>
          <a:prstGeom prst="rect">
            <a:avLst/>
          </a:prstGeom>
        </p:spPr>
      </p:pic>
      <p:sp>
        <p:nvSpPr>
          <p:cNvPr name="AutoShape 24" id="24"/>
          <p:cNvSpPr/>
          <p:nvPr/>
        </p:nvSpPr>
        <p:spPr>
          <a:xfrm rot="0" flipH="false" flipV="false">
            <a:off x="9652000" y="2603500"/>
            <a:ext cx="152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FFFFFF"/>
                </a:solidFill>
                <a:latin typeface="Poppins"/>
                <a:ea typeface="Poppins"/>
                <a:cs typeface="Poppins"/>
                <a:sym typeface="Poppins"/>
              </a:rPr>
              <a:t>1000+</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并发 QPS 能力</a:t>
            </a:r>
          </a:p>
        </p:txBody>
      </p:sp>
      <p:sp>
        <p:nvSpPr>
          <p:cNvPr name="AutoShape 25" id="25"/>
          <p:cNvSpPr/>
          <p:nvPr/>
        </p:nvSpPr>
        <p:spPr>
          <a:xfrm rot="0" flipH="false" flipV="false">
            <a:off x="6350000" y="3683000"/>
            <a:ext cx="4826000" cy="1143000"/>
          </a:xfrm>
          <a:prstGeom prst="roundRect">
            <a:avLst>
              <a:gd name="adj" fmla="val 11111"/>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477000" y="3810000"/>
            <a:ext cx="4572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系统优势总结：</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通过高维向量空间的精准映射与高效检索算法，实现了海量数据下的毫秒级响应与高准确度召回，支撑业务的实时决策需求。</a:t>
            </a:r>
          </a:p>
        </p:txBody>
      </p:sp>
      <p:cxnSp>
        <p:nvCxnSpPr>
          <p:cNvPr name="Connector 27" id="27"/>
          <p:cNvCxnSpPr/>
          <p:nvPr/>
        </p:nvCxnSpPr>
        <p:spPr>
          <a:xfrm rot="-4092" flipH="false" flipV="false">
            <a:off x="762004" y="5073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8" id="28"/>
          <p:cNvSpPr/>
          <p:nvPr/>
        </p:nvSpPr>
        <p:spPr>
          <a:xfrm rot="0" flipH="false" flipV="false">
            <a:off x="762000" y="5334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50196"/>
                  </a:srgbClr>
                </a:solidFill>
                <a:latin typeface="Noto Sans SC"/>
                <a:ea typeface="Noto Sans SC"/>
                <a:cs typeface="Noto Sans SC"/>
                <a:sym typeface="Noto Sans SC"/>
              </a:rPr>
              <a:t>AHL 智能检索系统 · 2024 技术白皮书</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D1B2A">
                  <a:alpha val="100000"/>
                </a:srgbClr>
              </a:gs>
              <a:gs pos="50000">
                <a:srgbClr val="41EAD4">
                  <a:alpha val="100000"/>
                </a:srgbClr>
              </a:gs>
              <a:gs pos="100000">
                <a:srgbClr val="0D1B2A">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699000" y="1270000"/>
            <a:ext cx="2794000" cy="1524000"/>
          </a:xfrm>
          <a:prstGeom prst="rect">
            <a:avLst/>
          </a:prstGeom>
          <a:noFill/>
          <a:ln w="12700" cmpd="sng" cap="flat">
            <a:noFill/>
            <a:prstDash val="solid"/>
            <a:round/>
          </a:ln>
          <a:effectLst>
            <a:outerShdw dir="2700000" dist="0" blurRad="254000" algn="tl" rotWithShape="false">
              <a:srgbClr val="41EAD4">
                <a:alpha val="40000"/>
              </a:srgbClr>
            </a:outerShdw>
          </a:effectLst>
        </p:spPr>
        <p:txBody>
          <a:bodyPr anchor="ctr" rtlCol="false" anchorCtr="false" vert="horz" wrap="none" lIns="0" rIns="0" tIns="0" bIns="0"/>
          <a:lstStyle/>
          <a:p>
            <a:pPr algn="ctr" indent="0">
              <a:lnSpc>
                <a:spcPct val="125000"/>
              </a:lnSpc>
              <a:defRPr/>
            </a:pPr>
            <a:r>
              <a:rPr lang="en-US" b="true" i="false" strike="noStrike" u="none" sz="10000">
                <a:solidFill>
                  <a:srgbClr val="41EAD4"/>
                </a:solidFill>
                <a:latin typeface="DIN Alternate"/>
                <a:ea typeface="DIN Alternate"/>
                <a:cs typeface="DIN Alternate"/>
                <a:sym typeface="DIN Alternate"/>
              </a:rPr>
              <a:t>04</a:t>
            </a:r>
            <a:endParaRPr lang="en-US" sz="1100"/>
          </a:p>
        </p:txBody>
      </p:sp>
      <p:sp>
        <p:nvSpPr>
          <p:cNvPr name="AutoShape 6" id="6"/>
          <p:cNvSpPr/>
          <p:nvPr/>
        </p:nvSpPr>
        <p:spPr>
          <a:xfrm rot="0" flipH="false" flipV="false">
            <a:off x="3556000" y="2794000"/>
            <a:ext cx="508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SKILL体系</a:t>
            </a:r>
            <a:endParaRPr lang="en-US" sz="1100"/>
          </a:p>
        </p:txBody>
      </p:sp>
      <p:cxnSp>
        <p:nvCxnSpPr>
          <p:cNvPr name="Connector 7" id="7"/>
          <p:cNvCxnSpPr/>
          <p:nvPr/>
        </p:nvCxnSpPr>
        <p:spPr>
          <a:xfrm rot="-34376" flipH="false" flipV="false">
            <a:off x="5461032" y="3549650"/>
            <a:ext cx="1270000" cy="12700"/>
          </a:xfrm>
          <a:prstGeom prst="line">
            <a:avLst/>
          </a:prstGeom>
          <a:solidFill>
            <a:srgbClr val="DEE0E3">
              <a:alpha val="100000"/>
            </a:srgbClr>
          </a:solidFill>
          <a:ln w="25400" cmpd="sng" cap="flat">
            <a:solidFill>
              <a:srgbClr val="9B5DE5">
                <a:alpha val="100000"/>
              </a:srgbClr>
            </a:solidFill>
            <a:prstDash val="solid"/>
            <a:round/>
            <a:headEnd type="none" w="lg" len="lg"/>
            <a:tailEnd type="none" w="lg" len="lg"/>
          </a:ln>
        </p:spPr>
      </p:cxnSp>
      <p:sp>
        <p:nvSpPr>
          <p:cNvPr name="AutoShape 8" id="8"/>
          <p:cNvSpPr/>
          <p:nvPr/>
        </p:nvSpPr>
        <p:spPr>
          <a:xfrm rot="0" flipH="false" flipV="false">
            <a:off x="2286000" y="3810000"/>
            <a:ext cx="762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800" spc="100">
                <a:solidFill>
                  <a:srgbClr val="FFFFFF">
                    <a:alpha val="80000"/>
                  </a:srgbClr>
                </a:solidFill>
                <a:latin typeface="Noto Sans SC"/>
                <a:ea typeface="Noto Sans SC"/>
                <a:cs typeface="Noto Sans SC"/>
                <a:sym typeface="Noto Sans SC"/>
              </a:rPr>
              <a:t>SKILL定义、分类与编排机制</a:t>
            </a:r>
            <a:endParaRPr lang="en-US" sz="1100"/>
          </a:p>
        </p:txBody>
      </p:sp>
      <p:sp>
        <p:nvSpPr>
          <p:cNvPr name="AutoShape 9" id="9"/>
          <p:cNvSpPr/>
          <p:nvPr/>
        </p:nvSpPr>
        <p:spPr>
          <a:xfrm rot="0" flipH="false" flipV="false">
            <a:off x="5969000" y="4826000"/>
            <a:ext cx="254000" cy="254000"/>
          </a:xfrm>
          <a:prstGeom prst="roundRect">
            <a:avLst>
              <a:gd name="adj" fmla="val 0"/>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572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SKILL定义与分类</a:t>
            </a:r>
            <a:endParaRPr lang="en-US" sz="1100"/>
          </a:p>
        </p:txBody>
      </p:sp>
      <p:sp>
        <p:nvSpPr>
          <p:cNvPr name="AutoShape 5" id="5"/>
          <p:cNvSpPr/>
          <p:nvPr/>
        </p:nvSpPr>
        <p:spPr>
          <a:xfrm rot="0" flipH="false" flipV="false">
            <a:off x="762000" y="139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1EAD4"/>
                </a:solidFill>
                <a:latin typeface="Noto Sans SC"/>
                <a:ea typeface="Noto Sans SC"/>
                <a:cs typeface="Noto Sans SC"/>
                <a:sym typeface="Noto Sans SC"/>
              </a:rPr>
              <a:t>SKILL 标准结构：可插拔的能力单元</a:t>
            </a:r>
            <a:endParaRPr lang="en-US" sz="1100"/>
          </a:p>
        </p:txBody>
      </p:sp>
      <p:sp>
        <p:nvSpPr>
          <p:cNvPr name="AutoShape 6" id="6"/>
          <p:cNvSpPr/>
          <p:nvPr/>
        </p:nvSpPr>
        <p:spPr>
          <a:xfrm rot="0" flipH="false" flipV="false">
            <a:off x="762000" y="1905000"/>
            <a:ext cx="3378200" cy="1270000"/>
          </a:xfrm>
          <a:prstGeom prst="roundRect">
            <a:avLst>
              <a:gd name="adj" fmla="val 100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95500"/>
            <a:ext cx="406400" cy="406400"/>
          </a:xfrm>
          <a:prstGeom prst="rect">
            <a:avLst/>
          </a:prstGeom>
        </p:spPr>
      </p:pic>
      <p:sp>
        <p:nvSpPr>
          <p:cNvPr name="AutoShape 8" id="8"/>
          <p:cNvSpPr/>
          <p:nvPr/>
        </p:nvSpPr>
        <p:spPr>
          <a:xfrm rot="0" flipH="false" flipV="false">
            <a:off x="1397000" y="2032000"/>
            <a:ext cx="266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元信息 (Meta)</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包含ID、名称、版本号、所属领域等基础标识信息，确保唯一性。</a:t>
            </a:r>
          </a:p>
        </p:txBody>
      </p:sp>
      <p:sp>
        <p:nvSpPr>
          <p:cNvPr name="AutoShape 9" id="9"/>
          <p:cNvSpPr/>
          <p:nvPr/>
        </p:nvSpPr>
        <p:spPr>
          <a:xfrm rot="0" flipH="false" flipV="false">
            <a:off x="4394200" y="1905000"/>
            <a:ext cx="3378200" cy="1270000"/>
          </a:xfrm>
          <a:prstGeom prst="roundRect">
            <a:avLst>
              <a:gd name="adj" fmla="val 100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84700" y="2095500"/>
            <a:ext cx="406400" cy="406400"/>
          </a:xfrm>
          <a:prstGeom prst="rect">
            <a:avLst/>
          </a:prstGeom>
        </p:spPr>
      </p:pic>
      <p:sp>
        <p:nvSpPr>
          <p:cNvPr name="AutoShape 11" id="11"/>
          <p:cNvSpPr/>
          <p:nvPr/>
        </p:nvSpPr>
        <p:spPr>
          <a:xfrm rot="0" flipH="false" flipV="false">
            <a:off x="5029200" y="2032000"/>
            <a:ext cx="266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业务逻辑 (Logic)</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封装核心业务处理流程与算法逻辑，实现特定功能的独立执行体。</a:t>
            </a:r>
          </a:p>
        </p:txBody>
      </p:sp>
      <p:sp>
        <p:nvSpPr>
          <p:cNvPr name="AutoShape 12" id="12"/>
          <p:cNvSpPr/>
          <p:nvPr/>
        </p:nvSpPr>
        <p:spPr>
          <a:xfrm rot="0" flipH="false" flipV="false">
            <a:off x="8026400" y="1905000"/>
            <a:ext cx="3378200" cy="1270000"/>
          </a:xfrm>
          <a:prstGeom prst="roundRect">
            <a:avLst>
              <a:gd name="adj" fmla="val 10000"/>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16900" y="2095500"/>
            <a:ext cx="406400" cy="406400"/>
          </a:xfrm>
          <a:prstGeom prst="rect">
            <a:avLst/>
          </a:prstGeom>
        </p:spPr>
      </p:pic>
      <p:sp>
        <p:nvSpPr>
          <p:cNvPr name="AutoShape 14" id="14"/>
          <p:cNvSpPr/>
          <p:nvPr/>
        </p:nvSpPr>
        <p:spPr>
          <a:xfrm rot="0" flipH="false" flipV="false">
            <a:off x="8661400" y="2032000"/>
            <a:ext cx="266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接口定义 (API)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标准化的输入输出参数规范，支持跨系统调用、集成与自动化触发。</a:t>
            </a:r>
          </a:p>
        </p:txBody>
      </p:sp>
      <p:sp>
        <p:nvSpPr>
          <p:cNvPr name="AutoShape 15" id="15"/>
          <p:cNvSpPr/>
          <p:nvPr/>
        </p:nvSpPr>
        <p:spPr>
          <a:xfrm rot="0" flipH="false" flipV="false">
            <a:off x="762000" y="3556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B5DE5"/>
                </a:solidFill>
                <a:latin typeface="Noto Sans SC"/>
                <a:ea typeface="Noto Sans SC"/>
                <a:cs typeface="Noto Sans SC"/>
                <a:sym typeface="Noto Sans SC"/>
              </a:rPr>
              <a:t>SKILL 分类体系：覆盖 80+ 核心业务场景</a:t>
            </a:r>
            <a:endParaRPr lang="en-US" sz="1100"/>
          </a:p>
        </p:txBody>
      </p:sp>
      <p:sp>
        <p:nvSpPr>
          <p:cNvPr name="AutoShape 16" id="16"/>
          <p:cNvSpPr/>
          <p:nvPr/>
        </p:nvSpPr>
        <p:spPr>
          <a:xfrm rot="0" flipH="false" flipV="false">
            <a:off x="762000" y="4064000"/>
            <a:ext cx="5270500" cy="1651000"/>
          </a:xfrm>
          <a:prstGeom prst="roundRect">
            <a:avLst>
              <a:gd name="adj" fmla="val 7692"/>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4254500"/>
            <a:ext cx="406400" cy="406400"/>
          </a:xfrm>
          <a:prstGeom prst="rect">
            <a:avLst/>
          </a:prstGeom>
        </p:spPr>
      </p:pic>
      <p:sp>
        <p:nvSpPr>
          <p:cNvPr name="AutoShape 18" id="18"/>
          <p:cNvSpPr/>
          <p:nvPr/>
        </p:nvSpPr>
        <p:spPr>
          <a:xfrm rot="0" flipH="false" flipV="false">
            <a:off x="1397000" y="4191000"/>
            <a:ext cx="4445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C端：面向宾客服务体验</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客房服务：入住办理、续住、退房、房态管理、维修上报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餐饮服务：扫码点餐、自助结账、会员权益核销、菜品推荐</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礼宾服务：行李寄存、叫醒服务、接送机预约、失物招领</a:t>
            </a:r>
          </a:p>
        </p:txBody>
      </p:sp>
      <p:sp>
        <p:nvSpPr>
          <p:cNvPr name="AutoShape 19" id="19"/>
          <p:cNvSpPr/>
          <p:nvPr/>
        </p:nvSpPr>
        <p:spPr>
          <a:xfrm rot="0" flipH="false" flipV="false">
            <a:off x="6134100" y="4064000"/>
            <a:ext cx="5270500" cy="1651000"/>
          </a:xfrm>
          <a:prstGeom prst="roundRect">
            <a:avLst>
              <a:gd name="adj" fmla="val 7692"/>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324600" y="4254500"/>
            <a:ext cx="406400" cy="406400"/>
          </a:xfrm>
          <a:prstGeom prst="rect">
            <a:avLst/>
          </a:prstGeom>
        </p:spPr>
      </p:pic>
      <p:sp>
        <p:nvSpPr>
          <p:cNvPr name="AutoShape 21" id="21"/>
          <p:cNvSpPr/>
          <p:nvPr/>
        </p:nvSpPr>
        <p:spPr>
          <a:xfrm rot="0" flipH="false" flipV="false">
            <a:off x="6769100" y="4191000"/>
            <a:ext cx="4445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B端：面向酒店高效运营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收益管理：房价动态调整、渠道分销策略、市场竞对分析</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运营管理：员工排班调度、物资盘点、能耗监控、清洁管理</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市场营销：会员拉新裂变、活动策划执行、精准客群推送</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810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SKILL编排机制</a:t>
            </a:r>
            <a:endParaRPr lang="en-US" sz="1100"/>
          </a:p>
        </p:txBody>
      </p:sp>
      <p:sp>
        <p:nvSpPr>
          <p:cNvPr name="AutoShape 5" id="5"/>
          <p:cNvSpPr/>
          <p:nvPr/>
        </p:nvSpPr>
        <p:spPr>
          <a:xfrm rot="0" flipH="false" flipV="false">
            <a:off x="762000" y="1397000"/>
            <a:ext cx="5080000" cy="3302000"/>
          </a:xfrm>
          <a:prstGeom prst="roundRect">
            <a:avLst>
              <a:gd name="adj" fmla="val 3846"/>
            </a:avLst>
          </a:prstGeom>
          <a:solidFill>
            <a:srgbClr val="141E30">
              <a:alpha val="60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24000"/>
            <a:ext cx="457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1EAD4"/>
                </a:solidFill>
                <a:latin typeface="Noto Sans SC"/>
                <a:ea typeface="Noto Sans SC"/>
                <a:cs typeface="Noto Sans SC"/>
                <a:sym typeface="Noto Sans SC"/>
              </a:rPr>
              <a:t>DSL 脚本示例：智能预订流程</a:t>
            </a:r>
            <a:endParaRPr lang="en-US" sz="1100"/>
          </a:p>
        </p:txBody>
      </p:sp>
      <p:sp>
        <p:nvSpPr>
          <p:cNvPr name="AutoShape 7" id="7"/>
          <p:cNvSpPr/>
          <p:nvPr/>
        </p:nvSpPr>
        <p:spPr>
          <a:xfrm rot="0" flipH="false" flipV="false">
            <a:off x="1016000" y="1968500"/>
            <a:ext cx="4572000" cy="2286000"/>
          </a:xfrm>
          <a:prstGeom prst="roundRect">
            <a:avLst>
              <a:gd name="adj" fmla="val 2777"/>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2095500"/>
            <a:ext cx="4318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9B5DE5"/>
                </a:solidFill>
                <a:latin typeface="Roboto Mono"/>
                <a:ea typeface="Roboto Mono"/>
                <a:cs typeface="Roboto Mono"/>
                <a:sym typeface="Roboto Mono"/>
              </a:rPr>
              <a:t>flow</a:t>
            </a:r>
            <a:r>
              <a:rPr lang="en-US" b="false" i="false" strike="noStrike" u="none" sz="1400">
                <a:solidFill>
                  <a:srgbClr val="DCDCDC"/>
                </a:solidFill>
                <a:latin typeface="Roboto Mono"/>
                <a:ea typeface="Roboto Mono"/>
                <a:cs typeface="Roboto Mono"/>
                <a:sym typeface="Roboto Mono"/>
              </a:rPr>
              <a:t>"reservation_process"</a:t>
            </a:r>
            <a:r>
              <a:rPr lang="en-US" b="false" i="false" strike="noStrike" u="none" sz="1400">
                <a:solidFill>
                  <a:srgbClr val="1F2329"/>
                </a:solidFill>
                <a:latin typeface="Roboto Mono"/>
                <a:ea typeface="Roboto Mono"/>
                <a:cs typeface="Roboto Mono"/>
                <a:sym typeface="Roboto Mono"/>
              </a:rPr>
              <a:t/>
            </a:r>
            <a:endParaRPr lang="en-US" sz="1100"/>
          </a:p>
          <a:p>
            <a:pPr algn="l" indent="0">
              <a:lnSpc>
                <a:spcPct val="108333"/>
              </a:lnSpc>
            </a:pPr>
            <a:r>
              <a:rPr lang="en-US" b="false" i="false" strike="noStrike" u="none" sz="1400">
                <a:solidFill>
                  <a:srgbClr val="9B5DE5"/>
                </a:solidFill>
                <a:latin typeface="Roboto Mono"/>
                <a:ea typeface="Roboto Mono"/>
                <a:cs typeface="Roboto Mono"/>
                <a:sym typeface="Roboto Mono"/>
              </a:rPr>
              <a:t>step</a:t>
            </a:r>
            <a:r>
              <a:rPr lang="en-US" b="false" i="false" strike="noStrike" u="none" sz="1400">
                <a:solidFill>
                  <a:srgbClr val="DCDCDC"/>
                </a:solidFill>
                <a:latin typeface="Roboto Mono"/>
                <a:ea typeface="Roboto Mono"/>
                <a:cs typeface="Roboto Mono"/>
                <a:sym typeface="Roboto Mono"/>
              </a:rPr>
              <a:t>"check_availability"</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9B5DE5"/>
                </a:solidFill>
                <a:latin typeface="Roboto Mono"/>
                <a:ea typeface="Roboto Mono"/>
                <a:cs typeface="Roboto Mono"/>
                <a:sym typeface="Roboto Mono"/>
              </a:rPr>
              <a:t>call</a:t>
            </a:r>
            <a:r>
              <a:rPr lang="en-US" b="false" i="false" strike="noStrike" u="none" sz="1400">
                <a:solidFill>
                  <a:srgbClr val="DCDCDC"/>
                </a:solidFill>
                <a:latin typeface="Roboto Mono"/>
                <a:ea typeface="Roboto Mono"/>
                <a:cs typeface="Roboto Mono"/>
                <a:sym typeface="Roboto Mono"/>
              </a:rPr>
              <a:t>"inventory.query"</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9B5DE5"/>
                </a:solidFill>
                <a:latin typeface="Roboto Mono"/>
                <a:ea typeface="Roboto Mono"/>
                <a:cs typeface="Roboto Mono"/>
                <a:sym typeface="Roboto Mono"/>
              </a:rPr>
              <a:t>step</a:t>
            </a:r>
            <a:r>
              <a:rPr lang="en-US" b="false" i="false" strike="noStrike" u="none" sz="1400">
                <a:solidFill>
                  <a:srgbClr val="DCDCDC"/>
                </a:solidFill>
                <a:latin typeface="Roboto Mono"/>
                <a:ea typeface="Roboto Mono"/>
                <a:cs typeface="Roboto Mono"/>
                <a:sym typeface="Roboto Mono"/>
              </a:rPr>
              <a:t>"create_order"</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9B5DE5"/>
                </a:solidFill>
                <a:latin typeface="Roboto Mono"/>
                <a:ea typeface="Roboto Mono"/>
                <a:cs typeface="Roboto Mono"/>
                <a:sym typeface="Roboto Mono"/>
              </a:rPr>
              <a:t>call</a:t>
            </a:r>
            <a:r>
              <a:rPr lang="en-US" b="false" i="false" strike="noStrike" u="none" sz="1400">
                <a:solidFill>
                  <a:srgbClr val="DCDCDC"/>
                </a:solidFill>
                <a:latin typeface="Roboto Mono"/>
                <a:ea typeface="Roboto Mono"/>
                <a:cs typeface="Roboto Mono"/>
                <a:sym typeface="Roboto Mono"/>
              </a:rPr>
              <a:t>"order.create"</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9B5DE5"/>
                </a:solidFill>
                <a:latin typeface="Roboto Mono"/>
                <a:ea typeface="Roboto Mono"/>
                <a:cs typeface="Roboto Mono"/>
                <a:sym typeface="Roboto Mono"/>
              </a:rPr>
              <a:t>step</a:t>
            </a:r>
            <a:r>
              <a:rPr lang="en-US" b="false" i="false" strike="noStrike" u="none" sz="1400">
                <a:solidFill>
                  <a:srgbClr val="DCDCDC"/>
                </a:solidFill>
                <a:latin typeface="Roboto Mono"/>
                <a:ea typeface="Roboto Mono"/>
                <a:cs typeface="Roboto Mono"/>
                <a:sym typeface="Roboto Mono"/>
              </a:rPr>
              <a:t>"send_notification"</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9B5DE5"/>
                </a:solidFill>
                <a:latin typeface="Roboto Mono"/>
                <a:ea typeface="Roboto Mono"/>
                <a:cs typeface="Roboto Mono"/>
                <a:sym typeface="Roboto Mono"/>
              </a:rPr>
              <a:t>call</a:t>
            </a:r>
            <a:r>
              <a:rPr lang="en-US" b="false" i="false" strike="noStrike" u="none" sz="1400">
                <a:solidFill>
                  <a:srgbClr val="DCDCDC"/>
                </a:solidFill>
                <a:latin typeface="Roboto Mono"/>
                <a:ea typeface="Roboto Mono"/>
                <a:cs typeface="Roboto Mono"/>
                <a:sym typeface="Roboto Mono"/>
              </a:rPr>
              <a:t>"sms.send"</a:t>
            </a:r>
            <a:r>
              <a:rPr lang="en-US" b="false" i="false" strike="noStrike" u="none" sz="1400">
                <a:solidFill>
                  <a:srgbClr val="1F2329"/>
                </a:solidFill>
                <a:latin typeface="Roboto Mono"/>
                <a:ea typeface="Roboto Mono"/>
                <a:cs typeface="Roboto Mono"/>
                <a:sym typeface="Roboto Mono"/>
              </a:rPr>
              <a:t/>
            </a:r>
          </a:p>
          <a:p>
            <a:pPr algn="l" indent="0">
              <a:lnSpc>
                <a:spcPct val="108333"/>
              </a:lnSpc>
            </a:pPr>
            <a:r>
              <a:rPr lang="en-US" b="false" i="false" strike="noStrike" u="none" sz="1400">
                <a:solidFill>
                  <a:srgbClr val="9B5DE5"/>
                </a:solidFill>
                <a:latin typeface="Roboto Mono"/>
                <a:ea typeface="Roboto Mono"/>
                <a:cs typeface="Roboto Mono"/>
                <a:sym typeface="Roboto Mono"/>
              </a:rPr>
              <a:t>end</a:t>
            </a:r>
          </a:p>
        </p:txBody>
      </p:sp>
      <p:sp>
        <p:nvSpPr>
          <p:cNvPr name="AutoShape 9" id="9"/>
          <p:cNvSpPr/>
          <p:nvPr/>
        </p:nvSpPr>
        <p:spPr>
          <a:xfrm rot="0" flipH="false" flipV="false">
            <a:off x="6350000" y="139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编排引擎执行流程</a:t>
            </a:r>
            <a:endParaRPr lang="en-US" sz="1100"/>
          </a:p>
        </p:txBody>
      </p:sp>
      <p:sp>
        <p:nvSpPr>
          <p:cNvPr name="AutoShape 10" id="10"/>
          <p:cNvSpPr/>
          <p:nvPr/>
        </p:nvSpPr>
        <p:spPr>
          <a:xfrm rot="0" flipH="false" flipV="false">
            <a:off x="6350000" y="1905000"/>
            <a:ext cx="4826000" cy="762000"/>
          </a:xfrm>
          <a:prstGeom prst="roundRect">
            <a:avLst>
              <a:gd name="adj" fmla="val 16666"/>
            </a:avLst>
          </a:prstGeom>
          <a:solidFill>
            <a:srgbClr val="41EAD4">
              <a:alpha val="10000"/>
            </a:srgbClr>
          </a:solidFill>
          <a:ln w="12700" cmpd="sng" cap="flat">
            <a:solidFill>
              <a:srgbClr val="41EAD4">
                <a:alpha val="5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540500" y="2133600"/>
            <a:ext cx="304800" cy="304800"/>
          </a:xfrm>
          <a:prstGeom prst="rect">
            <a:avLst/>
          </a:prstGeom>
        </p:spPr>
      </p:pic>
      <p:sp>
        <p:nvSpPr>
          <p:cNvPr name="AutoShape 12" id="12"/>
          <p:cNvSpPr/>
          <p:nvPr/>
        </p:nvSpPr>
        <p:spPr>
          <a:xfrm rot="0" flipH="false" flipV="false">
            <a:off x="6985000" y="2032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解析与校验</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8C8C8"/>
                </a:solidFill>
                <a:latin typeface="Noto Sans SC"/>
                <a:ea typeface="Noto Sans SC"/>
                <a:cs typeface="Noto Sans SC"/>
                <a:sym typeface="Noto Sans SC"/>
              </a:rPr>
              <a:t>解析DSL语法结构，校验依赖关系与参数合法性</a:t>
            </a:r>
          </a:p>
        </p:txBody>
      </p:sp>
      <p:sp>
        <p:nvSpPr>
          <p:cNvPr name="AutoShape 13" id="13"/>
          <p:cNvSpPr/>
          <p:nvPr/>
        </p:nvSpPr>
        <p:spPr>
          <a:xfrm rot="0" flipH="false" flipV="false">
            <a:off x="6350000" y="2794000"/>
            <a:ext cx="4826000" cy="762000"/>
          </a:xfrm>
          <a:prstGeom prst="roundRect">
            <a:avLst>
              <a:gd name="adj" fmla="val 16666"/>
            </a:avLst>
          </a:prstGeom>
          <a:solidFill>
            <a:srgbClr val="9B5DE5">
              <a:alpha val="10000"/>
            </a:srgbClr>
          </a:solidFill>
          <a:ln w="12700" cmpd="sng" cap="flat">
            <a:solidFill>
              <a:srgbClr val="9B5DE5">
                <a:alpha val="5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3022600"/>
            <a:ext cx="304800" cy="304800"/>
          </a:xfrm>
          <a:prstGeom prst="rect">
            <a:avLst/>
          </a:prstGeom>
        </p:spPr>
      </p:pic>
      <p:sp>
        <p:nvSpPr>
          <p:cNvPr name="AutoShape 15" id="15"/>
          <p:cNvSpPr/>
          <p:nvPr/>
        </p:nvSpPr>
        <p:spPr>
          <a:xfrm rot="0" flipH="false" flipV="false">
            <a:off x="6985000" y="2921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任务调度</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8C8C8"/>
                </a:solidFill>
                <a:latin typeface="Noto Sans SC"/>
                <a:ea typeface="Noto Sans SC"/>
                <a:cs typeface="Noto Sans SC"/>
                <a:sym typeface="Noto Sans SC"/>
              </a:rPr>
              <a:t>构建执行图，并行或串行调度SKILL微服务节点</a:t>
            </a:r>
          </a:p>
        </p:txBody>
      </p:sp>
      <p:sp>
        <p:nvSpPr>
          <p:cNvPr name="AutoShape 16" id="16"/>
          <p:cNvSpPr/>
          <p:nvPr/>
        </p:nvSpPr>
        <p:spPr>
          <a:xfrm rot="0" flipH="false" flipV="false">
            <a:off x="6350000" y="3683000"/>
            <a:ext cx="4826000" cy="762000"/>
          </a:xfrm>
          <a:prstGeom prst="roundRect">
            <a:avLst>
              <a:gd name="adj" fmla="val 16666"/>
            </a:avLst>
          </a:prstGeom>
          <a:solidFill>
            <a:srgbClr val="41EAD4">
              <a:alpha val="10000"/>
            </a:srgbClr>
          </a:solidFill>
          <a:ln w="12700" cmpd="sng" cap="flat">
            <a:solidFill>
              <a:srgbClr val="41EAD4">
                <a:alpha val="5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40500" y="3911600"/>
            <a:ext cx="304800" cy="304800"/>
          </a:xfrm>
          <a:prstGeom prst="rect">
            <a:avLst/>
          </a:prstGeom>
        </p:spPr>
      </p:pic>
      <p:sp>
        <p:nvSpPr>
          <p:cNvPr name="AutoShape 18" id="18"/>
          <p:cNvSpPr/>
          <p:nvPr/>
        </p:nvSpPr>
        <p:spPr>
          <a:xfrm rot="0" flipH="false" flipV="false">
            <a:off x="6985000" y="3810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数据流转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8C8C8"/>
                </a:solidFill>
                <a:latin typeface="Noto Sans SC"/>
                <a:ea typeface="Noto Sans SC"/>
                <a:cs typeface="Noto Sans SC"/>
                <a:sym typeface="Noto Sans SC"/>
              </a:rPr>
              <a:t>自动处理上下文数据传递与格式转换，确保状态一致性</a:t>
            </a:r>
          </a:p>
        </p:txBody>
      </p:sp>
      <p:sp>
        <p:nvSpPr>
          <p:cNvPr name="AutoShape 19" id="19"/>
          <p:cNvSpPr/>
          <p:nvPr/>
        </p:nvSpPr>
        <p:spPr>
          <a:xfrm rot="0" flipH="false" flipV="false">
            <a:off x="762000" y="4953000"/>
            <a:ext cx="10414000" cy="1016000"/>
          </a:xfrm>
          <a:prstGeom prst="roundRect">
            <a:avLst>
              <a:gd name="adj" fmla="val 12500"/>
            </a:avLst>
          </a:prstGeom>
          <a:gradFill rotWithShape="true">
            <a:gsLst>
              <a:gs pos="0">
                <a:srgbClr val="41EAD4">
                  <a:alpha val="10000"/>
                </a:srgbClr>
              </a:gs>
              <a:gs pos="100000">
                <a:srgbClr val="9B5DE5">
                  <a:alpha val="1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257800"/>
            <a:ext cx="406400" cy="406400"/>
          </a:xfrm>
          <a:prstGeom prst="rect">
            <a:avLst/>
          </a:prstGeom>
        </p:spPr>
      </p:pic>
      <p:sp>
        <p:nvSpPr>
          <p:cNvPr name="AutoShape 21" id="21"/>
          <p:cNvSpPr/>
          <p:nvPr/>
        </p:nvSpPr>
        <p:spPr>
          <a:xfrm rot="0" flipH="false" flipV="false">
            <a:off x="1651000" y="5080000"/>
            <a:ext cx="889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核心价值：</a:t>
            </a:r>
            <a:r>
              <a:rPr lang="en-US" b="false" i="false" strike="noStrike" u="none" sz="1600">
                <a:solidFill>
                  <a:srgbClr val="DCDCDC"/>
                </a:solidFill>
                <a:latin typeface="Noto Sans SC"/>
                <a:ea typeface="Noto Sans SC"/>
                <a:cs typeface="Noto Sans SC"/>
                <a:sym typeface="Noto Sans SC"/>
              </a:rPr>
              <a:t>通过标准化的DSL语言，将复杂业务逻辑转化为可视化、可维护的代码脚本，实现业务流程的灵活编排与自动化执行，降低开发成本，提升系统响应速度。</a:t>
            </a:r>
            <a:endParaRPr lang="en-US" sz="1100"/>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699000" y="1397000"/>
            <a:ext cx="2794000" cy="1397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9600">
                <a:solidFill>
                  <a:srgbClr val="41EAD4"/>
                </a:solidFill>
                <a:latin typeface="Noto Sans SC"/>
                <a:ea typeface="Noto Sans SC"/>
                <a:cs typeface="Noto Sans SC"/>
                <a:sym typeface="Noto Sans SC"/>
              </a:rPr>
              <a:t>05</a:t>
            </a:r>
            <a:endParaRPr lang="en-US" sz="1100"/>
          </a:p>
        </p:txBody>
      </p:sp>
      <p:sp>
        <p:nvSpPr>
          <p:cNvPr name="AutoShape 5" id="5"/>
          <p:cNvSpPr/>
          <p:nvPr/>
        </p:nvSpPr>
        <p:spPr>
          <a:xfrm rot="0" flipH="false" flipV="false">
            <a:off x="5715000" y="2921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3175000"/>
            <a:ext cx="1016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a:solidFill>
                  <a:srgbClr val="FFFFFF"/>
                </a:solidFill>
                <a:latin typeface="Noto Sans SC"/>
                <a:ea typeface="Noto Sans SC"/>
                <a:cs typeface="Noto Sans SC"/>
                <a:sym typeface="Noto Sans SC"/>
              </a:rPr>
              <a:t>知识库与知识图谱</a:t>
            </a:r>
            <a:endParaRPr lang="en-US" sz="1100"/>
          </a:p>
        </p:txBody>
      </p:sp>
      <p:sp>
        <p:nvSpPr>
          <p:cNvPr name="AutoShape 7" id="7"/>
          <p:cNvSpPr/>
          <p:nvPr/>
        </p:nvSpPr>
        <p:spPr>
          <a:xfrm rot="0" flipH="false" flipV="false">
            <a:off x="381000" y="3937000"/>
            <a:ext cx="1143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41EAD4"/>
                </a:solidFill>
                <a:latin typeface="Noto Sans SC"/>
                <a:ea typeface="Noto Sans SC"/>
                <a:cs typeface="Noto Sans SC"/>
                <a:sym typeface="Noto Sans SC"/>
              </a:rPr>
              <a:t>PP&amp;SOP知识库构建与知识图谱融合</a:t>
            </a:r>
            <a:endParaRPr lang="en-US" sz="1100"/>
          </a:p>
        </p:txBody>
      </p:sp>
      <p:sp>
        <p:nvSpPr>
          <p:cNvPr name="AutoShape 8" id="8"/>
          <p:cNvSpPr/>
          <p:nvPr/>
        </p:nvSpPr>
        <p:spPr>
          <a:xfrm rot="0" flipH="false" flipV="false">
            <a:off x="0" y="6350000"/>
            <a:ext cx="12192000" cy="25400"/>
          </a:xfrm>
          <a:prstGeom prst="roundRect">
            <a:avLst>
              <a:gd name="adj" fmla="val 0"/>
            </a:avLst>
          </a:prstGeom>
          <a:gradFill rotWithShape="true">
            <a:gsLst>
              <a:gs pos="0">
                <a:srgbClr val="0D1B2A">
                  <a:alpha val="0"/>
                </a:srgbClr>
              </a:gs>
              <a:gs pos="50000">
                <a:srgbClr val="41EAD4">
                  <a:alpha val="50000"/>
                </a:srgbClr>
              </a:gs>
              <a:gs pos="100000">
                <a:srgbClr val="0D1B2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5537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PP&amp;SOP知识库构建</a:t>
            </a:r>
            <a:endParaRPr lang="en-US" sz="1100"/>
          </a:p>
        </p:txBody>
      </p:sp>
      <p:sp>
        <p:nvSpPr>
          <p:cNvPr name="AutoShape 5" id="5"/>
          <p:cNvSpPr/>
          <p:nvPr/>
        </p:nvSpPr>
        <p:spPr>
          <a:xfrm rot="0" flipH="false" flipV="false">
            <a:off x="762000" y="1219200"/>
            <a:ext cx="762000" cy="50800"/>
          </a:xfrm>
          <a:prstGeom prst="roundRect">
            <a:avLst>
              <a:gd name="adj" fmla="val 0"/>
            </a:avLst>
          </a:prstGeom>
          <a:solidFill>
            <a:srgbClr val="41EAD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3302000" cy="3048000"/>
          </a:xfrm>
          <a:prstGeom prst="roundRect">
            <a:avLst>
              <a:gd name="adj" fmla="val 41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08200" y="2032000"/>
            <a:ext cx="609600" cy="609600"/>
          </a:xfrm>
          <a:prstGeom prst="rect">
            <a:avLst/>
          </a:prstGeom>
        </p:spPr>
      </p:pic>
      <p:sp>
        <p:nvSpPr>
          <p:cNvPr name="AutoShape 8" id="8"/>
          <p:cNvSpPr/>
          <p:nvPr/>
        </p:nvSpPr>
        <p:spPr>
          <a:xfrm rot="0" flipH="false" flipV="false">
            <a:off x="889000" y="2794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1EAD4"/>
                </a:solidFill>
                <a:latin typeface="Noto Sans SC"/>
                <a:ea typeface="Noto Sans SC"/>
                <a:cs typeface="Noto Sans SC"/>
                <a:sym typeface="Noto Sans SC"/>
              </a:rPr>
              <a:t>多源整合</a:t>
            </a:r>
            <a:endParaRPr lang="en-US" sz="1100"/>
          </a:p>
        </p:txBody>
      </p:sp>
      <p:sp>
        <p:nvSpPr>
          <p:cNvPr name="AutoShape 9" id="9"/>
          <p:cNvSpPr/>
          <p:nvPr/>
        </p:nvSpPr>
        <p:spPr>
          <a:xfrm rot="0" flipH="false" flipV="false">
            <a:off x="1016000" y="3302000"/>
            <a:ext cx="2794000" cy="1270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800">
                <a:solidFill>
                  <a:srgbClr val="DCDCDC"/>
                </a:solidFill>
                <a:latin typeface="Noto Sans SC"/>
                <a:ea typeface="Noto Sans SC"/>
                <a:cs typeface="Noto Sans SC"/>
                <a:sym typeface="Noto Sans SC"/>
              </a:rPr>
              <a:t>整合万豪、希尔顿、洲际、华住等10+知名酒店品牌的标准操作流程文档。</a:t>
            </a:r>
            <a:endParaRPr lang="en-US" sz="1100"/>
          </a:p>
        </p:txBody>
      </p:sp>
      <p:sp>
        <p:nvSpPr>
          <p:cNvPr name="AutoShape 10" id="10"/>
          <p:cNvSpPr/>
          <p:nvPr/>
        </p:nvSpPr>
        <p:spPr>
          <a:xfrm rot="0" flipH="false" flipV="false">
            <a:off x="4445000" y="1778000"/>
            <a:ext cx="3302000" cy="3048000"/>
          </a:xfrm>
          <a:prstGeom prst="roundRect">
            <a:avLst>
              <a:gd name="adj" fmla="val 416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91200" y="2032000"/>
            <a:ext cx="609600" cy="609600"/>
          </a:xfrm>
          <a:prstGeom prst="rect">
            <a:avLst/>
          </a:prstGeom>
        </p:spPr>
      </p:pic>
      <p:sp>
        <p:nvSpPr>
          <p:cNvPr name="AutoShape 12" id="12"/>
          <p:cNvSpPr/>
          <p:nvPr/>
        </p:nvSpPr>
        <p:spPr>
          <a:xfrm rot="0" flipH="false" flipV="false">
            <a:off x="4572000" y="2794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9B5DE5"/>
                </a:solidFill>
                <a:latin typeface="Noto Sans SC"/>
                <a:ea typeface="Noto Sans SC"/>
                <a:cs typeface="Noto Sans SC"/>
                <a:sym typeface="Noto Sans SC"/>
              </a:rPr>
              <a:t>海量沉淀</a:t>
            </a:r>
            <a:endParaRPr lang="en-US" sz="1100"/>
          </a:p>
        </p:txBody>
      </p:sp>
      <p:sp>
        <p:nvSpPr>
          <p:cNvPr name="AutoShape 13" id="13"/>
          <p:cNvSpPr/>
          <p:nvPr/>
        </p:nvSpPr>
        <p:spPr>
          <a:xfrm rot="0" flipH="false" flipV="false">
            <a:off x="4699000" y="3302000"/>
            <a:ext cx="27940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800">
                <a:solidFill>
                  <a:srgbClr val="DCDCDC"/>
                </a:solidFill>
                <a:latin typeface="Noto Sans SC"/>
                <a:ea typeface="Noto Sans SC"/>
                <a:cs typeface="Noto Sans SC"/>
                <a:sym typeface="Noto Sans SC"/>
              </a:rPr>
              <a:t>包含</a:t>
            </a:r>
            <a:r>
              <a:rPr lang="en-US" b="true" i="false" strike="noStrike" u="none" sz="2200">
                <a:solidFill>
                  <a:srgbClr val="9B5DE5"/>
                </a:solidFill>
                <a:latin typeface="Noto Sans SC"/>
                <a:ea typeface="Noto Sans SC"/>
                <a:cs typeface="Noto Sans SC"/>
                <a:sym typeface="Noto Sans SC"/>
              </a:rPr>
              <a:t>77</a:t>
            </a:r>
            <a:r>
              <a:rPr lang="en-US" b="false" i="false" strike="noStrike" u="none" sz="1800">
                <a:solidFill>
                  <a:srgbClr val="DCDCDC"/>
                </a:solidFill>
                <a:latin typeface="Noto Sans SC"/>
                <a:ea typeface="Noto Sans SC"/>
                <a:cs typeface="Noto Sans SC"/>
                <a:sym typeface="Noto Sans SC"/>
              </a:rPr>
              <a:t>个核心文档</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08333"/>
              </a:lnSpc>
            </a:pPr>
            <a:r>
              <a:rPr lang="en-US" b="false" i="false" strike="noStrike" u="none" sz="1800">
                <a:solidFill>
                  <a:srgbClr val="DCDCDC"/>
                </a:solidFill>
                <a:latin typeface="Noto Sans SC"/>
                <a:ea typeface="Noto Sans SC"/>
                <a:cs typeface="Noto Sans SC"/>
                <a:sym typeface="Noto Sans SC"/>
              </a:rPr>
              <a:t>总规模超</a:t>
            </a:r>
            <a:r>
              <a:rPr lang="en-US" b="true" i="false" strike="noStrike" u="none" sz="2200">
                <a:solidFill>
                  <a:srgbClr val="9B5DE5"/>
                </a:solidFill>
                <a:latin typeface="Noto Sans SC"/>
                <a:ea typeface="Noto Sans SC"/>
                <a:cs typeface="Noto Sans SC"/>
                <a:sym typeface="Noto Sans SC"/>
              </a:rPr>
              <a:t>2000KB</a:t>
            </a:r>
          </a:p>
        </p:txBody>
      </p:sp>
      <p:sp>
        <p:nvSpPr>
          <p:cNvPr name="AutoShape 14" id="14"/>
          <p:cNvSpPr/>
          <p:nvPr/>
        </p:nvSpPr>
        <p:spPr>
          <a:xfrm rot="0" flipH="false" flipV="false">
            <a:off x="8128000" y="1778000"/>
            <a:ext cx="3302000" cy="3048000"/>
          </a:xfrm>
          <a:prstGeom prst="roundRect">
            <a:avLst>
              <a:gd name="adj" fmla="val 41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474200" y="2032000"/>
            <a:ext cx="609600" cy="609600"/>
          </a:xfrm>
          <a:prstGeom prst="rect">
            <a:avLst/>
          </a:prstGeom>
        </p:spPr>
      </p:pic>
      <p:sp>
        <p:nvSpPr>
          <p:cNvPr name="AutoShape 16" id="16"/>
          <p:cNvSpPr/>
          <p:nvPr/>
        </p:nvSpPr>
        <p:spPr>
          <a:xfrm rot="0" flipH="false" flipV="false">
            <a:off x="8255000" y="2794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1EAD4"/>
                </a:solidFill>
                <a:latin typeface="Noto Sans SC"/>
                <a:ea typeface="Noto Sans SC"/>
                <a:cs typeface="Noto Sans SC"/>
                <a:sym typeface="Noto Sans SC"/>
              </a:rPr>
              <a:t>严谨构建</a:t>
            </a:r>
            <a:endParaRPr lang="en-US" sz="1100"/>
          </a:p>
        </p:txBody>
      </p:sp>
      <p:sp>
        <p:nvSpPr>
          <p:cNvPr name="AutoShape 17" id="17"/>
          <p:cNvSpPr/>
          <p:nvPr/>
        </p:nvSpPr>
        <p:spPr>
          <a:xfrm rot="0" flipH="false" flipV="false">
            <a:off x="8382000" y="3302000"/>
            <a:ext cx="2794000" cy="1270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800">
                <a:solidFill>
                  <a:srgbClr val="DCDCDC"/>
                </a:solidFill>
                <a:latin typeface="Noto Sans SC"/>
                <a:ea typeface="Noto Sans SC"/>
                <a:cs typeface="Noto Sans SC"/>
                <a:sym typeface="Noto Sans SC"/>
              </a:rPr>
              <a:t>经过文档解析、知识抽取、质量校验等多步骤，确保知识准确性与可用性。</a:t>
            </a:r>
            <a:endParaRPr lang="en-US" sz="1100"/>
          </a:p>
        </p:txBody>
      </p:sp>
      <p:sp>
        <p:nvSpPr>
          <p:cNvPr name="AutoShape 18" id="18"/>
          <p:cNvSpPr/>
          <p:nvPr/>
        </p:nvSpPr>
        <p:spPr>
          <a:xfrm rot="0" flipH="false" flipV="false">
            <a:off x="762000" y="5334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60000"/>
                  </a:srgbClr>
                </a:solidFill>
                <a:latin typeface="Noto Sans SC"/>
                <a:ea typeface="Noto Sans SC"/>
                <a:cs typeface="Noto Sans SC"/>
                <a:sym typeface="Noto Sans SC"/>
              </a:rPr>
              <a:t>AHL 专业标准化服务的坚实基石 · 汇聚行业智慧 · 赋能高效运营</a:t>
            </a:r>
            <a:endParaRPr lang="en-US" sz="1100"/>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254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978400" y="1397000"/>
            <a:ext cx="2235200" cy="1270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41EAD4"/>
                </a:solidFill>
                <a:latin typeface="Noto Sans SC"/>
                <a:ea typeface="Noto Sans SC"/>
                <a:cs typeface="Noto Sans SC"/>
                <a:sym typeface="Noto Sans SC"/>
              </a:rPr>
              <a:t>06</a:t>
            </a:r>
            <a:endParaRPr lang="en-US" sz="1100"/>
          </a:p>
        </p:txBody>
      </p:sp>
      <p:sp>
        <p:nvSpPr>
          <p:cNvPr name="AutoShape 6" id="6"/>
          <p:cNvSpPr/>
          <p:nvPr/>
        </p:nvSpPr>
        <p:spPr>
          <a:xfrm rot="0" flipH="false" flipV="false">
            <a:off x="5715000" y="2794000"/>
            <a:ext cx="762000" cy="50800"/>
          </a:xfrm>
          <a:prstGeom prst="roundRect">
            <a:avLst>
              <a:gd name="adj" fmla="val 0"/>
            </a:avLst>
          </a:prstGeom>
          <a:gradFill rotWithShape="true">
            <a:gsLst>
              <a:gs pos="0">
                <a:srgbClr val="41EAD4">
                  <a:alpha val="100000"/>
                </a:srgbClr>
              </a:gs>
              <a:gs pos="100000">
                <a:srgbClr val="9B5DE5">
                  <a:alpha val="100000"/>
                </a:srgbClr>
              </a:gs>
            </a:gsLst>
            <a:lin ang="0"/>
          </a:gradFill>
          <a:ln cmpd="sng" cap="flat">
            <a:gradFill rotWithShape="true">
              <a:gsLst>
                <a:gs pos="0">
                  <a:srgbClr val="25D1BA">
                    <a:alpha val="100000"/>
                  </a:srgbClr>
                </a:gs>
                <a:gs pos="100000">
                  <a:srgbClr val="7F3ECC">
                    <a:alpha val="100000"/>
                  </a:srgbClr>
                </a:gs>
              </a:gsLst>
              <a:lin ang="0"/>
            </a:gra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4305300" y="3111500"/>
            <a:ext cx="35814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200">
                <a:solidFill>
                  <a:srgbClr val="FFFFFF"/>
                </a:solidFill>
                <a:latin typeface="Noto Sans SC"/>
                <a:ea typeface="Noto Sans SC"/>
                <a:cs typeface="Noto Sans SC"/>
                <a:sym typeface="Noto Sans SC"/>
              </a:rPr>
              <a:t>性能优化与工程实践</a:t>
            </a:r>
            <a:endParaRPr lang="en-US" sz="1100"/>
          </a:p>
        </p:txBody>
      </p:sp>
      <p:sp>
        <p:nvSpPr>
          <p:cNvPr name="AutoShape 8" id="8"/>
          <p:cNvSpPr/>
          <p:nvPr/>
        </p:nvSpPr>
        <p:spPr>
          <a:xfrm rot="0" flipH="false" flipV="false">
            <a:off x="4584700" y="3810000"/>
            <a:ext cx="30226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推理优化 · 分布式训练 · 监控体系</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572000"/>
            <a:ext cx="406400" cy="406400"/>
          </a:xfrm>
          <a:prstGeom prst="rect">
            <a:avLst/>
          </a:prstGeom>
        </p:spPr>
      </p:pic>
      <p:sp>
        <p:nvSpPr>
          <p:cNvPr name="AutoShape 10" id="10"/>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a:solidFill>
                  <a:srgbClr val="41EAD4">
                    <a:alpha val="50196"/>
                  </a:srgbClr>
                </a:solidFill>
                <a:latin typeface="Noto Sans SC"/>
                <a:ea typeface="Noto Sans SC"/>
                <a:cs typeface="Noto Sans SC"/>
                <a:sym typeface="Noto Sans SC"/>
              </a:rPr>
              <a:t>ENGINEERING PRACTICE &amp; OPTIMIZATION</a:t>
            </a:r>
            <a:endParaRPr lang="en-US" sz="1100"/>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076700" y="508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性能优化与监控体系</a:t>
            </a:r>
            <a:endParaRPr lang="en-US" sz="1100"/>
          </a:p>
        </p:txBody>
      </p:sp>
      <p:sp>
        <p:nvSpPr>
          <p:cNvPr name="AutoShape 5" id="5"/>
          <p:cNvSpPr/>
          <p:nvPr/>
        </p:nvSpPr>
        <p:spPr>
          <a:xfrm rot="0" flipH="false" flipV="false">
            <a:off x="1016000" y="1651000"/>
            <a:ext cx="4826000" cy="3048000"/>
          </a:xfrm>
          <a:prstGeom prst="roundRect">
            <a:avLst>
              <a:gd name="adj" fmla="val 416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97000" y="1905000"/>
            <a:ext cx="609600" cy="609600"/>
          </a:xfrm>
          <a:prstGeom prst="rect">
            <a:avLst/>
          </a:prstGeom>
        </p:spPr>
      </p:pic>
      <p:sp>
        <p:nvSpPr>
          <p:cNvPr name="AutoShape 7" id="7"/>
          <p:cNvSpPr/>
          <p:nvPr/>
        </p:nvSpPr>
        <p:spPr>
          <a:xfrm rot="0" flipH="false" flipV="false">
            <a:off x="2159000" y="2006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41EAD4"/>
                </a:solidFill>
                <a:latin typeface="Noto Sans SC"/>
                <a:ea typeface="Noto Sans SC"/>
                <a:cs typeface="Noto Sans SC"/>
                <a:sym typeface="Noto Sans SC"/>
              </a:rPr>
              <a:t>推理优化技术</a:t>
            </a:r>
            <a:endParaRPr lang="en-US" sz="1100"/>
          </a:p>
        </p:txBody>
      </p:sp>
      <p:sp>
        <p:nvSpPr>
          <p:cNvPr name="AutoShape 8" id="8"/>
          <p:cNvSpPr/>
          <p:nvPr/>
        </p:nvSpPr>
        <p:spPr>
          <a:xfrm rot="0" flipH="false" flipV="false">
            <a:off x="1397000" y="2667000"/>
            <a:ext cx="406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800">
                <a:solidFill>
                  <a:srgbClr val="E5E7EB"/>
                </a:solidFill>
                <a:latin typeface="Noto Sans SC"/>
                <a:ea typeface="Noto Sans SC"/>
                <a:cs typeface="Noto Sans SC"/>
                <a:sym typeface="Noto Sans SC"/>
              </a:rPr>
              <a:t>采用</a:t>
            </a:r>
            <a:r>
              <a:rPr lang="en-US" b="true" i="false" strike="noStrike" u="none" sz="1800">
                <a:solidFill>
                  <a:srgbClr val="41EAD4"/>
                </a:solidFill>
                <a:latin typeface="Noto Sans SC"/>
                <a:ea typeface="Noto Sans SC"/>
                <a:cs typeface="Noto Sans SC"/>
                <a:sym typeface="Noto Sans SC"/>
              </a:rPr>
              <a:t>vLLM</a:t>
            </a:r>
            <a:r>
              <a:rPr lang="en-US" b="false" i="false" strike="noStrike" u="none" sz="1800">
                <a:solidFill>
                  <a:srgbClr val="E5E7EB"/>
                </a:solidFill>
                <a:latin typeface="Noto Sans SC"/>
                <a:ea typeface="Noto Sans SC"/>
                <a:cs typeface="Noto Sans SC"/>
                <a:sym typeface="Noto Sans SC"/>
              </a:rPr>
              <a:t>与</a:t>
            </a:r>
            <a:r>
              <a:rPr lang="en-US" b="true" i="false" strike="noStrike" u="none" sz="1800">
                <a:solidFill>
                  <a:srgbClr val="41EAD4"/>
                </a:solidFill>
                <a:latin typeface="Noto Sans SC"/>
                <a:ea typeface="Noto Sans SC"/>
                <a:cs typeface="Noto Sans SC"/>
                <a:sym typeface="Noto Sans SC"/>
              </a:rPr>
              <a:t>TensorRT-LLM</a:t>
            </a:r>
            <a:r>
              <a:rPr lang="en-US" b="false" i="false" strike="noStrike" u="none" sz="1800">
                <a:solidFill>
                  <a:srgbClr val="E5E7EB"/>
                </a:solidFill>
                <a:latin typeface="Noto Sans SC"/>
                <a:ea typeface="Noto Sans SC"/>
                <a:cs typeface="Noto Sans SC"/>
                <a:sym typeface="Noto Sans SC"/>
              </a:rPr>
              <a:t>等前沿推理框架，结合模型量化策略，显著提升推理吞吐量，大幅降低服务成本。</a:t>
            </a:r>
            <a:endParaRPr lang="en-US" sz="1100"/>
          </a:p>
        </p:txBody>
      </p:sp>
      <p:sp>
        <p:nvSpPr>
          <p:cNvPr name="AutoShape 9" id="9"/>
          <p:cNvSpPr/>
          <p:nvPr/>
        </p:nvSpPr>
        <p:spPr>
          <a:xfrm rot="0" flipH="false" flipV="false">
            <a:off x="6350000" y="1651000"/>
            <a:ext cx="4826000" cy="3048000"/>
          </a:xfrm>
          <a:prstGeom prst="roundRect">
            <a:avLst>
              <a:gd name="adj" fmla="val 416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31000" y="1905000"/>
            <a:ext cx="609600" cy="609600"/>
          </a:xfrm>
          <a:prstGeom prst="rect">
            <a:avLst/>
          </a:prstGeom>
        </p:spPr>
      </p:pic>
      <p:sp>
        <p:nvSpPr>
          <p:cNvPr name="AutoShape 11" id="11"/>
          <p:cNvSpPr/>
          <p:nvPr/>
        </p:nvSpPr>
        <p:spPr>
          <a:xfrm rot="0" flipH="false" flipV="false">
            <a:off x="7493000" y="2006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9B5DE5"/>
                </a:solidFill>
                <a:latin typeface="Noto Sans SC"/>
                <a:ea typeface="Noto Sans SC"/>
                <a:cs typeface="Noto Sans SC"/>
                <a:sym typeface="Noto Sans SC"/>
              </a:rPr>
              <a:t>全链路监控体系</a:t>
            </a:r>
            <a:endParaRPr lang="en-US" sz="1100"/>
          </a:p>
        </p:txBody>
      </p:sp>
      <p:sp>
        <p:nvSpPr>
          <p:cNvPr name="AutoShape 12" id="12"/>
          <p:cNvSpPr/>
          <p:nvPr/>
        </p:nvSpPr>
        <p:spPr>
          <a:xfrm rot="0" flipH="false" flipV="false">
            <a:off x="6731000" y="2667000"/>
            <a:ext cx="406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800">
                <a:solidFill>
                  <a:srgbClr val="E5E7EB"/>
                </a:solidFill>
                <a:latin typeface="Noto Sans SC"/>
                <a:ea typeface="Noto Sans SC"/>
                <a:cs typeface="Noto Sans SC"/>
                <a:sym typeface="Noto Sans SC"/>
              </a:rPr>
              <a:t>构建覆盖日志收集、核心指标监控与全链路追踪的一体化架构，确保系统运行状态透明化，实现问题的秒级定位与快速响应。</a:t>
            </a:r>
            <a:endParaRPr lang="en-US" sz="1100"/>
          </a:p>
        </p:txBody>
      </p:sp>
      <p:sp>
        <p:nvSpPr>
          <p:cNvPr name="AutoShape 13" id="13"/>
          <p:cNvSpPr/>
          <p:nvPr/>
        </p:nvSpPr>
        <p:spPr>
          <a:xfrm rot="0" flipH="false" flipV="false">
            <a:off x="1016000" y="5080000"/>
            <a:ext cx="10160000" cy="762000"/>
          </a:xfrm>
          <a:prstGeom prst="roundRect">
            <a:avLst>
              <a:gd name="adj" fmla="val 16666"/>
            </a:avLst>
          </a:prstGeom>
          <a:gradFill rotWithShape="true">
            <a:gsLst>
              <a:gs pos="0">
                <a:srgbClr val="41EAD4">
                  <a:alpha val="10000"/>
                </a:srgbClr>
              </a:gs>
              <a:gs pos="100000">
                <a:srgbClr val="9B5DE5">
                  <a:alpha val="1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270000" y="5207000"/>
            <a:ext cx="965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FFFFFF"/>
                </a:solidFill>
                <a:latin typeface="Noto Sans SC"/>
                <a:ea typeface="Noto Sans SC"/>
                <a:cs typeface="Noto Sans SC"/>
                <a:sym typeface="Noto Sans SC"/>
              </a:rPr>
              <a:t>工程实践保证了系统在高并发场景下依然保持高效、稳定的服务质量。</a:t>
            </a:r>
            <a:endParaRPr lang="en-US" sz="1100"/>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1524000"/>
            <a:ext cx="7620000" cy="3810000"/>
          </a:xfrm>
          <a:prstGeom prst="ellipse">
            <a:avLst/>
          </a:prstGeom>
          <a:gradFill rotWithShape="true">
            <a:gsLst>
              <a:gs pos="0">
                <a:srgbClr val="41EAD4">
                  <a:alpha val="15000"/>
                </a:srgbClr>
              </a:gs>
              <a:gs pos="70000">
                <a:srgbClr val="0D1B2A">
                  <a:alpha val="0"/>
                </a:srgbClr>
              </a:gs>
            </a:gsLst>
            <a:path path="circle">
              <a:fillToRect l="50000" r="50000" t="50000" b="50000"/>
            </a:path>
            <a:tileRect t="0" b="0" l="0" r="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749800" y="1397000"/>
            <a:ext cx="2692400" cy="1524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9600">
                <a:solidFill>
                  <a:srgbClr val="41EAD4"/>
                </a:solidFill>
                <a:latin typeface="SimHei"/>
                <a:ea typeface="SimHei"/>
                <a:cs typeface="SimHei"/>
                <a:sym typeface="SimHei"/>
              </a:rPr>
              <a:t>07</a:t>
            </a:r>
            <a:endParaRPr lang="en-US" sz="1100"/>
          </a:p>
        </p:txBody>
      </p:sp>
      <p:sp>
        <p:nvSpPr>
          <p:cNvPr name="AutoShape 6" id="6"/>
          <p:cNvSpPr/>
          <p:nvPr/>
        </p:nvSpPr>
        <p:spPr>
          <a:xfrm rot="0" flipH="false" flipV="false">
            <a:off x="5715000" y="3048000"/>
            <a:ext cx="762000" cy="50800"/>
          </a:xfrm>
          <a:prstGeom prst="roundRect">
            <a:avLst>
              <a:gd name="adj" fmla="val 0"/>
            </a:avLst>
          </a:prstGeom>
          <a:solidFill>
            <a:srgbClr val="9B5D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2286000" y="3302000"/>
            <a:ext cx="7620000" cy="635000"/>
          </a:xfrm>
          <a:prstGeom prst="rect">
            <a:avLst/>
          </a:prstGeom>
          <a:noFill/>
          <a:ln w="12700" cmpd="sng" cap="flat">
            <a:noFill/>
            <a:prstDash val="solid"/>
            <a:round/>
          </a:ln>
        </p:spPr>
        <p:txBody>
          <a:bodyPr anchor="t" rtlCol="false" anchorCtr="false" vert="horz" wrap="none" lIns="0" rIns="0" tIns="0" bIns="0"/>
          <a:lstStyle/>
          <a:p>
            <a:pPr algn="ctr" indent="0">
              <a:lnSpc>
                <a:spcPct val="125000"/>
              </a:lnSpc>
              <a:defRPr/>
            </a:pPr>
            <a:r>
              <a:rPr lang="en-US" b="true" i="false" strike="noStrike" u="none" sz="3200" spc="400">
                <a:solidFill>
                  <a:srgbClr val="FFFFFF"/>
                </a:solidFill>
                <a:latin typeface="SimHei"/>
                <a:ea typeface="SimHei"/>
                <a:cs typeface="SimHei"/>
                <a:sym typeface="SimHei"/>
              </a:rPr>
              <a:t>团队与资质</a:t>
            </a:r>
            <a:endParaRPr lang="en-US" sz="1100"/>
          </a:p>
        </p:txBody>
      </p:sp>
      <p:sp>
        <p:nvSpPr>
          <p:cNvPr name="AutoShape 8" id="8"/>
          <p:cNvSpPr/>
          <p:nvPr/>
        </p:nvSpPr>
        <p:spPr>
          <a:xfrm rot="0" flipH="false" flipV="false">
            <a:off x="2286000" y="3937000"/>
            <a:ext cx="7620000" cy="381000"/>
          </a:xfrm>
          <a:prstGeom prst="rect">
            <a:avLst/>
          </a:prstGeom>
          <a:noFill/>
          <a:ln w="12700" cmpd="sng" cap="flat">
            <a:noFill/>
            <a:prstDash val="solid"/>
            <a:round/>
          </a:ln>
        </p:spPr>
        <p:txBody>
          <a:bodyPr anchor="t" rtlCol="false" anchorCtr="false" vert="horz" wrap="none" lIns="0" rIns="0" tIns="0" bIns="0"/>
          <a:lstStyle/>
          <a:p>
            <a:pPr algn="ctr" indent="0">
              <a:lnSpc>
                <a:spcPct val="125000"/>
              </a:lnSpc>
              <a:defRPr/>
            </a:pPr>
            <a:r>
              <a:rPr lang="en-US" b="false" i="false" strike="noStrike" u="none" sz="1800" spc="200">
                <a:solidFill>
                  <a:srgbClr val="FFFFFF">
                    <a:alpha val="70196"/>
                  </a:srgbClr>
                </a:solidFill>
                <a:latin typeface="SimHei"/>
                <a:ea typeface="SimHei"/>
                <a:cs typeface="SimHei"/>
                <a:sym typeface="SimHei"/>
              </a:rPr>
              <a:t>核心团队与技术资质</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943600" y="4572000"/>
            <a:ext cx="304800" cy="304800"/>
          </a:xfrm>
          <a:prstGeom prst="rect">
            <a:avLst/>
          </a:prstGeom>
        </p:spPr>
      </p:pic>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FFFFFF"/>
                </a:solidFill>
                <a:latin typeface="Poppins"/>
                <a:ea typeface="Poppins"/>
                <a:cs typeface="Poppins"/>
                <a:sym typeface="Poppins"/>
              </a:rPr>
              <a:t>核心团队与技术资质</a:t>
            </a:r>
            <a:endParaRPr lang="en-US" sz="1100"/>
          </a:p>
        </p:txBody>
      </p:sp>
      <p:sp>
        <p:nvSpPr>
          <p:cNvPr name="AutoShape 5" id="5"/>
          <p:cNvSpPr/>
          <p:nvPr/>
        </p:nvSpPr>
        <p:spPr>
          <a:xfrm rot="0" flipH="false" flipV="false">
            <a:off x="762000" y="1524000"/>
            <a:ext cx="5080000" cy="3302000"/>
          </a:xfrm>
          <a:prstGeom prst="roundRect">
            <a:avLst>
              <a:gd name="adj" fmla="val 3846"/>
            </a:avLst>
          </a:prstGeom>
          <a:solidFill>
            <a:srgbClr val="FFFFFF">
              <a:alpha val="5000"/>
            </a:srgbClr>
          </a:solidFill>
          <a:ln w="12700" cmpd="sng" cap="flat">
            <a:solidFill>
              <a:srgbClr val="41EAD4">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828800"/>
            <a:ext cx="406400" cy="406400"/>
          </a:xfrm>
          <a:prstGeom prst="rect">
            <a:avLst/>
          </a:prstGeom>
        </p:spPr>
      </p:pic>
      <p:sp>
        <p:nvSpPr>
          <p:cNvPr name="AutoShape 7" id="7"/>
          <p:cNvSpPr/>
          <p:nvPr/>
        </p:nvSpPr>
        <p:spPr>
          <a:xfrm rot="0" flipH="false" flipV="false">
            <a:off x="1600200" y="18034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41EAD4"/>
                </a:solidFill>
                <a:latin typeface="Noto Sans SC"/>
                <a:ea typeface="Noto Sans SC"/>
                <a:cs typeface="Noto Sans SC"/>
                <a:sym typeface="Noto Sans SC"/>
              </a:rPr>
              <a:t>核心团队力量</a:t>
            </a:r>
            <a:endParaRPr lang="en-US" sz="1100"/>
          </a:p>
        </p:txBody>
      </p:sp>
      <p:sp>
        <p:nvSpPr>
          <p:cNvPr name="AutoShape 8" id="8"/>
          <p:cNvSpPr/>
          <p:nvPr/>
        </p:nvSpPr>
        <p:spPr>
          <a:xfrm rot="0" flipH="false" flipV="false">
            <a:off x="1066800" y="2349500"/>
            <a:ext cx="4470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800">
                <a:solidFill>
                  <a:srgbClr val="E6E6E6"/>
                </a:solidFill>
                <a:latin typeface="Noto Sans SC"/>
                <a:ea typeface="Noto Sans SC"/>
                <a:cs typeface="Noto Sans SC"/>
                <a:sym typeface="Noto Sans SC"/>
              </a:rPr>
              <a:t>汇聚行业顶尖人才，团队核心成员包括：</a:t>
            </a:r>
            <a:r>
              <a:rPr lang="en-US" b="false" i="false" strike="noStrike" u="none" sz="1800">
                <a:solidFill>
                  <a:srgbClr val="E6E6E6"/>
                </a:solidFill>
                <a:latin typeface="Noto Sans SC"/>
                <a:ea typeface="Noto Sans SC"/>
                <a:cs typeface="Noto Sans SC"/>
                <a:sym typeface="Noto Sans SC"/>
              </a:rPr>
              <a:t/>
            </a:r>
            <a:endParaRPr lang="en-US" sz="1100"/>
          </a:p>
          <a:p>
            <a:pPr algn="l" indent="-228600" marL="228600">
              <a:lnSpc>
                <a:spcPct val="116666"/>
              </a:lnSpc>
              <a:buClr>
                <a:srgbClr val="E6E6E6"/>
              </a:buClr>
              <a:buChar char="•"/>
            </a:pPr>
            <a:r>
              <a:rPr lang="en-US" b="false" i="false" strike="noStrike" u="none" sz="1800">
                <a:solidFill>
                  <a:srgbClr val="E6E6E6"/>
                </a:solidFill>
                <a:latin typeface="Noto Sans SC"/>
                <a:ea typeface="Noto Sans SC"/>
                <a:cs typeface="Noto Sans SC"/>
                <a:sym typeface="Noto Sans SC"/>
              </a:rPr>
              <a:t>拥有15年+经验的</a:t>
            </a:r>
            <a:r>
              <a:rPr lang="en-US" b="true" i="false" strike="noStrike" u="none" sz="1800">
                <a:solidFill>
                  <a:srgbClr val="E6E6E6"/>
                </a:solidFill>
                <a:latin typeface="Noto Sans SC"/>
                <a:ea typeface="Noto Sans SC"/>
                <a:cs typeface="Noto Sans SC"/>
                <a:sym typeface="Noto Sans SC"/>
              </a:rPr>
              <a:t>首席技术官(CTO)</a:t>
            </a:r>
            <a:r>
              <a:rPr lang="en-US" b="false" i="false" strike="noStrike" u="none" sz="1800">
                <a:solidFill>
                  <a:srgbClr val="E6E6E6"/>
                </a:solidFill>
                <a:latin typeface="Noto Sans SC"/>
                <a:ea typeface="Noto Sans SC"/>
                <a:cs typeface="Noto Sans SC"/>
                <a:sym typeface="Noto Sans SC"/>
              </a:rPr>
              <a:t>，深耕AI研发领域</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16666"/>
              </a:lnSpc>
              <a:buClr>
                <a:srgbClr val="E6E6E6"/>
              </a:buClr>
              <a:buChar char="•"/>
            </a:pPr>
            <a:r>
              <a:rPr lang="en-US" b="false" i="false" strike="noStrike" u="none" sz="1800">
                <a:solidFill>
                  <a:srgbClr val="E6E6E6"/>
                </a:solidFill>
                <a:latin typeface="Noto Sans SC"/>
                <a:ea typeface="Noto Sans SC"/>
                <a:cs typeface="Noto Sans SC"/>
                <a:sym typeface="Noto Sans SC"/>
              </a:rPr>
              <a:t>资深</a:t>
            </a:r>
            <a:r>
              <a:rPr lang="en-US" b="true" i="false" strike="noStrike" u="none" sz="1800">
                <a:solidFill>
                  <a:srgbClr val="E6E6E6"/>
                </a:solidFill>
                <a:latin typeface="Noto Sans SC"/>
                <a:ea typeface="Noto Sans SC"/>
                <a:cs typeface="Noto Sans SC"/>
                <a:sym typeface="Noto Sans SC"/>
              </a:rPr>
              <a:t>算法负责人</a:t>
            </a:r>
            <a:r>
              <a:rPr lang="en-US" b="false" i="false" strike="noStrike" u="none" sz="1800">
                <a:solidFill>
                  <a:srgbClr val="E6E6E6"/>
                </a:solidFill>
                <a:latin typeface="Noto Sans SC"/>
                <a:ea typeface="Noto Sans SC"/>
                <a:cs typeface="Noto Sans SC"/>
                <a:sym typeface="Noto Sans SC"/>
              </a:rPr>
              <a:t>，主导过多项国家级AI科研项目</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16666"/>
              </a:lnSpc>
              <a:buClr>
                <a:srgbClr val="E6E6E6"/>
              </a:buClr>
              <a:buChar char="•"/>
            </a:pPr>
            <a:r>
              <a:rPr lang="en-US" b="false" i="false" strike="noStrike" u="none" sz="1800">
                <a:solidFill>
                  <a:srgbClr val="E6E6E6"/>
                </a:solidFill>
                <a:latin typeface="Noto Sans SC"/>
                <a:ea typeface="Noto Sans SC"/>
                <a:cs typeface="Noto Sans SC"/>
                <a:sym typeface="Noto Sans SC"/>
              </a:rPr>
              <a:t>平均从业经验8年以上，具备强大的技术落地能力</a:t>
            </a:r>
          </a:p>
        </p:txBody>
      </p:sp>
      <p:sp>
        <p:nvSpPr>
          <p:cNvPr name="AutoShape 9" id="9"/>
          <p:cNvSpPr/>
          <p:nvPr/>
        </p:nvSpPr>
        <p:spPr>
          <a:xfrm rot="0" flipH="false" flipV="false">
            <a:off x="6350000" y="1524000"/>
            <a:ext cx="5080000" cy="3302000"/>
          </a:xfrm>
          <a:prstGeom prst="roundRect">
            <a:avLst>
              <a:gd name="adj" fmla="val 3846"/>
            </a:avLst>
          </a:prstGeom>
          <a:solidFill>
            <a:srgbClr val="FFFFFF">
              <a:alpha val="5000"/>
            </a:srgbClr>
          </a:solidFill>
          <a:ln w="12700" cmpd="sng" cap="flat">
            <a:solidFill>
              <a:srgbClr val="9B5DE5">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54800" y="1828800"/>
            <a:ext cx="406400" cy="406400"/>
          </a:xfrm>
          <a:prstGeom prst="rect">
            <a:avLst/>
          </a:prstGeom>
        </p:spPr>
      </p:pic>
      <p:sp>
        <p:nvSpPr>
          <p:cNvPr name="AutoShape 11" id="11"/>
          <p:cNvSpPr/>
          <p:nvPr/>
        </p:nvSpPr>
        <p:spPr>
          <a:xfrm rot="0" flipH="false" flipV="false">
            <a:off x="7188200" y="1803400"/>
            <a:ext cx="330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9B5DE5"/>
                </a:solidFill>
                <a:latin typeface="Noto Sans SC"/>
                <a:ea typeface="Noto Sans SC"/>
                <a:cs typeface="Noto Sans SC"/>
                <a:sym typeface="Noto Sans SC"/>
              </a:rPr>
              <a:t>知识产权与资质</a:t>
            </a:r>
            <a:endParaRPr lang="en-US" sz="1100"/>
          </a:p>
        </p:txBody>
      </p:sp>
      <p:sp>
        <p:nvSpPr>
          <p:cNvPr name="AutoShape 12" id="12"/>
          <p:cNvSpPr/>
          <p:nvPr/>
        </p:nvSpPr>
        <p:spPr>
          <a:xfrm rot="0" flipH="false" flipV="false">
            <a:off x="6654800" y="2349500"/>
            <a:ext cx="4470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800">
                <a:solidFill>
                  <a:srgbClr val="E6E6E6"/>
                </a:solidFill>
                <a:latin typeface="Noto Sans SC"/>
                <a:ea typeface="Noto Sans SC"/>
                <a:cs typeface="Noto Sans SC"/>
                <a:sym typeface="Noto Sans SC"/>
              </a:rPr>
              <a:t>坚持自主创新，构建深厚技术壁垒：</a:t>
            </a:r>
            <a:r>
              <a:rPr lang="en-US" b="false" i="false" strike="noStrike" u="none" sz="1800">
                <a:solidFill>
                  <a:srgbClr val="E6E6E6"/>
                </a:solidFill>
                <a:latin typeface="Noto Sans SC"/>
                <a:ea typeface="Noto Sans SC"/>
                <a:cs typeface="Noto Sans SC"/>
                <a:sym typeface="Noto Sans SC"/>
              </a:rPr>
              <a:t/>
            </a:r>
            <a:endParaRPr lang="en-US" sz="1100"/>
          </a:p>
          <a:p>
            <a:pPr algn="l" indent="-228600" marL="228600">
              <a:lnSpc>
                <a:spcPct val="116666"/>
              </a:lnSpc>
              <a:buClr>
                <a:srgbClr val="E6E6E6"/>
              </a:buClr>
              <a:buChar char="•"/>
            </a:pPr>
            <a:r>
              <a:rPr lang="en-US" b="false" i="false" strike="noStrike" u="none" sz="1800">
                <a:solidFill>
                  <a:srgbClr val="E6E6E6"/>
                </a:solidFill>
                <a:latin typeface="Noto Sans SC"/>
                <a:ea typeface="Noto Sans SC"/>
                <a:cs typeface="Noto Sans SC"/>
                <a:sym typeface="Noto Sans SC"/>
              </a:rPr>
              <a:t>已获得</a:t>
            </a:r>
            <a:r>
              <a:rPr lang="en-US" b="true" i="false" strike="noStrike" u="none" sz="1800">
                <a:solidFill>
                  <a:srgbClr val="E6E6E6"/>
                </a:solidFill>
                <a:latin typeface="Noto Sans SC"/>
                <a:ea typeface="Noto Sans SC"/>
                <a:cs typeface="Noto Sans SC"/>
                <a:sym typeface="Noto Sans SC"/>
              </a:rPr>
              <a:t>3项发明专利</a:t>
            </a:r>
            <a:r>
              <a:rPr lang="en-US" b="false" i="false" strike="noStrike" u="none" sz="1800">
                <a:solidFill>
                  <a:srgbClr val="E6E6E6"/>
                </a:solidFill>
                <a:latin typeface="Noto Sans SC"/>
                <a:ea typeface="Noto Sans SC"/>
                <a:cs typeface="Noto Sans SC"/>
                <a:sym typeface="Noto Sans SC"/>
              </a:rPr>
              <a:t>与</a:t>
            </a:r>
            <a:r>
              <a:rPr lang="en-US" b="true" i="false" strike="noStrike" u="none" sz="1800">
                <a:solidFill>
                  <a:srgbClr val="E6E6E6"/>
                </a:solidFill>
                <a:latin typeface="Noto Sans SC"/>
                <a:ea typeface="Noto Sans SC"/>
                <a:cs typeface="Noto Sans SC"/>
                <a:sym typeface="Noto Sans SC"/>
              </a:rPr>
              <a:t>5项软件著作权</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16666"/>
              </a:lnSpc>
              <a:buClr>
                <a:srgbClr val="E6E6E6"/>
              </a:buClr>
              <a:buChar char="•"/>
            </a:pPr>
            <a:r>
              <a:rPr lang="en-US" b="false" i="false" strike="noStrike" u="none" sz="1800">
                <a:solidFill>
                  <a:srgbClr val="E6E6E6"/>
                </a:solidFill>
                <a:latin typeface="Noto Sans SC"/>
                <a:ea typeface="Noto Sans SC"/>
                <a:cs typeface="Noto Sans SC"/>
                <a:sym typeface="Noto Sans SC"/>
              </a:rPr>
              <a:t>正在申报</a:t>
            </a:r>
            <a:r>
              <a:rPr lang="en-US" b="true" i="false" strike="noStrike" u="none" sz="1800">
                <a:solidFill>
                  <a:srgbClr val="E6E6E6"/>
                </a:solidFill>
                <a:latin typeface="Noto Sans SC"/>
                <a:ea typeface="Noto Sans SC"/>
                <a:cs typeface="Noto Sans SC"/>
                <a:sym typeface="Noto Sans SC"/>
              </a:rPr>
              <a:t>国家高新技术企业</a:t>
            </a:r>
            <a:r>
              <a:rPr lang="en-US" b="false" i="false" strike="noStrike" u="none" sz="1800">
                <a:solidFill>
                  <a:srgbClr val="E6E6E6"/>
                </a:solidFill>
                <a:latin typeface="Noto Sans SC"/>
                <a:ea typeface="Noto Sans SC"/>
                <a:cs typeface="Noto Sans SC"/>
                <a:sym typeface="Noto Sans SC"/>
              </a:rPr>
              <a:t>认证</a:t>
            </a:r>
            <a:r>
              <a:rPr lang="en-US" b="false" i="false" strike="noStrike" u="none" sz="1800">
                <a:solidFill>
                  <a:srgbClr val="E6E6E6"/>
                </a:solidFill>
                <a:latin typeface="Noto Sans SC"/>
                <a:ea typeface="Noto Sans SC"/>
                <a:cs typeface="Noto Sans SC"/>
                <a:sym typeface="Noto Sans SC"/>
              </a:rPr>
              <a:t/>
            </a:r>
          </a:p>
          <a:p>
            <a:pPr algn="l" indent="-228600" marL="228600">
              <a:lnSpc>
                <a:spcPct val="116666"/>
              </a:lnSpc>
              <a:buClr>
                <a:srgbClr val="E6E6E6"/>
              </a:buClr>
              <a:buChar char="•"/>
            </a:pPr>
            <a:r>
              <a:rPr lang="en-US" b="false" i="false" strike="noStrike" u="none" sz="1800">
                <a:solidFill>
                  <a:srgbClr val="E6E6E6"/>
                </a:solidFill>
                <a:latin typeface="Noto Sans SC"/>
                <a:ea typeface="Noto Sans SC"/>
                <a:cs typeface="Noto Sans SC"/>
                <a:sym typeface="Noto Sans SC"/>
              </a:rPr>
              <a:t>正在申报</a:t>
            </a:r>
            <a:r>
              <a:rPr lang="en-US" b="true" i="false" strike="noStrike" u="none" sz="1800">
                <a:solidFill>
                  <a:srgbClr val="E6E6E6"/>
                </a:solidFill>
                <a:latin typeface="Noto Sans SC"/>
                <a:ea typeface="Noto Sans SC"/>
                <a:cs typeface="Noto Sans SC"/>
                <a:sym typeface="Noto Sans SC"/>
              </a:rPr>
              <a:t>双软企业</a:t>
            </a:r>
            <a:r>
              <a:rPr lang="en-US" b="false" i="false" strike="noStrike" u="none" sz="1800">
                <a:solidFill>
                  <a:srgbClr val="E6E6E6"/>
                </a:solidFill>
                <a:latin typeface="Noto Sans SC"/>
                <a:ea typeface="Noto Sans SC"/>
                <a:cs typeface="Noto Sans SC"/>
                <a:sym typeface="Noto Sans SC"/>
              </a:rPr>
              <a:t>（软件产品/企业）认证</a:t>
            </a:r>
          </a:p>
        </p:txBody>
      </p:sp>
      <p:sp>
        <p:nvSpPr>
          <p:cNvPr name="AutoShape 13" id="13"/>
          <p:cNvSpPr/>
          <p:nvPr/>
        </p:nvSpPr>
        <p:spPr>
          <a:xfrm rot="0" flipH="false" flipV="false">
            <a:off x="762000" y="5207000"/>
            <a:ext cx="10668000" cy="25400"/>
          </a:xfrm>
          <a:prstGeom prst="roundRect">
            <a:avLst>
              <a:gd name="adj" fmla="val 0"/>
            </a:avLst>
          </a:prstGeom>
          <a:gradFill rotWithShape="true">
            <a:gsLst>
              <a:gs pos="0">
                <a:srgbClr val="41EAD4">
                  <a:alpha val="0"/>
                </a:srgbClr>
              </a:gs>
              <a:gs pos="50000">
                <a:srgbClr val="41EAD4">
                  <a:alpha val="50000"/>
                </a:srgbClr>
              </a:gs>
              <a:gs pos="100000">
                <a:srgbClr val="9B5DE5">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461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60000"/>
                  </a:srgbClr>
                </a:solidFill>
                <a:latin typeface="Noto Sans SC"/>
                <a:ea typeface="Noto Sans SC"/>
                <a:cs typeface="Noto Sans SC"/>
                <a:sym typeface="Noto Sans SC"/>
              </a:rPr>
              <a:t>以技术为驱动，以人才为核心，构建可持续发展的创新引擎</a:t>
            </a:r>
            <a:endParaRPr lang="en-US" sz="1100"/>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0D1B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D1B2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324100" y="1651000"/>
            <a:ext cx="7543800" cy="1016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6000">
                <a:solidFill>
                  <a:srgbClr val="41EAD4"/>
                </a:solidFill>
                <a:latin typeface="Arial Black"/>
                <a:ea typeface="Arial Black"/>
                <a:cs typeface="Arial Black"/>
                <a:sym typeface="Arial Black"/>
              </a:rPr>
              <a:t>THANK YOU</a:t>
            </a:r>
            <a:endParaRPr lang="en-US" sz="1100"/>
          </a:p>
        </p:txBody>
      </p:sp>
      <p:sp>
        <p:nvSpPr>
          <p:cNvPr name="AutoShape 5" id="5"/>
          <p:cNvSpPr/>
          <p:nvPr/>
        </p:nvSpPr>
        <p:spPr>
          <a:xfrm rot="0" flipH="false" flipV="false">
            <a:off x="1016000" y="2667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2400">
                <a:solidFill>
                  <a:srgbClr val="FFFFFF"/>
                </a:solidFill>
                <a:latin typeface="Noto Sans SC"/>
                <a:ea typeface="Noto Sans SC"/>
                <a:cs typeface="Noto Sans SC"/>
                <a:sym typeface="Noto Sans SC"/>
              </a:rPr>
              <a:t>AHL - 用科技重新定义住宿业</a:t>
            </a:r>
            <a:endParaRPr lang="en-US" sz="1100"/>
          </a:p>
        </p:txBody>
      </p:sp>
      <p:sp>
        <p:nvSpPr>
          <p:cNvPr name="AutoShape 6" id="6"/>
          <p:cNvSpPr/>
          <p:nvPr/>
        </p:nvSpPr>
        <p:spPr>
          <a:xfrm rot="0" flipH="false" flipV="false">
            <a:off x="5334000" y="3429000"/>
            <a:ext cx="1524000" cy="50800"/>
          </a:xfrm>
          <a:prstGeom prst="roundRect">
            <a:avLst>
              <a:gd name="adj" fmla="val 0"/>
            </a:avLst>
          </a:prstGeom>
          <a:gradFill rotWithShape="true">
            <a:gsLst>
              <a:gs pos="0">
                <a:srgbClr val="41EAD4">
                  <a:alpha val="100000"/>
                </a:srgbClr>
              </a:gs>
              <a:gs pos="100000">
                <a:srgbClr val="9B5DE5">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032000" y="4191000"/>
            <a:ext cx="254000" cy="254000"/>
          </a:xfrm>
          <a:prstGeom prst="rect">
            <a:avLst/>
          </a:prstGeom>
        </p:spPr>
      </p:pic>
      <p:sp>
        <p:nvSpPr>
          <p:cNvPr name="AutoShape 8" id="8"/>
          <p:cNvSpPr/>
          <p:nvPr/>
        </p:nvSpPr>
        <p:spPr>
          <a:xfrm rot="0" flipH="false" flipV="false">
            <a:off x="2413000" y="41402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DCDCDC"/>
                </a:solidFill>
                <a:latin typeface="Noto Sans SC"/>
                <a:ea typeface="Noto Sans SC"/>
                <a:cs typeface="Noto Sans SC"/>
                <a:sym typeface="Noto Sans SC"/>
              </a:rPr>
              <a:t>项目总控：张实</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080000" y="4191000"/>
            <a:ext cx="254000" cy="254000"/>
          </a:xfrm>
          <a:prstGeom prst="rect">
            <a:avLst/>
          </a:prstGeom>
        </p:spPr>
      </p:pic>
      <p:sp>
        <p:nvSpPr>
          <p:cNvPr name="AutoShape 10" id="10"/>
          <p:cNvSpPr/>
          <p:nvPr/>
        </p:nvSpPr>
        <p:spPr>
          <a:xfrm rot="0" flipH="false" flipV="false">
            <a:off x="5461000" y="41402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DCDCDC"/>
                </a:solidFill>
                <a:latin typeface="Arial"/>
                <a:ea typeface="Arial"/>
                <a:cs typeface="Arial"/>
                <a:sym typeface="Arial"/>
              </a:rPr>
              <a:t>17760348653</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620000" y="4191000"/>
            <a:ext cx="254000" cy="254000"/>
          </a:xfrm>
          <a:prstGeom prst="rect">
            <a:avLst/>
          </a:prstGeom>
        </p:spPr>
      </p:pic>
      <p:sp>
        <p:nvSpPr>
          <p:cNvPr name="AutoShape 12" id="12"/>
          <p:cNvSpPr/>
          <p:nvPr/>
        </p:nvSpPr>
        <p:spPr>
          <a:xfrm rot="0" flipH="false" flipV="false">
            <a:off x="8001000" y="41402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DCDCDC"/>
                </a:solidFill>
                <a:latin typeface="Arial"/>
                <a:ea typeface="Arial"/>
                <a:cs typeface="Arial"/>
                <a:sym typeface="Arial"/>
              </a:rPr>
              <a:t>ericzhangshi@163.com</a:t>
            </a:r>
            <a:endParaRPr lang="en-US" sz="1100"/>
          </a:p>
        </p:txBody>
      </p:sp>
      <p:sp>
        <p:nvSpPr>
          <p:cNvPr name="AutoShape 13" id="13"/>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FFFFFF">
                    <a:alpha val="40000"/>
                  </a:srgbClr>
                </a:solidFill>
                <a:latin typeface="Arial"/>
                <a:ea typeface="Arial"/>
                <a:cs typeface="Arial"/>
                <a:sym typeface="Arial"/>
              </a:rPr>
              <a:t>© 2024 AHL Technology Inc. All Rights Reserved.</a:t>
            </a:r>
            <a:endParaRPr lang="en-US" sz="1100"/>
          </a:p>
        </p:txBody>
      </p:sp>
      <p:pic>
        <p:nvPicPr>
          <p:cNvPr name="Picture 14" id="14"/>
          <p:cNvPicPr>
            <a:picLocks noChangeAspect="true"/>
          </p:cNvPicPr>
          <p:nvPr/>
        </p:nvPicPr>
        <p:blipFill>
          <a:blip r:embed="rId10"/>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