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notesSlides/notesSlide1.xml" Type="http://schemas.openxmlformats.org/officeDocument/2006/relationships/notesSlide"/><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slideMasters/slideMaster1.xml" Type="http://schemas.openxmlformats.org/officeDocument/2006/relationships/slideMaster"/><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notesSlides/notesSlide15.xml" Type="http://schemas.openxmlformats.org/officeDocument/2006/relationships/notesSlide"/><Relationship Id="rId47" Target="notesSlides/notesSlide16.xml" Type="http://schemas.openxmlformats.org/officeDocument/2006/relationships/notesSlide"/><Relationship Id="rId48" Target="notesSlides/notesSlide17.xml" Type="http://schemas.openxmlformats.org/officeDocument/2006/relationships/notesSlide"/><Relationship Id="rId49" Target="notesSlides/notesSlide18.xml" Type="http://schemas.openxmlformats.org/officeDocument/2006/relationships/notesSlide"/><Relationship Id="rId50" Target="notesSlides/notesSlide19.xml" Type="http://schemas.openxmlformats.org/officeDocument/2006/relationships/notesSlide"/><Relationship Id="rId51" Target="notesSlides/notesSlide20.xml" Type="http://schemas.openxmlformats.org/officeDocument/2006/relationships/notesSlide"/><Relationship Id="rId52" Target="notesSlides/notesSlide21.xml" Type="http://schemas.openxmlformats.org/officeDocument/2006/relationships/notesSlide"/><Relationship Id="rId53" Target="notesSlides/notesSlide22.xml" Type="http://schemas.openxmlformats.org/officeDocument/2006/relationships/notesSlide"/><Relationship Id="rId54" Target="notesSlides/notesSlide23.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大家好，欢迎参加本次关于AHL项目的商业计划汇报。今天，我们将向各位展示一个由AI大模型驱动的新一代住宿业智能运营平台，一个旨在用科技重新定义住宿业的创新项目。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本次汇报将分为八个部分，从项目概述、技术壁垒、市场机会，到商业模式、实施路径、融资计划，再到核心团队和风险分析，希望能让各位对AHL项目有一个全面而深入的了解。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首先，让我们从项目概述开始，了解AHL要解决的行业痛点以及我们的核心技术架构。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当前住宿业面临着佣金高、数据流失、流量贵和效率低等诸多痛点。传统OTA平台不仅收取高额佣金，还牢牢掌握着客户数据。</a:t>
            </a:r>
          </a:p>
          <a:p>
            <a:pPr algn="l" indent="0">
              <a:lnSpc>
                <a:spcPct val="100000"/>
              </a:lnSpc>
            </a:pPr>
            <a:r>
              <a:rPr lang="en-US" b="false" i="false" strike="noStrike" u="none" sz="1400">
                <a:solidFill>
                  <a:srgbClr val="000000"/>
                </a:solidFill>
              </a:rPr>
              <a:t>AHL的出现正是为了解决这些问题，我们提供极低的费率，将数据所有权交还给商户，并通过强大的AI能力提供更高效的服务。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支撑我们解决方案的是一套先进的四层技术架构。从底层的大模型，到中间的双AGENT执行层和SKILL能力层，再到顶层的向量匹配引擎，每一层都经过精心设计，确保系统的智能、高效和稳定。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接下来，我们将深入分析AHL构建的四大技术壁垒，以及我们相对于竞争对手的核心优势。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我们构建了四大技术壁垒来保障项目的长期竞争力。数据飞轮和双边网络效应将形成强大的规模优势，而深厚的知识库积累和独特的技术路径则确保了我们的专业性和成本优势。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与传统OTA和国际品牌相比，AHL在各个维度都展现出明显的优势。我们以极低的费率、强大的AI能力和快速的迭代速度，为商户提供了一个更具性价比和发展潜力的选择。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了解了我们的技术和优势后，我们再来看看当前的市场为我们提供了怎样的机会。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中国住宿业拥有超过5000亿的市场规模和45万多家商户，这为我们提供了广阔的市场空间。特别是高达750亿的OTA佣金池，正是我们可以为商户创造价值的巨大蓝海。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更重要的是，我们正处在一个AI和科技创新备受鼓励的时代。国家和地方政府都出台了一系列优惠政策，从税收减免到资金补贴，为我们这样的AI创业公司提供了良好的发展环境。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那么，我们如何将技术优势转化为商业价值呢？接下来我将介绍我们的商业模式。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借鉴了成熟的电信运营模式，采用“订阅+TOKEN”的收费方式。这种模式让商户的成本更可控，平台获得稳定的现金流，同时也为用户提供了灵活的选择，实现了多方共赢。值得一提的是，我们的长期战略是逐步将收费模式向TOKEN费用倾斜，这不仅能更公平地反映商户的使用成本，也与AI行业的发展趋势高度契合。正如黄仁勋和马斯克所预言的，TOKEN将成为未来计算和AI服务的核心驱动力，我们正积极拥抱这一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我们为不同规模和需求的商户设计了灵活的订阅套餐，从入门版到企业版，满足从经济型民宿到高端连锁酒店的多样化需求，确保每个商户都能找到适合自己的方案。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我们的收入来源是多元化的，主要包括商户订阅费、超额TOKEN费、交易服务费和SKILL增值服务。这种多元化的收入结构确保了我们收入的稳定性和增长潜力。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有了清晰的商业模式，我们制定了明确的实施路径来确保项目的顺利推进。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我们将项目分为四个阶段，从产品孵化、模式验证，到规模复制，最终实现生态开放。每个阶段都有明确的目标和里程碑，确保我们稳步迈向成功。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为了实现上述计划，我们需要资金的支持，同时，一个优秀的团队是项目成功的关键。接下来我将介绍我们的融资计划和核心团队。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我们计划进行种子轮融资，融资金额为500到800万人民币。所融资金将主要用于技术研发和数据体系建设，同时也会投入市场拓展和运营储备，为项目的快速发展提供充足的动力。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核心团队是一个完美的“产业+技术+资本”黄金三角组合。创始人张实拥有深厚的行业经验，CTO李源是顶尖的AI技术专家，CSO陈思序则具备丰富的战略和资本运作经验。我们相信，这样的团队组合是项目成功的坚实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最后，我们来总结一下目前已取得的成果，并分析项目可能面临的风险及应对策略。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目前，我们已经完成了核心技术的开发和验证，并准备好了完整的商业计划和融资材料。同时，我们也清醒地认识到项目可能面临的风险，并制定了相应的应对策略，包括差异化竞争、快速技术迭代、标杆案例验证和合规前置等，以确保项目的稳健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我的汇报到此结束。AHL致力于用科技重新定义住宿业，我们相信这是一个巨大的蓝海市场，也坚信我们的团队有能力抓住这个机遇。感谢各位的聆听，期待与您携手合作，共创未来！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15.png" Type="http://schemas.openxmlformats.org/officeDocument/2006/relationships/image"/><Relationship Id="rId14" Target="../media/image16.svg" Type="http://schemas.openxmlformats.org/officeDocument/2006/relationships/image"/><Relationship Id="rId15" Target="../media/image17.png" Type="http://schemas.openxmlformats.org/officeDocument/2006/relationships/image"/><Relationship Id="rId16" Target="../media/image18.svg" Type="http://schemas.openxmlformats.org/officeDocument/2006/relationships/image"/><Relationship Id="rId17" Target="../media/image19.png" Type="http://schemas.openxmlformats.org/officeDocument/2006/relationships/image"/><Relationship Id="rId18" Target="../media/image20.svg" Type="http://schemas.openxmlformats.org/officeDocument/2006/relationships/image"/><Relationship Id="rId19" Target="../notesSlides/notesSlide2.xml" Type="http://schemas.openxmlformats.org/officeDocument/2006/relationships/notesSlide"/><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9.svg" Type="http://schemas.openxmlformats.org/officeDocument/2006/relationships/image"/><Relationship Id="rId11" Target="../notesSlides/notesSlide4.xml" Type="http://schemas.openxmlformats.org/officeDocument/2006/relationships/notesSlide"/><Relationship Id="rId2" Target="../media/image21.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5.svg" Type="http://schemas.openxmlformats.org/officeDocument/2006/relationships/image"/><Relationship Id="rId11" Target="../notesSlides/notesSlide5.xml" Type="http://schemas.openxmlformats.org/officeDocument/2006/relationships/notesSlide"/><Relationship Id="rId2" Target="../media/image2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svg" Type="http://schemas.openxmlformats.org/officeDocument/2006/relationships/image"/><Relationship Id="rId11" Target="../notesSlides/notesSlide7.xml" Type="http://schemas.openxmlformats.org/officeDocument/2006/relationships/notesSlide"/><Relationship Id="rId2" Target="../media/image21.jpe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9.svg" Type="http://schemas.openxmlformats.org/officeDocument/2006/relationships/image"/><Relationship Id="rId11" Target="../media/image50.png" Type="http://schemas.openxmlformats.org/officeDocument/2006/relationships/image"/><Relationship Id="rId12" Target="../media/image51.svg" Type="http://schemas.openxmlformats.org/officeDocument/2006/relationships/image"/><Relationship Id="rId13" Target="../notesSlides/notesSlide8.xml" Type="http://schemas.openxmlformats.org/officeDocument/2006/relationships/notesSlide"/><Relationship Id="rId2" Target="../media/image21.jpe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4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52.png" Type="http://schemas.openxmlformats.org/officeDocument/2006/relationships/image"/><Relationship Id="rId4" Target="../media/image53.svg" Type="http://schemas.openxmlformats.org/officeDocument/2006/relationships/image"/><Relationship Id="rId5"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9.svg" Type="http://schemas.openxmlformats.org/officeDocument/2006/relationships/image"/><Relationship Id="rId11" Target="../notesSlides/notesSlide10.xml" Type="http://schemas.openxmlformats.org/officeDocument/2006/relationships/notesSlide"/><Relationship Id="rId2" Target="../media/image21.jpeg" Type="http://schemas.openxmlformats.org/officeDocument/2006/relationships/imag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42.png" Type="http://schemas.openxmlformats.org/officeDocument/2006/relationships/image"/><Relationship Id="rId8" Target="../media/image43.svg" Type="http://schemas.openxmlformats.org/officeDocument/2006/relationships/image"/><Relationship Id="rId9" Target="../media/image5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1.jpeg" Type="http://schemas.openxmlformats.org/officeDocument/2006/relationships/image"/><Relationship Id="rId3" Target="../media/image60.png" Type="http://schemas.openxmlformats.org/officeDocument/2006/relationships/image"/><Relationship Id="rId4" Target="../media/image61.svg" Type="http://schemas.openxmlformats.org/officeDocument/2006/relationships/image"/><Relationship Id="rId5" Target="../media/image62.png" Type="http://schemas.openxmlformats.org/officeDocument/2006/relationships/image"/><Relationship Id="rId6" Target="../media/image63.svg" Type="http://schemas.openxmlformats.org/officeDocument/2006/relationships/image"/><Relationship Id="rId7" Target="../media/image64.png" Type="http://schemas.openxmlformats.org/officeDocument/2006/relationships/image"/><Relationship Id="rId8" Target="../media/image65.svg" Type="http://schemas.openxmlformats.org/officeDocument/2006/relationships/image"/><Relationship Id="rId9"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66.png" Type="http://schemas.openxmlformats.org/officeDocument/2006/relationships/image"/><Relationship Id="rId4" Target="../media/image67.svg" Type="http://schemas.openxmlformats.org/officeDocument/2006/relationships/image"/><Relationship Id="rId5"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5.svg" Type="http://schemas.openxmlformats.org/officeDocument/2006/relationships/image"/><Relationship Id="rId11" Target="../media/image76.png" Type="http://schemas.openxmlformats.org/officeDocument/2006/relationships/image"/><Relationship Id="rId12" Target="../media/image77.svg" Type="http://schemas.openxmlformats.org/officeDocument/2006/relationships/image"/><Relationship Id="rId13" Target="../media/image78.png" Type="http://schemas.openxmlformats.org/officeDocument/2006/relationships/image"/><Relationship Id="rId14" Target="../media/image79.svg" Type="http://schemas.openxmlformats.org/officeDocument/2006/relationships/image"/><Relationship Id="rId15" Target="../media/image9.png" Type="http://schemas.openxmlformats.org/officeDocument/2006/relationships/image"/><Relationship Id="rId16" Target="../media/image10.svg" Type="http://schemas.openxmlformats.org/officeDocument/2006/relationships/image"/><Relationship Id="rId17" Target="../media/image42.png" Type="http://schemas.openxmlformats.org/officeDocument/2006/relationships/image"/><Relationship Id="rId18" Target="../media/image43.svg" Type="http://schemas.openxmlformats.org/officeDocument/2006/relationships/image"/><Relationship Id="rId19" Target="../media/image80.png" Type="http://schemas.openxmlformats.org/officeDocument/2006/relationships/image"/><Relationship Id="rId2" Target="../media/image21.jpeg" Type="http://schemas.openxmlformats.org/officeDocument/2006/relationships/image"/><Relationship Id="rId20" Target="../media/image81.svg" Type="http://schemas.openxmlformats.org/officeDocument/2006/relationships/image"/><Relationship Id="rId21" Target="../notesSlides/notesSlide13.xml" Type="http://schemas.openxmlformats.org/officeDocument/2006/relationships/notesSlide"/><Relationship Id="rId3" Target="../media/image68.png" Type="http://schemas.openxmlformats.org/officeDocument/2006/relationships/image"/><Relationship Id="rId4" Target="../media/image69.svg" Type="http://schemas.openxmlformats.org/officeDocument/2006/relationships/image"/><Relationship Id="rId5" Target="../media/image70.png" Type="http://schemas.openxmlformats.org/officeDocument/2006/relationships/image"/><Relationship Id="rId6" Target="../media/image71.svg" Type="http://schemas.openxmlformats.org/officeDocument/2006/relationships/image"/><Relationship Id="rId7" Target="../media/image72.png" Type="http://schemas.openxmlformats.org/officeDocument/2006/relationships/image"/><Relationship Id="rId8" Target="../media/image73.svg" Type="http://schemas.openxmlformats.org/officeDocument/2006/relationships/image"/><Relationship Id="rId9" Target="../media/image7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1.jpeg" Type="http://schemas.openxmlformats.org/officeDocument/2006/relationships/image"/><Relationship Id="rId3" Target="../media/image70.png" Type="http://schemas.openxmlformats.org/officeDocument/2006/relationships/image"/><Relationship Id="rId4" Target="../media/image71.svg" Type="http://schemas.openxmlformats.org/officeDocument/2006/relationships/image"/><Relationship Id="rId5" Target="../media/image82.png" Type="http://schemas.openxmlformats.org/officeDocument/2006/relationships/image"/><Relationship Id="rId6" Target="../media/image83.svg" Type="http://schemas.openxmlformats.org/officeDocument/2006/relationships/image"/><Relationship Id="rId7" Target="../media/image60.png" Type="http://schemas.openxmlformats.org/officeDocument/2006/relationships/image"/><Relationship Id="rId8" Target="../media/image61.svg" Type="http://schemas.openxmlformats.org/officeDocument/2006/relationships/image"/><Relationship Id="rId9"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9.png" Type="http://schemas.openxmlformats.org/officeDocument/2006/relationships/image"/><Relationship Id="rId11" Target="../media/image90.svg" Type="http://schemas.openxmlformats.org/officeDocument/2006/relationships/image"/><Relationship Id="rId12" Target="../notesSlides/notesSlide15.xml" Type="http://schemas.openxmlformats.org/officeDocument/2006/relationships/notesSlide"/><Relationship Id="rId2" Target="../media/image21.jpeg" Type="http://schemas.openxmlformats.org/officeDocument/2006/relationships/image"/><Relationship Id="rId3" Target="../media/image84.png" Type="http://schemas.openxmlformats.org/officeDocument/2006/relationships/image"/><Relationship Id="rId4" Target="../media/image85.png" Type="http://schemas.openxmlformats.org/officeDocument/2006/relationships/image"/><Relationship Id="rId5" Target="../media/image8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87.png" Type="http://schemas.openxmlformats.org/officeDocument/2006/relationships/image"/><Relationship Id="rId9" Target="../media/image8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8.svg" Type="http://schemas.openxmlformats.org/officeDocument/2006/relationships/image"/><Relationship Id="rId11" Target="../notesSlides/notesSlide17.xml" Type="http://schemas.openxmlformats.org/officeDocument/2006/relationships/notesSlide"/><Relationship Id="rId2" Target="../media/image21.jpeg" Type="http://schemas.openxmlformats.org/officeDocument/2006/relationships/image"/><Relationship Id="rId3" Target="../media/image91.png" Type="http://schemas.openxmlformats.org/officeDocument/2006/relationships/image"/><Relationship Id="rId4" Target="../media/image92.svg" Type="http://schemas.openxmlformats.org/officeDocument/2006/relationships/image"/><Relationship Id="rId5" Target="../media/image93.png" Type="http://schemas.openxmlformats.org/officeDocument/2006/relationships/image"/><Relationship Id="rId6" Target="../media/image94.svg" Type="http://schemas.openxmlformats.org/officeDocument/2006/relationships/image"/><Relationship Id="rId7" Target="../media/image95.png" Type="http://schemas.openxmlformats.org/officeDocument/2006/relationships/image"/><Relationship Id="rId8" Target="../media/image96.svg" Type="http://schemas.openxmlformats.org/officeDocument/2006/relationships/image"/><Relationship Id="rId9" Target="../media/image9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99.png" Type="http://schemas.openxmlformats.org/officeDocument/2006/relationships/image"/><Relationship Id="rId4" Target="../media/image100.svg" Type="http://schemas.openxmlformats.org/officeDocument/2006/relationships/image"/><Relationship Id="rId5"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9.xml" Type="http://schemas.openxmlformats.org/officeDocument/2006/relationships/notesSlide"/><Relationship Id="rId2" Target="../media/image21.jpeg" Type="http://schemas.openxmlformats.org/officeDocument/2006/relationships/image"/><Relationship Id="rId3" Target="../media/image101.png" Type="http://schemas.openxmlformats.org/officeDocument/2006/relationships/image"/><Relationship Id="rId4" Target="../media/image102.svg" Type="http://schemas.openxmlformats.org/officeDocument/2006/relationships/image"/><Relationship Id="rId5" Target="../media/image103.png" Type="http://schemas.openxmlformats.org/officeDocument/2006/relationships/image"/><Relationship Id="rId6" Target="../media/image104.svg" Type="http://schemas.openxmlformats.org/officeDocument/2006/relationships/image"/><Relationship Id="rId7" Target="../media/image105.png" Type="http://schemas.openxmlformats.org/officeDocument/2006/relationships/image"/><Relationship Id="rId8" Target="../media/image106.svg" Type="http://schemas.openxmlformats.org/officeDocument/2006/relationships/image"/><Relationship Id="rId9" Target="../media/image10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1.jpeg" Type="http://schemas.openxmlformats.org/officeDocument/2006/relationships/image"/><Relationship Id="rId3" Target="../media/image108.png" Type="http://schemas.openxmlformats.org/officeDocument/2006/relationships/image"/><Relationship Id="rId4" Target="../media/image109.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82.png" Type="http://schemas.openxmlformats.org/officeDocument/2006/relationships/image"/><Relationship Id="rId4" Target="../media/image83.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1.svg" Type="http://schemas.openxmlformats.org/officeDocument/2006/relationships/image"/><Relationship Id="rId11" Target="../media/image112.png" Type="http://schemas.openxmlformats.org/officeDocument/2006/relationships/image"/><Relationship Id="rId12" Target="../media/image113.svg" Type="http://schemas.openxmlformats.org/officeDocument/2006/relationships/image"/><Relationship Id="rId13" Target="../media/image114.png" Type="http://schemas.openxmlformats.org/officeDocument/2006/relationships/image"/><Relationship Id="rId14" Target="../media/image115.svg" Type="http://schemas.openxmlformats.org/officeDocument/2006/relationships/image"/><Relationship Id="rId15" Target="../notesSlides/notesSlide22.xml" Type="http://schemas.openxmlformats.org/officeDocument/2006/relationships/notesSlide"/><Relationship Id="rId2" Target="../media/image2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1.png" Type="http://schemas.openxmlformats.org/officeDocument/2006/relationships/image"/><Relationship Id="rId6" Target="../media/image102.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11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3.png" Type="http://schemas.openxmlformats.org/officeDocument/2006/relationships/image"/><Relationship Id="rId2" Target="../media/image116.jpeg" Type="http://schemas.openxmlformats.org/officeDocument/2006/relationships/image"/><Relationship Id="rId3" Target="../media/image117.png" Type="http://schemas.openxmlformats.org/officeDocument/2006/relationships/image"/><Relationship Id="rId4" Target="../media/image118.svg" Type="http://schemas.openxmlformats.org/officeDocument/2006/relationships/image"/><Relationship Id="rId5" Target="../media/image119.png" Type="http://schemas.openxmlformats.org/officeDocument/2006/relationships/image"/><Relationship Id="rId6" Target="../media/image120.svg" Type="http://schemas.openxmlformats.org/officeDocument/2006/relationships/image"/><Relationship Id="rId7" Target="../media/image121.png" Type="http://schemas.openxmlformats.org/officeDocument/2006/relationships/image"/><Relationship Id="rId8" Target="../media/image122.svg" Type="http://schemas.openxmlformats.org/officeDocument/2006/relationships/image"/><Relationship Id="rId9" Target="../notesSlides/notesSlide23.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1524000"/>
            <a:ext cx="609600" cy="609600"/>
          </a:xfrm>
          <a:prstGeom prst="rect">
            <a:avLst/>
          </a:prstGeom>
          <a:effectLst>
            <a:outerShdw dir="2700000" dist="0" blurRad="127000" algn="tl" rotWithShape="false">
              <a:srgbClr val="41EAD4">
                <a:alpha val="50000"/>
              </a:srgbClr>
            </a:outerShdw>
          </a:effectLst>
        </p:spPr>
      </p:pic>
      <p:sp>
        <p:nvSpPr>
          <p:cNvPr name="AutoShape 5" id="5"/>
          <p:cNvSpPr/>
          <p:nvPr/>
        </p:nvSpPr>
        <p:spPr>
          <a:xfrm rot="0" flipH="false" flipV="false">
            <a:off x="3943350" y="2286000"/>
            <a:ext cx="43053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400">
                <a:solidFill>
                  <a:srgbClr val="FFFFFF"/>
                </a:solidFill>
                <a:latin typeface="Noto Sans SC"/>
                <a:ea typeface="Noto Sans SC"/>
                <a:cs typeface="Noto Sans SC"/>
                <a:sym typeface="Noto Sans SC"/>
              </a:rPr>
              <a:t>AHL商业计划书</a:t>
            </a:r>
            <a:endParaRPr lang="en-US" sz="1100"/>
          </a:p>
        </p:txBody>
      </p:sp>
      <p:sp>
        <p:nvSpPr>
          <p:cNvPr name="AutoShape 6" id="6"/>
          <p:cNvSpPr/>
          <p:nvPr/>
        </p:nvSpPr>
        <p:spPr>
          <a:xfrm rot="0" flipH="false" flipV="false">
            <a:off x="5715000" y="3175000"/>
            <a:ext cx="76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3441700" y="3429000"/>
            <a:ext cx="53086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41EAD4"/>
                </a:solidFill>
                <a:latin typeface="Noto Sans SC"/>
                <a:ea typeface="Noto Sans SC"/>
                <a:cs typeface="Noto Sans SC"/>
                <a:sym typeface="Noto Sans SC"/>
              </a:rPr>
              <a:t>AI大模型驱动的新一代住宿业智能运营平台</a:t>
            </a:r>
            <a:endParaRPr lang="en-US" sz="1100"/>
          </a:p>
        </p:txBody>
      </p:sp>
      <p:sp>
        <p:nvSpPr>
          <p:cNvPr name="AutoShape 8" id="8"/>
          <p:cNvSpPr/>
          <p:nvPr/>
        </p:nvSpPr>
        <p:spPr>
          <a:xfrm rot="0" flipH="false" flipV="false">
            <a:off x="0" y="5842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科技属性版 v1.0 | 2026年3月</a:t>
            </a:r>
            <a:endParaRPr lang="en-US" sz="1100"/>
          </a:p>
        </p:txBody>
      </p:sp>
      <p:sp>
        <p:nvSpPr>
          <p:cNvPr name="AutoShape 9" id="9"/>
          <p:cNvSpPr/>
          <p:nvPr/>
        </p:nvSpPr>
        <p:spPr>
          <a:xfrm rot="0" flipH="false" flipV="false">
            <a:off x="0" y="6350000"/>
            <a:ext cx="12192000" cy="25400"/>
          </a:xfrm>
          <a:prstGeom prst="roundRect">
            <a:avLst>
              <a:gd name="adj" fmla="val 0"/>
            </a:avLst>
          </a:prstGeom>
          <a:gradFill rotWithShape="true">
            <a:gsLst>
              <a:gs pos="0">
                <a:srgbClr val="0D1B2A">
                  <a:alpha val="0"/>
                </a:srgbClr>
              </a:gs>
              <a:gs pos="50000">
                <a:srgbClr val="9B5DE5">
                  <a:alpha val="50000"/>
                </a:srgbClr>
              </a:gs>
              <a:gs pos="100000">
                <a:srgbClr val="0D1B2A">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solidFill>
            <a:srgbClr val="0D1B2A">
              <a:alpha val="70000"/>
            </a:srgbClr>
          </a:solidFill>
          <a:ln w="25400" cmpd="sng" cap="flat">
            <a:noFill/>
            <a:prstDash val="solid"/>
            <a:round/>
          </a:ln>
        </p:spPr>
      </p:pic>
      <p:sp>
        <p:nvSpPr>
          <p:cNvPr name="AutoShape 3" id="3"/>
          <p:cNvSpPr/>
          <p:nvPr/>
        </p:nvSpPr>
        <p:spPr>
          <a:xfrm rot="0" flipH="false" flipV="false">
            <a:off x="762000" y="508000"/>
            <a:ext cx="40259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CONTENTS</a:t>
            </a:r>
            <a:endParaRPr lang="en-US" sz="1100"/>
          </a:p>
        </p:txBody>
      </p:sp>
      <p:sp>
        <p:nvSpPr>
          <p:cNvPr name="AutoShape 4" id="4"/>
          <p:cNvSpPr/>
          <p:nvPr/>
        </p:nvSpPr>
        <p:spPr>
          <a:xfrm rot="0" flipH="false" flipV="false">
            <a:off x="762000" y="1143000"/>
            <a:ext cx="762000" cy="50800"/>
          </a:xfrm>
          <a:prstGeom prst="roundRect">
            <a:avLst>
              <a:gd name="adj" fmla="val 0"/>
            </a:avLst>
          </a:prstGeom>
          <a:solidFill>
            <a:srgbClr val="41EAD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5080000" cy="889000"/>
          </a:xfrm>
          <a:prstGeom prst="roundRect">
            <a:avLst>
              <a:gd name="adj" fmla="val 14285"/>
            </a:avLst>
          </a:prstGeom>
          <a:solidFill>
            <a:srgbClr val="FFFFFF">
              <a:alpha val="8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65300"/>
            <a:ext cx="406400" cy="406400"/>
          </a:xfrm>
          <a:prstGeom prst="rect">
            <a:avLst/>
          </a:prstGeom>
        </p:spPr>
      </p:pic>
      <p:sp>
        <p:nvSpPr>
          <p:cNvPr name="AutoShape 7" id="7"/>
          <p:cNvSpPr/>
          <p:nvPr/>
        </p:nvSpPr>
        <p:spPr>
          <a:xfrm rot="0" flipH="false" flipV="false">
            <a:off x="1587500" y="15875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项目概述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行业痛点与核心技术架构</a:t>
            </a:r>
          </a:p>
        </p:txBody>
      </p:sp>
      <p:sp>
        <p:nvSpPr>
          <p:cNvPr name="AutoShape 8" id="8"/>
          <p:cNvSpPr/>
          <p:nvPr/>
        </p:nvSpPr>
        <p:spPr>
          <a:xfrm rot="0" flipH="false" flipV="false">
            <a:off x="762000" y="2540000"/>
            <a:ext cx="5080000" cy="889000"/>
          </a:xfrm>
          <a:prstGeom prst="roundRect">
            <a:avLst>
              <a:gd name="adj" fmla="val 14285"/>
            </a:avLst>
          </a:prstGeom>
          <a:solidFill>
            <a:srgbClr val="FFFFFF">
              <a:alpha val="8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781300"/>
            <a:ext cx="406400" cy="406400"/>
          </a:xfrm>
          <a:prstGeom prst="rect">
            <a:avLst/>
          </a:prstGeom>
        </p:spPr>
      </p:pic>
      <p:sp>
        <p:nvSpPr>
          <p:cNvPr name="AutoShape 10" id="10"/>
          <p:cNvSpPr/>
          <p:nvPr/>
        </p:nvSpPr>
        <p:spPr>
          <a:xfrm rot="0" flipH="false" flipV="false">
            <a:off x="1587500" y="26035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技术壁垒</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四大壁垒与竞争优势</a:t>
            </a:r>
          </a:p>
        </p:txBody>
      </p:sp>
      <p:sp>
        <p:nvSpPr>
          <p:cNvPr name="AutoShape 11" id="11"/>
          <p:cNvSpPr/>
          <p:nvPr/>
        </p:nvSpPr>
        <p:spPr>
          <a:xfrm rot="0" flipH="false" flipV="false">
            <a:off x="762000" y="3556000"/>
            <a:ext cx="5080000" cy="889000"/>
          </a:xfrm>
          <a:prstGeom prst="roundRect">
            <a:avLst>
              <a:gd name="adj" fmla="val 14285"/>
            </a:avLst>
          </a:prstGeom>
          <a:solidFill>
            <a:srgbClr val="FFFFFF">
              <a:alpha val="8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797300"/>
            <a:ext cx="406400" cy="406400"/>
          </a:xfrm>
          <a:prstGeom prst="rect">
            <a:avLst/>
          </a:prstGeom>
        </p:spPr>
      </p:pic>
      <p:sp>
        <p:nvSpPr>
          <p:cNvPr name="AutoShape 13" id="13"/>
          <p:cNvSpPr/>
          <p:nvPr/>
        </p:nvSpPr>
        <p:spPr>
          <a:xfrm rot="0" flipH="false" flipV="false">
            <a:off x="1587500" y="36195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市场机会</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行业规模与政策利好</a:t>
            </a:r>
          </a:p>
        </p:txBody>
      </p:sp>
      <p:sp>
        <p:nvSpPr>
          <p:cNvPr name="AutoShape 14" id="14"/>
          <p:cNvSpPr/>
          <p:nvPr/>
        </p:nvSpPr>
        <p:spPr>
          <a:xfrm rot="0" flipH="false" flipV="false">
            <a:off x="762000" y="4572000"/>
            <a:ext cx="5080000" cy="889000"/>
          </a:xfrm>
          <a:prstGeom prst="roundRect">
            <a:avLst>
              <a:gd name="adj" fmla="val 14285"/>
            </a:avLst>
          </a:prstGeom>
          <a:solidFill>
            <a:srgbClr val="FFFFFF">
              <a:alpha val="8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813300"/>
            <a:ext cx="406400" cy="406400"/>
          </a:xfrm>
          <a:prstGeom prst="rect">
            <a:avLst/>
          </a:prstGeom>
        </p:spPr>
      </p:pic>
      <p:sp>
        <p:nvSpPr>
          <p:cNvPr name="AutoShape 16" id="16"/>
          <p:cNvSpPr/>
          <p:nvPr/>
        </p:nvSpPr>
        <p:spPr>
          <a:xfrm rot="0" flipH="false" flipV="false">
            <a:off x="1587500" y="46355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商业模式</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电信运营模式与收入结构</a:t>
            </a:r>
          </a:p>
        </p:txBody>
      </p:sp>
      <p:sp>
        <p:nvSpPr>
          <p:cNvPr name="AutoShape 17" id="17"/>
          <p:cNvSpPr/>
          <p:nvPr/>
        </p:nvSpPr>
        <p:spPr>
          <a:xfrm rot="0" flipH="false" flipV="false">
            <a:off x="6350000" y="1524000"/>
            <a:ext cx="5080000" cy="889000"/>
          </a:xfrm>
          <a:prstGeom prst="roundRect">
            <a:avLst>
              <a:gd name="adj" fmla="val 14285"/>
            </a:avLst>
          </a:prstGeom>
          <a:solidFill>
            <a:srgbClr val="FFFFFF">
              <a:alpha val="8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04000" y="1765300"/>
            <a:ext cx="406400" cy="406400"/>
          </a:xfrm>
          <a:prstGeom prst="rect">
            <a:avLst/>
          </a:prstGeom>
        </p:spPr>
      </p:pic>
      <p:sp>
        <p:nvSpPr>
          <p:cNvPr name="AutoShape 19" id="19"/>
          <p:cNvSpPr/>
          <p:nvPr/>
        </p:nvSpPr>
        <p:spPr>
          <a:xfrm rot="0" flipH="false" flipV="false">
            <a:off x="7175500" y="15875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实施路径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四阶段计划与里程碑</a:t>
            </a:r>
          </a:p>
        </p:txBody>
      </p:sp>
      <p:sp>
        <p:nvSpPr>
          <p:cNvPr name="AutoShape 20" id="20"/>
          <p:cNvSpPr/>
          <p:nvPr/>
        </p:nvSpPr>
        <p:spPr>
          <a:xfrm rot="0" flipH="false" flipV="false">
            <a:off x="6350000" y="2540000"/>
            <a:ext cx="5080000" cy="889000"/>
          </a:xfrm>
          <a:prstGeom prst="roundRect">
            <a:avLst>
              <a:gd name="adj" fmla="val 14285"/>
            </a:avLst>
          </a:prstGeom>
          <a:solidFill>
            <a:srgbClr val="FFFFFF">
              <a:alpha val="8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604000" y="2781300"/>
            <a:ext cx="406400" cy="406400"/>
          </a:xfrm>
          <a:prstGeom prst="rect">
            <a:avLst/>
          </a:prstGeom>
        </p:spPr>
      </p:pic>
      <p:sp>
        <p:nvSpPr>
          <p:cNvPr name="AutoShape 22" id="22"/>
          <p:cNvSpPr/>
          <p:nvPr/>
        </p:nvSpPr>
        <p:spPr>
          <a:xfrm rot="0" flipH="false" flipV="false">
            <a:off x="7175500" y="26035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融资计划</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种子轮方案与资金用途</a:t>
            </a:r>
          </a:p>
        </p:txBody>
      </p:sp>
      <p:sp>
        <p:nvSpPr>
          <p:cNvPr name="AutoShape 23" id="23"/>
          <p:cNvSpPr/>
          <p:nvPr/>
        </p:nvSpPr>
        <p:spPr>
          <a:xfrm rot="0" flipH="false" flipV="false">
            <a:off x="6350000" y="3556000"/>
            <a:ext cx="5080000" cy="889000"/>
          </a:xfrm>
          <a:prstGeom prst="roundRect">
            <a:avLst>
              <a:gd name="adj" fmla="val 14285"/>
            </a:avLst>
          </a:prstGeom>
          <a:solidFill>
            <a:srgbClr val="FFFFFF">
              <a:alpha val="8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604000" y="3797300"/>
            <a:ext cx="406400" cy="406400"/>
          </a:xfrm>
          <a:prstGeom prst="rect">
            <a:avLst/>
          </a:prstGeom>
        </p:spPr>
      </p:pic>
      <p:sp>
        <p:nvSpPr>
          <p:cNvPr name="AutoShape 25" id="25"/>
          <p:cNvSpPr/>
          <p:nvPr/>
        </p:nvSpPr>
        <p:spPr>
          <a:xfrm rot="0" flipH="false" flipV="false">
            <a:off x="7175500" y="36195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核心团队</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创始团队与团队优势</a:t>
            </a:r>
          </a:p>
        </p:txBody>
      </p:sp>
      <p:sp>
        <p:nvSpPr>
          <p:cNvPr name="AutoShape 26" id="26"/>
          <p:cNvSpPr/>
          <p:nvPr/>
        </p:nvSpPr>
        <p:spPr>
          <a:xfrm rot="0" flipH="false" flipV="false">
            <a:off x="6350000" y="4572000"/>
            <a:ext cx="5080000" cy="889000"/>
          </a:xfrm>
          <a:prstGeom prst="roundRect">
            <a:avLst>
              <a:gd name="adj" fmla="val 14285"/>
            </a:avLst>
          </a:prstGeom>
          <a:solidFill>
            <a:srgbClr val="FFFFFF">
              <a:alpha val="8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6604000" y="4813300"/>
            <a:ext cx="406400" cy="406400"/>
          </a:xfrm>
          <a:prstGeom prst="rect">
            <a:avLst/>
          </a:prstGeom>
        </p:spPr>
      </p:pic>
      <p:sp>
        <p:nvSpPr>
          <p:cNvPr name="AutoShape 28" id="28"/>
          <p:cNvSpPr/>
          <p:nvPr/>
        </p:nvSpPr>
        <p:spPr>
          <a:xfrm rot="0" flipH="false" flipV="false">
            <a:off x="7175500" y="46355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成果与风险</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已取得成果与风险对策</a:t>
            </a:r>
          </a:p>
        </p:txBody>
      </p:sp>
      <p:sp>
        <p:nvSpPr>
          <p:cNvPr name="AutoShape 29" id="29"/>
          <p:cNvSpPr/>
          <p:nvPr/>
        </p:nvSpPr>
        <p:spPr>
          <a:xfrm rot="0" flipH="false" flipV="false">
            <a:off x="381000" y="6096000"/>
            <a:ext cx="11430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alpha val="40000"/>
                  </a:srgbClr>
                </a:solidFill>
                <a:latin typeface="Poppins"/>
                <a:ea typeface="Poppins"/>
                <a:cs typeface="Poppins"/>
                <a:sym typeface="Poppins"/>
              </a:rPr>
              <a:t>AHL PROJECT PRESENTATION · 2024</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5842000"/>
          </a:xfrm>
          <a:prstGeom prst="roundRect">
            <a:avLst>
              <a:gd name="adj" fmla="val 2173"/>
            </a:avLst>
          </a:prstGeom>
          <a:solidFill>
            <a:srgbClr val="FFFFFF">
              <a:alpha val="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1524000"/>
            <a:ext cx="12192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6400">
                <a:solidFill>
                  <a:srgbClr val="41EAD4"/>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0" y="2540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项目概述</a:t>
            </a:r>
            <a:endParaRPr lang="en-US" sz="1100"/>
          </a:p>
        </p:txBody>
      </p:sp>
      <p:sp>
        <p:nvSpPr>
          <p:cNvPr name="AutoShape 7" id="7"/>
          <p:cNvSpPr/>
          <p:nvPr/>
        </p:nvSpPr>
        <p:spPr>
          <a:xfrm rot="0" flipH="false" flipV="false">
            <a:off x="5715000" y="3302000"/>
            <a:ext cx="76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0" y="3556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行业痛点与核心技术架构</a:t>
            </a:r>
            <a:endParaRPr lang="en-US" sz="1100"/>
          </a:p>
        </p:txBody>
      </p:sp>
      <p:sp>
        <p:nvSpPr>
          <p:cNvPr name="AutoShape 9" id="9"/>
          <p:cNvSpPr/>
          <p:nvPr/>
        </p:nvSpPr>
        <p:spPr>
          <a:xfrm rot="0" flipH="false" flipV="false">
            <a:off x="0" y="6781800"/>
            <a:ext cx="12192000" cy="76200"/>
          </a:xfrm>
          <a:prstGeom prst="roundRect">
            <a:avLst>
              <a:gd name="adj" fmla="val 0"/>
            </a:avLst>
          </a:prstGeom>
          <a:gradFill rotWithShape="true">
            <a:gsLst>
              <a:gs pos="0">
                <a:srgbClr val="0D1B2A">
                  <a:alpha val="100000"/>
                </a:srgbClr>
              </a:gs>
              <a:gs pos="50000">
                <a:srgbClr val="41EAD4">
                  <a:alpha val="100000"/>
                </a:srgbClr>
              </a:gs>
              <a:gs pos="100000">
                <a:srgbClr val="0D1B2A">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52044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我们解决的问题</a:t>
            </a:r>
            <a:endParaRPr lang="en-US" sz="1100"/>
          </a:p>
        </p:txBody>
      </p:sp>
      <p:sp>
        <p:nvSpPr>
          <p:cNvPr name="AutoShape 5" id="5"/>
          <p:cNvSpPr/>
          <p:nvPr/>
        </p:nvSpPr>
        <p:spPr>
          <a:xfrm rot="0" flipH="false" flipV="false">
            <a:off x="762000" y="1397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行业核心痛点</a:t>
            </a:r>
            <a:endParaRPr lang="en-US" sz="1100"/>
          </a:p>
        </p:txBody>
      </p:sp>
      <p:sp>
        <p:nvSpPr>
          <p:cNvPr name="AutoShape 6" id="6"/>
          <p:cNvSpPr/>
          <p:nvPr/>
        </p:nvSpPr>
        <p:spPr>
          <a:xfrm rot="0" flipH="false" flipV="false">
            <a:off x="762000" y="1905000"/>
            <a:ext cx="5080000" cy="889000"/>
          </a:xfrm>
          <a:prstGeom prst="roundRect">
            <a:avLst>
              <a:gd name="adj" fmla="val 14285"/>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146300"/>
            <a:ext cx="406400" cy="406400"/>
          </a:xfrm>
          <a:prstGeom prst="rect">
            <a:avLst/>
          </a:prstGeom>
        </p:spPr>
      </p:pic>
      <p:sp>
        <p:nvSpPr>
          <p:cNvPr name="AutoShape 8" id="8"/>
          <p:cNvSpPr/>
          <p:nvPr/>
        </p:nvSpPr>
        <p:spPr>
          <a:xfrm rot="0" flipH="false" flipV="false">
            <a:off x="1524000" y="1968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佣金高昂：</a:t>
            </a:r>
            <a:r>
              <a:rPr lang="en-US" b="false" i="false" strike="noStrike" u="none" sz="1600">
                <a:solidFill>
                  <a:srgbClr val="FFFFFF">
                    <a:alpha val="80000"/>
                  </a:srgbClr>
                </a:solidFill>
                <a:latin typeface="Noto Sans SC"/>
                <a:ea typeface="Noto Sans SC"/>
                <a:cs typeface="Noto Sans SC"/>
                <a:sym typeface="Noto Sans SC"/>
              </a:rPr>
              <a:t>OTA平台抽成高达15%-25%，严重挤压利润空间</a:t>
            </a:r>
            <a:endParaRPr lang="en-US" sz="1100"/>
          </a:p>
        </p:txBody>
      </p:sp>
      <p:sp>
        <p:nvSpPr>
          <p:cNvPr name="AutoShape 9" id="9"/>
          <p:cNvSpPr/>
          <p:nvPr/>
        </p:nvSpPr>
        <p:spPr>
          <a:xfrm rot="0" flipH="false" flipV="false">
            <a:off x="762000" y="2921000"/>
            <a:ext cx="5080000" cy="889000"/>
          </a:xfrm>
          <a:prstGeom prst="roundRect">
            <a:avLst>
              <a:gd name="adj" fmla="val 14285"/>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3162300"/>
            <a:ext cx="406400" cy="406400"/>
          </a:xfrm>
          <a:prstGeom prst="rect">
            <a:avLst/>
          </a:prstGeom>
        </p:spPr>
      </p:pic>
      <p:sp>
        <p:nvSpPr>
          <p:cNvPr name="AutoShape 11" id="11"/>
          <p:cNvSpPr/>
          <p:nvPr/>
        </p:nvSpPr>
        <p:spPr>
          <a:xfrm rot="0" flipH="false" flipV="false">
            <a:off x="1524000" y="2984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数据流失：</a:t>
            </a:r>
            <a:r>
              <a:rPr lang="en-US" b="false" i="false" strike="noStrike" u="none" sz="1600">
                <a:solidFill>
                  <a:srgbClr val="FFFFFF">
                    <a:alpha val="80000"/>
                  </a:srgbClr>
                </a:solidFill>
                <a:latin typeface="Noto Sans SC"/>
                <a:ea typeface="Noto Sans SC"/>
                <a:cs typeface="Noto Sans SC"/>
                <a:sym typeface="Noto Sans SC"/>
              </a:rPr>
              <a:t>客户数据掌握在平台手中，商户无法直接触达用户</a:t>
            </a:r>
            <a:endParaRPr lang="en-US" sz="1100"/>
          </a:p>
        </p:txBody>
      </p:sp>
      <p:sp>
        <p:nvSpPr>
          <p:cNvPr name="AutoShape 12" id="12"/>
          <p:cNvSpPr/>
          <p:nvPr/>
        </p:nvSpPr>
        <p:spPr>
          <a:xfrm rot="0" flipH="false" flipV="false">
            <a:off x="762000" y="3937000"/>
            <a:ext cx="5080000" cy="889000"/>
          </a:xfrm>
          <a:prstGeom prst="roundRect">
            <a:avLst>
              <a:gd name="adj" fmla="val 14285"/>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4178300"/>
            <a:ext cx="406400" cy="406400"/>
          </a:xfrm>
          <a:prstGeom prst="rect">
            <a:avLst/>
          </a:prstGeom>
        </p:spPr>
      </p:pic>
      <p:sp>
        <p:nvSpPr>
          <p:cNvPr name="AutoShape 14" id="14"/>
          <p:cNvSpPr/>
          <p:nvPr/>
        </p:nvSpPr>
        <p:spPr>
          <a:xfrm rot="0" flipH="false" flipV="false">
            <a:off x="1524000" y="4000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流量昂贵：</a:t>
            </a:r>
            <a:r>
              <a:rPr lang="en-US" b="false" i="false" strike="noStrike" u="none" sz="1600">
                <a:solidFill>
                  <a:srgbClr val="FFFFFF">
                    <a:alpha val="80000"/>
                  </a:srgbClr>
                </a:solidFill>
                <a:latin typeface="Noto Sans SC"/>
                <a:ea typeface="Noto Sans SC"/>
                <a:cs typeface="Noto Sans SC"/>
                <a:sym typeface="Noto Sans SC"/>
              </a:rPr>
              <a:t>获取新客成本逐年攀升，获客ROI持续走低</a:t>
            </a:r>
            <a:endParaRPr lang="en-US" sz="1100"/>
          </a:p>
        </p:txBody>
      </p:sp>
      <p:sp>
        <p:nvSpPr>
          <p:cNvPr name="AutoShape 15" id="15"/>
          <p:cNvSpPr/>
          <p:nvPr/>
        </p:nvSpPr>
        <p:spPr>
          <a:xfrm rot="0" flipH="false" flipV="false">
            <a:off x="762000" y="4953000"/>
            <a:ext cx="5080000" cy="889000"/>
          </a:xfrm>
          <a:prstGeom prst="roundRect">
            <a:avLst>
              <a:gd name="adj" fmla="val 14285"/>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5194300"/>
            <a:ext cx="406400" cy="406400"/>
          </a:xfrm>
          <a:prstGeom prst="rect">
            <a:avLst/>
          </a:prstGeom>
        </p:spPr>
      </p:pic>
      <p:sp>
        <p:nvSpPr>
          <p:cNvPr name="AutoShape 17" id="17"/>
          <p:cNvSpPr/>
          <p:nvPr/>
        </p:nvSpPr>
        <p:spPr>
          <a:xfrm rot="0" flipH="false" flipV="false">
            <a:off x="1524000" y="5016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效率低下：</a:t>
            </a:r>
            <a:r>
              <a:rPr lang="en-US" b="false" i="false" strike="noStrike" u="none" sz="1600">
                <a:solidFill>
                  <a:srgbClr val="FFFFFF">
                    <a:alpha val="80000"/>
                  </a:srgbClr>
                </a:solidFill>
                <a:latin typeface="Noto Sans SC"/>
                <a:ea typeface="Noto Sans SC"/>
                <a:cs typeface="Noto Sans SC"/>
                <a:sym typeface="Noto Sans SC"/>
              </a:rPr>
              <a:t>传统人工运营响应慢，无法满足即时服务需求</a:t>
            </a:r>
            <a:endParaRPr lang="en-US" sz="1100"/>
          </a:p>
        </p:txBody>
      </p:sp>
      <p:sp>
        <p:nvSpPr>
          <p:cNvPr name="AutoShape 18" id="18"/>
          <p:cNvSpPr/>
          <p:nvPr/>
        </p:nvSpPr>
        <p:spPr>
          <a:xfrm rot="0" flipH="false" flipV="false">
            <a:off x="6350000" y="1397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传统模式 vs AHL 解决方案</a:t>
            </a:r>
            <a:endParaRPr lang="en-US" sz="1100"/>
          </a:p>
        </p:txBody>
      </p:sp>
      <p:sp>
        <p:nvSpPr>
          <p:cNvPr name="AutoShape 19" id="19"/>
          <p:cNvSpPr/>
          <p:nvPr/>
        </p:nvSpPr>
        <p:spPr>
          <a:xfrm rot="0" flipH="false" flipV="false">
            <a:off x="6350000" y="1905000"/>
            <a:ext cx="5080000" cy="457200"/>
          </a:xfrm>
          <a:prstGeom prst="roundRect">
            <a:avLst>
              <a:gd name="adj" fmla="val 13888"/>
            </a:avLst>
          </a:prstGeom>
          <a:solidFill>
            <a:srgbClr val="9B5DE5">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477000" y="19431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alpha val="70196"/>
                  </a:srgbClr>
                </a:solidFill>
                <a:latin typeface="Noto Sans SC"/>
                <a:ea typeface="Noto Sans SC"/>
                <a:cs typeface="Noto Sans SC"/>
                <a:sym typeface="Noto Sans SC"/>
              </a:rPr>
              <a:t>对比维度</a:t>
            </a:r>
            <a:endParaRPr lang="en-US" sz="1100"/>
          </a:p>
        </p:txBody>
      </p:sp>
      <p:sp>
        <p:nvSpPr>
          <p:cNvPr name="AutoShape 21" id="21"/>
          <p:cNvSpPr/>
          <p:nvPr/>
        </p:nvSpPr>
        <p:spPr>
          <a:xfrm rot="0" flipH="false" flipV="false">
            <a:off x="8001000" y="19431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alpha val="70196"/>
                  </a:srgbClr>
                </a:solidFill>
                <a:latin typeface="Noto Sans SC"/>
                <a:ea typeface="Noto Sans SC"/>
                <a:cs typeface="Noto Sans SC"/>
                <a:sym typeface="Noto Sans SC"/>
              </a:rPr>
              <a:t>传统OTA</a:t>
            </a:r>
            <a:endParaRPr lang="en-US" sz="1100"/>
          </a:p>
        </p:txBody>
      </p:sp>
      <p:sp>
        <p:nvSpPr>
          <p:cNvPr name="AutoShape 22" id="22"/>
          <p:cNvSpPr/>
          <p:nvPr/>
        </p:nvSpPr>
        <p:spPr>
          <a:xfrm rot="0" flipH="false" flipV="false">
            <a:off x="9652000" y="19431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9B5DE5"/>
                </a:solidFill>
                <a:latin typeface="Noto Sans SC"/>
                <a:ea typeface="Noto Sans SC"/>
                <a:cs typeface="Noto Sans SC"/>
                <a:sym typeface="Noto Sans SC"/>
              </a:rPr>
              <a:t>AHL 智能平台</a:t>
            </a:r>
            <a:endParaRPr lang="en-US" sz="1100"/>
          </a:p>
        </p:txBody>
      </p:sp>
      <p:sp>
        <p:nvSpPr>
          <p:cNvPr name="AutoShape 23" id="23"/>
          <p:cNvSpPr/>
          <p:nvPr/>
        </p:nvSpPr>
        <p:spPr>
          <a:xfrm rot="0" flipH="false" flipV="false">
            <a:off x="6350000" y="2476500"/>
            <a:ext cx="5080000" cy="635000"/>
          </a:xfrm>
          <a:prstGeom prst="roundRect">
            <a:avLst>
              <a:gd name="adj" fmla="val 0"/>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477000" y="25400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服务费率</a:t>
            </a:r>
            <a:endParaRPr lang="en-US" sz="1100"/>
          </a:p>
        </p:txBody>
      </p:sp>
      <p:sp>
        <p:nvSpPr>
          <p:cNvPr name="AutoShape 25" id="25"/>
          <p:cNvSpPr/>
          <p:nvPr/>
        </p:nvSpPr>
        <p:spPr>
          <a:xfrm rot="0" flipH="false" flipV="false">
            <a:off x="8001000" y="25400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15%-25%</a:t>
            </a:r>
            <a:endParaRPr lang="en-US" sz="1100"/>
          </a:p>
        </p:txBody>
      </p:sp>
      <p:sp>
        <p:nvSpPr>
          <p:cNvPr name="AutoShape 26" id="26"/>
          <p:cNvSpPr/>
          <p:nvPr/>
        </p:nvSpPr>
        <p:spPr>
          <a:xfrm rot="0" flipH="false" flipV="false">
            <a:off x="9652000" y="2540000"/>
            <a:ext cx="165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9B5DE5"/>
                </a:solidFill>
                <a:latin typeface="Noto Sans SC"/>
                <a:ea typeface="Noto Sans SC"/>
                <a:cs typeface="Noto Sans SC"/>
                <a:sym typeface="Noto Sans SC"/>
              </a:rPr>
              <a:t>2% + 基础套餐</a:t>
            </a:r>
            <a:endParaRPr lang="en-US" sz="1100"/>
          </a:p>
        </p:txBody>
      </p:sp>
      <p:sp>
        <p:nvSpPr>
          <p:cNvPr name="AutoShape 27" id="27"/>
          <p:cNvSpPr/>
          <p:nvPr/>
        </p:nvSpPr>
        <p:spPr>
          <a:xfrm rot="0" flipH="false" flipV="false">
            <a:off x="6350000" y="3238500"/>
            <a:ext cx="5080000" cy="635000"/>
          </a:xfrm>
          <a:prstGeom prst="roundRect">
            <a:avLst>
              <a:gd name="adj" fmla="val 0"/>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6477000" y="33020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数据归属</a:t>
            </a:r>
            <a:endParaRPr lang="en-US" sz="1100"/>
          </a:p>
        </p:txBody>
      </p:sp>
      <p:sp>
        <p:nvSpPr>
          <p:cNvPr name="AutoShape 29" id="29"/>
          <p:cNvSpPr/>
          <p:nvPr/>
        </p:nvSpPr>
        <p:spPr>
          <a:xfrm rot="0" flipH="false" flipV="false">
            <a:off x="8001000" y="33020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平台所有</a:t>
            </a:r>
            <a:endParaRPr lang="en-US" sz="1100"/>
          </a:p>
        </p:txBody>
      </p:sp>
      <p:sp>
        <p:nvSpPr>
          <p:cNvPr name="AutoShape 30" id="30"/>
          <p:cNvSpPr/>
          <p:nvPr/>
        </p:nvSpPr>
        <p:spPr>
          <a:xfrm rot="0" flipH="false" flipV="false">
            <a:off x="9652000" y="3302000"/>
            <a:ext cx="165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9B5DE5"/>
                </a:solidFill>
                <a:latin typeface="Noto Sans SC"/>
                <a:ea typeface="Noto Sans SC"/>
                <a:cs typeface="Noto Sans SC"/>
                <a:sym typeface="Noto Sans SC"/>
              </a:rPr>
              <a:t>商户自有资产</a:t>
            </a:r>
            <a:endParaRPr lang="en-US" sz="1100"/>
          </a:p>
        </p:txBody>
      </p:sp>
      <p:sp>
        <p:nvSpPr>
          <p:cNvPr name="AutoShape 31" id="31"/>
          <p:cNvSpPr/>
          <p:nvPr/>
        </p:nvSpPr>
        <p:spPr>
          <a:xfrm rot="0" flipH="false" flipV="false">
            <a:off x="6350000" y="4000500"/>
            <a:ext cx="5080000" cy="635000"/>
          </a:xfrm>
          <a:prstGeom prst="roundRect">
            <a:avLst>
              <a:gd name="adj" fmla="val 0"/>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6477000" y="40640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AI 能力</a:t>
            </a:r>
            <a:endParaRPr lang="en-US" sz="1100"/>
          </a:p>
        </p:txBody>
      </p:sp>
      <p:sp>
        <p:nvSpPr>
          <p:cNvPr name="AutoShape 33" id="33"/>
          <p:cNvSpPr/>
          <p:nvPr/>
        </p:nvSpPr>
        <p:spPr>
          <a:xfrm rot="0" flipH="false" flipV="false">
            <a:off x="8001000" y="40640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基础自动化</a:t>
            </a:r>
            <a:endParaRPr lang="en-US" sz="1100"/>
          </a:p>
        </p:txBody>
      </p:sp>
      <p:sp>
        <p:nvSpPr>
          <p:cNvPr name="AutoShape 34" id="34"/>
          <p:cNvSpPr/>
          <p:nvPr/>
        </p:nvSpPr>
        <p:spPr>
          <a:xfrm rot="0" flipH="false" flipV="false">
            <a:off x="9652000" y="4064000"/>
            <a:ext cx="165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9B5DE5"/>
                </a:solidFill>
                <a:latin typeface="Noto Sans SC"/>
                <a:ea typeface="Noto Sans SC"/>
                <a:cs typeface="Noto Sans SC"/>
                <a:sym typeface="Noto Sans SC"/>
              </a:rPr>
              <a:t>80+ 智能技能</a:t>
            </a:r>
            <a:endParaRPr lang="en-US" sz="1100"/>
          </a:p>
        </p:txBody>
      </p:sp>
      <p:sp>
        <p:nvSpPr>
          <p:cNvPr name="AutoShape 35" id="35"/>
          <p:cNvSpPr/>
          <p:nvPr/>
        </p:nvSpPr>
        <p:spPr>
          <a:xfrm rot="0" flipH="false" flipV="false">
            <a:off x="6350000" y="4762500"/>
            <a:ext cx="5080000" cy="635000"/>
          </a:xfrm>
          <a:prstGeom prst="roundRect">
            <a:avLst>
              <a:gd name="adj" fmla="val 0"/>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6477000" y="48260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收费模式</a:t>
            </a:r>
            <a:endParaRPr lang="en-US" sz="1100"/>
          </a:p>
        </p:txBody>
      </p:sp>
      <p:sp>
        <p:nvSpPr>
          <p:cNvPr name="AutoShape 37" id="37"/>
          <p:cNvSpPr/>
          <p:nvPr/>
        </p:nvSpPr>
        <p:spPr>
          <a:xfrm rot="0" flipH="false" flipV="false">
            <a:off x="8001000" y="48260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高额交易抽成</a:t>
            </a:r>
            <a:endParaRPr lang="en-US" sz="1100"/>
          </a:p>
        </p:txBody>
      </p:sp>
      <p:sp>
        <p:nvSpPr>
          <p:cNvPr name="AutoShape 38" id="38"/>
          <p:cNvSpPr/>
          <p:nvPr/>
        </p:nvSpPr>
        <p:spPr>
          <a:xfrm rot="0" flipH="false" flipV="false">
            <a:off x="9652000" y="4826000"/>
            <a:ext cx="165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9B5DE5"/>
                </a:solidFill>
                <a:latin typeface="Noto Sans SC"/>
                <a:ea typeface="Noto Sans SC"/>
                <a:cs typeface="Noto Sans SC"/>
                <a:sym typeface="Noto Sans SC"/>
              </a:rPr>
              <a:t>订阅 + 按量</a:t>
            </a:r>
            <a:endParaRPr lang="en-US" sz="1100"/>
          </a:p>
        </p:txBody>
      </p:sp>
      <p:sp>
        <p:nvSpPr>
          <p:cNvPr name="AutoShape 39" id="39"/>
          <p:cNvSpPr/>
          <p:nvPr/>
        </p:nvSpPr>
        <p:spPr>
          <a:xfrm rot="0" flipH="false" flipV="false">
            <a:off x="6350000" y="5524500"/>
            <a:ext cx="5080000" cy="508000"/>
          </a:xfrm>
          <a:prstGeom prst="roundRect">
            <a:avLst>
              <a:gd name="adj" fmla="val 25000"/>
            </a:avLst>
          </a:prstGeom>
          <a:solidFill>
            <a:srgbClr val="9B5DE5">
              <a:alpha val="10000"/>
            </a:srgbClr>
          </a:solidFill>
          <a:ln w="12700" cmpd="sng" cap="flat">
            <a:solidFill>
              <a:srgbClr val="9B5DE5">
                <a:alpha val="100000"/>
              </a:srgbClr>
            </a:solidFill>
            <a:prstDash val="dash"/>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6477000" y="5588000"/>
            <a:ext cx="482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9B5DE5"/>
                </a:solidFill>
                <a:latin typeface="Noto Sans SC"/>
                <a:ea typeface="Noto Sans SC"/>
                <a:cs typeface="Noto Sans SC"/>
                <a:sym typeface="Noto Sans SC"/>
              </a:rPr>
              <a:t>降本增效，将数据所有权与利润归还商户</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556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核心技术架构</a:t>
            </a:r>
            <a:endParaRPr lang="en-US" sz="1100"/>
          </a:p>
        </p:txBody>
      </p:sp>
      <p:sp>
        <p:nvSpPr>
          <p:cNvPr name="AutoShape 5" id="5"/>
          <p:cNvSpPr/>
          <p:nvPr/>
        </p:nvSpPr>
        <p:spPr>
          <a:xfrm rot="0" flipH="false" flipV="false">
            <a:off x="762000" y="1397000"/>
            <a:ext cx="10668000" cy="1079500"/>
          </a:xfrm>
          <a:prstGeom prst="roundRect">
            <a:avLst>
              <a:gd name="adj" fmla="val 11764"/>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76400"/>
            <a:ext cx="508000" cy="508000"/>
          </a:xfrm>
          <a:prstGeom prst="rect">
            <a:avLst/>
          </a:prstGeom>
        </p:spPr>
      </p:pic>
      <p:sp>
        <p:nvSpPr>
          <p:cNvPr name="AutoShape 7" id="7"/>
          <p:cNvSpPr/>
          <p:nvPr/>
        </p:nvSpPr>
        <p:spPr>
          <a:xfrm rot="0" flipH="false" flipV="false">
            <a:off x="1778000" y="15240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LLM大模型层</a:t>
            </a:r>
            <a:endParaRPr lang="en-US" sz="1100"/>
          </a:p>
        </p:txBody>
      </p:sp>
      <p:sp>
        <p:nvSpPr>
          <p:cNvPr name="AutoShape 8" id="8"/>
          <p:cNvSpPr/>
          <p:nvPr/>
        </p:nvSpPr>
        <p:spPr>
          <a:xfrm rot="0" flipH="false" flipV="false">
            <a:off x="1778000" y="19050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90196"/>
                  </a:srgbClr>
                </a:solidFill>
                <a:latin typeface="Noto Sans SC"/>
                <a:ea typeface="Noto Sans SC"/>
                <a:cs typeface="Noto Sans SC"/>
                <a:sym typeface="Noto Sans SC"/>
              </a:rPr>
              <a:t>基于开源模型微调，注入专业知识库，支持多模态交互。</a:t>
            </a:r>
            <a:endParaRPr lang="en-US" sz="1100"/>
          </a:p>
        </p:txBody>
      </p:sp>
      <p:sp>
        <p:nvSpPr>
          <p:cNvPr name="AutoShape 9" id="9"/>
          <p:cNvSpPr/>
          <p:nvPr/>
        </p:nvSpPr>
        <p:spPr>
          <a:xfrm rot="0" flipH="false" flipV="false">
            <a:off x="762000" y="2603500"/>
            <a:ext cx="10668000" cy="1079500"/>
          </a:xfrm>
          <a:prstGeom prst="roundRect">
            <a:avLst>
              <a:gd name="adj" fmla="val 11764"/>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882900"/>
            <a:ext cx="508000" cy="508000"/>
          </a:xfrm>
          <a:prstGeom prst="rect">
            <a:avLst/>
          </a:prstGeom>
        </p:spPr>
      </p:pic>
      <p:sp>
        <p:nvSpPr>
          <p:cNvPr name="AutoShape 11" id="11"/>
          <p:cNvSpPr/>
          <p:nvPr/>
        </p:nvSpPr>
        <p:spPr>
          <a:xfrm rot="0" flipH="false" flipV="false">
            <a:off x="1778000" y="27305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双AGENT执行层</a:t>
            </a:r>
            <a:endParaRPr lang="en-US" sz="1100"/>
          </a:p>
        </p:txBody>
      </p:sp>
      <p:sp>
        <p:nvSpPr>
          <p:cNvPr name="AutoShape 12" id="12"/>
          <p:cNvSpPr/>
          <p:nvPr/>
        </p:nvSpPr>
        <p:spPr>
          <a:xfrm rot="0" flipH="false" flipV="false">
            <a:off x="1778000" y="31115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90196"/>
                  </a:srgbClr>
                </a:solidFill>
                <a:latin typeface="Noto Sans SC"/>
                <a:ea typeface="Noto Sans SC"/>
                <a:cs typeface="Noto Sans SC"/>
                <a:sym typeface="Noto Sans SC"/>
              </a:rPr>
              <a:t>包含面向消费者的C端AI管家和面向商户的B端AI运营官，实现7×24小时全天候服务。</a:t>
            </a:r>
            <a:endParaRPr lang="en-US" sz="1100"/>
          </a:p>
        </p:txBody>
      </p:sp>
      <p:sp>
        <p:nvSpPr>
          <p:cNvPr name="AutoShape 13" id="13"/>
          <p:cNvSpPr/>
          <p:nvPr/>
        </p:nvSpPr>
        <p:spPr>
          <a:xfrm rot="0" flipH="false" flipV="false">
            <a:off x="762000" y="3810000"/>
            <a:ext cx="10668000" cy="1079500"/>
          </a:xfrm>
          <a:prstGeom prst="roundRect">
            <a:avLst>
              <a:gd name="adj" fmla="val 11764"/>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089400"/>
            <a:ext cx="508000" cy="508000"/>
          </a:xfrm>
          <a:prstGeom prst="rect">
            <a:avLst/>
          </a:prstGeom>
        </p:spPr>
      </p:pic>
      <p:sp>
        <p:nvSpPr>
          <p:cNvPr name="AutoShape 15" id="15"/>
          <p:cNvSpPr/>
          <p:nvPr/>
        </p:nvSpPr>
        <p:spPr>
          <a:xfrm rot="0" flipH="false" flipV="false">
            <a:off x="1778000" y="39370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SKILLs可插拔能力层</a:t>
            </a:r>
            <a:endParaRPr lang="en-US" sz="1100"/>
          </a:p>
        </p:txBody>
      </p:sp>
      <p:sp>
        <p:nvSpPr>
          <p:cNvPr name="AutoShape 16" id="16"/>
          <p:cNvSpPr/>
          <p:nvPr/>
        </p:nvSpPr>
        <p:spPr>
          <a:xfrm rot="0" flipH="false" flipV="false">
            <a:off x="1778000" y="43180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90196"/>
                  </a:srgbClr>
                </a:solidFill>
                <a:latin typeface="Noto Sans SC"/>
                <a:ea typeface="Noto Sans SC"/>
                <a:cs typeface="Noto Sans SC"/>
                <a:sym typeface="Noto Sans SC"/>
              </a:rPr>
              <a:t>拥有80多个可插拔的专业技能模块，可灵活组合，快速迭代。</a:t>
            </a:r>
            <a:endParaRPr lang="en-US" sz="1100"/>
          </a:p>
        </p:txBody>
      </p:sp>
      <p:sp>
        <p:nvSpPr>
          <p:cNvPr name="AutoShape 17" id="17"/>
          <p:cNvSpPr/>
          <p:nvPr/>
        </p:nvSpPr>
        <p:spPr>
          <a:xfrm rot="0" flipH="false" flipV="false">
            <a:off x="762000" y="5016500"/>
            <a:ext cx="10668000" cy="1079500"/>
          </a:xfrm>
          <a:prstGeom prst="roundRect">
            <a:avLst>
              <a:gd name="adj" fmla="val 11764"/>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295900"/>
            <a:ext cx="508000" cy="508000"/>
          </a:xfrm>
          <a:prstGeom prst="rect">
            <a:avLst/>
          </a:prstGeom>
        </p:spPr>
      </p:pic>
      <p:sp>
        <p:nvSpPr>
          <p:cNvPr name="AutoShape 19" id="19"/>
          <p:cNvSpPr/>
          <p:nvPr/>
        </p:nvSpPr>
        <p:spPr>
          <a:xfrm rot="0" flipH="false" flipV="false">
            <a:off x="1778000" y="51435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向量匹配引擎层</a:t>
            </a:r>
            <a:endParaRPr lang="en-US" sz="1100"/>
          </a:p>
        </p:txBody>
      </p:sp>
      <p:sp>
        <p:nvSpPr>
          <p:cNvPr name="AutoShape 20" id="20"/>
          <p:cNvSpPr/>
          <p:nvPr/>
        </p:nvSpPr>
        <p:spPr>
          <a:xfrm rot="0" flipH="false" flipV="false">
            <a:off x="1778000" y="55245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90196"/>
                  </a:srgbClr>
                </a:solidFill>
                <a:latin typeface="Noto Sans SC"/>
                <a:ea typeface="Noto Sans SC"/>
                <a:cs typeface="Noto Sans SC"/>
                <a:sym typeface="Noto Sans SC"/>
              </a:rPr>
              <a:t>基于Milvus向量数据库，确保&lt;3秒的快速响应和95%+的高准确率。</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4749800" y="1270000"/>
            <a:ext cx="2692400" cy="1397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9600">
                <a:solidFill>
                  <a:srgbClr val="41EAD4"/>
                </a:solidFill>
                <a:latin typeface="Noto Sans SC"/>
                <a:ea typeface="Noto Sans SC"/>
                <a:cs typeface="Noto Sans SC"/>
                <a:sym typeface="Noto Sans SC"/>
              </a:rPr>
              <a:t>02</a:t>
            </a:r>
            <a:endParaRPr lang="en-US" sz="1100"/>
          </a:p>
        </p:txBody>
      </p:sp>
      <p:sp>
        <p:nvSpPr>
          <p:cNvPr name="AutoShape 5" id="5"/>
          <p:cNvSpPr/>
          <p:nvPr/>
        </p:nvSpPr>
        <p:spPr>
          <a:xfrm rot="0" flipH="false" flipV="false">
            <a:off x="5334000" y="2794000"/>
            <a:ext cx="1524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3860800" y="3048000"/>
            <a:ext cx="44704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技术壁垒与竞争优势</a:t>
            </a:r>
            <a:endParaRPr lang="en-US" sz="1100"/>
          </a:p>
        </p:txBody>
      </p:sp>
      <p:sp>
        <p:nvSpPr>
          <p:cNvPr name="AutoShape 7" id="7"/>
          <p:cNvSpPr/>
          <p:nvPr/>
        </p:nvSpPr>
        <p:spPr>
          <a:xfrm rot="0" flipH="false" flipV="false">
            <a:off x="4419600" y="3683000"/>
            <a:ext cx="33528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spc="200">
                <a:solidFill>
                  <a:srgbClr val="9B5DE5"/>
                </a:solidFill>
                <a:latin typeface="Noto Sans SC"/>
                <a:ea typeface="Noto Sans SC"/>
                <a:cs typeface="Noto Sans SC"/>
                <a:sym typeface="Noto Sans SC"/>
              </a:rPr>
              <a:t>四大技术壁垒与竞品对比</a:t>
            </a:r>
            <a:endParaRPr lang="en-US" sz="1100"/>
          </a:p>
        </p:txBody>
      </p:sp>
      <p:sp>
        <p:nvSpPr>
          <p:cNvPr name="AutoShape 8" id="8"/>
          <p:cNvSpPr/>
          <p:nvPr/>
        </p:nvSpPr>
        <p:spPr>
          <a:xfrm rot="0" flipH="false" flipV="false">
            <a:off x="0" y="6350000"/>
            <a:ext cx="12192000" cy="25400"/>
          </a:xfrm>
          <a:prstGeom prst="roundRect">
            <a:avLst>
              <a:gd name="adj" fmla="val 0"/>
            </a:avLst>
          </a:prstGeom>
          <a:solidFill>
            <a:srgbClr val="41EAD4">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826000" y="6413500"/>
            <a:ext cx="2540000" cy="254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000">
                <a:solidFill>
                  <a:srgbClr val="FFFFFF">
                    <a:alpha val="40000"/>
                  </a:srgbClr>
                </a:solidFill>
                <a:latin typeface="Noto Sans SC"/>
                <a:ea typeface="Noto Sans SC"/>
                <a:cs typeface="Noto Sans SC"/>
                <a:sym typeface="Noto Sans SC"/>
              </a:rPr>
              <a:t>AHL TECHNOLOGY ANALYSIS</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04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四大技术壁垒</a:t>
            </a:r>
            <a:endParaRPr lang="en-US" sz="1100"/>
          </a:p>
        </p:txBody>
      </p:sp>
      <p:sp>
        <p:nvSpPr>
          <p:cNvPr name="AutoShape 5" id="5"/>
          <p:cNvSpPr/>
          <p:nvPr/>
        </p:nvSpPr>
        <p:spPr>
          <a:xfrm rot="0" flipH="false" flipV="false">
            <a:off x="762000" y="1397000"/>
            <a:ext cx="5080000" cy="2032000"/>
          </a:xfrm>
          <a:prstGeom prst="roundRect">
            <a:avLst>
              <a:gd name="adj" fmla="val 625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51000"/>
            <a:ext cx="406400" cy="406400"/>
          </a:xfrm>
          <a:prstGeom prst="rect">
            <a:avLst/>
          </a:prstGeom>
        </p:spPr>
      </p:pic>
      <p:sp>
        <p:nvSpPr>
          <p:cNvPr name="AutoShape 7" id="7"/>
          <p:cNvSpPr/>
          <p:nvPr/>
        </p:nvSpPr>
        <p:spPr>
          <a:xfrm rot="0" flipH="false" flipV="false">
            <a:off x="1587500" y="16256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Poppins"/>
                <a:ea typeface="Poppins"/>
                <a:cs typeface="Poppins"/>
                <a:sym typeface="Poppins"/>
              </a:rPr>
              <a:t>数据飞轮效应</a:t>
            </a:r>
            <a:endParaRPr lang="en-US" sz="1100"/>
          </a:p>
        </p:txBody>
      </p:sp>
      <p:sp>
        <p:nvSpPr>
          <p:cNvPr name="AutoShape 8" id="8"/>
          <p:cNvSpPr/>
          <p:nvPr/>
        </p:nvSpPr>
        <p:spPr>
          <a:xfrm rot="0" flipH="false" flipV="false">
            <a:off x="1016000" y="2095500"/>
            <a:ext cx="457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800">
                <a:solidFill>
                  <a:srgbClr val="FFFFFF">
                    <a:alpha val="90196"/>
                  </a:srgbClr>
                </a:solidFill>
                <a:latin typeface="Noto Sans SC"/>
                <a:ea typeface="Noto Sans SC"/>
                <a:cs typeface="Noto Sans SC"/>
                <a:sym typeface="Noto Sans SC"/>
              </a:rPr>
              <a:t>商户和用户越多，数据越丰富，匹配越精准，形成正向循环。</a:t>
            </a:r>
            <a:endParaRPr lang="en-US" sz="1100"/>
          </a:p>
        </p:txBody>
      </p:sp>
      <p:sp>
        <p:nvSpPr>
          <p:cNvPr name="AutoShape 9" id="9"/>
          <p:cNvSpPr/>
          <p:nvPr/>
        </p:nvSpPr>
        <p:spPr>
          <a:xfrm rot="0" flipH="false" flipV="false">
            <a:off x="6096000" y="1397000"/>
            <a:ext cx="5080000" cy="2032000"/>
          </a:xfrm>
          <a:prstGeom prst="roundRect">
            <a:avLst>
              <a:gd name="adj" fmla="val 6250"/>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350000" y="1651000"/>
            <a:ext cx="406400" cy="406400"/>
          </a:xfrm>
          <a:prstGeom prst="rect">
            <a:avLst/>
          </a:prstGeom>
        </p:spPr>
      </p:pic>
      <p:sp>
        <p:nvSpPr>
          <p:cNvPr name="AutoShape 11" id="11"/>
          <p:cNvSpPr/>
          <p:nvPr/>
        </p:nvSpPr>
        <p:spPr>
          <a:xfrm rot="0" flipH="false" flipV="false">
            <a:off x="6921500" y="16256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Poppins"/>
                <a:ea typeface="Poppins"/>
                <a:cs typeface="Poppins"/>
                <a:sym typeface="Poppins"/>
              </a:rPr>
              <a:t>双边网络效应</a:t>
            </a:r>
            <a:endParaRPr lang="en-US" sz="1100"/>
          </a:p>
        </p:txBody>
      </p:sp>
      <p:sp>
        <p:nvSpPr>
          <p:cNvPr name="AutoShape 12" id="12"/>
          <p:cNvSpPr/>
          <p:nvPr/>
        </p:nvSpPr>
        <p:spPr>
          <a:xfrm rot="0" flipH="false" flipV="false">
            <a:off x="6350000" y="2095500"/>
            <a:ext cx="457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800">
                <a:solidFill>
                  <a:srgbClr val="FFFFFF">
                    <a:alpha val="90196"/>
                  </a:srgbClr>
                </a:solidFill>
                <a:latin typeface="Noto Sans SC"/>
                <a:ea typeface="Noto Sans SC"/>
                <a:cs typeface="Noto Sans SC"/>
                <a:sym typeface="Noto Sans SC"/>
              </a:rPr>
              <a:t>供给侧和需求侧相互促进，平台价值随规模增长而指数级提升。</a:t>
            </a:r>
            <a:endParaRPr lang="en-US" sz="1100"/>
          </a:p>
        </p:txBody>
      </p:sp>
      <p:sp>
        <p:nvSpPr>
          <p:cNvPr name="AutoShape 13" id="13"/>
          <p:cNvSpPr/>
          <p:nvPr/>
        </p:nvSpPr>
        <p:spPr>
          <a:xfrm rot="0" flipH="false" flipV="false">
            <a:off x="762000" y="3683000"/>
            <a:ext cx="5080000" cy="2032000"/>
          </a:xfrm>
          <a:prstGeom prst="roundRect">
            <a:avLst>
              <a:gd name="adj" fmla="val 6250"/>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937000"/>
            <a:ext cx="406400" cy="406400"/>
          </a:xfrm>
          <a:prstGeom prst="rect">
            <a:avLst/>
          </a:prstGeom>
        </p:spPr>
      </p:pic>
      <p:sp>
        <p:nvSpPr>
          <p:cNvPr name="AutoShape 15" id="15"/>
          <p:cNvSpPr/>
          <p:nvPr/>
        </p:nvSpPr>
        <p:spPr>
          <a:xfrm rot="0" flipH="false" flipV="false">
            <a:off x="1587500" y="39116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Poppins"/>
                <a:ea typeface="Poppins"/>
                <a:cs typeface="Poppins"/>
                <a:sym typeface="Poppins"/>
              </a:rPr>
              <a:t>知识库积累</a:t>
            </a:r>
            <a:endParaRPr lang="en-US" sz="1100"/>
          </a:p>
        </p:txBody>
      </p:sp>
      <p:sp>
        <p:nvSpPr>
          <p:cNvPr name="AutoShape 16" id="16"/>
          <p:cNvSpPr/>
          <p:nvPr/>
        </p:nvSpPr>
        <p:spPr>
          <a:xfrm rot="0" flipH="false" flipV="false">
            <a:off x="1016000" y="4381500"/>
            <a:ext cx="457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800">
                <a:solidFill>
                  <a:srgbClr val="FFFFFF">
                    <a:alpha val="90196"/>
                  </a:srgbClr>
                </a:solidFill>
                <a:latin typeface="Noto Sans SC"/>
                <a:ea typeface="Noto Sans SC"/>
                <a:cs typeface="Noto Sans SC"/>
                <a:sym typeface="Noto Sans SC"/>
              </a:rPr>
              <a:t>融合了10多个国际和国内酒店品牌的标准，形成深厚的行业知识壁垒。</a:t>
            </a:r>
            <a:endParaRPr lang="en-US" sz="1100"/>
          </a:p>
        </p:txBody>
      </p:sp>
      <p:sp>
        <p:nvSpPr>
          <p:cNvPr name="AutoShape 17" id="17"/>
          <p:cNvSpPr/>
          <p:nvPr/>
        </p:nvSpPr>
        <p:spPr>
          <a:xfrm rot="0" flipH="false" flipV="false">
            <a:off x="6096000" y="3683000"/>
            <a:ext cx="5080000" cy="2032000"/>
          </a:xfrm>
          <a:prstGeom prst="roundRect">
            <a:avLst>
              <a:gd name="adj" fmla="val 625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350000" y="3937000"/>
            <a:ext cx="406400" cy="406400"/>
          </a:xfrm>
          <a:prstGeom prst="rect">
            <a:avLst/>
          </a:prstGeom>
        </p:spPr>
      </p:pic>
      <p:sp>
        <p:nvSpPr>
          <p:cNvPr name="AutoShape 19" id="19"/>
          <p:cNvSpPr/>
          <p:nvPr/>
        </p:nvSpPr>
        <p:spPr>
          <a:xfrm rot="0" flipH="false" flipV="false">
            <a:off x="6921500" y="39116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Poppins"/>
                <a:ea typeface="Poppins"/>
                <a:cs typeface="Poppins"/>
                <a:sym typeface="Poppins"/>
              </a:rPr>
              <a:t>开源模型+垂直微调</a:t>
            </a:r>
            <a:endParaRPr lang="en-US" sz="1100"/>
          </a:p>
        </p:txBody>
      </p:sp>
      <p:sp>
        <p:nvSpPr>
          <p:cNvPr name="AutoShape 20" id="20"/>
          <p:cNvSpPr/>
          <p:nvPr/>
        </p:nvSpPr>
        <p:spPr>
          <a:xfrm rot="0" flipH="false" flipV="false">
            <a:off x="6350000" y="4381500"/>
            <a:ext cx="457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800">
                <a:solidFill>
                  <a:srgbClr val="FFFFFF">
                    <a:alpha val="90196"/>
                  </a:srgbClr>
                </a:solidFill>
                <a:latin typeface="Noto Sans SC"/>
                <a:ea typeface="Noto Sans SC"/>
                <a:cs typeface="Noto Sans SC"/>
                <a:sym typeface="Noto Sans SC"/>
              </a:rPr>
              <a:t>基于开源模型进行低成本、自主可控的行业适配，推理成本远低于闭源API。</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0320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竞品对比</a:t>
            </a:r>
            <a:endParaRPr lang="en-US" sz="1100"/>
          </a:p>
        </p:txBody>
      </p:sp>
      <p:sp>
        <p:nvSpPr>
          <p:cNvPr name="AutoShape 5" id="5"/>
          <p:cNvSpPr/>
          <p:nvPr/>
        </p:nvSpPr>
        <p:spPr>
          <a:xfrm rot="0" flipH="false" flipV="false">
            <a:off x="762000" y="1524000"/>
            <a:ext cx="10668000" cy="4064000"/>
          </a:xfrm>
          <a:prstGeom prst="roundRect">
            <a:avLst>
              <a:gd name="adj" fmla="val 3125"/>
            </a:avLst>
          </a:prstGeom>
          <a:solidFill>
            <a:srgbClr val="FFFFFF">
              <a:alpha val="3000"/>
            </a:srgbClr>
          </a:solidFill>
          <a:ln w="12700" cmpd="sng" cap="flat">
            <a:solidFill>
              <a:srgbClr val="41EAD4">
                <a:alpha val="2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14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alpha val="60000"/>
                  </a:srgbClr>
                </a:solidFill>
                <a:latin typeface="Noto Sans SC"/>
                <a:ea typeface="Noto Sans SC"/>
                <a:cs typeface="Noto Sans SC"/>
                <a:sym typeface="Noto Sans SC"/>
              </a:rPr>
              <a:t>对比维度</a:t>
            </a:r>
            <a:endParaRPr lang="en-US" sz="1100"/>
          </a:p>
        </p:txBody>
      </p:sp>
      <p:sp>
        <p:nvSpPr>
          <p:cNvPr name="AutoShape 7" id="7"/>
          <p:cNvSpPr/>
          <p:nvPr/>
        </p:nvSpPr>
        <p:spPr>
          <a:xfrm rot="0" flipH="false" flipV="false">
            <a:off x="3048000" y="1714500"/>
            <a:ext cx="254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41EAD4"/>
                </a:solidFill>
                <a:latin typeface="Poppins"/>
                <a:ea typeface="Poppins"/>
                <a:cs typeface="Poppins"/>
                <a:sym typeface="Poppins"/>
              </a:rPr>
              <a:t>AHL (优势)</a:t>
            </a:r>
            <a:endParaRPr lang="en-US" sz="1100"/>
          </a:p>
        </p:txBody>
      </p:sp>
      <p:sp>
        <p:nvSpPr>
          <p:cNvPr name="AutoShape 8" id="8"/>
          <p:cNvSpPr/>
          <p:nvPr/>
        </p:nvSpPr>
        <p:spPr>
          <a:xfrm rot="0" flipH="false" flipV="false">
            <a:off x="5842000" y="1714500"/>
            <a:ext cx="254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DCDCDC"/>
                </a:solidFill>
                <a:latin typeface="Noto Sans SC"/>
                <a:ea typeface="Noto Sans SC"/>
                <a:cs typeface="Noto Sans SC"/>
                <a:sym typeface="Noto Sans SC"/>
              </a:rPr>
              <a:t>传统OTA平台</a:t>
            </a:r>
            <a:endParaRPr lang="en-US" sz="1100"/>
          </a:p>
        </p:txBody>
      </p:sp>
      <p:sp>
        <p:nvSpPr>
          <p:cNvPr name="AutoShape 9" id="9"/>
          <p:cNvSpPr/>
          <p:nvPr/>
        </p:nvSpPr>
        <p:spPr>
          <a:xfrm rot="0" flipH="false" flipV="false">
            <a:off x="8636000" y="1714500"/>
            <a:ext cx="254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DCDCDC"/>
                </a:solidFill>
                <a:latin typeface="Noto Sans SC"/>
                <a:ea typeface="Noto Sans SC"/>
                <a:cs typeface="Noto Sans SC"/>
                <a:sym typeface="Noto Sans SC"/>
              </a:rPr>
              <a:t>国际品牌竞品</a:t>
            </a:r>
            <a:endParaRPr lang="en-US" sz="1100"/>
          </a:p>
        </p:txBody>
      </p:sp>
      <p:cxnSp>
        <p:nvCxnSpPr>
          <p:cNvPr name="Connector 10" id="10"/>
          <p:cNvCxnSpPr/>
          <p:nvPr/>
        </p:nvCxnSpPr>
        <p:spPr>
          <a:xfrm rot="-4297" flipH="false" flipV="false">
            <a:off x="1016004" y="2152650"/>
            <a:ext cx="10160000" cy="12700"/>
          </a:xfrm>
          <a:prstGeom prst="line">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413000"/>
            <a:ext cx="254000" cy="254000"/>
          </a:xfrm>
          <a:prstGeom prst="rect">
            <a:avLst/>
          </a:prstGeom>
        </p:spPr>
      </p:pic>
      <p:sp>
        <p:nvSpPr>
          <p:cNvPr name="AutoShape 12" id="12"/>
          <p:cNvSpPr/>
          <p:nvPr/>
        </p:nvSpPr>
        <p:spPr>
          <a:xfrm rot="0" flipH="false" flipV="false">
            <a:off x="1397000" y="2387600"/>
            <a:ext cx="139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服务费率</a:t>
            </a:r>
            <a:endParaRPr lang="en-US" sz="1100"/>
          </a:p>
        </p:txBody>
      </p:sp>
      <p:sp>
        <p:nvSpPr>
          <p:cNvPr name="AutoShape 13" id="13"/>
          <p:cNvSpPr/>
          <p:nvPr/>
        </p:nvSpPr>
        <p:spPr>
          <a:xfrm rot="0" flipH="false" flipV="false">
            <a:off x="3048000" y="23876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41EAD4"/>
                </a:solidFill>
                <a:latin typeface="Noto Sans SC"/>
                <a:ea typeface="Noto Sans SC"/>
                <a:cs typeface="Noto Sans SC"/>
                <a:sym typeface="Noto Sans SC"/>
              </a:rPr>
              <a:t>极低费率 (1-3%)</a:t>
            </a:r>
            <a:endParaRPr lang="en-US" sz="1100"/>
          </a:p>
        </p:txBody>
      </p:sp>
      <p:sp>
        <p:nvSpPr>
          <p:cNvPr name="AutoShape 14" id="14"/>
          <p:cNvSpPr/>
          <p:nvPr/>
        </p:nvSpPr>
        <p:spPr>
          <a:xfrm rot="0" flipH="false" flipV="false">
            <a:off x="5842000" y="23876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高费率 (15-25%)</a:t>
            </a:r>
            <a:endParaRPr lang="en-US" sz="1100"/>
          </a:p>
        </p:txBody>
      </p:sp>
      <p:sp>
        <p:nvSpPr>
          <p:cNvPr name="AutoShape 15" id="15"/>
          <p:cNvSpPr/>
          <p:nvPr/>
        </p:nvSpPr>
        <p:spPr>
          <a:xfrm rot="0" flipH="false" flipV="false">
            <a:off x="8636000" y="23876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费率高昂 (20%+)</a:t>
            </a:r>
            <a:endParaRPr lang="en-US" sz="1100"/>
          </a:p>
        </p:txBody>
      </p:sp>
      <p:pic>
        <p:nvPicPr>
          <p:cNvPr name="Picture 16" id="16"/>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984500"/>
            <a:ext cx="254000" cy="254000"/>
          </a:xfrm>
          <a:prstGeom prst="rect">
            <a:avLst/>
          </a:prstGeom>
        </p:spPr>
      </p:pic>
      <p:sp>
        <p:nvSpPr>
          <p:cNvPr name="AutoShape 17" id="17"/>
          <p:cNvSpPr/>
          <p:nvPr/>
        </p:nvSpPr>
        <p:spPr>
          <a:xfrm rot="0" flipH="false" flipV="false">
            <a:off x="1397000" y="2959100"/>
            <a:ext cx="139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技术能力</a:t>
            </a:r>
            <a:endParaRPr lang="en-US" sz="1100"/>
          </a:p>
        </p:txBody>
      </p:sp>
      <p:sp>
        <p:nvSpPr>
          <p:cNvPr name="AutoShape 18" id="18"/>
          <p:cNvSpPr/>
          <p:nvPr/>
        </p:nvSpPr>
        <p:spPr>
          <a:xfrm rot="0" flipH="false" flipV="false">
            <a:off x="3048000" y="29591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41EAD4"/>
                </a:solidFill>
                <a:latin typeface="Noto Sans SC"/>
                <a:ea typeface="Noto Sans SC"/>
                <a:cs typeface="Noto Sans SC"/>
                <a:sym typeface="Noto Sans SC"/>
              </a:rPr>
              <a:t>自研强AI驱动</a:t>
            </a:r>
            <a:endParaRPr lang="en-US" sz="1100"/>
          </a:p>
        </p:txBody>
      </p:sp>
      <p:sp>
        <p:nvSpPr>
          <p:cNvPr name="AutoShape 19" id="19"/>
          <p:cNvSpPr/>
          <p:nvPr/>
        </p:nvSpPr>
        <p:spPr>
          <a:xfrm rot="0" flipH="false" flipV="false">
            <a:off x="5842000" y="29591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传统技术栈</a:t>
            </a:r>
            <a:endParaRPr lang="en-US" sz="1100"/>
          </a:p>
        </p:txBody>
      </p:sp>
      <p:sp>
        <p:nvSpPr>
          <p:cNvPr name="AutoShape 20" id="20"/>
          <p:cNvSpPr/>
          <p:nvPr/>
        </p:nvSpPr>
        <p:spPr>
          <a:xfrm rot="0" flipH="false" flipV="false">
            <a:off x="8636000" y="29591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标准化技术</a:t>
            </a:r>
            <a:endParaRPr lang="en-US" sz="1100"/>
          </a:p>
        </p:txBody>
      </p:sp>
      <p:pic>
        <p:nvPicPr>
          <p:cNvPr name="Picture 21" id="2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556000"/>
            <a:ext cx="254000" cy="254000"/>
          </a:xfrm>
          <a:prstGeom prst="rect">
            <a:avLst/>
          </a:prstGeom>
        </p:spPr>
      </p:pic>
      <p:sp>
        <p:nvSpPr>
          <p:cNvPr name="AutoShape 22" id="22"/>
          <p:cNvSpPr/>
          <p:nvPr/>
        </p:nvSpPr>
        <p:spPr>
          <a:xfrm rot="0" flipH="false" flipV="false">
            <a:off x="1397000" y="3530600"/>
            <a:ext cx="139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数据归属</a:t>
            </a:r>
            <a:endParaRPr lang="en-US" sz="1100"/>
          </a:p>
        </p:txBody>
      </p:sp>
      <p:sp>
        <p:nvSpPr>
          <p:cNvPr name="AutoShape 23" id="23"/>
          <p:cNvSpPr/>
          <p:nvPr/>
        </p:nvSpPr>
        <p:spPr>
          <a:xfrm rot="0" flipH="false" flipV="false">
            <a:off x="3048000" y="35306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41EAD4"/>
                </a:solidFill>
                <a:latin typeface="Noto Sans SC"/>
                <a:ea typeface="Noto Sans SC"/>
                <a:cs typeface="Noto Sans SC"/>
                <a:sym typeface="Noto Sans SC"/>
              </a:rPr>
              <a:t>100% 商户自有</a:t>
            </a:r>
            <a:endParaRPr lang="en-US" sz="1100"/>
          </a:p>
        </p:txBody>
      </p:sp>
      <p:sp>
        <p:nvSpPr>
          <p:cNvPr name="AutoShape 24" id="24"/>
          <p:cNvSpPr/>
          <p:nvPr/>
        </p:nvSpPr>
        <p:spPr>
          <a:xfrm rot="0" flipH="false" flipV="false">
            <a:off x="5842000" y="35306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平台垄断数据</a:t>
            </a:r>
            <a:endParaRPr lang="en-US" sz="1100"/>
          </a:p>
        </p:txBody>
      </p:sp>
      <p:sp>
        <p:nvSpPr>
          <p:cNvPr name="AutoShape 25" id="25"/>
          <p:cNvSpPr/>
          <p:nvPr/>
        </p:nvSpPr>
        <p:spPr>
          <a:xfrm rot="0" flipH="false" flipV="false">
            <a:off x="8636000" y="35306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数据受限/隔离</a:t>
            </a:r>
            <a:endParaRPr lang="en-US" sz="1100"/>
          </a:p>
        </p:txBody>
      </p:sp>
      <p:pic>
        <p:nvPicPr>
          <p:cNvPr name="Picture 26" id="2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127500"/>
            <a:ext cx="254000" cy="254000"/>
          </a:xfrm>
          <a:prstGeom prst="rect">
            <a:avLst/>
          </a:prstGeom>
        </p:spPr>
      </p:pic>
      <p:sp>
        <p:nvSpPr>
          <p:cNvPr name="AutoShape 27" id="27"/>
          <p:cNvSpPr/>
          <p:nvPr/>
        </p:nvSpPr>
        <p:spPr>
          <a:xfrm rot="0" flipH="false" flipV="false">
            <a:off x="1397000" y="4102100"/>
            <a:ext cx="139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产品迭代</a:t>
            </a:r>
            <a:endParaRPr lang="en-US" sz="1100"/>
          </a:p>
        </p:txBody>
      </p:sp>
      <p:sp>
        <p:nvSpPr>
          <p:cNvPr name="AutoShape 28" id="28"/>
          <p:cNvSpPr/>
          <p:nvPr/>
        </p:nvSpPr>
        <p:spPr>
          <a:xfrm rot="0" flipH="false" flipV="false">
            <a:off x="3048000" y="41021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41EAD4"/>
                </a:solidFill>
                <a:latin typeface="Noto Sans SC"/>
                <a:ea typeface="Noto Sans SC"/>
                <a:cs typeface="Noto Sans SC"/>
                <a:sym typeface="Noto Sans SC"/>
              </a:rPr>
              <a:t>敏捷快速 (周级)</a:t>
            </a:r>
            <a:endParaRPr lang="en-US" sz="1100"/>
          </a:p>
        </p:txBody>
      </p:sp>
      <p:sp>
        <p:nvSpPr>
          <p:cNvPr name="AutoShape 29" id="29"/>
          <p:cNvSpPr/>
          <p:nvPr/>
        </p:nvSpPr>
        <p:spPr>
          <a:xfrm rot="0" flipH="false" flipV="false">
            <a:off x="5842000" y="41021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缓慢 (季度/年度)</a:t>
            </a:r>
            <a:endParaRPr lang="en-US" sz="1100"/>
          </a:p>
        </p:txBody>
      </p:sp>
      <p:sp>
        <p:nvSpPr>
          <p:cNvPr name="AutoShape 30" id="30"/>
          <p:cNvSpPr/>
          <p:nvPr/>
        </p:nvSpPr>
        <p:spPr>
          <a:xfrm rot="0" flipH="false" flipV="false">
            <a:off x="8636000" y="41021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流程繁琐缓慢</a:t>
            </a:r>
            <a:endParaRPr lang="en-US" sz="1100"/>
          </a:p>
        </p:txBody>
      </p:sp>
      <p:pic>
        <p:nvPicPr>
          <p:cNvPr name="Picture 31" id="3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4699000"/>
            <a:ext cx="254000" cy="254000"/>
          </a:xfrm>
          <a:prstGeom prst="rect">
            <a:avLst/>
          </a:prstGeom>
        </p:spPr>
      </p:pic>
      <p:sp>
        <p:nvSpPr>
          <p:cNvPr name="AutoShape 32" id="32"/>
          <p:cNvSpPr/>
          <p:nvPr/>
        </p:nvSpPr>
        <p:spPr>
          <a:xfrm rot="0" flipH="false" flipV="false">
            <a:off x="1397000" y="4673600"/>
            <a:ext cx="139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综合成本</a:t>
            </a:r>
            <a:endParaRPr lang="en-US" sz="1100"/>
          </a:p>
        </p:txBody>
      </p:sp>
      <p:sp>
        <p:nvSpPr>
          <p:cNvPr name="AutoShape 33" id="33"/>
          <p:cNvSpPr/>
          <p:nvPr/>
        </p:nvSpPr>
        <p:spPr>
          <a:xfrm rot="0" flipH="false" flipV="false">
            <a:off x="3048000" y="46736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41EAD4"/>
                </a:solidFill>
                <a:latin typeface="Noto Sans SC"/>
                <a:ea typeface="Noto Sans SC"/>
                <a:cs typeface="Noto Sans SC"/>
                <a:sym typeface="Noto Sans SC"/>
              </a:rPr>
              <a:t>极具性价比</a:t>
            </a:r>
            <a:endParaRPr lang="en-US" sz="1100"/>
          </a:p>
        </p:txBody>
      </p:sp>
      <p:sp>
        <p:nvSpPr>
          <p:cNvPr name="AutoShape 34" id="34"/>
          <p:cNvSpPr/>
          <p:nvPr/>
        </p:nvSpPr>
        <p:spPr>
          <a:xfrm rot="0" flipH="false" flipV="false">
            <a:off x="5842000" y="46736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隐性成本高</a:t>
            </a:r>
            <a:endParaRPr lang="en-US" sz="1100"/>
          </a:p>
        </p:txBody>
      </p:sp>
      <p:sp>
        <p:nvSpPr>
          <p:cNvPr name="AutoShape 35" id="35"/>
          <p:cNvSpPr/>
          <p:nvPr/>
        </p:nvSpPr>
        <p:spPr>
          <a:xfrm rot="0" flipH="false" flipV="false">
            <a:off x="8636000" y="4673600"/>
            <a:ext cx="254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成本极高</a:t>
            </a:r>
            <a:endParaRPr lang="en-US" sz="1100"/>
          </a:p>
        </p:txBody>
      </p:sp>
      <p:sp>
        <p:nvSpPr>
          <p:cNvPr name="AutoShape 36" id="36"/>
          <p:cNvSpPr/>
          <p:nvPr/>
        </p:nvSpPr>
        <p:spPr>
          <a:xfrm rot="0" flipH="false" flipV="false">
            <a:off x="762000" y="5842000"/>
            <a:ext cx="10668000" cy="609600"/>
          </a:xfrm>
          <a:prstGeom prst="roundRect">
            <a:avLst>
              <a:gd name="adj" fmla="val 20833"/>
            </a:avLst>
          </a:prstGeom>
          <a:gradFill rotWithShape="true">
            <a:gsLst>
              <a:gs pos="0">
                <a:srgbClr val="41EAD4">
                  <a:alpha val="10000"/>
                </a:srgbClr>
              </a:gs>
              <a:gs pos="100000">
                <a:srgbClr val="9B5DE5">
                  <a:alpha val="10000"/>
                </a:srgbClr>
              </a:gs>
            </a:gsLst>
            <a:lin ang="0"/>
          </a:gra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889000" y="5969000"/>
            <a:ext cx="104140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solidFill>
                <a:latin typeface="Noto Sans SC"/>
                <a:ea typeface="Noto Sans SC"/>
                <a:cs typeface="Noto Sans SC"/>
                <a:sym typeface="Noto Sans SC"/>
              </a:rPr>
              <a:t>结论：AHL 在</a:t>
            </a:r>
            <a:r>
              <a:rPr lang="en-US" b="true" i="false" strike="noStrike" u="none" sz="1600">
                <a:solidFill>
                  <a:srgbClr val="41EAD4"/>
                </a:solidFill>
                <a:latin typeface="Noto Sans SC"/>
                <a:ea typeface="Noto Sans SC"/>
                <a:cs typeface="Noto Sans SC"/>
                <a:sym typeface="Noto Sans SC"/>
              </a:rPr>
              <a:t>费率、技术、数据自主性</a:t>
            </a:r>
            <a:r>
              <a:rPr lang="en-US" b="false" i="false" strike="noStrike" u="none" sz="1600">
                <a:solidFill>
                  <a:srgbClr val="FFFFFF"/>
                </a:solidFill>
                <a:latin typeface="Noto Sans SC"/>
                <a:ea typeface="Noto Sans SC"/>
                <a:cs typeface="Noto Sans SC"/>
                <a:sym typeface="Noto Sans SC"/>
              </a:rPr>
              <a:t>方面具有压倒性优势，是商户数字化转型的优选方案。</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397000"/>
            <a:ext cx="12192000" cy="1270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8000">
                <a:solidFill>
                  <a:srgbClr val="9B5DE5"/>
                </a:solidFill>
                <a:latin typeface="DIN Alternate"/>
                <a:ea typeface="DIN Alternate"/>
                <a:cs typeface="DIN Alternate"/>
                <a:sym typeface="DIN Alternate"/>
              </a:rPr>
              <a:t>03</a:t>
            </a:r>
            <a:endParaRPr lang="en-US" sz="1100"/>
          </a:p>
        </p:txBody>
      </p:sp>
      <p:sp>
        <p:nvSpPr>
          <p:cNvPr name="AutoShape 5" id="5"/>
          <p:cNvSpPr/>
          <p:nvPr/>
        </p:nvSpPr>
        <p:spPr>
          <a:xfrm rot="0" flipH="false" flipV="false">
            <a:off x="0" y="2667000"/>
            <a:ext cx="12192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市场机会</a:t>
            </a:r>
            <a:endParaRPr lang="en-US" sz="1100"/>
          </a:p>
        </p:txBody>
      </p:sp>
      <p:sp>
        <p:nvSpPr>
          <p:cNvPr name="AutoShape 6" id="6"/>
          <p:cNvSpPr/>
          <p:nvPr/>
        </p:nvSpPr>
        <p:spPr>
          <a:xfrm rot="0" flipH="false" flipV="false">
            <a:off x="5715000" y="3556000"/>
            <a:ext cx="76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0" y="3810000"/>
            <a:ext cx="1219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spc="200">
                <a:solidFill>
                  <a:srgbClr val="41EAD4"/>
                </a:solidFill>
                <a:latin typeface="Noto Sans SC"/>
                <a:ea typeface="Noto Sans SC"/>
                <a:cs typeface="Noto Sans SC"/>
                <a:sym typeface="Noto Sans SC"/>
              </a:rPr>
              <a:t>行业规模与政策利好</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572000"/>
            <a:ext cx="406400" cy="406400"/>
          </a:xfrm>
          <a:prstGeom prst="rect">
            <a:avLst/>
          </a:prstGeom>
        </p:spPr>
      </p:pic>
      <p:sp>
        <p:nvSpPr>
          <p:cNvPr name="AutoShape 9" id="9"/>
          <p:cNvSpPr/>
          <p:nvPr/>
        </p:nvSpPr>
        <p:spPr>
          <a:xfrm rot="0" flipH="false" flipV="false">
            <a:off x="0" y="5080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200">
                <a:solidFill>
                  <a:srgbClr val="FFFFFF">
                    <a:alpha val="40000"/>
                  </a:srgbClr>
                </a:solidFill>
                <a:latin typeface="Noto Sans SC"/>
                <a:ea typeface="Noto Sans SC"/>
                <a:cs typeface="Noto Sans SC"/>
                <a:sym typeface="Noto Sans SC"/>
              </a:rPr>
              <a:t>MARKET OPPORTUNITIES &amp; POLICY BENEFITS</a:t>
            </a:r>
            <a:endParaRPr lang="en-US" sz="1100"/>
          </a:p>
        </p:txBody>
      </p:sp>
      <p:sp>
        <p:nvSpPr>
          <p:cNvPr name="AutoShape 10" id="10"/>
          <p:cNvSpPr/>
          <p:nvPr/>
        </p:nvSpPr>
        <p:spPr>
          <a:xfrm rot="0" flipH="false" flipV="false">
            <a:off x="508000" y="508000"/>
            <a:ext cx="508000" cy="508000"/>
          </a:xfrm>
          <a:prstGeom prst="roundRect">
            <a:avLst>
              <a:gd name="adj" fmla="val 0"/>
            </a:avLst>
          </a:prstGeom>
          <a:solidFill>
            <a:srgbClr val="41EAD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1176000" y="5842000"/>
            <a:ext cx="508000" cy="508000"/>
          </a:xfrm>
          <a:prstGeom prst="roundRect">
            <a:avLst>
              <a:gd name="adj" fmla="val 0"/>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032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行业规模</a:t>
            </a:r>
            <a:endParaRPr lang="en-US" sz="1100"/>
          </a:p>
        </p:txBody>
      </p:sp>
      <p:sp>
        <p:nvSpPr>
          <p:cNvPr name="AutoShape 5" id="5"/>
          <p:cNvSpPr/>
          <p:nvPr/>
        </p:nvSpPr>
        <p:spPr>
          <a:xfrm rot="0" flipH="false" flipV="false">
            <a:off x="762000" y="1651000"/>
            <a:ext cx="5080000" cy="1651000"/>
          </a:xfrm>
          <a:prstGeom prst="roundRect">
            <a:avLst>
              <a:gd name="adj" fmla="val 7692"/>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171700"/>
            <a:ext cx="609600" cy="609600"/>
          </a:xfrm>
          <a:prstGeom prst="rect">
            <a:avLst/>
          </a:prstGeom>
        </p:spPr>
      </p:pic>
      <p:sp>
        <p:nvSpPr>
          <p:cNvPr name="AutoShape 7" id="7"/>
          <p:cNvSpPr/>
          <p:nvPr/>
        </p:nvSpPr>
        <p:spPr>
          <a:xfrm rot="0" flipH="false" flipV="false">
            <a:off x="1905000" y="19050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41EAD4"/>
                </a:solidFill>
                <a:latin typeface="Poppins"/>
                <a:ea typeface="Poppins"/>
                <a:cs typeface="Poppins"/>
                <a:sym typeface="Poppins"/>
              </a:rPr>
              <a:t>5000亿+</a:t>
            </a:r>
            <a:endParaRPr lang="en-US" sz="1100"/>
          </a:p>
        </p:txBody>
      </p:sp>
      <p:sp>
        <p:nvSpPr>
          <p:cNvPr name="AutoShape 8" id="8"/>
          <p:cNvSpPr/>
          <p:nvPr/>
        </p:nvSpPr>
        <p:spPr>
          <a:xfrm rot="0" flipH="false" flipV="false">
            <a:off x="1905000" y="2413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中国酒店市场规模</a:t>
            </a:r>
            <a:endParaRPr lang="en-US" sz="1100"/>
          </a:p>
        </p:txBody>
      </p:sp>
      <p:sp>
        <p:nvSpPr>
          <p:cNvPr name="AutoShape 9" id="9"/>
          <p:cNvSpPr/>
          <p:nvPr/>
        </p:nvSpPr>
        <p:spPr>
          <a:xfrm rot="0" flipH="false" flipV="false">
            <a:off x="6350000" y="1651000"/>
            <a:ext cx="5080000" cy="1651000"/>
          </a:xfrm>
          <a:prstGeom prst="roundRect">
            <a:avLst>
              <a:gd name="adj" fmla="val 7692"/>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54800" y="2171700"/>
            <a:ext cx="609600" cy="609600"/>
          </a:xfrm>
          <a:prstGeom prst="rect">
            <a:avLst/>
          </a:prstGeom>
        </p:spPr>
      </p:pic>
      <p:sp>
        <p:nvSpPr>
          <p:cNvPr name="AutoShape 11" id="11"/>
          <p:cNvSpPr/>
          <p:nvPr/>
        </p:nvSpPr>
        <p:spPr>
          <a:xfrm rot="0" flipH="false" flipV="false">
            <a:off x="7493000" y="19050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9B5DE5"/>
                </a:solidFill>
                <a:latin typeface="Poppins"/>
                <a:ea typeface="Poppins"/>
                <a:cs typeface="Poppins"/>
                <a:sym typeface="Poppins"/>
              </a:rPr>
              <a:t>45万+</a:t>
            </a:r>
            <a:endParaRPr lang="en-US" sz="1100"/>
          </a:p>
        </p:txBody>
      </p:sp>
      <p:sp>
        <p:nvSpPr>
          <p:cNvPr name="AutoShape 12" id="12"/>
          <p:cNvSpPr/>
          <p:nvPr/>
        </p:nvSpPr>
        <p:spPr>
          <a:xfrm rot="0" flipH="false" flipV="false">
            <a:off x="7493000" y="2413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酒店/民宿商户数量</a:t>
            </a:r>
            <a:endParaRPr lang="en-US" sz="1100"/>
          </a:p>
        </p:txBody>
      </p:sp>
      <p:sp>
        <p:nvSpPr>
          <p:cNvPr name="AutoShape 13" id="13"/>
          <p:cNvSpPr/>
          <p:nvPr/>
        </p:nvSpPr>
        <p:spPr>
          <a:xfrm rot="0" flipH="false" flipV="false">
            <a:off x="762000" y="3683000"/>
            <a:ext cx="5080000" cy="1651000"/>
          </a:xfrm>
          <a:prstGeom prst="roundRect">
            <a:avLst>
              <a:gd name="adj" fmla="val 7692"/>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66800" y="4203700"/>
            <a:ext cx="609600" cy="609600"/>
          </a:xfrm>
          <a:prstGeom prst="rect">
            <a:avLst/>
          </a:prstGeom>
        </p:spPr>
      </p:pic>
      <p:sp>
        <p:nvSpPr>
          <p:cNvPr name="AutoShape 15" id="15"/>
          <p:cNvSpPr/>
          <p:nvPr/>
        </p:nvSpPr>
        <p:spPr>
          <a:xfrm rot="0" flipH="false" flipV="false">
            <a:off x="1905000" y="39370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9B5DE5"/>
                </a:solidFill>
                <a:latin typeface="Poppins"/>
                <a:ea typeface="Poppins"/>
                <a:cs typeface="Poppins"/>
                <a:sym typeface="Poppins"/>
              </a:rPr>
              <a:t>750亿</a:t>
            </a:r>
            <a:endParaRPr lang="en-US" sz="1100"/>
          </a:p>
        </p:txBody>
      </p:sp>
      <p:sp>
        <p:nvSpPr>
          <p:cNvPr name="AutoShape 16" id="16"/>
          <p:cNvSpPr/>
          <p:nvPr/>
        </p:nvSpPr>
        <p:spPr>
          <a:xfrm rot="0" flipH="false" flipV="false">
            <a:off x="1905000" y="4445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OTA年佣金池规模</a:t>
            </a:r>
            <a:endParaRPr lang="en-US" sz="1100"/>
          </a:p>
        </p:txBody>
      </p:sp>
      <p:sp>
        <p:nvSpPr>
          <p:cNvPr name="AutoShape 17" id="17"/>
          <p:cNvSpPr/>
          <p:nvPr/>
        </p:nvSpPr>
        <p:spPr>
          <a:xfrm rot="0" flipH="false" flipV="false">
            <a:off x="6350000" y="3683000"/>
            <a:ext cx="5080000" cy="1651000"/>
          </a:xfrm>
          <a:prstGeom prst="roundRect">
            <a:avLst>
              <a:gd name="adj" fmla="val 7692"/>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54800" y="4203700"/>
            <a:ext cx="609600" cy="609600"/>
          </a:xfrm>
          <a:prstGeom prst="rect">
            <a:avLst/>
          </a:prstGeom>
        </p:spPr>
      </p:pic>
      <p:sp>
        <p:nvSpPr>
          <p:cNvPr name="AutoShape 19" id="19"/>
          <p:cNvSpPr/>
          <p:nvPr/>
        </p:nvSpPr>
        <p:spPr>
          <a:xfrm rot="0" flipH="false" flipV="false">
            <a:off x="7493000" y="39370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41EAD4"/>
                </a:solidFill>
                <a:latin typeface="Poppins"/>
                <a:ea typeface="Poppins"/>
                <a:cs typeface="Poppins"/>
                <a:sym typeface="Poppins"/>
              </a:rPr>
              <a:t>45%</a:t>
            </a:r>
            <a:endParaRPr lang="en-US" sz="1100"/>
          </a:p>
        </p:txBody>
      </p:sp>
      <p:sp>
        <p:nvSpPr>
          <p:cNvPr name="AutoShape 20" id="20"/>
          <p:cNvSpPr/>
          <p:nvPr/>
        </p:nvSpPr>
        <p:spPr>
          <a:xfrm rot="0" flipH="false" flipV="false">
            <a:off x="7493000" y="4445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在线预订占比</a:t>
            </a:r>
            <a:endParaRPr lang="en-US" sz="1100"/>
          </a:p>
        </p:txBody>
      </p:sp>
      <p:sp>
        <p:nvSpPr>
          <p:cNvPr name="AutoShape 21" id="21"/>
          <p:cNvSpPr/>
          <p:nvPr/>
        </p:nvSpPr>
        <p:spPr>
          <a:xfrm rot="0" flipH="false" flipV="false">
            <a:off x="0" y="6807200"/>
            <a:ext cx="1219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032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政策利好</a:t>
            </a:r>
            <a:endParaRPr lang="en-US" sz="1100"/>
          </a:p>
        </p:txBody>
      </p:sp>
      <p:sp>
        <p:nvSpPr>
          <p:cNvPr name="AutoShape 5" id="5"/>
          <p:cNvSpPr/>
          <p:nvPr/>
        </p:nvSpPr>
        <p:spPr>
          <a:xfrm rot="0" flipH="false" flipV="false">
            <a:off x="762000" y="1651000"/>
            <a:ext cx="5080000" cy="3302000"/>
          </a:xfrm>
          <a:prstGeom prst="roundRect">
            <a:avLst>
              <a:gd name="adj" fmla="val 384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406400" cy="406400"/>
          </a:xfrm>
          <a:prstGeom prst="rect">
            <a:avLst/>
          </a:prstGeom>
        </p:spPr>
      </p:pic>
      <p:sp>
        <p:nvSpPr>
          <p:cNvPr name="AutoShape 7" id="7"/>
          <p:cNvSpPr/>
          <p:nvPr/>
        </p:nvSpPr>
        <p:spPr>
          <a:xfrm rot="0" flipH="false" flipV="false">
            <a:off x="1524000" y="1879600"/>
            <a:ext cx="3810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41EAD4"/>
                </a:solidFill>
                <a:latin typeface="Noto Sans SC"/>
                <a:ea typeface="Noto Sans SC"/>
                <a:cs typeface="Noto Sans SC"/>
                <a:sym typeface="Noto Sans SC"/>
              </a:rPr>
              <a:t>国家层面支持</a:t>
            </a:r>
            <a:endParaRPr lang="en-US" sz="1100"/>
          </a:p>
        </p:txBody>
      </p:sp>
      <p:sp>
        <p:nvSpPr>
          <p:cNvPr name="AutoShape 8" id="8"/>
          <p:cNvSpPr/>
          <p:nvPr/>
        </p:nvSpPr>
        <p:spPr>
          <a:xfrm rot="0" flipH="false" flipV="false">
            <a:off x="1016000" y="2413000"/>
            <a:ext cx="4572000" cy="2286000"/>
          </a:xfrm>
          <a:prstGeom prst="rect">
            <a:avLst/>
          </a:prstGeom>
          <a:noFill/>
          <a:ln w="12700" cmpd="sng" cap="flat">
            <a:noFill/>
            <a:prstDash val="solid"/>
            <a:round/>
          </a:ln>
        </p:spPr>
        <p:txBody>
          <a:bodyPr anchor="ctr" rtlCol="false" anchorCtr="false" vert="horz" wrap="square" lIns="0" rIns="0" tIns="0" bIns="0"/>
          <a:lstStyle/>
          <a:p>
            <a:pPr algn="l" indent="-228600" marL="228600">
              <a:lnSpc>
                <a:spcPct val="108333"/>
              </a:lnSpc>
              <a:buClr>
                <a:srgbClr val="E6E6E6"/>
              </a:buClr>
              <a:buFont typeface="Wingdings"/>
              <a:buChar char="v"/>
              <a:defRPr/>
            </a:pPr>
            <a:r>
              <a:rPr lang="en-US" b="false" i="false" strike="noStrike" u="none" sz="1800">
                <a:solidFill>
                  <a:srgbClr val="E6E6E6"/>
                </a:solidFill>
                <a:latin typeface="Noto Sans SC"/>
                <a:ea typeface="Noto Sans SC"/>
                <a:cs typeface="Noto Sans SC"/>
                <a:sym typeface="Noto Sans SC"/>
              </a:rPr>
              <a:t>高新技术企业认定与税收减免政策</a:t>
            </a:r>
            <a:r>
              <a:rPr lang="en-US" b="false" i="false" strike="noStrike" u="none" sz="1800">
                <a:solidFill>
                  <a:srgbClr val="E6E6E6"/>
                </a:solidFill>
                <a:latin typeface="Noto Sans SC"/>
                <a:ea typeface="Noto Sans SC"/>
                <a:cs typeface="Noto Sans SC"/>
                <a:sym typeface="Noto Sans SC"/>
              </a:rPr>
              <a:t/>
            </a:r>
            <a:endParaRPr lang="en-US" sz="1100"/>
          </a:p>
          <a:p>
            <a:pPr algn="l" indent="-228600" marL="228600">
              <a:lnSpc>
                <a:spcPct val="108333"/>
              </a:lnSpc>
              <a:buClr>
                <a:srgbClr val="E6E6E6"/>
              </a:buClr>
              <a:buFont typeface="Wingdings"/>
              <a:buChar char="v"/>
            </a:pPr>
            <a:r>
              <a:rPr lang="en-US" b="false" i="false" strike="noStrike" u="none" sz="1800">
                <a:solidFill>
                  <a:srgbClr val="E6E6E6"/>
                </a:solidFill>
                <a:latin typeface="Noto Sans SC"/>
                <a:ea typeface="Noto Sans SC"/>
                <a:cs typeface="Noto Sans SC"/>
                <a:sym typeface="Noto Sans SC"/>
              </a:rPr>
              <a:t>AI大模型专项研发扶持资金</a:t>
            </a:r>
            <a:r>
              <a:rPr lang="en-US" b="false" i="false" strike="noStrike" u="none" sz="1800">
                <a:solidFill>
                  <a:srgbClr val="E6E6E6"/>
                </a:solidFill>
                <a:latin typeface="Noto Sans SC"/>
                <a:ea typeface="Noto Sans SC"/>
                <a:cs typeface="Noto Sans SC"/>
                <a:sym typeface="Noto Sans SC"/>
              </a:rPr>
              <a:t/>
            </a:r>
          </a:p>
          <a:p>
            <a:pPr algn="l" indent="-228600" marL="228600">
              <a:lnSpc>
                <a:spcPct val="108333"/>
              </a:lnSpc>
              <a:buClr>
                <a:srgbClr val="E6E6E6"/>
              </a:buClr>
              <a:buFont typeface="Wingdings"/>
              <a:buChar char="v"/>
            </a:pPr>
            <a:r>
              <a:rPr lang="en-US" b="false" i="false" strike="noStrike" u="none" sz="1800">
                <a:solidFill>
                  <a:srgbClr val="E6E6E6"/>
                </a:solidFill>
                <a:latin typeface="Noto Sans SC"/>
                <a:ea typeface="Noto Sans SC"/>
                <a:cs typeface="Noto Sans SC"/>
                <a:sym typeface="Noto Sans SC"/>
              </a:rPr>
              <a:t>国家级科技创新项目立项支持</a:t>
            </a:r>
            <a:r>
              <a:rPr lang="en-US" b="false" i="false" strike="noStrike" u="none" sz="1800">
                <a:solidFill>
                  <a:srgbClr val="E6E6E6"/>
                </a:solidFill>
                <a:latin typeface="Noto Sans SC"/>
                <a:ea typeface="Noto Sans SC"/>
                <a:cs typeface="Noto Sans SC"/>
                <a:sym typeface="Noto Sans SC"/>
              </a:rPr>
              <a:t/>
            </a:r>
          </a:p>
          <a:p>
            <a:pPr algn="l" indent="-228600" marL="228600">
              <a:lnSpc>
                <a:spcPct val="108333"/>
              </a:lnSpc>
              <a:buClr>
                <a:srgbClr val="E6E6E6"/>
              </a:buClr>
              <a:buFont typeface="Wingdings"/>
              <a:buChar char="v"/>
            </a:pPr>
            <a:r>
              <a:rPr lang="en-US" b="false" i="false" strike="noStrike" u="none" sz="1800">
                <a:solidFill>
                  <a:srgbClr val="E6E6E6"/>
                </a:solidFill>
                <a:latin typeface="Noto Sans SC"/>
                <a:ea typeface="Noto Sans SC"/>
                <a:cs typeface="Noto Sans SC"/>
                <a:sym typeface="Noto Sans SC"/>
              </a:rPr>
              <a:t>软件企业增值税即征即退优惠</a:t>
            </a:r>
          </a:p>
        </p:txBody>
      </p:sp>
      <p:sp>
        <p:nvSpPr>
          <p:cNvPr name="AutoShape 9" id="9"/>
          <p:cNvSpPr/>
          <p:nvPr/>
        </p:nvSpPr>
        <p:spPr>
          <a:xfrm rot="0" flipH="false" flipV="false">
            <a:off x="6350000" y="1651000"/>
            <a:ext cx="5080000" cy="3302000"/>
          </a:xfrm>
          <a:prstGeom prst="roundRect">
            <a:avLst>
              <a:gd name="adj" fmla="val 3846"/>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1905000"/>
            <a:ext cx="406400" cy="406400"/>
          </a:xfrm>
          <a:prstGeom prst="rect">
            <a:avLst/>
          </a:prstGeom>
        </p:spPr>
      </p:pic>
      <p:sp>
        <p:nvSpPr>
          <p:cNvPr name="AutoShape 11" id="11"/>
          <p:cNvSpPr/>
          <p:nvPr/>
        </p:nvSpPr>
        <p:spPr>
          <a:xfrm rot="0" flipH="false" flipV="false">
            <a:off x="7112000" y="1879600"/>
            <a:ext cx="3810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9B5DE5"/>
                </a:solidFill>
                <a:latin typeface="Noto Sans SC"/>
                <a:ea typeface="Noto Sans SC"/>
                <a:cs typeface="Noto Sans SC"/>
                <a:sym typeface="Noto Sans SC"/>
              </a:rPr>
              <a:t>地方层面配套</a:t>
            </a:r>
            <a:endParaRPr lang="en-US" sz="1100"/>
          </a:p>
        </p:txBody>
      </p:sp>
      <p:sp>
        <p:nvSpPr>
          <p:cNvPr name="AutoShape 12" id="12"/>
          <p:cNvSpPr/>
          <p:nvPr/>
        </p:nvSpPr>
        <p:spPr>
          <a:xfrm rot="0" flipH="false" flipV="false">
            <a:off x="6604000" y="2413000"/>
            <a:ext cx="4572000" cy="2286000"/>
          </a:xfrm>
          <a:prstGeom prst="rect">
            <a:avLst/>
          </a:prstGeom>
          <a:noFill/>
          <a:ln w="12700" cmpd="sng" cap="flat">
            <a:noFill/>
            <a:prstDash val="solid"/>
            <a:round/>
          </a:ln>
        </p:spPr>
        <p:txBody>
          <a:bodyPr anchor="ctr" rtlCol="false" anchorCtr="false" vert="horz" wrap="square" lIns="0" rIns="0" tIns="0" bIns="0"/>
          <a:lstStyle/>
          <a:p>
            <a:pPr algn="l" indent="-228600" marL="228600">
              <a:lnSpc>
                <a:spcPct val="108333"/>
              </a:lnSpc>
              <a:buClr>
                <a:srgbClr val="E6E6E6"/>
              </a:buClr>
              <a:buFont typeface="Wingdings"/>
              <a:buChar char="v"/>
              <a:defRPr/>
            </a:pPr>
            <a:r>
              <a:rPr lang="en-US" b="false" i="false" strike="noStrike" u="none" sz="1800">
                <a:solidFill>
                  <a:srgbClr val="E6E6E6"/>
                </a:solidFill>
                <a:latin typeface="Noto Sans SC"/>
                <a:ea typeface="Noto Sans SC"/>
                <a:cs typeface="Noto Sans SC"/>
                <a:sym typeface="Noto Sans SC"/>
              </a:rPr>
              <a:t>创新创业孵化基地入驻绿色通道</a:t>
            </a:r>
            <a:r>
              <a:rPr lang="en-US" b="false" i="false" strike="noStrike" u="none" sz="1800">
                <a:solidFill>
                  <a:srgbClr val="E6E6E6"/>
                </a:solidFill>
                <a:latin typeface="Noto Sans SC"/>
                <a:ea typeface="Noto Sans SC"/>
                <a:cs typeface="Noto Sans SC"/>
                <a:sym typeface="Noto Sans SC"/>
              </a:rPr>
              <a:t/>
            </a:r>
            <a:endParaRPr lang="en-US" sz="1100"/>
          </a:p>
          <a:p>
            <a:pPr algn="l" indent="-228600" marL="228600">
              <a:lnSpc>
                <a:spcPct val="108333"/>
              </a:lnSpc>
              <a:buClr>
                <a:srgbClr val="E6E6E6"/>
              </a:buClr>
              <a:buFont typeface="Wingdings"/>
              <a:buChar char="v"/>
            </a:pPr>
            <a:r>
              <a:rPr lang="en-US" b="false" i="false" strike="noStrike" u="none" sz="1800">
                <a:solidFill>
                  <a:srgbClr val="E6E6E6"/>
                </a:solidFill>
                <a:latin typeface="Noto Sans SC"/>
                <a:ea typeface="Noto Sans SC"/>
                <a:cs typeface="Noto Sans SC"/>
                <a:sym typeface="Noto Sans SC"/>
              </a:rPr>
              <a:t>高层次AI人才引进与落户补贴</a:t>
            </a:r>
            <a:r>
              <a:rPr lang="en-US" b="false" i="false" strike="noStrike" u="none" sz="1800">
                <a:solidFill>
                  <a:srgbClr val="E6E6E6"/>
                </a:solidFill>
                <a:latin typeface="Noto Sans SC"/>
                <a:ea typeface="Noto Sans SC"/>
                <a:cs typeface="Noto Sans SC"/>
                <a:sym typeface="Noto Sans SC"/>
              </a:rPr>
              <a:t/>
            </a:r>
          </a:p>
          <a:p>
            <a:pPr algn="l" indent="-228600" marL="228600">
              <a:lnSpc>
                <a:spcPct val="108333"/>
              </a:lnSpc>
              <a:buClr>
                <a:srgbClr val="E6E6E6"/>
              </a:buClr>
              <a:buFont typeface="Wingdings"/>
              <a:buChar char="v"/>
            </a:pPr>
            <a:r>
              <a:rPr lang="en-US" b="false" i="false" strike="noStrike" u="none" sz="1800">
                <a:solidFill>
                  <a:srgbClr val="E6E6E6"/>
                </a:solidFill>
                <a:latin typeface="Noto Sans SC"/>
                <a:ea typeface="Noto Sans SC"/>
                <a:cs typeface="Noto Sans SC"/>
                <a:sym typeface="Noto Sans SC"/>
              </a:rPr>
              <a:t>核心办公场地租金减免与补贴</a:t>
            </a:r>
            <a:r>
              <a:rPr lang="en-US" b="false" i="false" strike="noStrike" u="none" sz="1800">
                <a:solidFill>
                  <a:srgbClr val="E6E6E6"/>
                </a:solidFill>
                <a:latin typeface="Noto Sans SC"/>
                <a:ea typeface="Noto Sans SC"/>
                <a:cs typeface="Noto Sans SC"/>
                <a:sym typeface="Noto Sans SC"/>
              </a:rPr>
              <a:t/>
            </a:r>
          </a:p>
          <a:p>
            <a:pPr algn="l" indent="-228600" marL="228600">
              <a:lnSpc>
                <a:spcPct val="108333"/>
              </a:lnSpc>
              <a:buClr>
                <a:srgbClr val="E6E6E6"/>
              </a:buClr>
              <a:buFont typeface="Wingdings"/>
              <a:buChar char="v"/>
            </a:pPr>
            <a:r>
              <a:rPr lang="en-US" b="false" i="false" strike="noStrike" u="none" sz="1800">
                <a:solidFill>
                  <a:srgbClr val="E6E6E6"/>
                </a:solidFill>
                <a:latin typeface="Noto Sans SC"/>
                <a:ea typeface="Noto Sans SC"/>
                <a:cs typeface="Noto Sans SC"/>
                <a:sym typeface="Noto Sans SC"/>
              </a:rPr>
              <a:t>企业高管及技术骨干个税返还</a:t>
            </a:r>
          </a:p>
        </p:txBody>
      </p:sp>
      <p:sp>
        <p:nvSpPr>
          <p:cNvPr name="AutoShape 13" id="13"/>
          <p:cNvSpPr/>
          <p:nvPr/>
        </p:nvSpPr>
        <p:spPr>
          <a:xfrm rot="0" flipH="false" flipV="false">
            <a:off x="762000" y="5334000"/>
            <a:ext cx="10668000" cy="762000"/>
          </a:xfrm>
          <a:prstGeom prst="roundRect">
            <a:avLst>
              <a:gd name="adj" fmla="val 33333"/>
            </a:avLst>
          </a:prstGeom>
          <a:gradFill rotWithShape="true">
            <a:gsLst>
              <a:gs pos="0">
                <a:srgbClr val="41EAD4">
                  <a:alpha val="10000"/>
                </a:srgbClr>
              </a:gs>
              <a:gs pos="100000">
                <a:srgbClr val="9B5DE5">
                  <a:alpha val="10000"/>
                </a:srgbClr>
              </a:gs>
            </a:gsLst>
            <a:lin ang="0"/>
          </a:gra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5562600"/>
            <a:ext cx="304800" cy="304800"/>
          </a:xfrm>
          <a:prstGeom prst="rect">
            <a:avLst/>
          </a:prstGeom>
        </p:spPr>
      </p:pic>
      <p:sp>
        <p:nvSpPr>
          <p:cNvPr name="AutoShape 15" id="15"/>
          <p:cNvSpPr/>
          <p:nvPr/>
        </p:nvSpPr>
        <p:spPr>
          <a:xfrm rot="0" flipH="false" flipV="false">
            <a:off x="1397000" y="5461000"/>
            <a:ext cx="990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双重利好叠加：</a:t>
            </a:r>
            <a:r>
              <a:rPr lang="en-US" b="false" i="false" strike="noStrike" u="none" sz="1800">
                <a:solidFill>
                  <a:srgbClr val="DCDCDC"/>
                </a:solidFill>
                <a:latin typeface="Noto Sans SC"/>
                <a:ea typeface="Noto Sans SC"/>
                <a:cs typeface="Noto Sans SC"/>
                <a:sym typeface="Noto Sans SC"/>
              </a:rPr>
              <a:t>从国家级的技术攻关到地方性的落地生根，构建全方位政策支持体系，加速企业成长。</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4978400" y="1397000"/>
            <a:ext cx="2235200" cy="1143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8000">
                <a:solidFill>
                  <a:srgbClr val="41EAD4"/>
                </a:solidFill>
                <a:latin typeface="Noto Sans SC"/>
                <a:ea typeface="Noto Sans SC"/>
                <a:cs typeface="Noto Sans SC"/>
                <a:sym typeface="Noto Sans SC"/>
              </a:rPr>
              <a:t>04</a:t>
            </a:r>
            <a:endParaRPr lang="en-US" sz="1100"/>
          </a:p>
        </p:txBody>
      </p:sp>
      <p:sp>
        <p:nvSpPr>
          <p:cNvPr name="AutoShape 6" id="6"/>
          <p:cNvSpPr/>
          <p:nvPr/>
        </p:nvSpPr>
        <p:spPr>
          <a:xfrm rot="0" flipH="false" flipV="false">
            <a:off x="5715000" y="2667000"/>
            <a:ext cx="762000" cy="50800"/>
          </a:xfrm>
          <a:prstGeom prst="roundRect">
            <a:avLst>
              <a:gd name="adj" fmla="val 0"/>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4978400" y="2921000"/>
            <a:ext cx="22352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商业模式</a:t>
            </a:r>
            <a:endParaRPr lang="en-US" sz="1100"/>
          </a:p>
        </p:txBody>
      </p:sp>
      <p:sp>
        <p:nvSpPr>
          <p:cNvPr name="AutoShape 8" id="8"/>
          <p:cNvSpPr/>
          <p:nvPr/>
        </p:nvSpPr>
        <p:spPr>
          <a:xfrm rot="0" flipH="false" flipV="false">
            <a:off x="4089400" y="3556000"/>
            <a:ext cx="40259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800" spc="200">
                <a:solidFill>
                  <a:srgbClr val="FFFFFF">
                    <a:alpha val="70196"/>
                  </a:srgbClr>
                </a:solidFill>
                <a:latin typeface="Noto Sans SC"/>
                <a:ea typeface="Noto Sans SC"/>
                <a:cs typeface="Noto Sans SC"/>
                <a:sym typeface="Noto Sans SC"/>
              </a:rPr>
              <a:t>电信运营模式与收入结构</a:t>
            </a:r>
            <a:endParaRPr lang="en-US" sz="1100"/>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318000"/>
            <a:ext cx="406400" cy="406400"/>
          </a:xfrm>
          <a:prstGeom prst="rect">
            <a:avLst/>
          </a:prstGeom>
        </p:spPr>
      </p:pic>
      <p:sp>
        <p:nvSpPr>
          <p:cNvPr name="AutoShape 10" id="10"/>
          <p:cNvSpPr/>
          <p:nvPr/>
        </p:nvSpPr>
        <p:spPr>
          <a:xfrm rot="0" flipH="false" flipV="false">
            <a:off x="0" y="6096000"/>
            <a:ext cx="12192000" cy="254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200">
                <a:solidFill>
                  <a:srgbClr val="FFFFFF">
                    <a:alpha val="30196"/>
                  </a:srgbClr>
                </a:solidFill>
                <a:latin typeface="Noto Sans SC"/>
                <a:ea typeface="Noto Sans SC"/>
                <a:cs typeface="Noto Sans SC"/>
                <a:sym typeface="Noto Sans SC"/>
              </a:rPr>
              <a:t>BUSINESS MODEL &amp; REVENUE STRUCTURE</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022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电信运营模式</a:t>
            </a:r>
            <a:endParaRPr lang="en-US" sz="1100"/>
          </a:p>
        </p:txBody>
      </p:sp>
      <p:sp>
        <p:nvSpPr>
          <p:cNvPr name="AutoShape 5" id="5"/>
          <p:cNvSpPr/>
          <p:nvPr/>
        </p:nvSpPr>
        <p:spPr>
          <a:xfrm rot="0" flipH="false" flipV="false">
            <a:off x="762000" y="1524000"/>
            <a:ext cx="5080000" cy="2540000"/>
          </a:xfrm>
          <a:prstGeom prst="roundRect">
            <a:avLst>
              <a:gd name="adj" fmla="val 50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14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模式类比：电信运营商模型</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22500"/>
            <a:ext cx="304800" cy="304800"/>
          </a:xfrm>
          <a:prstGeom prst="rect">
            <a:avLst/>
          </a:prstGeom>
        </p:spPr>
      </p:pic>
      <p:sp>
        <p:nvSpPr>
          <p:cNvPr name="AutoShape 8" id="8"/>
          <p:cNvSpPr/>
          <p:nvPr/>
        </p:nvSpPr>
        <p:spPr>
          <a:xfrm rot="0" flipH="false" flipV="false">
            <a:off x="1397000" y="2184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AHL平台：</a:t>
            </a:r>
            <a:r>
              <a:rPr lang="en-US" b="false" i="false" strike="noStrike" u="none" sz="1800">
                <a:solidFill>
                  <a:srgbClr val="FFFFFF">
                    <a:alpha val="80000"/>
                  </a:srgbClr>
                </a:solidFill>
                <a:latin typeface="Noto Sans SC"/>
                <a:ea typeface="Noto Sans SC"/>
                <a:cs typeface="Noto Sans SC"/>
                <a:sym typeface="Noto Sans SC"/>
              </a:rPr>
              <a:t>类比电信运营商，提供基础设施</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730500"/>
            <a:ext cx="304800" cy="304800"/>
          </a:xfrm>
          <a:prstGeom prst="rect">
            <a:avLst/>
          </a:prstGeom>
        </p:spPr>
      </p:pic>
      <p:sp>
        <p:nvSpPr>
          <p:cNvPr name="AutoShape 10" id="10"/>
          <p:cNvSpPr/>
          <p:nvPr/>
        </p:nvSpPr>
        <p:spPr>
          <a:xfrm rot="0" flipH="false" flipV="false">
            <a:off x="1397000" y="2692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酒店/民宿：</a:t>
            </a:r>
            <a:r>
              <a:rPr lang="en-US" b="false" i="false" strike="noStrike" u="none" sz="1800">
                <a:solidFill>
                  <a:srgbClr val="FFFFFF">
                    <a:alpha val="80000"/>
                  </a:srgbClr>
                </a:solidFill>
                <a:latin typeface="Noto Sans SC"/>
                <a:ea typeface="Noto Sans SC"/>
                <a:cs typeface="Noto Sans SC"/>
                <a:sym typeface="Noto Sans SC"/>
              </a:rPr>
              <a:t>服务提供方，接入平台网络</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238500"/>
            <a:ext cx="304800" cy="304800"/>
          </a:xfrm>
          <a:prstGeom prst="rect">
            <a:avLst/>
          </a:prstGeom>
        </p:spPr>
      </p:pic>
      <p:sp>
        <p:nvSpPr>
          <p:cNvPr name="AutoShape 12" id="12"/>
          <p:cNvSpPr/>
          <p:nvPr/>
        </p:nvSpPr>
        <p:spPr>
          <a:xfrm rot="0" flipH="false" flipV="false">
            <a:off x="1397000" y="3200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C端旅客：</a:t>
            </a:r>
            <a:r>
              <a:rPr lang="en-US" b="false" i="false" strike="noStrike" u="none" sz="1800">
                <a:solidFill>
                  <a:srgbClr val="FFFFFF">
                    <a:alpha val="80000"/>
                  </a:srgbClr>
                </a:solidFill>
                <a:latin typeface="Noto Sans SC"/>
                <a:ea typeface="Noto Sans SC"/>
                <a:cs typeface="Noto Sans SC"/>
                <a:sym typeface="Noto Sans SC"/>
              </a:rPr>
              <a:t>服务使用方，按需消费资源</a:t>
            </a:r>
            <a:endParaRPr lang="en-US" sz="1100"/>
          </a:p>
        </p:txBody>
      </p:sp>
      <p:sp>
        <p:nvSpPr>
          <p:cNvPr name="AutoShape 13" id="13"/>
          <p:cNvSpPr/>
          <p:nvPr/>
        </p:nvSpPr>
        <p:spPr>
          <a:xfrm rot="0" flipH="false" flipV="false">
            <a:off x="6350000" y="1524000"/>
            <a:ext cx="5080000" cy="2540000"/>
          </a:xfrm>
          <a:prstGeom prst="roundRect">
            <a:avLst>
              <a:gd name="adj" fmla="val 5000"/>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604000" y="1714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收费机制：订阅 + TOKEN</a:t>
            </a:r>
            <a:endParaRPr lang="en-US" sz="1100"/>
          </a:p>
        </p:txBody>
      </p:sp>
      <p:pic>
        <p:nvPicPr>
          <p:cNvPr name="Picture 15" id="1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2222500"/>
            <a:ext cx="304800" cy="304800"/>
          </a:xfrm>
          <a:prstGeom prst="rect">
            <a:avLst/>
          </a:prstGeom>
        </p:spPr>
      </p:pic>
      <p:sp>
        <p:nvSpPr>
          <p:cNvPr name="AutoShape 16" id="16"/>
          <p:cNvSpPr/>
          <p:nvPr/>
        </p:nvSpPr>
        <p:spPr>
          <a:xfrm rot="0" flipH="false" flipV="false">
            <a:off x="6985000" y="2184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订阅费用：</a:t>
            </a:r>
            <a:r>
              <a:rPr lang="en-US" b="false" i="false" strike="noStrike" u="none" sz="1800">
                <a:solidFill>
                  <a:srgbClr val="FFFFFF">
                    <a:alpha val="80000"/>
                  </a:srgbClr>
                </a:solidFill>
                <a:latin typeface="Noto Sans SC"/>
                <a:ea typeface="Noto Sans SC"/>
                <a:cs typeface="Noto Sans SC"/>
                <a:sym typeface="Noto Sans SC"/>
              </a:rPr>
              <a:t>类比“月租”，保障基础服务</a:t>
            </a:r>
            <a:endParaRPr lang="en-US" sz="1100"/>
          </a:p>
        </p:txBody>
      </p:sp>
      <p:pic>
        <p:nvPicPr>
          <p:cNvPr name="Picture 17" id="17"/>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04000" y="2730500"/>
            <a:ext cx="304800" cy="304800"/>
          </a:xfrm>
          <a:prstGeom prst="rect">
            <a:avLst/>
          </a:prstGeom>
        </p:spPr>
      </p:pic>
      <p:sp>
        <p:nvSpPr>
          <p:cNvPr name="AutoShape 18" id="18"/>
          <p:cNvSpPr/>
          <p:nvPr/>
        </p:nvSpPr>
        <p:spPr>
          <a:xfrm rot="0" flipH="false" flipV="false">
            <a:off x="6985000" y="2692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TOKEN消耗：</a:t>
            </a:r>
            <a:r>
              <a:rPr lang="en-US" b="false" i="false" strike="noStrike" u="none" sz="1800">
                <a:solidFill>
                  <a:srgbClr val="FFFFFF">
                    <a:alpha val="80000"/>
                  </a:srgbClr>
                </a:solidFill>
                <a:latin typeface="Noto Sans SC"/>
                <a:ea typeface="Noto Sans SC"/>
                <a:cs typeface="Noto Sans SC"/>
                <a:sym typeface="Noto Sans SC"/>
              </a:rPr>
              <a:t>类比“流量”，按实际使用付费</a:t>
            </a:r>
            <a:endParaRPr lang="en-US" sz="1100"/>
          </a:p>
        </p:txBody>
      </p:sp>
      <p:pic>
        <p:nvPicPr>
          <p:cNvPr name="Picture 19" id="19"/>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604000" y="3238500"/>
            <a:ext cx="304800" cy="304800"/>
          </a:xfrm>
          <a:prstGeom prst="rect">
            <a:avLst/>
          </a:prstGeom>
        </p:spPr>
      </p:pic>
      <p:sp>
        <p:nvSpPr>
          <p:cNvPr name="AutoShape 20" id="20"/>
          <p:cNvSpPr/>
          <p:nvPr/>
        </p:nvSpPr>
        <p:spPr>
          <a:xfrm rot="0" flipH="false" flipV="false">
            <a:off x="6985000" y="3200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无隐性成本：</a:t>
            </a:r>
            <a:r>
              <a:rPr lang="en-US" b="false" i="false" strike="noStrike" u="none" sz="1800">
                <a:solidFill>
                  <a:srgbClr val="FFFFFF">
                    <a:alpha val="80000"/>
                  </a:srgbClr>
                </a:solidFill>
                <a:latin typeface="Noto Sans SC"/>
                <a:ea typeface="Noto Sans SC"/>
                <a:cs typeface="Noto Sans SC"/>
                <a:sym typeface="Noto Sans SC"/>
              </a:rPr>
              <a:t>无“TOKEN税”，成本优势显著</a:t>
            </a:r>
            <a:endParaRPr lang="en-US" sz="1100"/>
          </a:p>
        </p:txBody>
      </p:sp>
      <p:sp>
        <p:nvSpPr>
          <p:cNvPr name="AutoShape 21" id="21"/>
          <p:cNvSpPr/>
          <p:nvPr/>
        </p:nvSpPr>
        <p:spPr>
          <a:xfrm rot="0" flipH="false" flipV="false">
            <a:off x="762000" y="4191000"/>
            <a:ext cx="10668000" cy="2286000"/>
          </a:xfrm>
          <a:prstGeom prst="roundRect">
            <a:avLst>
              <a:gd name="adj" fmla="val 5555"/>
            </a:avLst>
          </a:prstGeom>
          <a:gradFill rotWithShape="true">
            <a:gsLst>
              <a:gs pos="0">
                <a:srgbClr val="41EAD4">
                  <a:alpha val="10000"/>
                </a:srgbClr>
              </a:gs>
              <a:gs pos="100000">
                <a:srgbClr val="9B5DE5">
                  <a:alpha val="10000"/>
                </a:srgbClr>
              </a:gs>
            </a:gsLst>
            <a:lin ang="0"/>
          </a:gradFill>
          <a:ln w="12700" cmpd="sng" cap="flat">
            <a:solidFill>
              <a:srgbClr val="FFFFFF">
                <a:alpha val="10000"/>
              </a:srgbClr>
            </a:solid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1016000" y="4381500"/>
            <a:ext cx="1016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核心价值与多方共赢</a:t>
            </a:r>
            <a:endParaRPr lang="en-US" sz="1100"/>
          </a:p>
        </p:txBody>
      </p:sp>
      <p:pic>
        <p:nvPicPr>
          <p:cNvPr name="Picture 23" id="23"/>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1016000" y="4889500"/>
            <a:ext cx="304800" cy="304800"/>
          </a:xfrm>
          <a:prstGeom prst="rect">
            <a:avLst/>
          </a:prstGeom>
        </p:spPr>
      </p:pic>
      <p:sp>
        <p:nvSpPr>
          <p:cNvPr name="AutoShape 24" id="24"/>
          <p:cNvSpPr/>
          <p:nvPr/>
        </p:nvSpPr>
        <p:spPr>
          <a:xfrm rot="0" flipH="false" flipV="false">
            <a:off x="1397000" y="48514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商户端：</a:t>
            </a:r>
            <a:r>
              <a:rPr lang="en-US" b="false" i="false" strike="noStrike" u="none" sz="1600">
                <a:solidFill>
                  <a:srgbClr val="FFFFFF">
                    <a:alpha val="80000"/>
                  </a:srgbClr>
                </a:solidFill>
                <a:latin typeface="Noto Sans SC"/>
                <a:ea typeface="Noto Sans SC"/>
                <a:cs typeface="Noto Sans SC"/>
                <a:sym typeface="Noto Sans SC"/>
              </a:rPr>
              <a:t>成本结构清晰可控，避免资金压力</a:t>
            </a:r>
            <a:endParaRPr lang="en-US" sz="1100"/>
          </a:p>
        </p:txBody>
      </p:sp>
      <p:pic>
        <p:nvPicPr>
          <p:cNvPr name="Picture 25" id="25"/>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4445000" y="4889500"/>
            <a:ext cx="304800" cy="304800"/>
          </a:xfrm>
          <a:prstGeom prst="rect">
            <a:avLst/>
          </a:prstGeom>
        </p:spPr>
      </p:pic>
      <p:sp>
        <p:nvSpPr>
          <p:cNvPr name="AutoShape 26" id="26"/>
          <p:cNvSpPr/>
          <p:nvPr/>
        </p:nvSpPr>
        <p:spPr>
          <a:xfrm rot="0" flipH="false" flipV="false">
            <a:off x="4826000" y="48514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平台端：</a:t>
            </a:r>
            <a:r>
              <a:rPr lang="en-US" b="false" i="false" strike="noStrike" u="none" sz="1600">
                <a:solidFill>
                  <a:srgbClr val="FFFFFF">
                    <a:alpha val="80000"/>
                  </a:srgbClr>
                </a:solidFill>
                <a:latin typeface="Noto Sans SC"/>
                <a:ea typeface="Noto Sans SC"/>
                <a:cs typeface="Noto Sans SC"/>
                <a:sym typeface="Noto Sans SC"/>
              </a:rPr>
              <a:t>获得稳定的现金流，保障持续运营</a:t>
            </a:r>
            <a:endParaRPr lang="en-US" sz="1100"/>
          </a:p>
        </p:txBody>
      </p:sp>
      <p:pic>
        <p:nvPicPr>
          <p:cNvPr name="Picture 27" id="27"/>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7874000" y="4889500"/>
            <a:ext cx="304800" cy="304800"/>
          </a:xfrm>
          <a:prstGeom prst="rect">
            <a:avLst/>
          </a:prstGeom>
        </p:spPr>
      </p:pic>
      <p:sp>
        <p:nvSpPr>
          <p:cNvPr name="AutoShape 28" id="28"/>
          <p:cNvSpPr/>
          <p:nvPr/>
        </p:nvSpPr>
        <p:spPr>
          <a:xfrm rot="0" flipH="false" flipV="false">
            <a:off x="8255000" y="48514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用户端：</a:t>
            </a:r>
            <a:r>
              <a:rPr lang="en-US" b="false" i="false" strike="noStrike" u="none" sz="1600">
                <a:solidFill>
                  <a:srgbClr val="FFFFFF">
                    <a:alpha val="80000"/>
                  </a:srgbClr>
                </a:solidFill>
                <a:latin typeface="Noto Sans SC"/>
                <a:ea typeface="Noto Sans SC"/>
                <a:cs typeface="Noto Sans SC"/>
                <a:sym typeface="Noto Sans SC"/>
              </a:rPr>
              <a:t>按需灵活选择，体验流畅无负担</a:t>
            </a:r>
            <a:endParaRPr lang="en-US" sz="1100"/>
          </a:p>
        </p:txBody>
      </p:sp>
      <p:sp>
        <p:nvSpPr>
          <p:cNvPr name="AutoShape 29" id="29"/>
          <p:cNvSpPr/>
          <p:nvPr/>
        </p:nvSpPr>
        <p:spPr>
          <a:xfrm rot="0" flipH="false" flipV="false">
            <a:off x="1016000" y="5588000"/>
            <a:ext cx="1016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1EAD4"/>
                </a:solidFill>
                <a:latin typeface="Noto Sans SC"/>
                <a:ea typeface="Noto Sans SC"/>
                <a:cs typeface="Noto Sans SC"/>
                <a:sym typeface="Noto Sans SC"/>
              </a:rPr>
              <a:t>“黄仁勋曾说：‘未来的计算将由TOKEN驱动。’ 埃隆·马斯克也指出：‘TOKEN是AI时代的石油。’ 我们相信，TOKEN模式代表了AI服务计费的未来。”</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810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商户订阅套餐</a:t>
            </a:r>
            <a:endParaRPr lang="en-US" sz="1100"/>
          </a:p>
        </p:txBody>
      </p:sp>
      <p:sp>
        <p:nvSpPr>
          <p:cNvPr name="AutoShape 5" id="5"/>
          <p:cNvSpPr/>
          <p:nvPr/>
        </p:nvSpPr>
        <p:spPr>
          <a:xfrm rot="0" flipH="false" flipV="false">
            <a:off x="762000" y="1524000"/>
            <a:ext cx="3302000" cy="3556000"/>
          </a:xfrm>
          <a:prstGeom prst="roundRect">
            <a:avLst>
              <a:gd name="adj" fmla="val 384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209800" y="1714500"/>
            <a:ext cx="406400" cy="406400"/>
          </a:xfrm>
          <a:prstGeom prst="rect">
            <a:avLst/>
          </a:prstGeom>
        </p:spPr>
      </p:pic>
      <p:sp>
        <p:nvSpPr>
          <p:cNvPr name="AutoShape 7" id="7"/>
          <p:cNvSpPr/>
          <p:nvPr/>
        </p:nvSpPr>
        <p:spPr>
          <a:xfrm rot="0" flipH="false" flipV="false">
            <a:off x="889000" y="2159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41EAD4"/>
                </a:solidFill>
                <a:latin typeface="Noto Sans SC"/>
                <a:ea typeface="Noto Sans SC"/>
                <a:cs typeface="Noto Sans SC"/>
                <a:sym typeface="Noto Sans SC"/>
              </a:rPr>
              <a:t>入门版</a:t>
            </a:r>
            <a:endParaRPr lang="en-US" sz="1100"/>
          </a:p>
        </p:txBody>
      </p:sp>
      <p:sp>
        <p:nvSpPr>
          <p:cNvPr name="AutoShape 8" id="8"/>
          <p:cNvSpPr/>
          <p:nvPr/>
        </p:nvSpPr>
        <p:spPr>
          <a:xfrm rot="0" flipH="false" flipV="false">
            <a:off x="889000" y="2540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Poppins"/>
                <a:ea typeface="Poppins"/>
                <a:cs typeface="Poppins"/>
                <a:sym typeface="Poppins"/>
              </a:rPr>
              <a:t>¥999</a:t>
            </a:r>
            <a:r>
              <a:rPr lang="en-US" b="false" i="false" strike="noStrike" u="none" sz="1600">
                <a:solidFill>
                  <a:srgbClr val="FFFFFF">
                    <a:alpha val="70196"/>
                  </a:srgbClr>
                </a:solidFill>
                <a:latin typeface="Noto Sans SC"/>
                <a:ea typeface="Noto Sans SC"/>
                <a:cs typeface="Noto Sans SC"/>
                <a:sym typeface="Noto Sans SC"/>
              </a:rPr>
              <a:t>/月</a:t>
            </a:r>
            <a:endParaRPr lang="en-US" sz="1100"/>
          </a:p>
        </p:txBody>
      </p:sp>
      <p:cxnSp>
        <p:nvCxnSpPr>
          <p:cNvPr name="Connector 9" id="9"/>
          <p:cNvCxnSpPr/>
          <p:nvPr/>
        </p:nvCxnSpPr>
        <p:spPr>
          <a:xfrm rot="-15626" flipH="false" flipV="false">
            <a:off x="1016014" y="3105150"/>
            <a:ext cx="2794000" cy="12700"/>
          </a:xfrm>
          <a:prstGeom prst="line">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0" id="10"/>
          <p:cNvSpPr/>
          <p:nvPr/>
        </p:nvSpPr>
        <p:spPr>
          <a:xfrm rot="0" flipH="false" flipV="false">
            <a:off x="889000" y="3238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适合经济型酒店/民宿</a:t>
            </a:r>
            <a:endParaRPr lang="en-US" sz="1100"/>
          </a:p>
        </p:txBody>
      </p:sp>
      <p:sp>
        <p:nvSpPr>
          <p:cNvPr name="AutoShape 11" id="11"/>
          <p:cNvSpPr/>
          <p:nvPr/>
        </p:nvSpPr>
        <p:spPr>
          <a:xfrm rot="0" flipH="false" flipV="false">
            <a:off x="889000" y="3683000"/>
            <a:ext cx="3048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800">
                <a:solidFill>
                  <a:srgbClr val="FFFFFF"/>
                </a:solidFill>
                <a:latin typeface="Noto Sans SC"/>
                <a:ea typeface="Noto Sans SC"/>
                <a:cs typeface="Noto Sans SC"/>
                <a:sym typeface="Noto Sans SC"/>
              </a:rPr>
              <a:t>基础C端SKILLs</a:t>
            </a:r>
            <a:r>
              <a:rPr lang="en-US" b="false" i="false" strike="noStrike" u="none" sz="1800">
                <a:solidFill>
                  <a:srgbClr val="FFFFFF"/>
                </a:solidFill>
                <a:latin typeface="Noto Sans SC"/>
                <a:ea typeface="Noto Sans SC"/>
                <a:cs typeface="Noto Sans SC"/>
                <a:sym typeface="Noto Sans SC"/>
              </a:rPr>
              <a:t/>
            </a:r>
            <a:endParaRPr lang="en-US" sz="1100"/>
          </a:p>
          <a:p>
            <a:pPr algn="ctr" indent="0">
              <a:lnSpc>
                <a:spcPct val="108333"/>
              </a:lnSpc>
            </a:pPr>
            <a:r>
              <a:rPr lang="en-US" b="false" i="false" strike="noStrike" u="none" sz="1800">
                <a:solidFill>
                  <a:srgbClr val="FFFFFF"/>
                </a:solidFill>
                <a:latin typeface="Noto Sans SC"/>
                <a:ea typeface="Noto Sans SC"/>
                <a:cs typeface="Noto Sans SC"/>
                <a:sym typeface="Noto Sans SC"/>
              </a:rPr>
              <a:t>收益管理功能</a:t>
            </a:r>
          </a:p>
        </p:txBody>
      </p:sp>
      <p:sp>
        <p:nvSpPr>
          <p:cNvPr name="AutoShape 12" id="12"/>
          <p:cNvSpPr/>
          <p:nvPr/>
        </p:nvSpPr>
        <p:spPr>
          <a:xfrm rot="0" flipH="false" flipV="false">
            <a:off x="4445000" y="1397000"/>
            <a:ext cx="3302000" cy="3810000"/>
          </a:xfrm>
          <a:prstGeom prst="roundRect">
            <a:avLst>
              <a:gd name="adj" fmla="val 3846"/>
            </a:avLst>
          </a:prstGeom>
          <a:solidFill>
            <a:srgbClr val="FFFFFF">
              <a:alpha val="8000"/>
            </a:srgbClr>
          </a:solidFill>
          <a:ln w="25400" cmpd="sng" cap="flat">
            <a:solidFill>
              <a:srgbClr val="9B5DE5">
                <a:alpha val="60000"/>
              </a:srgbClr>
            </a:solidFill>
            <a:prstDash val="solid"/>
            <a:round/>
          </a:ln>
          <a:effectLst>
            <a:outerShdw dir="2700000" dist="0" blurRad="254000" algn="tl" rotWithShape="false">
              <a:srgbClr val="9B5DE5">
                <a:alpha val="20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588000" y="1524000"/>
            <a:ext cx="1016000" cy="304800"/>
          </a:xfrm>
          <a:prstGeom prst="roundRect">
            <a:avLst>
              <a:gd name="adj" fmla="val 50000"/>
            </a:avLst>
          </a:prstGeom>
          <a:solidFill>
            <a:srgbClr val="9B5DE5">
              <a:alpha val="2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9B5DE5"/>
                </a:solidFill>
                <a:latin typeface="Noto Sans SC"/>
                <a:ea typeface="Noto Sans SC"/>
                <a:cs typeface="Noto Sans SC"/>
                <a:sym typeface="Noto Sans SC"/>
              </a:rPr>
              <a:t>最受欢迎</a:t>
            </a:r>
            <a:endParaRPr lang="en-US" sz="1100"/>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892800" y="1905000"/>
            <a:ext cx="406400" cy="406400"/>
          </a:xfrm>
          <a:prstGeom prst="rect">
            <a:avLst/>
          </a:prstGeom>
        </p:spPr>
      </p:pic>
      <p:sp>
        <p:nvSpPr>
          <p:cNvPr name="AutoShape 15" id="15"/>
          <p:cNvSpPr/>
          <p:nvPr/>
        </p:nvSpPr>
        <p:spPr>
          <a:xfrm rot="0" flipH="false" flipV="false">
            <a:off x="4572000" y="2349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9B5DE5"/>
                </a:solidFill>
                <a:latin typeface="Noto Sans SC"/>
                <a:ea typeface="Noto Sans SC"/>
                <a:cs typeface="Noto Sans SC"/>
                <a:sym typeface="Noto Sans SC"/>
              </a:rPr>
              <a:t>专业版</a:t>
            </a:r>
            <a:endParaRPr lang="en-US" sz="1100"/>
          </a:p>
        </p:txBody>
      </p:sp>
      <p:sp>
        <p:nvSpPr>
          <p:cNvPr name="AutoShape 16" id="16"/>
          <p:cNvSpPr/>
          <p:nvPr/>
        </p:nvSpPr>
        <p:spPr>
          <a:xfrm rot="0" flipH="false" flipV="false">
            <a:off x="4572000" y="27305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Poppins"/>
                <a:ea typeface="Poppins"/>
                <a:cs typeface="Poppins"/>
                <a:sym typeface="Poppins"/>
              </a:rPr>
              <a:t>¥2,999</a:t>
            </a:r>
            <a:r>
              <a:rPr lang="en-US" b="false" i="false" strike="noStrike" u="none" sz="1600">
                <a:solidFill>
                  <a:srgbClr val="FFFFFF">
                    <a:alpha val="70196"/>
                  </a:srgbClr>
                </a:solidFill>
                <a:latin typeface="Noto Sans SC"/>
                <a:ea typeface="Noto Sans SC"/>
                <a:cs typeface="Noto Sans SC"/>
                <a:sym typeface="Noto Sans SC"/>
              </a:rPr>
              <a:t>/月</a:t>
            </a:r>
            <a:endParaRPr lang="en-US" sz="1100"/>
          </a:p>
        </p:txBody>
      </p:sp>
      <p:cxnSp>
        <p:nvCxnSpPr>
          <p:cNvPr name="Connector 17" id="17"/>
          <p:cNvCxnSpPr/>
          <p:nvPr/>
        </p:nvCxnSpPr>
        <p:spPr>
          <a:xfrm rot="-15626" flipH="false" flipV="false">
            <a:off x="4699014" y="3295650"/>
            <a:ext cx="2794000" cy="12700"/>
          </a:xfrm>
          <a:prstGeom prst="line">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8" id="18"/>
          <p:cNvSpPr/>
          <p:nvPr/>
        </p:nvSpPr>
        <p:spPr>
          <a:xfrm rot="0" flipH="false" flipV="false">
            <a:off x="4572000" y="3429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适合中档酒店/精品民宿</a:t>
            </a:r>
            <a:endParaRPr lang="en-US" sz="1100"/>
          </a:p>
        </p:txBody>
      </p:sp>
      <p:sp>
        <p:nvSpPr>
          <p:cNvPr name="AutoShape 19" id="19"/>
          <p:cNvSpPr/>
          <p:nvPr/>
        </p:nvSpPr>
        <p:spPr>
          <a:xfrm rot="0" flipH="false" flipV="false">
            <a:off x="4572000" y="3873500"/>
            <a:ext cx="3048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800">
                <a:solidFill>
                  <a:srgbClr val="FFFFFF"/>
                </a:solidFill>
                <a:latin typeface="Noto Sans SC"/>
                <a:ea typeface="Noto Sans SC"/>
                <a:cs typeface="Noto Sans SC"/>
                <a:sym typeface="Noto Sans SC"/>
              </a:rPr>
              <a:t>全部C端SKILLs</a:t>
            </a:r>
            <a:r>
              <a:rPr lang="en-US" b="false" i="false" strike="noStrike" u="none" sz="1800">
                <a:solidFill>
                  <a:srgbClr val="FFFFFF"/>
                </a:solidFill>
                <a:latin typeface="Noto Sans SC"/>
                <a:ea typeface="Noto Sans SC"/>
                <a:cs typeface="Noto Sans SC"/>
                <a:sym typeface="Noto Sans SC"/>
              </a:rPr>
              <a:t/>
            </a:r>
            <a:endParaRPr lang="en-US" sz="1100"/>
          </a:p>
          <a:p>
            <a:pPr algn="ctr" indent="0">
              <a:lnSpc>
                <a:spcPct val="108333"/>
              </a:lnSpc>
            </a:pPr>
            <a:r>
              <a:rPr lang="en-US" b="false" i="false" strike="noStrike" u="none" sz="1800">
                <a:solidFill>
                  <a:srgbClr val="FFFFFF"/>
                </a:solidFill>
                <a:latin typeface="Noto Sans SC"/>
                <a:ea typeface="Noto Sans SC"/>
                <a:cs typeface="Noto Sans SC"/>
                <a:sym typeface="Noto Sans SC"/>
              </a:rPr>
              <a:t>核心B端SKILLs</a:t>
            </a:r>
          </a:p>
        </p:txBody>
      </p:sp>
      <p:sp>
        <p:nvSpPr>
          <p:cNvPr name="AutoShape 20" id="20"/>
          <p:cNvSpPr/>
          <p:nvPr/>
        </p:nvSpPr>
        <p:spPr>
          <a:xfrm rot="0" flipH="false" flipV="false">
            <a:off x="8128000" y="1524000"/>
            <a:ext cx="3302000" cy="3556000"/>
          </a:xfrm>
          <a:prstGeom prst="roundRect">
            <a:avLst>
              <a:gd name="adj" fmla="val 384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75800" y="1714500"/>
            <a:ext cx="406400" cy="406400"/>
          </a:xfrm>
          <a:prstGeom prst="rect">
            <a:avLst/>
          </a:prstGeom>
        </p:spPr>
      </p:pic>
      <p:sp>
        <p:nvSpPr>
          <p:cNvPr name="AutoShape 22" id="22"/>
          <p:cNvSpPr/>
          <p:nvPr/>
        </p:nvSpPr>
        <p:spPr>
          <a:xfrm rot="0" flipH="false" flipV="false">
            <a:off x="8255000" y="2159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41EAD4"/>
                </a:solidFill>
                <a:latin typeface="Noto Sans SC"/>
                <a:ea typeface="Noto Sans SC"/>
                <a:cs typeface="Noto Sans SC"/>
                <a:sym typeface="Noto Sans SC"/>
              </a:rPr>
              <a:t>企业版</a:t>
            </a:r>
            <a:endParaRPr lang="en-US" sz="1100"/>
          </a:p>
        </p:txBody>
      </p:sp>
      <p:sp>
        <p:nvSpPr>
          <p:cNvPr name="AutoShape 23" id="23"/>
          <p:cNvSpPr/>
          <p:nvPr/>
        </p:nvSpPr>
        <p:spPr>
          <a:xfrm rot="0" flipH="false" flipV="false">
            <a:off x="8255000" y="2540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Poppins"/>
                <a:ea typeface="Poppins"/>
                <a:cs typeface="Poppins"/>
                <a:sym typeface="Poppins"/>
              </a:rPr>
              <a:t>¥9,999</a:t>
            </a:r>
            <a:r>
              <a:rPr lang="en-US" b="false" i="false" strike="noStrike" u="none" sz="1600">
                <a:solidFill>
                  <a:srgbClr val="FFFFFF">
                    <a:alpha val="70196"/>
                  </a:srgbClr>
                </a:solidFill>
                <a:latin typeface="Noto Sans SC"/>
                <a:ea typeface="Noto Sans SC"/>
                <a:cs typeface="Noto Sans SC"/>
                <a:sym typeface="Noto Sans SC"/>
              </a:rPr>
              <a:t>/月</a:t>
            </a:r>
            <a:endParaRPr lang="en-US" sz="1100"/>
          </a:p>
        </p:txBody>
      </p:sp>
      <p:cxnSp>
        <p:nvCxnSpPr>
          <p:cNvPr name="Connector 24" id="24"/>
          <p:cNvCxnSpPr/>
          <p:nvPr/>
        </p:nvCxnSpPr>
        <p:spPr>
          <a:xfrm rot="-15626" flipH="false" flipV="false">
            <a:off x="8382014" y="3105150"/>
            <a:ext cx="2794000" cy="12700"/>
          </a:xfrm>
          <a:prstGeom prst="line">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5" id="25"/>
          <p:cNvSpPr/>
          <p:nvPr/>
        </p:nvSpPr>
        <p:spPr>
          <a:xfrm rot="0" flipH="false" flipV="false">
            <a:off x="8255000" y="3238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适合高端酒店/连锁</a:t>
            </a:r>
            <a:endParaRPr lang="en-US" sz="1100"/>
          </a:p>
        </p:txBody>
      </p:sp>
      <p:sp>
        <p:nvSpPr>
          <p:cNvPr name="AutoShape 26" id="26"/>
          <p:cNvSpPr/>
          <p:nvPr/>
        </p:nvSpPr>
        <p:spPr>
          <a:xfrm rot="0" flipH="false" flipV="false">
            <a:off x="8255000" y="3683000"/>
            <a:ext cx="3048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800">
                <a:solidFill>
                  <a:srgbClr val="FFFFFF"/>
                </a:solidFill>
                <a:latin typeface="Noto Sans SC"/>
                <a:ea typeface="Noto Sans SC"/>
                <a:cs typeface="Noto Sans SC"/>
                <a:sym typeface="Noto Sans SC"/>
              </a:rPr>
              <a:t>无限SKILLs</a:t>
            </a:r>
            <a:r>
              <a:rPr lang="en-US" b="false" i="false" strike="noStrike" u="none" sz="1800">
                <a:solidFill>
                  <a:srgbClr val="FFFFFF"/>
                </a:solidFill>
                <a:latin typeface="Noto Sans SC"/>
                <a:ea typeface="Noto Sans SC"/>
                <a:cs typeface="Noto Sans SC"/>
                <a:sym typeface="Noto Sans SC"/>
              </a:rPr>
              <a:t/>
            </a:r>
            <a:endParaRPr lang="en-US" sz="1100"/>
          </a:p>
          <a:p>
            <a:pPr algn="ctr" indent="0">
              <a:lnSpc>
                <a:spcPct val="108333"/>
              </a:lnSpc>
            </a:pPr>
            <a:r>
              <a:rPr lang="en-US" b="false" i="false" strike="noStrike" u="none" sz="1800">
                <a:solidFill>
                  <a:srgbClr val="FFFFFF"/>
                </a:solidFill>
                <a:latin typeface="Noto Sans SC"/>
                <a:ea typeface="Noto Sans SC"/>
                <a:cs typeface="Noto Sans SC"/>
                <a:sym typeface="Noto Sans SC"/>
              </a:rPr>
              <a:t>专属服务支持</a:t>
            </a:r>
          </a:p>
        </p:txBody>
      </p:sp>
      <p:sp>
        <p:nvSpPr>
          <p:cNvPr name="AutoShape 27" id="27"/>
          <p:cNvSpPr/>
          <p:nvPr/>
        </p:nvSpPr>
        <p:spPr>
          <a:xfrm rot="0" flipH="false" flipV="false">
            <a:off x="0" y="6807200"/>
            <a:ext cx="1219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032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收入结构</a:t>
            </a:r>
            <a:endParaRPr lang="en-US" sz="1100"/>
          </a:p>
        </p:txBody>
      </p:sp>
      <p:pic>
        <p:nvPicPr>
          <p:cNvPr name="Picture 5" id="5"/>
          <p:cNvPicPr>
            <a:picLocks noChangeAspect="true"/>
          </p:cNvPicPr>
          <p:nvPr/>
        </p:nvPicPr>
        <p:blipFill>
          <a:blip r:embed="rId3"/>
          <a:stretch>
            <a:fillRect/>
          </a:stretch>
        </p:blipFill>
        <p:spPr>
          <a:xfrm rot="0" flipH="false" flipV="false">
            <a:off x="762000" y="1651000"/>
            <a:ext cx="4318000" cy="3302000"/>
          </a:xfrm>
          <a:prstGeom prst="rect">
            <a:avLst/>
          </a:prstGeom>
        </p:spPr>
      </p:pic>
      <p:sp>
        <p:nvSpPr>
          <p:cNvPr name="AutoShape 6" id="6"/>
          <p:cNvSpPr/>
          <p:nvPr/>
        </p:nvSpPr>
        <p:spPr>
          <a:xfrm rot="0" flipH="false" flipV="false">
            <a:off x="5842000" y="1651000"/>
            <a:ext cx="5588000" cy="889000"/>
          </a:xfrm>
          <a:prstGeom prst="roundRect">
            <a:avLst>
              <a:gd name="adj" fmla="val 14285"/>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032500" y="1892300"/>
            <a:ext cx="406400" cy="406400"/>
          </a:xfrm>
          <a:prstGeom prst="rect">
            <a:avLst/>
          </a:prstGeom>
        </p:spPr>
      </p:pic>
      <p:sp>
        <p:nvSpPr>
          <p:cNvPr name="AutoShape 8" id="8"/>
          <p:cNvSpPr/>
          <p:nvPr/>
        </p:nvSpPr>
        <p:spPr>
          <a:xfrm rot="0" flipH="false" flipV="false">
            <a:off x="6540500" y="1714500"/>
            <a:ext cx="482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商户订阅费 (40%)</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D1D5DB"/>
                </a:solidFill>
                <a:latin typeface="Noto Sans SC"/>
                <a:ea typeface="Noto Sans SC"/>
                <a:cs typeface="Noto Sans SC"/>
                <a:sym typeface="Noto Sans SC"/>
              </a:rPr>
              <a:t>稳定的保底收入，确保现金流稳健。</a:t>
            </a:r>
          </a:p>
        </p:txBody>
      </p:sp>
      <p:sp>
        <p:nvSpPr>
          <p:cNvPr name="AutoShape 9" id="9"/>
          <p:cNvSpPr/>
          <p:nvPr/>
        </p:nvSpPr>
        <p:spPr>
          <a:xfrm rot="0" flipH="false" flipV="false">
            <a:off x="5842000" y="2667000"/>
            <a:ext cx="5588000" cy="889000"/>
          </a:xfrm>
          <a:prstGeom prst="roundRect">
            <a:avLst>
              <a:gd name="adj" fmla="val 14285"/>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032500" y="2908300"/>
            <a:ext cx="406400" cy="406400"/>
          </a:xfrm>
          <a:prstGeom prst="rect">
            <a:avLst/>
          </a:prstGeom>
        </p:spPr>
      </p:pic>
      <p:sp>
        <p:nvSpPr>
          <p:cNvPr name="AutoShape 11" id="11"/>
          <p:cNvSpPr/>
          <p:nvPr/>
        </p:nvSpPr>
        <p:spPr>
          <a:xfrm rot="0" flipH="false" flipV="false">
            <a:off x="6540500" y="2730500"/>
            <a:ext cx="482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交易服务费 (30%)</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D1D5DB"/>
                </a:solidFill>
                <a:latin typeface="Noto Sans SC"/>
                <a:ea typeface="Noto Sans SC"/>
                <a:cs typeface="Noto Sans SC"/>
                <a:sym typeface="Noto Sans SC"/>
              </a:rPr>
              <a:t>每笔成交抽取2%佣金，是核心增长动力。</a:t>
            </a:r>
          </a:p>
        </p:txBody>
      </p:sp>
      <p:sp>
        <p:nvSpPr>
          <p:cNvPr name="AutoShape 12" id="12"/>
          <p:cNvSpPr/>
          <p:nvPr/>
        </p:nvSpPr>
        <p:spPr>
          <a:xfrm rot="0" flipH="false" flipV="false">
            <a:off x="5842000" y="3683000"/>
            <a:ext cx="5588000" cy="889000"/>
          </a:xfrm>
          <a:prstGeom prst="roundRect">
            <a:avLst>
              <a:gd name="adj" fmla="val 14285"/>
            </a:avLst>
          </a:prstGeom>
          <a:solidFill>
            <a:srgbClr val="FFFFFF">
              <a:alpha val="5000"/>
            </a:srgbClr>
          </a:solidFill>
          <a:ln w="12700" cmpd="sng" cap="flat">
            <a:solidFill>
              <a:srgbClr val="00C6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032500" y="3924300"/>
            <a:ext cx="406400" cy="406400"/>
          </a:xfrm>
          <a:prstGeom prst="rect">
            <a:avLst/>
          </a:prstGeom>
        </p:spPr>
      </p:pic>
      <p:sp>
        <p:nvSpPr>
          <p:cNvPr name="AutoShape 14" id="14"/>
          <p:cNvSpPr/>
          <p:nvPr/>
        </p:nvSpPr>
        <p:spPr>
          <a:xfrm rot="0" flipH="false" flipV="false">
            <a:off x="6540500" y="3746500"/>
            <a:ext cx="482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超额TOKEN费 (20%)</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D1D5DB"/>
                </a:solidFill>
                <a:latin typeface="Noto Sans SC"/>
                <a:ea typeface="Noto Sans SC"/>
                <a:cs typeface="Noto Sans SC"/>
                <a:sym typeface="Noto Sans SC"/>
              </a:rPr>
              <a:t>超出基础套餐部分的弹性收入来源。</a:t>
            </a:r>
          </a:p>
        </p:txBody>
      </p:sp>
      <p:sp>
        <p:nvSpPr>
          <p:cNvPr name="AutoShape 15" id="15"/>
          <p:cNvSpPr/>
          <p:nvPr/>
        </p:nvSpPr>
        <p:spPr>
          <a:xfrm rot="0" flipH="false" flipV="false">
            <a:off x="5842000" y="4699000"/>
            <a:ext cx="5588000" cy="889000"/>
          </a:xfrm>
          <a:prstGeom prst="roundRect">
            <a:avLst>
              <a:gd name="adj" fmla="val 14285"/>
            </a:avLst>
          </a:prstGeom>
          <a:solidFill>
            <a:srgbClr val="FFFFFF">
              <a:alpha val="5000"/>
            </a:srgbClr>
          </a:solidFill>
          <a:ln w="12700" cmpd="sng" cap="flat">
            <a:solidFill>
              <a:srgbClr val="FF79C6">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032500" y="4940300"/>
            <a:ext cx="406400" cy="406400"/>
          </a:xfrm>
          <a:prstGeom prst="rect">
            <a:avLst/>
          </a:prstGeom>
        </p:spPr>
      </p:pic>
      <p:sp>
        <p:nvSpPr>
          <p:cNvPr name="AutoShape 17" id="17"/>
          <p:cNvSpPr/>
          <p:nvPr/>
        </p:nvSpPr>
        <p:spPr>
          <a:xfrm rot="0" flipH="false" flipV="false">
            <a:off x="6540500" y="4762500"/>
            <a:ext cx="482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SKILL增值 (10%)</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D1D5DB"/>
                </a:solidFill>
                <a:latin typeface="Noto Sans SC"/>
                <a:ea typeface="Noto Sans SC"/>
                <a:cs typeface="Noto Sans SC"/>
                <a:sym typeface="Noto Sans SC"/>
              </a:rPr>
              <a:t>高级功能模块的单独订阅，提升用户粘性。</a:t>
            </a:r>
          </a:p>
        </p:txBody>
      </p:sp>
      <p:sp>
        <p:nvSpPr>
          <p:cNvPr name="AutoShape 18" id="18"/>
          <p:cNvSpPr/>
          <p:nvPr/>
        </p:nvSpPr>
        <p:spPr>
          <a:xfrm rot="0" flipH="false" flipV="false">
            <a:off x="762000" y="5969000"/>
            <a:ext cx="10668000" cy="25400"/>
          </a:xfrm>
          <a:prstGeom prst="roundRect">
            <a:avLst>
              <a:gd name="adj" fmla="val 0"/>
            </a:avLst>
          </a:prstGeom>
          <a:gradFill rotWithShape="true">
            <a:gsLst>
              <a:gs pos="0">
                <a:srgbClr val="41EAD4">
                  <a:alpha val="0"/>
                </a:srgbClr>
              </a:gs>
              <a:gs pos="50000">
                <a:srgbClr val="41EAD4">
                  <a:alpha val="100000"/>
                </a:srgbClr>
              </a:gs>
              <a:gs pos="100000">
                <a:srgbClr val="41EAD4">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524000"/>
            <a:ext cx="12192000" cy="1016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8000">
                <a:solidFill>
                  <a:srgbClr val="41EAD4"/>
                </a:solidFill>
                <a:latin typeface="DIN Alternate"/>
                <a:ea typeface="DIN Alternate"/>
                <a:cs typeface="DIN Alternate"/>
                <a:sym typeface="DIN Alternate"/>
              </a:rPr>
              <a:t>05</a:t>
            </a:r>
            <a:endParaRPr lang="en-US" sz="1100"/>
          </a:p>
        </p:txBody>
      </p:sp>
      <p:sp>
        <p:nvSpPr>
          <p:cNvPr name="AutoShape 5" id="5"/>
          <p:cNvSpPr/>
          <p:nvPr/>
        </p:nvSpPr>
        <p:spPr>
          <a:xfrm rot="0" flipH="false" flipV="false">
            <a:off x="5715000" y="2667000"/>
            <a:ext cx="76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2921000"/>
            <a:ext cx="12192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实施路径</a:t>
            </a:r>
            <a:endParaRPr lang="en-US" sz="1100"/>
          </a:p>
        </p:txBody>
      </p:sp>
      <p:sp>
        <p:nvSpPr>
          <p:cNvPr name="AutoShape 7" id="7"/>
          <p:cNvSpPr/>
          <p:nvPr/>
        </p:nvSpPr>
        <p:spPr>
          <a:xfrm rot="0" flipH="false" flipV="false">
            <a:off x="0" y="3556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spc="200">
                <a:solidFill>
                  <a:srgbClr val="FFFFFF">
                    <a:alpha val="80000"/>
                  </a:srgbClr>
                </a:solidFill>
                <a:latin typeface="Noto Sans SC"/>
                <a:ea typeface="Noto Sans SC"/>
                <a:cs typeface="Noto Sans SC"/>
                <a:sym typeface="Noto Sans SC"/>
              </a:rPr>
              <a:t>四阶段计划与里程碑</a:t>
            </a:r>
            <a:endParaRPr lang="en-US" sz="1100"/>
          </a:p>
        </p:txBody>
      </p:sp>
      <p:sp>
        <p:nvSpPr>
          <p:cNvPr name="AutoShape 8" id="8"/>
          <p:cNvSpPr/>
          <p:nvPr/>
        </p:nvSpPr>
        <p:spPr>
          <a:xfrm rot="0" flipH="false" flipV="false">
            <a:off x="5334000" y="4445000"/>
            <a:ext cx="1524000" cy="381000"/>
          </a:xfrm>
          <a:prstGeom prst="roundRect">
            <a:avLst>
              <a:gd name="adj" fmla="val 50000"/>
            </a:avLst>
          </a:prstGeom>
          <a:solidFill>
            <a:srgbClr val="9B5DE5">
              <a:alpha val="20000"/>
            </a:srgbClr>
          </a:solidFill>
          <a:ln w="12700" cmpd="sng" cap="flat">
            <a:solidFill>
              <a:srgbClr val="9B5DE5">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5334000" y="4445000"/>
            <a:ext cx="1524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200">
                <a:solidFill>
                  <a:srgbClr val="9B5DE5"/>
                </a:solidFill>
                <a:latin typeface="DIN Alternate"/>
                <a:ea typeface="DIN Alternate"/>
                <a:cs typeface="DIN Alternate"/>
                <a:sym typeface="DIN Alternate"/>
              </a:rPr>
              <a:t>2026 STRATEGY</a:t>
            </a:r>
            <a:endParaRPr lang="en-US" sz="1100"/>
          </a:p>
        </p:txBody>
      </p:sp>
      <p:sp>
        <p:nvSpPr>
          <p:cNvPr name="AutoShape 10" id="10"/>
          <p:cNvSpPr/>
          <p:nvPr/>
        </p:nvSpPr>
        <p:spPr>
          <a:xfrm rot="0" flipH="false" flipV="false">
            <a:off x="508000" y="3429000"/>
            <a:ext cx="2540000" cy="12700"/>
          </a:xfrm>
          <a:prstGeom prst="roundRect">
            <a:avLst>
              <a:gd name="adj" fmla="val 0"/>
            </a:avLst>
          </a:prstGeom>
          <a:gradFill rotWithShape="true">
            <a:gsLst>
              <a:gs pos="0">
                <a:srgbClr val="41EAD4">
                  <a:alpha val="0"/>
                </a:srgbClr>
              </a:gs>
              <a:gs pos="100000">
                <a:srgbClr val="41EAD4">
                  <a:alpha val="5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9144000" y="3429000"/>
            <a:ext cx="2540000" cy="12700"/>
          </a:xfrm>
          <a:prstGeom prst="roundRect">
            <a:avLst>
              <a:gd name="adj" fmla="val 0"/>
            </a:avLst>
          </a:prstGeom>
          <a:gradFill rotWithShape="true">
            <a:gsLst>
              <a:gs pos="0">
                <a:srgbClr val="41EAD4">
                  <a:alpha val="50000"/>
                </a:srgbClr>
              </a:gs>
              <a:gs pos="100000">
                <a:srgbClr val="41EAD4">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514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四阶段计划</a:t>
            </a:r>
            <a:endParaRPr lang="en-US" sz="1100"/>
          </a:p>
        </p:txBody>
      </p:sp>
      <p:sp>
        <p:nvSpPr>
          <p:cNvPr name="AutoShape 5" id="5"/>
          <p:cNvSpPr/>
          <p:nvPr/>
        </p:nvSpPr>
        <p:spPr>
          <a:xfrm rot="0" flipH="false" flipV="false">
            <a:off x="508000" y="1778000"/>
            <a:ext cx="2540000" cy="3048000"/>
          </a:xfrm>
          <a:prstGeom prst="roundRect">
            <a:avLst>
              <a:gd name="adj" fmla="val 50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574800" y="2032000"/>
            <a:ext cx="406400" cy="406400"/>
          </a:xfrm>
          <a:prstGeom prst="rect">
            <a:avLst/>
          </a:prstGeom>
        </p:spPr>
      </p:pic>
      <p:sp>
        <p:nvSpPr>
          <p:cNvPr name="AutoShape 7" id="7"/>
          <p:cNvSpPr/>
          <p:nvPr/>
        </p:nvSpPr>
        <p:spPr>
          <a:xfrm rot="0" flipH="false" flipV="false">
            <a:off x="635000" y="2540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41EAD4"/>
                </a:solidFill>
                <a:latin typeface="Noto Sans SC"/>
                <a:ea typeface="Noto Sans SC"/>
                <a:cs typeface="Noto Sans SC"/>
                <a:sym typeface="Noto Sans SC"/>
              </a:rPr>
              <a:t>产品孵化</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FFFFFF">
                    <a:alpha val="60000"/>
                  </a:srgbClr>
                </a:solidFill>
                <a:latin typeface="Poppins"/>
                <a:ea typeface="Poppins"/>
                <a:cs typeface="Poppins"/>
                <a:sym typeface="Poppins"/>
              </a:rPr>
              <a:t>M1 - M3</a:t>
            </a:r>
          </a:p>
        </p:txBody>
      </p:sp>
      <p:sp>
        <p:nvSpPr>
          <p:cNvPr name="AutoShape 8" id="8"/>
          <p:cNvSpPr/>
          <p:nvPr/>
        </p:nvSpPr>
        <p:spPr>
          <a:xfrm rot="0" flipH="false" flipV="false">
            <a:off x="635000" y="3302000"/>
            <a:ext cx="2286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600">
                <a:solidFill>
                  <a:srgbClr val="E6E6E6"/>
                </a:solidFill>
                <a:latin typeface="Noto Sans SC"/>
                <a:ea typeface="Noto Sans SC"/>
                <a:cs typeface="Noto Sans SC"/>
                <a:sym typeface="Noto Sans SC"/>
              </a:rPr>
              <a:t>完成LLM微调</a:t>
            </a:r>
            <a:r>
              <a:rPr lang="en-US" b="false" i="false" strike="noStrike" u="none" sz="1600">
                <a:solidFill>
                  <a:srgbClr val="E6E6E6"/>
                </a:solidFill>
                <a:latin typeface="Noto Sans SC"/>
                <a:ea typeface="Noto Sans SC"/>
                <a:cs typeface="Noto Sans SC"/>
                <a:sym typeface="Noto Sans SC"/>
              </a:rPr>
              <a:t/>
            </a:r>
            <a:br>
              <a:rPr lang="en-US" b="false" i="false" strike="noStrike" u="none" sz="1600">
                <a:solidFill>
                  <a:srgbClr val="E6E6E6"/>
                </a:solidFill>
                <a:latin typeface="Noto Sans SC"/>
                <a:ea typeface="Noto Sans SC"/>
                <a:cs typeface="Noto Sans SC"/>
                <a:sym typeface="Noto Sans SC"/>
              </a:rPr>
            </a:br>
            <a:r>
              <a:rPr lang="en-US" b="false" i="false" strike="noStrike" u="none" sz="1600">
                <a:solidFill>
                  <a:srgbClr val="E6E6E6"/>
                </a:solidFill>
                <a:latin typeface="Noto Sans SC"/>
                <a:ea typeface="Noto Sans SC"/>
                <a:cs typeface="Noto Sans SC"/>
                <a:sym typeface="Noto Sans SC"/>
              </a:rPr>
              <a:t>上线MVP版本</a:t>
            </a:r>
            <a:r>
              <a:rPr lang="en-US" b="false" i="false" strike="noStrike" u="none" sz="1600">
                <a:solidFill>
                  <a:srgbClr val="E6E6E6"/>
                </a:solidFill>
                <a:latin typeface="Noto Sans SC"/>
                <a:ea typeface="Noto Sans SC"/>
                <a:cs typeface="Noto Sans SC"/>
                <a:sym typeface="Noto Sans SC"/>
              </a:rPr>
              <a:t/>
            </a:r>
            <a:br>
              <a:rPr lang="en-US" b="false" i="false" strike="noStrike" u="none" sz="1600">
                <a:solidFill>
                  <a:srgbClr val="E6E6E6"/>
                </a:solidFill>
                <a:latin typeface="Noto Sans SC"/>
                <a:ea typeface="Noto Sans SC"/>
                <a:cs typeface="Noto Sans SC"/>
                <a:sym typeface="Noto Sans SC"/>
              </a:rPr>
            </a:br>
            <a:r>
              <a:rPr lang="en-US" b="false" i="false" strike="noStrike" u="none" sz="1600">
                <a:solidFill>
                  <a:srgbClr val="E6E6E6"/>
                </a:solidFill>
                <a:latin typeface="Noto Sans SC"/>
                <a:ea typeface="Noto Sans SC"/>
                <a:cs typeface="Noto Sans SC"/>
                <a:sym typeface="Noto Sans SC"/>
              </a:rPr>
              <a:t>签约10+种子商户</a:t>
            </a:r>
            <a:endParaRPr lang="en-US" sz="1100"/>
          </a:p>
        </p:txBody>
      </p:sp>
      <p:sp>
        <p:nvSpPr>
          <p:cNvPr name="AutoShape 9" id="9"/>
          <p:cNvSpPr/>
          <p:nvPr/>
        </p:nvSpPr>
        <p:spPr>
          <a:xfrm rot="0" flipH="false" flipV="false">
            <a:off x="3302000" y="1778000"/>
            <a:ext cx="2540000" cy="3048000"/>
          </a:xfrm>
          <a:prstGeom prst="roundRect">
            <a:avLst>
              <a:gd name="adj" fmla="val 5000"/>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368800" y="2032000"/>
            <a:ext cx="406400" cy="406400"/>
          </a:xfrm>
          <a:prstGeom prst="rect">
            <a:avLst/>
          </a:prstGeom>
        </p:spPr>
      </p:pic>
      <p:sp>
        <p:nvSpPr>
          <p:cNvPr name="AutoShape 11" id="11"/>
          <p:cNvSpPr/>
          <p:nvPr/>
        </p:nvSpPr>
        <p:spPr>
          <a:xfrm rot="0" flipH="false" flipV="false">
            <a:off x="3429000" y="2540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9B5DE5"/>
                </a:solidFill>
                <a:latin typeface="Noto Sans SC"/>
                <a:ea typeface="Noto Sans SC"/>
                <a:cs typeface="Noto Sans SC"/>
                <a:sym typeface="Noto Sans SC"/>
              </a:rPr>
              <a:t>模式验证</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FFFFFF">
                    <a:alpha val="60000"/>
                  </a:srgbClr>
                </a:solidFill>
                <a:latin typeface="Poppins"/>
                <a:ea typeface="Poppins"/>
                <a:cs typeface="Poppins"/>
                <a:sym typeface="Poppins"/>
              </a:rPr>
              <a:t>M4 - M6</a:t>
            </a:r>
          </a:p>
        </p:txBody>
      </p:sp>
      <p:sp>
        <p:nvSpPr>
          <p:cNvPr name="AutoShape 12" id="12"/>
          <p:cNvSpPr/>
          <p:nvPr/>
        </p:nvSpPr>
        <p:spPr>
          <a:xfrm rot="0" flipH="false" flipV="false">
            <a:off x="3429000" y="3302000"/>
            <a:ext cx="2286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600">
                <a:solidFill>
                  <a:srgbClr val="E6E6E6"/>
                </a:solidFill>
                <a:latin typeface="Noto Sans SC"/>
                <a:ea typeface="Noto Sans SC"/>
                <a:cs typeface="Noto Sans SC"/>
                <a:sym typeface="Noto Sans SC"/>
              </a:rPr>
              <a:t>验证套餐模式</a:t>
            </a:r>
            <a:r>
              <a:rPr lang="en-US" b="false" i="false" strike="noStrike" u="none" sz="1600">
                <a:solidFill>
                  <a:srgbClr val="E6E6E6"/>
                </a:solidFill>
                <a:latin typeface="Noto Sans SC"/>
                <a:ea typeface="Noto Sans SC"/>
                <a:cs typeface="Noto Sans SC"/>
                <a:sym typeface="Noto Sans SC"/>
              </a:rPr>
              <a:t/>
            </a:r>
            <a:br>
              <a:rPr lang="en-US" b="false" i="false" strike="noStrike" u="none" sz="1600">
                <a:solidFill>
                  <a:srgbClr val="E6E6E6"/>
                </a:solidFill>
                <a:latin typeface="Noto Sans SC"/>
                <a:ea typeface="Noto Sans SC"/>
                <a:cs typeface="Noto Sans SC"/>
                <a:sym typeface="Noto Sans SC"/>
              </a:rPr>
            </a:br>
            <a:r>
              <a:rPr lang="en-US" b="false" i="false" strike="noStrike" u="none" sz="1600">
                <a:solidFill>
                  <a:srgbClr val="E6E6E6"/>
                </a:solidFill>
                <a:latin typeface="Noto Sans SC"/>
                <a:ea typeface="Noto Sans SC"/>
                <a:cs typeface="Noto Sans SC"/>
                <a:sym typeface="Noto Sans SC"/>
              </a:rPr>
              <a:t>商户50+上线</a:t>
            </a:r>
            <a:r>
              <a:rPr lang="en-US" b="false" i="false" strike="noStrike" u="none" sz="1600">
                <a:solidFill>
                  <a:srgbClr val="E6E6E6"/>
                </a:solidFill>
                <a:latin typeface="Noto Sans SC"/>
                <a:ea typeface="Noto Sans SC"/>
                <a:cs typeface="Noto Sans SC"/>
                <a:sym typeface="Noto Sans SC"/>
              </a:rPr>
              <a:t/>
            </a:r>
            <a:br>
              <a:rPr lang="en-US" b="false" i="false" strike="noStrike" u="none" sz="1600">
                <a:solidFill>
                  <a:srgbClr val="E6E6E6"/>
                </a:solidFill>
                <a:latin typeface="Noto Sans SC"/>
                <a:ea typeface="Noto Sans SC"/>
                <a:cs typeface="Noto Sans SC"/>
                <a:sym typeface="Noto Sans SC"/>
              </a:rPr>
            </a:br>
            <a:r>
              <a:rPr lang="en-US" b="false" i="false" strike="noStrike" u="none" sz="1600">
                <a:solidFill>
                  <a:srgbClr val="E6E6E6"/>
                </a:solidFill>
                <a:latin typeface="Noto Sans SC"/>
                <a:ea typeface="Noto Sans SC"/>
                <a:cs typeface="Noto Sans SC"/>
                <a:sym typeface="Noto Sans SC"/>
              </a:rPr>
              <a:t>月GMV达100万</a:t>
            </a:r>
            <a:endParaRPr lang="en-US" sz="1100"/>
          </a:p>
        </p:txBody>
      </p:sp>
      <p:sp>
        <p:nvSpPr>
          <p:cNvPr name="AutoShape 13" id="13"/>
          <p:cNvSpPr/>
          <p:nvPr/>
        </p:nvSpPr>
        <p:spPr>
          <a:xfrm rot="0" flipH="false" flipV="false">
            <a:off x="6096000" y="1778000"/>
            <a:ext cx="2540000" cy="3048000"/>
          </a:xfrm>
          <a:prstGeom prst="roundRect">
            <a:avLst>
              <a:gd name="adj" fmla="val 50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162800" y="2032000"/>
            <a:ext cx="406400" cy="406400"/>
          </a:xfrm>
          <a:prstGeom prst="rect">
            <a:avLst/>
          </a:prstGeom>
        </p:spPr>
      </p:pic>
      <p:sp>
        <p:nvSpPr>
          <p:cNvPr name="AutoShape 15" id="15"/>
          <p:cNvSpPr/>
          <p:nvPr/>
        </p:nvSpPr>
        <p:spPr>
          <a:xfrm rot="0" flipH="false" flipV="false">
            <a:off x="6223000" y="2540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41EAD4"/>
                </a:solidFill>
                <a:latin typeface="Noto Sans SC"/>
                <a:ea typeface="Noto Sans SC"/>
                <a:cs typeface="Noto Sans SC"/>
                <a:sym typeface="Noto Sans SC"/>
              </a:rPr>
              <a:t>规模复制</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FFFFFF">
                    <a:alpha val="60000"/>
                  </a:srgbClr>
                </a:solidFill>
                <a:latin typeface="Poppins"/>
                <a:ea typeface="Poppins"/>
                <a:cs typeface="Poppins"/>
                <a:sym typeface="Poppins"/>
              </a:rPr>
              <a:t>M7 - M12</a:t>
            </a:r>
          </a:p>
        </p:txBody>
      </p:sp>
      <p:sp>
        <p:nvSpPr>
          <p:cNvPr name="AutoShape 16" id="16"/>
          <p:cNvSpPr/>
          <p:nvPr/>
        </p:nvSpPr>
        <p:spPr>
          <a:xfrm rot="0" flipH="false" flipV="false">
            <a:off x="6223000" y="3302000"/>
            <a:ext cx="2286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600">
                <a:solidFill>
                  <a:srgbClr val="E6E6E6"/>
                </a:solidFill>
                <a:latin typeface="Noto Sans SC"/>
                <a:ea typeface="Noto Sans SC"/>
                <a:cs typeface="Noto Sans SC"/>
                <a:sym typeface="Noto Sans SC"/>
              </a:rPr>
              <a:t>拓展至200+商户</a:t>
            </a:r>
            <a:r>
              <a:rPr lang="en-US" b="false" i="false" strike="noStrike" u="none" sz="1600">
                <a:solidFill>
                  <a:srgbClr val="E6E6E6"/>
                </a:solidFill>
                <a:latin typeface="Noto Sans SC"/>
                <a:ea typeface="Noto Sans SC"/>
                <a:cs typeface="Noto Sans SC"/>
                <a:sym typeface="Noto Sans SC"/>
              </a:rPr>
              <a:t/>
            </a:r>
            <a:br>
              <a:rPr lang="en-US" b="false" i="false" strike="noStrike" u="none" sz="1600">
                <a:solidFill>
                  <a:srgbClr val="E6E6E6"/>
                </a:solidFill>
                <a:latin typeface="Noto Sans SC"/>
                <a:ea typeface="Noto Sans SC"/>
                <a:cs typeface="Noto Sans SC"/>
                <a:sym typeface="Noto Sans SC"/>
              </a:rPr>
            </a:br>
            <a:r>
              <a:rPr lang="en-US" b="false" i="false" strike="noStrike" u="none" sz="1600">
                <a:solidFill>
                  <a:srgbClr val="E6E6E6"/>
                </a:solidFill>
                <a:latin typeface="Noto Sans SC"/>
                <a:ea typeface="Noto Sans SC"/>
                <a:cs typeface="Noto Sans SC"/>
                <a:sym typeface="Noto Sans SC"/>
              </a:rPr>
              <a:t>实现区域覆盖</a:t>
            </a:r>
            <a:r>
              <a:rPr lang="en-US" b="false" i="false" strike="noStrike" u="none" sz="1600">
                <a:solidFill>
                  <a:srgbClr val="E6E6E6"/>
                </a:solidFill>
                <a:latin typeface="Noto Sans SC"/>
                <a:ea typeface="Noto Sans SC"/>
                <a:cs typeface="Noto Sans SC"/>
                <a:sym typeface="Noto Sans SC"/>
              </a:rPr>
              <a:t/>
            </a:r>
            <a:br>
              <a:rPr lang="en-US" b="false" i="false" strike="noStrike" u="none" sz="1600">
                <a:solidFill>
                  <a:srgbClr val="E6E6E6"/>
                </a:solidFill>
                <a:latin typeface="Noto Sans SC"/>
                <a:ea typeface="Noto Sans SC"/>
                <a:cs typeface="Noto Sans SC"/>
                <a:sym typeface="Noto Sans SC"/>
              </a:rPr>
            </a:br>
            <a:r>
              <a:rPr lang="en-US" b="false" i="false" strike="noStrike" u="none" sz="1600">
                <a:solidFill>
                  <a:srgbClr val="E6E6E6"/>
                </a:solidFill>
                <a:latin typeface="Noto Sans SC"/>
                <a:ea typeface="Noto Sans SC"/>
                <a:cs typeface="Noto Sans SC"/>
                <a:sym typeface="Noto Sans SC"/>
              </a:rPr>
              <a:t>月GMV达500万</a:t>
            </a:r>
            <a:endParaRPr lang="en-US" sz="1100"/>
          </a:p>
        </p:txBody>
      </p:sp>
      <p:sp>
        <p:nvSpPr>
          <p:cNvPr name="AutoShape 17" id="17"/>
          <p:cNvSpPr/>
          <p:nvPr/>
        </p:nvSpPr>
        <p:spPr>
          <a:xfrm rot="0" flipH="false" flipV="false">
            <a:off x="8890000" y="1778000"/>
            <a:ext cx="2540000" cy="3048000"/>
          </a:xfrm>
          <a:prstGeom prst="roundRect">
            <a:avLst>
              <a:gd name="adj" fmla="val 5000"/>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956800" y="2032000"/>
            <a:ext cx="406400" cy="406400"/>
          </a:xfrm>
          <a:prstGeom prst="rect">
            <a:avLst/>
          </a:prstGeom>
        </p:spPr>
      </p:pic>
      <p:sp>
        <p:nvSpPr>
          <p:cNvPr name="AutoShape 19" id="19"/>
          <p:cNvSpPr/>
          <p:nvPr/>
        </p:nvSpPr>
        <p:spPr>
          <a:xfrm rot="0" flipH="false" flipV="false">
            <a:off x="9017000" y="2540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9B5DE5"/>
                </a:solidFill>
                <a:latin typeface="Noto Sans SC"/>
                <a:ea typeface="Noto Sans SC"/>
                <a:cs typeface="Noto Sans SC"/>
                <a:sym typeface="Noto Sans SC"/>
              </a:rPr>
              <a:t>生态开放</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FFFFFF">
                    <a:alpha val="60000"/>
                  </a:srgbClr>
                </a:solidFill>
                <a:latin typeface="Poppins"/>
                <a:ea typeface="Poppins"/>
                <a:cs typeface="Poppins"/>
                <a:sym typeface="Poppins"/>
              </a:rPr>
              <a:t>M13 - M18</a:t>
            </a:r>
          </a:p>
        </p:txBody>
      </p:sp>
      <p:sp>
        <p:nvSpPr>
          <p:cNvPr name="AutoShape 20" id="20"/>
          <p:cNvSpPr/>
          <p:nvPr/>
        </p:nvSpPr>
        <p:spPr>
          <a:xfrm rot="0" flipH="false" flipV="false">
            <a:off x="9017000" y="3302000"/>
            <a:ext cx="2286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600">
                <a:solidFill>
                  <a:srgbClr val="E6E6E6"/>
                </a:solidFill>
                <a:latin typeface="Noto Sans SC"/>
                <a:ea typeface="Noto Sans SC"/>
                <a:cs typeface="Noto Sans SC"/>
                <a:sym typeface="Noto Sans SC"/>
              </a:rPr>
              <a:t>开放SKILL市场</a:t>
            </a:r>
            <a:r>
              <a:rPr lang="en-US" b="false" i="false" strike="noStrike" u="none" sz="1600">
                <a:solidFill>
                  <a:srgbClr val="E6E6E6"/>
                </a:solidFill>
                <a:latin typeface="Noto Sans SC"/>
                <a:ea typeface="Noto Sans SC"/>
                <a:cs typeface="Noto Sans SC"/>
                <a:sym typeface="Noto Sans SC"/>
              </a:rPr>
              <a:t/>
            </a:r>
            <a:br>
              <a:rPr lang="en-US" b="false" i="false" strike="noStrike" u="none" sz="1600">
                <a:solidFill>
                  <a:srgbClr val="E6E6E6"/>
                </a:solidFill>
                <a:latin typeface="Noto Sans SC"/>
                <a:ea typeface="Noto Sans SC"/>
                <a:cs typeface="Noto Sans SC"/>
                <a:sym typeface="Noto Sans SC"/>
              </a:rPr>
            </a:br>
            <a:r>
              <a:rPr lang="en-US" b="false" i="false" strike="noStrike" u="none" sz="1600">
                <a:solidFill>
                  <a:srgbClr val="E6E6E6"/>
                </a:solidFill>
                <a:latin typeface="Noto Sans SC"/>
                <a:ea typeface="Noto Sans SC"/>
                <a:cs typeface="Noto Sans SC"/>
                <a:sym typeface="Noto Sans SC"/>
              </a:rPr>
              <a:t>商户500+入驻</a:t>
            </a:r>
            <a:r>
              <a:rPr lang="en-US" b="false" i="false" strike="noStrike" u="none" sz="1600">
                <a:solidFill>
                  <a:srgbClr val="E6E6E6"/>
                </a:solidFill>
                <a:latin typeface="Noto Sans SC"/>
                <a:ea typeface="Noto Sans SC"/>
                <a:cs typeface="Noto Sans SC"/>
                <a:sym typeface="Noto Sans SC"/>
              </a:rPr>
              <a:t/>
            </a:r>
            <a:br>
              <a:rPr lang="en-US" b="false" i="false" strike="noStrike" u="none" sz="1600">
                <a:solidFill>
                  <a:srgbClr val="E6E6E6"/>
                </a:solidFill>
                <a:latin typeface="Noto Sans SC"/>
                <a:ea typeface="Noto Sans SC"/>
                <a:cs typeface="Noto Sans SC"/>
                <a:sym typeface="Noto Sans SC"/>
              </a:rPr>
            </a:br>
            <a:r>
              <a:rPr lang="en-US" b="false" i="false" strike="noStrike" u="none" sz="1600">
                <a:solidFill>
                  <a:srgbClr val="E6E6E6"/>
                </a:solidFill>
                <a:latin typeface="Noto Sans SC"/>
                <a:ea typeface="Noto Sans SC"/>
                <a:cs typeface="Noto Sans SC"/>
                <a:sym typeface="Noto Sans SC"/>
              </a:rPr>
              <a:t>启动A轮融资</a:t>
            </a:r>
            <a:endParaRPr lang="en-US" sz="1100"/>
          </a:p>
        </p:txBody>
      </p:sp>
      <p:sp>
        <p:nvSpPr>
          <p:cNvPr name="AutoShape 21" id="21"/>
          <p:cNvSpPr/>
          <p:nvPr/>
        </p:nvSpPr>
        <p:spPr>
          <a:xfrm rot="0" flipH="false" flipV="false">
            <a:off x="635000" y="5334000"/>
            <a:ext cx="10922000" cy="25400"/>
          </a:xfrm>
          <a:prstGeom prst="roundRect">
            <a:avLst>
              <a:gd name="adj" fmla="val 0"/>
            </a:avLst>
          </a:prstGeom>
          <a:gradFill rotWithShape="true">
            <a:gsLst>
              <a:gs pos="0">
                <a:srgbClr val="41EAD4">
                  <a:alpha val="0"/>
                </a:srgbClr>
              </a:gs>
              <a:gs pos="50000">
                <a:srgbClr val="41EAD4">
                  <a:alpha val="100000"/>
                </a:srgbClr>
              </a:gs>
              <a:gs pos="100000">
                <a:srgbClr val="41EAD4">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35000" y="5588000"/>
            <a:ext cx="1092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从单点突破到生态构建，每一步都以数据增长为核心驱动</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254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4419600" y="1270000"/>
            <a:ext cx="3352800" cy="1778000"/>
          </a:xfrm>
          <a:prstGeom prst="rect">
            <a:avLst/>
          </a:prstGeom>
          <a:noFill/>
          <a:ln w="12700" cmpd="sng" cap="flat">
            <a:noFill/>
            <a:prstDash val="solid"/>
            <a:round/>
          </a:ln>
          <a:effectLst>
            <a:outerShdw dir="2700000" dist="0" blurRad="254000" algn="tl" rotWithShape="false">
              <a:srgbClr val="41EAD4">
                <a:alpha val="50000"/>
              </a:srgbClr>
            </a:outerShdw>
          </a:effectLst>
        </p:spPr>
        <p:txBody>
          <a:bodyPr anchor="ctr" rtlCol="false" anchorCtr="false" vert="horz" wrap="none" lIns="0" rIns="0" tIns="0" bIns="0"/>
          <a:lstStyle/>
          <a:p>
            <a:pPr algn="ctr" indent="0">
              <a:lnSpc>
                <a:spcPct val="125000"/>
              </a:lnSpc>
              <a:defRPr/>
            </a:pPr>
            <a:r>
              <a:rPr lang="en-US" b="true" i="false" strike="noStrike" u="none" sz="12000">
                <a:solidFill>
                  <a:srgbClr val="41EAD4"/>
                </a:solidFill>
                <a:latin typeface="DIN Alternate"/>
                <a:ea typeface="DIN Alternate"/>
                <a:cs typeface="DIN Alternate"/>
                <a:sym typeface="DIN Alternate"/>
              </a:rPr>
              <a:t>06</a:t>
            </a:r>
            <a:endParaRPr lang="en-US" sz="1100"/>
          </a:p>
        </p:txBody>
      </p:sp>
      <p:cxnSp>
        <p:nvCxnSpPr>
          <p:cNvPr name="Connector 6" id="6"/>
          <p:cNvCxnSpPr/>
          <p:nvPr/>
        </p:nvCxnSpPr>
        <p:spPr>
          <a:xfrm rot="-34376" flipH="false" flipV="false">
            <a:off x="5461032" y="3168650"/>
            <a:ext cx="1270000" cy="12700"/>
          </a:xfrm>
          <a:prstGeom prst="line">
            <a:avLst/>
          </a:prstGeom>
          <a:solidFill>
            <a:srgbClr val="DEE0E3">
              <a:alpha val="100000"/>
            </a:srgbClr>
          </a:solidFill>
          <a:ln w="25400" cmpd="sng" cap="flat">
            <a:solidFill>
              <a:srgbClr val="9B5DE5">
                <a:alpha val="100000"/>
              </a:srgbClr>
            </a:solidFill>
            <a:prstDash val="solid"/>
            <a:round/>
            <a:headEnd type="none" w="lg" len="lg"/>
            <a:tailEnd type="none" w="lg" len="lg"/>
          </a:ln>
        </p:spPr>
      </p:cxnSp>
      <p:sp>
        <p:nvSpPr>
          <p:cNvPr name="AutoShape 7" id="7"/>
          <p:cNvSpPr/>
          <p:nvPr/>
        </p:nvSpPr>
        <p:spPr>
          <a:xfrm rot="0" flipH="false" flipV="false">
            <a:off x="1016000" y="3429000"/>
            <a:ext cx="10160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融资计划与团队</a:t>
            </a:r>
            <a:endParaRPr lang="en-US" sz="1100"/>
          </a:p>
        </p:txBody>
      </p:sp>
      <p:sp>
        <p:nvSpPr>
          <p:cNvPr name="AutoShape 8" id="8"/>
          <p:cNvSpPr/>
          <p:nvPr/>
        </p:nvSpPr>
        <p:spPr>
          <a:xfrm rot="0" flipH="false" flipV="false">
            <a:off x="1016000" y="4191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spc="200">
                <a:solidFill>
                  <a:srgbClr val="9B5DE5"/>
                </a:solidFill>
                <a:latin typeface="Noto Sans SC"/>
                <a:ea typeface="Noto Sans SC"/>
                <a:cs typeface="Noto Sans SC"/>
                <a:sym typeface="Noto Sans SC"/>
              </a:rPr>
              <a:t>种子轮方案与核心团队</a:t>
            </a:r>
            <a:endParaRPr lang="en-US" sz="1100"/>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5080000"/>
            <a:ext cx="406400" cy="406400"/>
          </a:xfrm>
          <a:prstGeom prst="rect">
            <a:avLst/>
          </a:prstGeom>
        </p:spPr>
      </p:pic>
      <p:sp>
        <p:nvSpPr>
          <p:cNvPr name="AutoShape 10" id="10"/>
          <p:cNvSpPr/>
          <p:nvPr/>
        </p:nvSpPr>
        <p:spPr>
          <a:xfrm rot="0" flipH="false" flipV="false">
            <a:off x="0" y="6223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200">
                <a:solidFill>
                  <a:srgbClr val="FFFFFF">
                    <a:alpha val="40000"/>
                  </a:srgbClr>
                </a:solidFill>
                <a:latin typeface="DIN Alternate"/>
                <a:ea typeface="DIN Alternate"/>
                <a:cs typeface="DIN Alternate"/>
                <a:sym typeface="DIN Alternate"/>
              </a:rPr>
              <a:t>2026 STRATEGIC PLAN</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032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融资计划</a:t>
            </a:r>
            <a:endParaRPr lang="en-US" sz="1100"/>
          </a:p>
        </p:txBody>
      </p:sp>
      <p:sp>
        <p:nvSpPr>
          <p:cNvPr name="AutoShape 5" id="5"/>
          <p:cNvSpPr/>
          <p:nvPr/>
        </p:nvSpPr>
        <p:spPr>
          <a:xfrm rot="0" flipH="false" flipV="false">
            <a:off x="762000" y="1524000"/>
            <a:ext cx="5080000" cy="3556000"/>
          </a:xfrm>
          <a:prstGeom prst="roundRect">
            <a:avLst>
              <a:gd name="adj" fmla="val 3571"/>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41EAD4"/>
                </a:solidFill>
                <a:latin typeface="Noto Sans SC"/>
                <a:ea typeface="Noto Sans SC"/>
                <a:cs typeface="Noto Sans SC"/>
                <a:sym typeface="Noto Sans SC"/>
              </a:rPr>
              <a:t>种子轮方案详情</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413000"/>
            <a:ext cx="304800" cy="304800"/>
          </a:xfrm>
          <a:prstGeom prst="rect">
            <a:avLst/>
          </a:prstGeom>
        </p:spPr>
      </p:pic>
      <p:sp>
        <p:nvSpPr>
          <p:cNvPr name="AutoShape 8" id="8"/>
          <p:cNvSpPr/>
          <p:nvPr/>
        </p:nvSpPr>
        <p:spPr>
          <a:xfrm rot="0" flipH="false" flipV="false">
            <a:off x="1460500" y="23622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90196"/>
                  </a:srgbClr>
                </a:solidFill>
                <a:latin typeface="Noto Sans SC"/>
                <a:ea typeface="Noto Sans SC"/>
                <a:cs typeface="Noto Sans SC"/>
                <a:sym typeface="Noto Sans SC"/>
              </a:rPr>
              <a:t>融资规模：</a:t>
            </a:r>
            <a:r>
              <a:rPr lang="en-US" b="true" i="false" strike="noStrike" u="none" sz="2000">
                <a:solidFill>
                  <a:srgbClr val="FFFFFF"/>
                </a:solidFill>
                <a:latin typeface="Noto Sans SC"/>
                <a:ea typeface="Noto Sans SC"/>
                <a:cs typeface="Noto Sans SC"/>
                <a:sym typeface="Noto Sans SC"/>
              </a:rPr>
              <a:t>500-800万 RMB</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048000"/>
            <a:ext cx="304800" cy="304800"/>
          </a:xfrm>
          <a:prstGeom prst="rect">
            <a:avLst/>
          </a:prstGeom>
        </p:spPr>
      </p:pic>
      <p:sp>
        <p:nvSpPr>
          <p:cNvPr name="AutoShape 10" id="10"/>
          <p:cNvSpPr/>
          <p:nvPr/>
        </p:nvSpPr>
        <p:spPr>
          <a:xfrm rot="0" flipH="false" flipV="false">
            <a:off x="1460500" y="29972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90196"/>
                  </a:srgbClr>
                </a:solidFill>
                <a:latin typeface="Noto Sans SC"/>
                <a:ea typeface="Noto Sans SC"/>
                <a:cs typeface="Noto Sans SC"/>
                <a:sym typeface="Noto Sans SC"/>
              </a:rPr>
              <a:t>股份出让：</a:t>
            </a:r>
            <a:r>
              <a:rPr lang="en-US" b="true" i="false" strike="noStrike" u="none" sz="2000">
                <a:solidFill>
                  <a:srgbClr val="FFFFFF"/>
                </a:solidFill>
                <a:latin typeface="Noto Sans SC"/>
                <a:ea typeface="Noto Sans SC"/>
                <a:cs typeface="Noto Sans SC"/>
                <a:sym typeface="Noto Sans SC"/>
              </a:rPr>
              <a:t>15-20%</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683000"/>
            <a:ext cx="304800" cy="304800"/>
          </a:xfrm>
          <a:prstGeom prst="rect">
            <a:avLst/>
          </a:prstGeom>
        </p:spPr>
      </p:pic>
      <p:sp>
        <p:nvSpPr>
          <p:cNvPr name="AutoShape 12" id="12"/>
          <p:cNvSpPr/>
          <p:nvPr/>
        </p:nvSpPr>
        <p:spPr>
          <a:xfrm rot="0" flipH="false" flipV="false">
            <a:off x="1460500" y="36322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90196"/>
                  </a:srgbClr>
                </a:solidFill>
                <a:latin typeface="Noto Sans SC"/>
                <a:ea typeface="Noto Sans SC"/>
                <a:cs typeface="Noto Sans SC"/>
                <a:sym typeface="Noto Sans SC"/>
              </a:rPr>
              <a:t>投后估值：</a:t>
            </a:r>
            <a:r>
              <a:rPr lang="en-US" b="true" i="false" strike="noStrike" u="none" sz="2000">
                <a:solidFill>
                  <a:srgbClr val="FFFFFF"/>
                </a:solidFill>
                <a:latin typeface="Noto Sans SC"/>
                <a:ea typeface="Noto Sans SC"/>
                <a:cs typeface="Noto Sans SC"/>
                <a:sym typeface="Noto Sans SC"/>
              </a:rPr>
              <a:t>3000-5000万 RMB</a:t>
            </a:r>
            <a:endParaRPr lang="en-US" sz="1100"/>
          </a:p>
        </p:txBody>
      </p:sp>
      <p:sp>
        <p:nvSpPr>
          <p:cNvPr name="AutoShape 13" id="13"/>
          <p:cNvSpPr/>
          <p:nvPr/>
        </p:nvSpPr>
        <p:spPr>
          <a:xfrm rot="0" flipH="false" flipV="false">
            <a:off x="6350000" y="1524000"/>
            <a:ext cx="5080000" cy="3556000"/>
          </a:xfrm>
          <a:prstGeom prst="roundRect">
            <a:avLst>
              <a:gd name="adj" fmla="val 3571"/>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604000" y="17780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9B5DE5"/>
                </a:solidFill>
                <a:latin typeface="Noto Sans SC"/>
                <a:ea typeface="Noto Sans SC"/>
                <a:cs typeface="Noto Sans SC"/>
                <a:sym typeface="Noto Sans SC"/>
              </a:rPr>
              <a:t>资金分配规划</a:t>
            </a:r>
            <a:endParaRPr lang="en-US" sz="1100"/>
          </a:p>
        </p:txBody>
      </p:sp>
      <p:pic>
        <p:nvPicPr>
          <p:cNvPr name="Picture 15" id="15"/>
          <p:cNvPicPr>
            <a:picLocks noChangeAspect="true"/>
          </p:cNvPicPr>
          <p:nvPr/>
        </p:nvPicPr>
        <p:blipFill>
          <a:blip r:embed="rId9"/>
          <a:stretch>
            <a:fillRect/>
          </a:stretch>
        </p:blipFill>
        <p:spPr>
          <a:xfrm rot="0" flipH="false" flipV="false">
            <a:off x="6477000" y="2159000"/>
            <a:ext cx="4826000" cy="2667000"/>
          </a:xfrm>
          <a:prstGeom prst="rect">
            <a:avLst/>
          </a:prstGeom>
        </p:spPr>
      </p:pic>
      <p:sp>
        <p:nvSpPr>
          <p:cNvPr name="AutoShape 16" id="16"/>
          <p:cNvSpPr/>
          <p:nvPr/>
        </p:nvSpPr>
        <p:spPr>
          <a:xfrm rot="0" flipH="false" flipV="false">
            <a:off x="762000" y="5461000"/>
            <a:ext cx="10668000" cy="25400"/>
          </a:xfrm>
          <a:prstGeom prst="roundRect">
            <a:avLst>
              <a:gd name="adj" fmla="val 0"/>
            </a:avLst>
          </a:prstGeom>
          <a:gradFill rotWithShape="true">
            <a:gsLst>
              <a:gs pos="0">
                <a:srgbClr val="41EAD4">
                  <a:alpha val="0"/>
                </a:srgbClr>
              </a:gs>
              <a:gs pos="50000">
                <a:srgbClr val="41EAD4">
                  <a:alpha val="50000"/>
                </a:srgbClr>
              </a:gs>
              <a:gs pos="100000">
                <a:srgbClr val="9B5DE5">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5715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本轮融资将重点投入核心技术壁垒构建与数据资产沉淀，同时兼顾市场快速扩张，为项目爆发式增长奠定坚实基础。</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032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核心团队</a:t>
            </a:r>
            <a:endParaRPr lang="en-US" sz="1100"/>
          </a:p>
        </p:txBody>
      </p:sp>
      <p:sp>
        <p:nvSpPr>
          <p:cNvPr name="AutoShape 5" id="5"/>
          <p:cNvSpPr/>
          <p:nvPr/>
        </p:nvSpPr>
        <p:spPr>
          <a:xfrm rot="0" flipH="false" flipV="false">
            <a:off x="762000" y="1651000"/>
            <a:ext cx="3302000" cy="3556000"/>
          </a:xfrm>
          <a:prstGeom prst="roundRect">
            <a:avLst>
              <a:gd name="adj" fmla="val 384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108200" y="1905000"/>
            <a:ext cx="609600" cy="609600"/>
          </a:xfrm>
          <a:prstGeom prst="rect">
            <a:avLst/>
          </a:prstGeom>
        </p:spPr>
      </p:pic>
      <p:sp>
        <p:nvSpPr>
          <p:cNvPr name="AutoShape 7" id="7"/>
          <p:cNvSpPr/>
          <p:nvPr/>
        </p:nvSpPr>
        <p:spPr>
          <a:xfrm rot="0" flipH="false" flipV="false">
            <a:off x="889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FFFFFF"/>
                </a:solidFill>
                <a:latin typeface="Noto Sans SC"/>
                <a:ea typeface="Noto Sans SC"/>
                <a:cs typeface="Noto Sans SC"/>
                <a:sym typeface="Noto Sans SC"/>
              </a:rPr>
              <a:t>张实</a:t>
            </a:r>
            <a:endParaRPr lang="en-US" sz="1100"/>
          </a:p>
        </p:txBody>
      </p:sp>
      <p:sp>
        <p:nvSpPr>
          <p:cNvPr name="AutoShape 8" id="8"/>
          <p:cNvSpPr/>
          <p:nvPr/>
        </p:nvSpPr>
        <p:spPr>
          <a:xfrm rot="0" flipH="false" flipV="false">
            <a:off x="889000" y="3048000"/>
            <a:ext cx="3048000" cy="317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41EAD4"/>
                </a:solidFill>
                <a:latin typeface="Noto Sans SC"/>
                <a:ea typeface="Noto Sans SC"/>
                <a:cs typeface="Noto Sans SC"/>
                <a:sym typeface="Noto Sans SC"/>
              </a:rPr>
              <a:t>项目总控 / 创始人</a:t>
            </a:r>
            <a:endParaRPr lang="en-US" sz="1100"/>
          </a:p>
        </p:txBody>
      </p:sp>
      <p:sp>
        <p:nvSpPr>
          <p:cNvPr name="AutoShape 9" id="9"/>
          <p:cNvSpPr/>
          <p:nvPr/>
        </p:nvSpPr>
        <p:spPr>
          <a:xfrm rot="0" flipH="false" flipV="false">
            <a:off x="1016000" y="3492500"/>
            <a:ext cx="2794000" cy="1270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FFFFFF">
                    <a:alpha val="80000"/>
                  </a:srgbClr>
                </a:solidFill>
                <a:latin typeface="Noto Sans SC"/>
                <a:ea typeface="Noto Sans SC"/>
                <a:cs typeface="Noto Sans SC"/>
                <a:sym typeface="Noto Sans SC"/>
              </a:rPr>
              <a:t>24年酒店业经验，多家知名酒店集团高管，负责产业洞察与资源整合。</a:t>
            </a:r>
            <a:endParaRPr lang="en-US" sz="1100"/>
          </a:p>
        </p:txBody>
      </p:sp>
      <p:sp>
        <p:nvSpPr>
          <p:cNvPr name="AutoShape 10" id="10"/>
          <p:cNvSpPr/>
          <p:nvPr/>
        </p:nvSpPr>
        <p:spPr>
          <a:xfrm rot="0" flipH="false" flipV="false">
            <a:off x="4445000" y="1651000"/>
            <a:ext cx="3302000" cy="3556000"/>
          </a:xfrm>
          <a:prstGeom prst="roundRect">
            <a:avLst>
              <a:gd name="adj" fmla="val 3846"/>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791200" y="1905000"/>
            <a:ext cx="609600" cy="609600"/>
          </a:xfrm>
          <a:prstGeom prst="rect">
            <a:avLst/>
          </a:prstGeom>
        </p:spPr>
      </p:pic>
      <p:sp>
        <p:nvSpPr>
          <p:cNvPr name="AutoShape 12" id="12"/>
          <p:cNvSpPr/>
          <p:nvPr/>
        </p:nvSpPr>
        <p:spPr>
          <a:xfrm rot="0" flipH="false" flipV="false">
            <a:off x="4572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FFFFFF"/>
                </a:solidFill>
                <a:latin typeface="Noto Sans SC"/>
                <a:ea typeface="Noto Sans SC"/>
                <a:cs typeface="Noto Sans SC"/>
                <a:sym typeface="Noto Sans SC"/>
              </a:rPr>
              <a:t>李源</a:t>
            </a:r>
            <a:endParaRPr lang="en-US" sz="1100"/>
          </a:p>
        </p:txBody>
      </p:sp>
      <p:sp>
        <p:nvSpPr>
          <p:cNvPr name="AutoShape 13" id="13"/>
          <p:cNvSpPr/>
          <p:nvPr/>
        </p:nvSpPr>
        <p:spPr>
          <a:xfrm rot="0" flipH="false" flipV="false">
            <a:off x="4572000" y="3048000"/>
            <a:ext cx="3048000" cy="317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9B5DE5"/>
                </a:solidFill>
                <a:latin typeface="Noto Sans SC"/>
                <a:ea typeface="Noto Sans SC"/>
                <a:cs typeface="Noto Sans SC"/>
                <a:sym typeface="Noto Sans SC"/>
              </a:rPr>
              <a:t>CTO / 技术总监</a:t>
            </a:r>
            <a:endParaRPr lang="en-US" sz="1100"/>
          </a:p>
        </p:txBody>
      </p:sp>
      <p:sp>
        <p:nvSpPr>
          <p:cNvPr name="AutoShape 14" id="14"/>
          <p:cNvSpPr/>
          <p:nvPr/>
        </p:nvSpPr>
        <p:spPr>
          <a:xfrm rot="0" flipH="false" flipV="false">
            <a:off x="4699000" y="3492500"/>
            <a:ext cx="2794000" cy="1270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FFFFFF">
                    <a:alpha val="80000"/>
                  </a:srgbClr>
                </a:solidFill>
                <a:latin typeface="Noto Sans SC"/>
                <a:ea typeface="Noto Sans SC"/>
                <a:cs typeface="Noto Sans SC"/>
                <a:sym typeface="Noto Sans SC"/>
              </a:rPr>
              <a:t>华中科技大学AI博士，10年+AI研发经验，负责技术架构与算法攻坚。</a:t>
            </a:r>
            <a:endParaRPr lang="en-US" sz="1100"/>
          </a:p>
        </p:txBody>
      </p:sp>
      <p:sp>
        <p:nvSpPr>
          <p:cNvPr name="AutoShape 15" id="15"/>
          <p:cNvSpPr/>
          <p:nvPr/>
        </p:nvSpPr>
        <p:spPr>
          <a:xfrm rot="0" flipH="false" flipV="false">
            <a:off x="8128000" y="1651000"/>
            <a:ext cx="3302000" cy="3556000"/>
          </a:xfrm>
          <a:prstGeom prst="roundRect">
            <a:avLst>
              <a:gd name="adj" fmla="val 384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474200" y="1905000"/>
            <a:ext cx="609600" cy="609600"/>
          </a:xfrm>
          <a:prstGeom prst="rect">
            <a:avLst/>
          </a:prstGeom>
        </p:spPr>
      </p:pic>
      <p:sp>
        <p:nvSpPr>
          <p:cNvPr name="AutoShape 17" id="17"/>
          <p:cNvSpPr/>
          <p:nvPr/>
        </p:nvSpPr>
        <p:spPr>
          <a:xfrm rot="0" flipH="false" flipV="false">
            <a:off x="8255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FFFFFF"/>
                </a:solidFill>
                <a:latin typeface="Noto Sans SC"/>
                <a:ea typeface="Noto Sans SC"/>
                <a:cs typeface="Noto Sans SC"/>
                <a:sym typeface="Noto Sans SC"/>
              </a:rPr>
              <a:t>陈思序</a:t>
            </a:r>
            <a:endParaRPr lang="en-US" sz="1100"/>
          </a:p>
        </p:txBody>
      </p:sp>
      <p:sp>
        <p:nvSpPr>
          <p:cNvPr name="AutoShape 18" id="18"/>
          <p:cNvSpPr/>
          <p:nvPr/>
        </p:nvSpPr>
        <p:spPr>
          <a:xfrm rot="0" flipH="false" flipV="false">
            <a:off x="8255000" y="3048000"/>
            <a:ext cx="3048000" cy="317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41EAD4"/>
                </a:solidFill>
                <a:latin typeface="Noto Sans SC"/>
                <a:ea typeface="Noto Sans SC"/>
                <a:cs typeface="Noto Sans SC"/>
                <a:sym typeface="Noto Sans SC"/>
              </a:rPr>
              <a:t>CSO / 首席战略官</a:t>
            </a:r>
            <a:endParaRPr lang="en-US" sz="1100"/>
          </a:p>
        </p:txBody>
      </p:sp>
      <p:sp>
        <p:nvSpPr>
          <p:cNvPr name="AutoShape 19" id="19"/>
          <p:cNvSpPr/>
          <p:nvPr/>
        </p:nvSpPr>
        <p:spPr>
          <a:xfrm rot="0" flipH="false" flipV="false">
            <a:off x="8382000" y="3492500"/>
            <a:ext cx="2794000" cy="1270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FFFFFF">
                    <a:alpha val="80000"/>
                  </a:srgbClr>
                </a:solidFill>
                <a:latin typeface="Noto Sans SC"/>
                <a:ea typeface="Noto Sans SC"/>
                <a:cs typeface="Noto Sans SC"/>
                <a:sym typeface="Noto Sans SC"/>
              </a:rPr>
              <a:t>世界500强战略高管，PE/VC背景，负责战略规划与生态建设。</a:t>
            </a:r>
            <a:endParaRPr lang="en-US" sz="1100"/>
          </a:p>
        </p:txBody>
      </p:sp>
      <p:sp>
        <p:nvSpPr>
          <p:cNvPr name="AutoShape 20" id="20"/>
          <p:cNvSpPr/>
          <p:nvPr/>
        </p:nvSpPr>
        <p:spPr>
          <a:xfrm rot="0" flipH="false" flipV="false">
            <a:off x="762000" y="5588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90196"/>
                  </a:srgbClr>
                </a:solidFill>
                <a:latin typeface="Noto Sans SC"/>
                <a:ea typeface="Noto Sans SC"/>
                <a:cs typeface="Noto Sans SC"/>
                <a:sym typeface="Noto Sans SC"/>
              </a:rPr>
              <a:t>“产业+技术+资本”黄金三角组合，为项目成功提供坚实保障</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4419600" y="1016000"/>
            <a:ext cx="3352800" cy="177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12000">
                <a:solidFill>
                  <a:srgbClr val="41EAD4"/>
                </a:solidFill>
                <a:latin typeface="Noto Sans SC"/>
                <a:ea typeface="Noto Sans SC"/>
                <a:cs typeface="Noto Sans SC"/>
                <a:sym typeface="Noto Sans SC"/>
              </a:rPr>
              <a:t>07</a:t>
            </a:r>
            <a:endParaRPr lang="en-US" sz="1100"/>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080000" y="2921000"/>
            <a:ext cx="406400" cy="406400"/>
          </a:xfrm>
          <a:prstGeom prst="rect">
            <a:avLst/>
          </a:prstGeom>
        </p:spPr>
      </p:pic>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705600" y="2921000"/>
            <a:ext cx="406400" cy="406400"/>
          </a:xfrm>
          <a:prstGeom prst="rect">
            <a:avLst/>
          </a:prstGeom>
        </p:spPr>
      </p:pic>
      <p:sp>
        <p:nvSpPr>
          <p:cNvPr name="AutoShape 8" id="8"/>
          <p:cNvSpPr/>
          <p:nvPr/>
        </p:nvSpPr>
        <p:spPr>
          <a:xfrm rot="0" flipH="false" flipV="false">
            <a:off x="1016000" y="3429000"/>
            <a:ext cx="10160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FFFFFF"/>
                </a:solidFill>
                <a:latin typeface="Noto Sans SC"/>
                <a:ea typeface="Noto Sans SC"/>
                <a:cs typeface="Noto Sans SC"/>
                <a:sym typeface="Noto Sans SC"/>
              </a:rPr>
              <a:t>成果与风险</a:t>
            </a:r>
            <a:endParaRPr lang="en-US" sz="1100"/>
          </a:p>
        </p:txBody>
      </p:sp>
      <p:sp>
        <p:nvSpPr>
          <p:cNvPr name="AutoShape 9" id="9"/>
          <p:cNvSpPr/>
          <p:nvPr/>
        </p:nvSpPr>
        <p:spPr>
          <a:xfrm rot="0" flipH="false" flipV="false">
            <a:off x="5715000" y="4254500"/>
            <a:ext cx="762000" cy="25400"/>
          </a:xfrm>
          <a:prstGeom prst="roundRect">
            <a:avLst>
              <a:gd name="adj" fmla="val 0"/>
            </a:avLst>
          </a:prstGeom>
          <a:solidFill>
            <a:srgbClr val="41EAD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16000" y="4445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spc="200">
                <a:solidFill>
                  <a:srgbClr val="9B5DE5"/>
                </a:solidFill>
                <a:latin typeface="Noto Sans SC"/>
                <a:ea typeface="Noto Sans SC"/>
                <a:cs typeface="Noto Sans SC"/>
                <a:sym typeface="Noto Sans SC"/>
              </a:rPr>
              <a:t>已取得成果与风险对策</a:t>
            </a:r>
            <a:endParaRPr lang="en-US" sz="1100"/>
          </a:p>
        </p:txBody>
      </p:sp>
      <p:sp>
        <p:nvSpPr>
          <p:cNvPr name="AutoShape 11" id="11"/>
          <p:cNvSpPr/>
          <p:nvPr/>
        </p:nvSpPr>
        <p:spPr>
          <a:xfrm rot="0" flipH="false" flipV="false">
            <a:off x="0" y="6832600"/>
            <a:ext cx="12192000" cy="25400"/>
          </a:xfrm>
          <a:prstGeom prst="roundRect">
            <a:avLst>
              <a:gd name="adj" fmla="val 0"/>
            </a:avLst>
          </a:prstGeom>
          <a:solidFill>
            <a:srgbClr val="41EAD4">
              <a:alpha val="3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50292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已取得成果与风险对策</a:t>
            </a:r>
            <a:endParaRPr lang="en-US" sz="1100"/>
          </a:p>
        </p:txBody>
      </p:sp>
      <p:sp>
        <p:nvSpPr>
          <p:cNvPr name="AutoShape 5" id="5"/>
          <p:cNvSpPr/>
          <p:nvPr/>
        </p:nvSpPr>
        <p:spPr>
          <a:xfrm rot="0" flipH="false" flipV="false">
            <a:off x="762000" y="1397000"/>
            <a:ext cx="5080000" cy="3810000"/>
          </a:xfrm>
          <a:prstGeom prst="roundRect">
            <a:avLst>
              <a:gd name="adj" fmla="val 3333"/>
            </a:avLst>
          </a:prstGeom>
          <a:solidFill>
            <a:srgbClr val="FFFFFF">
              <a:alpha val="5000"/>
            </a:srgbClr>
          </a:solidFill>
          <a:ln w="25400" cmpd="sng" cap="flat">
            <a:solidFill>
              <a:srgbClr val="41EAD4">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587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41EAD4"/>
                </a:solidFill>
                <a:latin typeface="Noto Sans SC"/>
                <a:ea typeface="Noto Sans SC"/>
                <a:cs typeface="Noto Sans SC"/>
                <a:sym typeface="Noto Sans SC"/>
              </a:rPr>
              <a:t>已取得成果</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95500"/>
            <a:ext cx="304800" cy="304800"/>
          </a:xfrm>
          <a:prstGeom prst="rect">
            <a:avLst/>
          </a:prstGeom>
        </p:spPr>
      </p:pic>
      <p:sp>
        <p:nvSpPr>
          <p:cNvPr name="AutoShape 8" id="8"/>
          <p:cNvSpPr/>
          <p:nvPr/>
        </p:nvSpPr>
        <p:spPr>
          <a:xfrm rot="0" flipH="false" flipV="false">
            <a:off x="1397000" y="2057400"/>
            <a:ext cx="4191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技术突破</a:t>
            </a:r>
            <a:endParaRPr lang="en-US" sz="1100"/>
          </a:p>
        </p:txBody>
      </p:sp>
      <p:sp>
        <p:nvSpPr>
          <p:cNvPr name="AutoShape 9" id="9"/>
          <p:cNvSpPr/>
          <p:nvPr/>
        </p:nvSpPr>
        <p:spPr>
          <a:xfrm rot="0" flipH="false" flipV="false">
            <a:off x="1016000" y="2438400"/>
            <a:ext cx="4318000" cy="1016000"/>
          </a:xfrm>
          <a:prstGeom prst="rect">
            <a:avLst/>
          </a:prstGeom>
          <a:noFill/>
          <a:ln w="12700" cmpd="sng" cap="flat">
            <a:noFill/>
            <a:prstDash val="solid"/>
            <a:round/>
          </a:ln>
        </p:spPr>
        <p:txBody>
          <a:bodyPr anchor="ctr" rtlCol="false" anchorCtr="false" vert="horz" wrap="square" lIns="0" rIns="0" tIns="0" bIns="0"/>
          <a:lstStyle/>
          <a:p>
            <a:pPr algn="l" indent="-203200" marL="203200">
              <a:lnSpc>
                <a:spcPct val="125000"/>
              </a:lnSpc>
              <a:buClr>
                <a:srgbClr val="FFFFFF"/>
              </a:buClr>
              <a:buChar char="•"/>
              <a:defRPr/>
            </a:pPr>
            <a:r>
              <a:rPr lang="en-US" b="false" i="false" strike="noStrike" u="none" sz="1600">
                <a:solidFill>
                  <a:srgbClr val="FFFFFF">
                    <a:alpha val="90196"/>
                  </a:srgbClr>
                </a:solidFill>
                <a:latin typeface="Noto Sans SC"/>
                <a:ea typeface="Noto Sans SC"/>
                <a:cs typeface="Noto Sans SC"/>
                <a:sym typeface="Noto Sans SC"/>
              </a:rPr>
              <a:t>完成 LLM 垂直领域微调，知识库沉淀 77 个文档</a:t>
            </a:r>
            <a:r>
              <a:rPr lang="en-US" b="false" i="false" strike="noStrike" u="none" sz="1600">
                <a:solidFill>
                  <a:srgbClr val="FFFFFF">
                    <a:alpha val="90196"/>
                  </a:srgbClr>
                </a:solidFill>
                <a:latin typeface="Noto Sans SC"/>
                <a:ea typeface="Noto Sans SC"/>
                <a:cs typeface="Noto Sans SC"/>
                <a:sym typeface="Noto Sans SC"/>
              </a:rPr>
              <a:t/>
            </a:r>
            <a:endParaRPr lang="en-US" sz="1100"/>
          </a:p>
          <a:p>
            <a:pPr algn="l" indent="-203200" marL="203200">
              <a:lnSpc>
                <a:spcPct val="125000"/>
              </a:lnSpc>
              <a:buClr>
                <a:srgbClr val="FFFFFF"/>
              </a:buClr>
              <a:buChar char="•"/>
            </a:pPr>
            <a:r>
              <a:rPr lang="en-US" b="false" i="false" strike="noStrike" u="none" sz="1600">
                <a:solidFill>
                  <a:srgbClr val="FFFFFF">
                    <a:alpha val="90196"/>
                  </a:srgbClr>
                </a:solidFill>
                <a:latin typeface="Noto Sans SC"/>
                <a:ea typeface="Noto Sans SC"/>
                <a:cs typeface="Noto Sans SC"/>
                <a:sym typeface="Noto Sans SC"/>
              </a:rPr>
              <a:t>构建 80+ SKILLs 技能架构，向量匹配引擎原型落地</a:t>
            </a: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29000"/>
            <a:ext cx="304800" cy="304800"/>
          </a:xfrm>
          <a:prstGeom prst="rect">
            <a:avLst/>
          </a:prstGeom>
        </p:spPr>
      </p:pic>
      <p:sp>
        <p:nvSpPr>
          <p:cNvPr name="AutoShape 11" id="11"/>
          <p:cNvSpPr/>
          <p:nvPr/>
        </p:nvSpPr>
        <p:spPr>
          <a:xfrm rot="0" flipH="false" flipV="false">
            <a:off x="1397000" y="3390900"/>
            <a:ext cx="4191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商业进展</a:t>
            </a:r>
            <a:endParaRPr lang="en-US" sz="1100"/>
          </a:p>
        </p:txBody>
      </p:sp>
      <p:sp>
        <p:nvSpPr>
          <p:cNvPr name="AutoShape 12" id="12"/>
          <p:cNvSpPr/>
          <p:nvPr/>
        </p:nvSpPr>
        <p:spPr>
          <a:xfrm rot="0" flipH="false" flipV="false">
            <a:off x="1016000" y="3771900"/>
            <a:ext cx="4318000" cy="1016000"/>
          </a:xfrm>
          <a:prstGeom prst="rect">
            <a:avLst/>
          </a:prstGeom>
          <a:noFill/>
          <a:ln w="12700" cmpd="sng" cap="flat">
            <a:noFill/>
            <a:prstDash val="solid"/>
            <a:round/>
          </a:ln>
        </p:spPr>
        <p:txBody>
          <a:bodyPr anchor="ctr" rtlCol="false" anchorCtr="false" vert="horz" wrap="square" lIns="0" rIns="0" tIns="0" bIns="0"/>
          <a:lstStyle/>
          <a:p>
            <a:pPr algn="l" indent="-203200" marL="203200">
              <a:lnSpc>
                <a:spcPct val="125000"/>
              </a:lnSpc>
              <a:buClr>
                <a:srgbClr val="FFFFFF"/>
              </a:buClr>
              <a:buChar char="•"/>
              <a:defRPr/>
            </a:pPr>
            <a:r>
              <a:rPr lang="en-US" b="false" i="false" strike="noStrike" u="none" sz="1600">
                <a:solidFill>
                  <a:srgbClr val="FFFFFF">
                    <a:alpha val="90196"/>
                  </a:srgbClr>
                </a:solidFill>
                <a:latin typeface="Noto Sans SC"/>
                <a:ea typeface="Noto Sans SC"/>
                <a:cs typeface="Noto Sans SC"/>
                <a:sym typeface="Noto Sans SC"/>
              </a:rPr>
              <a:t>发布商业计划书 V3.0，融资材料体系完备</a:t>
            </a:r>
            <a:r>
              <a:rPr lang="en-US" b="false" i="false" strike="noStrike" u="none" sz="1600">
                <a:solidFill>
                  <a:srgbClr val="FFFFFF">
                    <a:alpha val="90196"/>
                  </a:srgbClr>
                </a:solidFill>
                <a:latin typeface="Noto Sans SC"/>
                <a:ea typeface="Noto Sans SC"/>
                <a:cs typeface="Noto Sans SC"/>
                <a:sym typeface="Noto Sans SC"/>
              </a:rPr>
              <a:t/>
            </a:r>
            <a:endParaRPr lang="en-US" sz="1100"/>
          </a:p>
          <a:p>
            <a:pPr algn="l" indent="-203200" marL="203200">
              <a:lnSpc>
                <a:spcPct val="125000"/>
              </a:lnSpc>
              <a:buClr>
                <a:srgbClr val="FFFFFF"/>
              </a:buClr>
              <a:buChar char="•"/>
            </a:pPr>
            <a:r>
              <a:rPr lang="en-US" b="false" i="false" strike="noStrike" u="none" sz="1600">
                <a:solidFill>
                  <a:srgbClr val="FFFFFF">
                    <a:alpha val="90196"/>
                  </a:srgbClr>
                </a:solidFill>
                <a:latin typeface="Noto Sans SC"/>
                <a:ea typeface="Noto Sans SC"/>
                <a:cs typeface="Noto Sans SC"/>
                <a:sym typeface="Noto Sans SC"/>
              </a:rPr>
              <a:t>完成核心合作模式设计，具备市场推广条件</a:t>
            </a:r>
          </a:p>
        </p:txBody>
      </p:sp>
      <p:sp>
        <p:nvSpPr>
          <p:cNvPr name="AutoShape 13" id="13"/>
          <p:cNvSpPr/>
          <p:nvPr/>
        </p:nvSpPr>
        <p:spPr>
          <a:xfrm rot="0" flipH="false" flipV="false">
            <a:off x="6350000" y="1397000"/>
            <a:ext cx="5080000" cy="3810000"/>
          </a:xfrm>
          <a:prstGeom prst="roundRect">
            <a:avLst>
              <a:gd name="adj" fmla="val 3333"/>
            </a:avLst>
          </a:prstGeom>
          <a:solidFill>
            <a:srgbClr val="FFFFFF">
              <a:alpha val="5000"/>
            </a:srgbClr>
          </a:solidFill>
          <a:ln w="25400" cmpd="sng" cap="flat">
            <a:solidFill>
              <a:srgbClr val="9B5DE5">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604000" y="1587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9B5DE5"/>
                </a:solidFill>
                <a:latin typeface="Noto Sans SC"/>
                <a:ea typeface="Noto Sans SC"/>
                <a:cs typeface="Noto Sans SC"/>
                <a:sym typeface="Noto Sans SC"/>
              </a:rPr>
              <a:t>风险与应对策略</a:t>
            </a:r>
            <a:endParaRPr lang="en-US" sz="1100"/>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04000" y="2095500"/>
            <a:ext cx="254000" cy="254000"/>
          </a:xfrm>
          <a:prstGeom prst="rect">
            <a:avLst/>
          </a:prstGeom>
        </p:spPr>
      </p:pic>
      <p:sp>
        <p:nvSpPr>
          <p:cNvPr name="AutoShape 16" id="16"/>
          <p:cNvSpPr/>
          <p:nvPr/>
        </p:nvSpPr>
        <p:spPr>
          <a:xfrm rot="0" flipH="false" flipV="false">
            <a:off x="6985000" y="20320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巨头竞争风险：</a:t>
            </a:r>
            <a:r>
              <a:rPr lang="en-US" b="false" i="false" strike="noStrike" u="none" sz="1600">
                <a:solidFill>
                  <a:srgbClr val="FFFFFF">
                    <a:alpha val="80000"/>
                  </a:srgbClr>
                </a:solidFill>
                <a:latin typeface="Noto Sans SC"/>
                <a:ea typeface="Noto Sans SC"/>
                <a:cs typeface="Noto Sans SC"/>
                <a:sym typeface="Noto Sans SC"/>
              </a:rPr>
              <a:t>深耕细分领域，建立差异化壁垒</a:t>
            </a:r>
            <a:endParaRPr lang="en-US" sz="1100"/>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2603500"/>
            <a:ext cx="254000" cy="254000"/>
          </a:xfrm>
          <a:prstGeom prst="rect">
            <a:avLst/>
          </a:prstGeom>
        </p:spPr>
      </p:pic>
      <p:sp>
        <p:nvSpPr>
          <p:cNvPr name="AutoShape 18" id="18"/>
          <p:cNvSpPr/>
          <p:nvPr/>
        </p:nvSpPr>
        <p:spPr>
          <a:xfrm rot="0" flipH="false" flipV="false">
            <a:off x="6985000" y="25400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技术迭代风险：</a:t>
            </a:r>
            <a:r>
              <a:rPr lang="en-US" b="false" i="false" strike="noStrike" u="none" sz="1600">
                <a:solidFill>
                  <a:srgbClr val="FFFFFF">
                    <a:alpha val="80000"/>
                  </a:srgbClr>
                </a:solidFill>
                <a:latin typeface="Noto Sans SC"/>
                <a:ea typeface="Noto Sans SC"/>
                <a:cs typeface="Noto Sans SC"/>
                <a:sym typeface="Noto Sans SC"/>
              </a:rPr>
              <a:t>保持快速迭代机制，敏捷响应市场变化</a:t>
            </a:r>
            <a:endParaRPr lang="en-US" sz="1100"/>
          </a:p>
        </p:txBody>
      </p:sp>
      <p:pic>
        <p:nvPicPr>
          <p:cNvPr name="Picture 19" id="1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04000" y="3111500"/>
            <a:ext cx="254000" cy="254000"/>
          </a:xfrm>
          <a:prstGeom prst="rect">
            <a:avLst/>
          </a:prstGeom>
        </p:spPr>
      </p:pic>
      <p:sp>
        <p:nvSpPr>
          <p:cNvPr name="AutoShape 20" id="20"/>
          <p:cNvSpPr/>
          <p:nvPr/>
        </p:nvSpPr>
        <p:spPr>
          <a:xfrm rot="0" flipH="false" flipV="false">
            <a:off x="6985000" y="30480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市场接受度：</a:t>
            </a:r>
            <a:r>
              <a:rPr lang="en-US" b="false" i="false" strike="noStrike" u="none" sz="1600">
                <a:solidFill>
                  <a:srgbClr val="FFFFFF">
                    <a:alpha val="80000"/>
                  </a:srgbClr>
                </a:solidFill>
                <a:latin typeface="Noto Sans SC"/>
                <a:ea typeface="Noto Sans SC"/>
                <a:cs typeface="Noto Sans SC"/>
                <a:sym typeface="Noto Sans SC"/>
              </a:rPr>
              <a:t>打造标杆案例验证，以点带面拓展市场</a:t>
            </a:r>
            <a:endParaRPr lang="en-US" sz="1100"/>
          </a:p>
        </p:txBody>
      </p:sp>
      <p:pic>
        <p:nvPicPr>
          <p:cNvPr name="Picture 21" id="21"/>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604000" y="3619500"/>
            <a:ext cx="254000" cy="254000"/>
          </a:xfrm>
          <a:prstGeom prst="rect">
            <a:avLst/>
          </a:prstGeom>
        </p:spPr>
      </p:pic>
      <p:sp>
        <p:nvSpPr>
          <p:cNvPr name="AutoShape 22" id="22"/>
          <p:cNvSpPr/>
          <p:nvPr/>
        </p:nvSpPr>
        <p:spPr>
          <a:xfrm rot="0" flipH="false" flipV="false">
            <a:off x="6985000" y="35560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政策监管风险：</a:t>
            </a:r>
            <a:r>
              <a:rPr lang="en-US" b="false" i="false" strike="noStrike" u="none" sz="1600">
                <a:solidFill>
                  <a:srgbClr val="FFFFFF">
                    <a:alpha val="80000"/>
                  </a:srgbClr>
                </a:solidFill>
                <a:latin typeface="Noto Sans SC"/>
                <a:ea typeface="Noto Sans SC"/>
                <a:cs typeface="Noto Sans SC"/>
                <a:sym typeface="Noto Sans SC"/>
              </a:rPr>
              <a:t>坚持合规前置，确保业务稳健运行</a:t>
            </a:r>
            <a:endParaRPr lang="en-US" sz="1100"/>
          </a:p>
        </p:txBody>
      </p:sp>
      <p:sp>
        <p:nvSpPr>
          <p:cNvPr name="AutoShape 23" id="23"/>
          <p:cNvSpPr/>
          <p:nvPr/>
        </p:nvSpPr>
        <p:spPr>
          <a:xfrm rot="0" flipH="false" flipV="false">
            <a:off x="0" y="6807200"/>
            <a:ext cx="1219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651000"/>
            <a:ext cx="10160000" cy="1016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6000">
                <a:solidFill>
                  <a:srgbClr val="FFFFFF"/>
                </a:solidFill>
                <a:latin typeface="SimHei"/>
                <a:ea typeface="SimHei"/>
                <a:cs typeface="SimHei"/>
                <a:sym typeface="SimHei"/>
              </a:rPr>
              <a:t>THANK YOU</a:t>
            </a:r>
            <a:endParaRPr lang="en-US" sz="1100"/>
          </a:p>
        </p:txBody>
      </p:sp>
      <p:sp>
        <p:nvSpPr>
          <p:cNvPr name="AutoShape 5" id="5"/>
          <p:cNvSpPr/>
          <p:nvPr/>
        </p:nvSpPr>
        <p:spPr>
          <a:xfrm rot="0" flipH="false" flipV="false">
            <a:off x="1016000" y="2667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400" spc="400">
                <a:solidFill>
                  <a:srgbClr val="41EAD4"/>
                </a:solidFill>
                <a:latin typeface="SimHei"/>
                <a:ea typeface="SimHei"/>
                <a:cs typeface="SimHei"/>
                <a:sym typeface="SimHei"/>
              </a:rPr>
              <a:t>用科技重新定义住宿业</a:t>
            </a:r>
            <a:endParaRPr lang="en-US" sz="1100"/>
          </a:p>
        </p:txBody>
      </p:sp>
      <p:sp>
        <p:nvSpPr>
          <p:cNvPr name="AutoShape 6" id="6"/>
          <p:cNvSpPr/>
          <p:nvPr/>
        </p:nvSpPr>
        <p:spPr>
          <a:xfrm rot="0" flipH="false" flipV="false">
            <a:off x="5334000" y="3429000"/>
            <a:ext cx="1524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921000" y="4191000"/>
            <a:ext cx="254000" cy="254000"/>
          </a:xfrm>
          <a:prstGeom prst="rect">
            <a:avLst/>
          </a:prstGeom>
        </p:spPr>
      </p:pic>
      <p:sp>
        <p:nvSpPr>
          <p:cNvPr name="AutoShape 8" id="8"/>
          <p:cNvSpPr/>
          <p:nvPr/>
        </p:nvSpPr>
        <p:spPr>
          <a:xfrm rot="0" flipH="false" flipV="false">
            <a:off x="3302000" y="4140200"/>
            <a:ext cx="2540000" cy="381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false" i="false" strike="noStrike" u="none" sz="1600">
                <a:solidFill>
                  <a:srgbClr val="E5E7EB"/>
                </a:solidFill>
                <a:latin typeface="SimHei"/>
                <a:ea typeface="SimHei"/>
                <a:cs typeface="SimHei"/>
                <a:sym typeface="SimHei"/>
              </a:rPr>
              <a:t>项目总控：张实</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715000" y="4191000"/>
            <a:ext cx="254000" cy="254000"/>
          </a:xfrm>
          <a:prstGeom prst="rect">
            <a:avLst/>
          </a:prstGeom>
        </p:spPr>
      </p:pic>
      <p:sp>
        <p:nvSpPr>
          <p:cNvPr name="AutoShape 10" id="10"/>
          <p:cNvSpPr/>
          <p:nvPr/>
        </p:nvSpPr>
        <p:spPr>
          <a:xfrm rot="0" flipH="false" flipV="false">
            <a:off x="6096000" y="4140200"/>
            <a:ext cx="1905000" cy="381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false" i="false" strike="noStrike" u="none" sz="1600">
                <a:solidFill>
                  <a:srgbClr val="E5E7EB"/>
                </a:solidFill>
                <a:latin typeface="SimHei"/>
                <a:ea typeface="SimHei"/>
                <a:cs typeface="SimHei"/>
                <a:sym typeface="SimHei"/>
              </a:rPr>
              <a:t>17760348653</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28000" y="4191000"/>
            <a:ext cx="254000" cy="254000"/>
          </a:xfrm>
          <a:prstGeom prst="rect">
            <a:avLst/>
          </a:prstGeom>
        </p:spPr>
      </p:pic>
      <p:sp>
        <p:nvSpPr>
          <p:cNvPr name="AutoShape 12" id="12"/>
          <p:cNvSpPr/>
          <p:nvPr/>
        </p:nvSpPr>
        <p:spPr>
          <a:xfrm rot="0" flipH="false" flipV="false">
            <a:off x="8509000" y="4140200"/>
            <a:ext cx="2794000" cy="381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false" i="false" strike="noStrike" u="none" sz="1600">
                <a:solidFill>
                  <a:srgbClr val="E5E7EB"/>
                </a:solidFill>
                <a:latin typeface="SimHei"/>
                <a:ea typeface="SimHei"/>
                <a:cs typeface="SimHei"/>
                <a:sym typeface="SimHei"/>
              </a:rPr>
              <a:t>ericzhangshi@163.com</a:t>
            </a:r>
            <a:endParaRPr lang="en-US" sz="1100"/>
          </a:p>
        </p:txBody>
      </p:sp>
      <p:sp>
        <p:nvSpPr>
          <p:cNvPr name="AutoShape 13" id="13"/>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200">
                <a:solidFill>
                  <a:srgbClr val="FFFFFF">
                    <a:alpha val="40000"/>
                  </a:srgbClr>
                </a:solidFill>
                <a:latin typeface="SimHei"/>
                <a:ea typeface="SimHei"/>
                <a:cs typeface="SimHei"/>
                <a:sym typeface="SimHei"/>
              </a:rPr>
              <a:t>2026 AHL TECHNOLOGY PRESENTATION</a:t>
            </a:r>
            <a:endParaRPr lang="en-US" sz="1100"/>
          </a:p>
        </p:txBody>
      </p:sp>
      <p:pic>
        <p:nvPicPr>
          <p:cNvPr name="Picture 14" id="14"/>
          <p:cNvPicPr>
            <a:picLocks noChangeAspect="true"/>
          </p:cNvPicPr>
          <p:nvPr/>
        </p:nvPicPr>
        <p:blipFill>
          <a:blip r:embed="rId10"/>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