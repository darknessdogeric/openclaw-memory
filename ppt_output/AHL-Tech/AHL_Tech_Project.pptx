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AHL-LLM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Decentralized Travel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</a:defRPr>
            </a:pPr>
            <a:r>
              <a:t>Tech 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97316"/>
                </a:solidFill>
              </a:defRPr>
            </a:pPr>
            <a:r>
              <a:t>First LLM + Dual-AGENT Smart Hosting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97316"/>
                </a:solidFill>
              </a:defRPr>
            </a:pPr>
            <a:r>
              <a:t>AHL: First LLM + Dual-AGENT Smart Hosting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5176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LLM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DeepSeek/Qwen fine-tuned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Hotel knowledge injected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Multi-modal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65176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AGENT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C-end AI Butler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B-end AI Operations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7x24h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65176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SKILL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80+ pluggable SKILLs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Like LEGO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Fast adaptation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65176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Vector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&lt;3s response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95%+ accuracy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Real-time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4-Layer Tech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Layer 1: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DeepSeek/Qwen fine-tuned | 12,000+ KB PP&amp;SOP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118872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Layer 2: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C-end AI Butler - Guest Service | B-end AI Operations - Autonomous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11247120" cy="118872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Layer 3: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80+ pluggable SKILLs | Like LEGO - Fast adaptation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14233C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Layer 4: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&lt;3s response speed | 95%+ matching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4/14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C-end AI Butler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97316"/>
                </a:solidFill>
              </a:defRPr>
            </a:pPr>
            <a:r>
              <a:t>7x24h Smart Travel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Smart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Natural language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3-min booking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No price compare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Trip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Personalized recommend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Real-time adjust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Travel advisor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Room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Voice control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One-click service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Full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Local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Food recommend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Attractions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Local experience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Points mgmt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Offers push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Personal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5/14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B-end AI Operations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97316"/>
                </a:solidFill>
              </a:defRPr>
            </a:pPr>
            <a:r>
              <a:t>Autonomous Operations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Revenue MGMT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Dynamic pricing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RevPAR +15-30%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Inventory opt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Channel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OTA optimization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Private traffic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Commission -50%+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Guest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AI chatbot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Complaint handling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Staff -30%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AI content gen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Cost -40%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Social 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463040"/>
            <a:ext cx="21945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Data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01168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Reports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Competitor monitoring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6/14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Pluggable SKILLs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97316"/>
                </a:solidFill>
              </a:defRPr>
            </a:pPr>
            <a:r>
              <a:t>Like LEGO - Fast adaptation to different business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C-end AI Butler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Room 7 | F&amp;B 13 | Banquet 6 | Front 6 | 4th Space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B-end AI Operations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Revenue 5 | Front 5 | Room 5 | F&amp;B 8 | MKT 5 | B2B 5 | Finance 5 | Energy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</a:defRPr>
            </a:pPr>
            <a:r>
              <a:t>80+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95%+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</a:defRPr>
            </a:pPr>
            <a:r>
              <a:t>&lt;3s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7x24h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Always-on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7/14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PP&amp;SOP Knowledge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97316"/>
                </a:solidFill>
              </a:defRPr>
            </a:pPr>
            <a:r>
              <a:t>Core Data Foundation of AHL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7432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Industry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77 docs, 2000+KB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12-layer architecture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10+ brand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7432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Operations SOP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Front/Room/F&amp;B/MKT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Procure/QC/Engineering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Finance/HR/Admin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7432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Scenario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12 customer types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10 product services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10 operation modes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7432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Vector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Universal dimensions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Specific core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Real-time dynamics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8/14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Traditional vs AHL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303520" cy="5029200"/>
          </a:xfrm>
          <a:prstGeom prst="roundRect">
            <a:avLst/>
          </a:prstGeom>
          <a:solidFill>
            <a:srgbClr val="321E1E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696"/>
                </a:solidFill>
              </a:defRPr>
            </a:pPr>
            <a:r>
              <a:t>Traditional 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8C8"/>
                </a:solidFill>
              </a:defRPr>
            </a:pPr>
            <a:r>
              <a:t>X 15-25% high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8C8"/>
                </a:solidFill>
              </a:defRPr>
            </a:pPr>
            <a:r>
              <a:t>X Data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8C8"/>
                </a:solidFill>
              </a:defRPr>
            </a:pPr>
            <a:r>
              <a:t>X Passive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8C8"/>
                </a:solidFill>
              </a:defRPr>
            </a:pPr>
            <a:r>
              <a:t>X Single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8C8"/>
                </a:solidFill>
              </a:defRPr>
            </a:pPr>
            <a:r>
              <a:t>X Hotels =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188720"/>
            <a:ext cx="5303520" cy="5029200"/>
          </a:xfrm>
          <a:prstGeom prst="roundRect">
            <a:avLst/>
          </a:prstGeom>
          <a:solidFill>
            <a:srgbClr val="1428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AHL Decentralized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V Only 2% tech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V Data connected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V 7x24h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06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V 80+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V Hotel autonomy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9/14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AHL Tech Flow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6459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2103120" cy="22860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Natural language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3474720"/>
            <a:ext cx="1371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468880"/>
            <a:ext cx="2103120" cy="22860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NLP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17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Intent recognition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92040" y="3474720"/>
            <a:ext cx="1371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16459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468880"/>
            <a:ext cx="2103120" cy="22860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Vector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017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SKILL retrieval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8040" y="3474720"/>
            <a:ext cx="1371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468880"/>
            <a:ext cx="2103120" cy="22860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AGENT 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017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Butler/Ops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64040" y="3474720"/>
            <a:ext cx="1371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20" y="16459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2468880"/>
            <a:ext cx="2103120" cy="22860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017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Learning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10/14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Performance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2743200" cy="1828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</a:defRPr>
            </a:pPr>
            <a:r>
              <a:t>&lt;3s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2743200" cy="1828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95%+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2743200" cy="182880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7x24h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Always-on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931920"/>
            <a:ext cx="2743200" cy="1828800"/>
          </a:xfrm>
          <a:prstGeom prst="roundRect">
            <a:avLst/>
          </a:prstGeom>
          <a:solidFill>
            <a:srgbClr val="14233C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C4899"/>
                </a:solidFill>
              </a:defRPr>
            </a:pPr>
            <a:r>
              <a:t>80+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931920"/>
            <a:ext cx="2743200" cy="1828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</a:defRPr>
            </a:pPr>
            <a:r>
              <a:t>15-30%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RevPAR+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931920"/>
            <a:ext cx="2743200" cy="1828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50%+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Commission-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11/14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Core SKILL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Room booking+Revenue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Front+Room ops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1-2 months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320040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Scenario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F&amp;B+Banquet+B2B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MKT+Membership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3-6 months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60" y="3200400"/>
            <a:ext cx="32004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Ecosystem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SKILL market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3rd party access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7-12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12/14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97316"/>
                </a:solidFill>
              </a:defRPr>
            </a:pPr>
            <a:r>
              <a:t>Golden Triangle: Industry + Tech + Capital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173736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Zhang 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3AED"/>
                </a:solidFill>
              </a:defRPr>
            </a:pPr>
            <a:r>
              <a:t>Project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24 yrs hotel ind.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t>Multi-group exec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t>Paradigm 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554480"/>
            <a:ext cx="3474720" cy="438912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0" y="173736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Li Yuan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</a:defRPr>
            </a:pPr>
            <a:r>
              <a:t>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576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AI PhD HUST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t>10+ yrs AI R&amp;D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t>20+ AI projects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554480"/>
            <a:ext cx="3474720" cy="438912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173736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Chen Sixu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97316"/>
                </a:solidFill>
              </a:defRPr>
            </a:pPr>
            <a:r>
              <a:t>CSO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6576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Fortune 500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t>PE/VC background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t>IPO expert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C8C8"/>
                </a:solidFill>
              </a:defRPr>
            </a:pPr>
            <a:r>
              <a:t>13/14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AHL Core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For C-end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7x24h Butler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Experience innov.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Direct 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</a:defRPr>
            </a:pPr>
            <a:r>
              <a:t>For B-end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Autonomous ops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Cost efficiency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OTA-free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517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For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2% vs 15%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New paradigm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Tech revolution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65176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C4899"/>
                </a:solidFill>
              </a:defRPr>
            </a:pPr>
            <a:r>
              <a:t>Tech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LLM+KB+SKILLs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Trinity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Moat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</a:defRPr>
            </a:pPr>
            <a:r>
              <a:t>Welcome to AI New 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97316"/>
                </a:solidFill>
              </a:defRPr>
            </a:pPr>
            <a:r>
              <a:t>Contact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Zhang Shi (Eric)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Project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17760348653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ericzhangshi@163.com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AHL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