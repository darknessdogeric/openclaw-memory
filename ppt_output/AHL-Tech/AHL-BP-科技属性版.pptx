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1E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127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444752"/>
            <a:ext cx="12191695" cy="127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7904"/>
            <a:ext cx="12191695" cy="127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91056"/>
            <a:ext cx="12191695" cy="127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64208"/>
            <a:ext cx="12191695" cy="127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2D3EE"/>
                </a:solidFill>
              </a:defRPr>
            </a:pPr>
            <a:r>
              <a:t>AHL-LLM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26517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AI Hotels Language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大模型驱动的新一代住宿业智能运营平台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114800"/>
            <a:ext cx="1828800" cy="411480"/>
          </a:xfrm>
          <a:prstGeom prst="roundRect">
            <a:avLst/>
          </a:prstGeom>
          <a:solidFill>
            <a:srgbClr val="1E325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D3EE"/>
                </a:solidFill>
              </a:defRPr>
            </a:pPr>
            <a:r>
              <a:t>国家高新技术企业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114800"/>
            <a:ext cx="1828800" cy="411480"/>
          </a:xfrm>
          <a:prstGeom prst="roundRect">
            <a:avLst/>
          </a:prstGeom>
          <a:solidFill>
            <a:srgbClr val="1E325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D3EE"/>
                </a:solidFill>
              </a:defRPr>
            </a:pPr>
            <a:r>
              <a:t>AI大模型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1828800" cy="411480"/>
          </a:xfrm>
          <a:prstGeom prst="roundRect">
            <a:avLst/>
          </a:prstGeom>
          <a:solidFill>
            <a:srgbClr val="1E325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D3EE"/>
                </a:solidFill>
              </a:defRPr>
            </a:pPr>
            <a:r>
              <a:t>智能酒店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114800"/>
            <a:ext cx="1828800" cy="411480"/>
          </a:xfrm>
          <a:prstGeom prst="roundRect">
            <a:avLst/>
          </a:prstGeom>
          <a:solidFill>
            <a:srgbClr val="1E325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D3EE"/>
                </a:solidFill>
              </a:defRPr>
            </a:pPr>
            <a:r>
              <a:t>科技创新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</a:defRPr>
            </a:pPr>
            <a:r>
              <a:t>科技属性 · 创业创新 · AI大模型应用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2/14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项目概述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097280"/>
          </a:xfrm>
          <a:prstGeom prst="roundRect">
            <a:avLst/>
          </a:prstGeom>
          <a:solidFill>
            <a:srgbClr val="14284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AHL是国内首个基于大语言模型的住宿业智能运营平台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</a:defRPr>
            </a:pPr>
            <a:r>
              <a:t>专注于用AI技术重构酒店、民宿的运营全链路，而非单纯的预订交易平台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核心科技属性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2743200" cy="274320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🤖 AI大模型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基于DeepSeek/Qwen开源模型微调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酒店行业知识库注入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LoRA低成本领域适配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017520"/>
            <a:ext cx="2743200" cy="274320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🔧 AGENT架构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661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C端AI管家 + B端AI运营官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7×24h全天候服务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自主决策与执行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2743200" cy="274320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🧩 SKILL体系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661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80+可插拔专业能力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像乐高一样灵活组合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周级迭代速度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3017520"/>
            <a:ext cx="2743200" cy="274320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⚡ 向量引擎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5661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&lt;3秒响应速度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95%+匹配准确率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实时推理与决策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3/14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四层技术架构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28016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4630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第一层：LLM大模型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底层智能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DeepSeek/Qwen开源模型 • LoRA微调: 低成本领域适配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11247120" cy="128016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83464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第二层：双AGENT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执行智能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7432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C端AI管家: 对客服务 • B端AI运营官: 运营决策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11247120" cy="128016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4206240"/>
            <a:ext cx="731520" cy="7315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</a:defRPr>
            </a:pPr>
            <a:r>
              <a:t>第三层：SKILLs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能力智能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80+可插拔专业能力 • 覆盖前厅/客房/餐饮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557784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69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40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第四层：向量引擎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匹配智能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4864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Milvus向量数据库 • &lt;3秒响应速度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4/14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市场机会：AI赋能传统行业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058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97316"/>
                </a:solidFill>
              </a:defRPr>
            </a:pPr>
            <a:r>
              <a:t>万亿级传统行业升级机遇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743200" cy="2011680"/>
          </a:xfrm>
          <a:prstGeom prst="roundRect">
            <a:avLst/>
          </a:prstGeom>
          <a:solidFill>
            <a:srgbClr val="14284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5000亿+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中国酒店市场规模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传统行业升级需求旺盛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743200" cy="2011680"/>
          </a:xfrm>
          <a:prstGeom prst="roundRect">
            <a:avLst/>
          </a:prstGeom>
          <a:solidFill>
            <a:srgbClr val="14284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750亿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年OTA佣金池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降本增效空间巨大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743200" cy="2011680"/>
          </a:xfrm>
          <a:prstGeom prst="roundRect">
            <a:avLst/>
          </a:prstGeom>
          <a:solidFill>
            <a:srgbClr val="14284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45万+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酒店/民宿数量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中小商户亟需赋能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554480"/>
            <a:ext cx="2743200" cy="2011680"/>
          </a:xfrm>
          <a:prstGeom prst="roundRect">
            <a:avLst/>
          </a:prstGeom>
          <a:solidFill>
            <a:srgbClr val="14284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260%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5年获客成本涨幅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行业痛点亟待解决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政策利好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97680"/>
            <a:ext cx="2743200" cy="146304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国家高新技术企业认定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846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15%优惠税率 + 研发加计扣除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4297680"/>
            <a:ext cx="2743200" cy="146304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AI大模型扶持政策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846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算力补贴 + 场景开放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97680"/>
            <a:ext cx="2743200" cy="146304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科技创新专项资金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846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最高3000万无偿资助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297680"/>
            <a:ext cx="2743200" cy="146304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创业创新支持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846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人才引进 + 场地补贴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5/14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商业模式：电信运营模式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</a:defRPr>
            </a:pPr>
            <a:r>
              <a:t>类比电信运营商，商户按需订阅，平台稳定营收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商户订阅套餐（核心收入）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657600" cy="25603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</a:defRPr>
            </a:pPr>
            <a:r>
              <a:t>入门版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¥999/月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基础C端SKILLs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100K TOKENS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1个B端SKILL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03120"/>
            <a:ext cx="3657600" cy="25603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专业版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¥2,999/月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383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全部37个C端SKILLs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500K TOKENS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8个B端SKILLs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103120"/>
            <a:ext cx="3657600" cy="25603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</a:defRPr>
            </a:pPr>
            <a:r>
              <a:t>企业版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¥9,999/月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无限C端SKILLs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2M TOKENS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全部25个B端SKILLs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收入结构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商户月订阅费: 40%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超额TOKEN费: 20%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交易服务费: 30%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SKILL增值: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vs 传统OTA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035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OTA费率: 15-25%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AHL费率: 2%+套餐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节省成本: 80%+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6/14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技术壁垒与竞争优势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1887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41732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数据飞轮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28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商户越多 → 数据越丰富 → 匹配越精准 → 用户越多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11247120" cy="11887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69748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网络效应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双边市场：商户端供给丰富 + 用户端需求活跃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40"/>
            <a:ext cx="11247120" cy="11887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977640"/>
            <a:ext cx="731520" cy="7315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</a:defRPr>
            </a:pPr>
            <a:r>
              <a:t>知识壁垒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PP&amp;SOP知识库: 77个文档, 2000+KB, 持续积累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525780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技术壁垒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66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开源模型 + 酒店微调 + 向量引擎 + AGENT架构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竞品对比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675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B4B4"/>
                </a:solidFill>
              </a:defRPr>
            </a:pPr>
            <a:r>
              <a:t>传统OTA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903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15-25%费率 | 数据垄断 | 有限AI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6675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B4B4"/>
                </a:solidFill>
              </a:defRPr>
            </a:pPr>
            <a:r>
              <a:t>国际品牌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903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10-15%费率 | 系统封闭 | 定制昂贵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6675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AHL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6903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2%+套餐 | 数据自有 | 80+SKILLs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7/14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实施路径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743200" cy="41148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M1-M3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产品孵化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核心LLM微调完成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MVP上线测试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种子商户10+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46120" y="3200400"/>
            <a:ext cx="9144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743200" cy="41148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M4-M6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模式验证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260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套餐模式验证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商户50+上线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月GMV100万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26480" y="3200400"/>
            <a:ext cx="9144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743200" cy="41148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M7-M12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规模复制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260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商户200+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区域覆盖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月GMV500万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06840" y="3200400"/>
            <a:ext cx="9144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98280" y="1371600"/>
            <a:ext cx="2743200" cy="41148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M13-M18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生态开放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9260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SKILL市场开放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商户500+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A轮启动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8/14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融资计划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种子轮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</a:defRPr>
            </a:pPr>
            <a:r>
              <a:t>融资规模: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500-800万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</a:defRPr>
            </a:pPr>
            <a:r>
              <a:t>出让股份: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15-20%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</a:defRPr>
            </a:pPr>
            <a:r>
              <a:t>投后估值: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3000-5000万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4"/>
                </a:solidFill>
              </a:defRPr>
            </a:pPr>
            <a:r>
              <a:t>投资形式: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天使/机构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资金用途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2743200" cy="1645920"/>
          </a:xfrm>
          <a:prstGeom prst="roundRect">
            <a:avLst/>
          </a:prstGeom>
          <a:solidFill>
            <a:srgbClr val="0F1E3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技术研发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40% | 200-320万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LLM微调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AGENT开发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向量引擎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754880"/>
            <a:ext cx="2743200" cy="1645920"/>
          </a:xfrm>
          <a:prstGeom prst="roundRect">
            <a:avLst/>
          </a:prstGeom>
          <a:solidFill>
            <a:srgbClr val="0F1E3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数据体系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30% | 150-240万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577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知识库建设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数据标注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模型训练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754880"/>
            <a:ext cx="2743200" cy="1645920"/>
          </a:xfrm>
          <a:prstGeom prst="roundRect">
            <a:avLst/>
          </a:prstGeom>
          <a:solidFill>
            <a:srgbClr val="0F1E3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市场拓展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20% | 100-160万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577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BD团队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试点城市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品牌推广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4754880"/>
            <a:ext cx="2743200" cy="1645920"/>
          </a:xfrm>
          <a:prstGeom prst="roundRect">
            <a:avLst/>
          </a:prstGeom>
          <a:solidFill>
            <a:srgbClr val="0F1E37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运营储备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10% | 50-80万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577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法务合规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资质申请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团队建设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9/14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核心团队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657600" cy="48463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1554480"/>
            <a:ext cx="1097280" cy="10972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张实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项目总控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• 24年酒店业深耕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• 北京第二外国语学院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• 多家知名酒店集团高管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• 住宿业范式革命设计师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657600" cy="48463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0" y="155448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李源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首席技术官 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657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• 华中科技大学AI博士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• 10年+ AI技术研发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• 20+ AI工程落地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• AI架构与算法专家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657600" cy="484632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1554480"/>
            <a:ext cx="1097280" cy="10972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陈思序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首席战略官 CSO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• 世界500强战略高管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• 深耕PE/VC投资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• IPO全流程经验</a:t>
            </a:r>
          </a:p>
          <a:p>
            <a:pPr>
              <a:defRPr sz="1100">
                <a:solidFill>
                  <a:srgbClr val="B4B4B4"/>
                </a:solidFill>
              </a:defRPr>
            </a:pPr>
            <a:r>
              <a:t>• 战略推动与生态建设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10/14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已取得成果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411480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技术成果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LLM大模型微调完成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PP&amp;SOP知识库77个文档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80+ SKILLs架构设计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向量匹配引擎原型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411480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商业成果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完整商业计划书 V3.0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融资材料完备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60+投资人清单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合作模式设计完成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411480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行业积累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酒店行业全景知识库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12层架构体系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77个SOP文档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多品牌对标分析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743200" cy="4114800"/>
          </a:xfrm>
          <a:prstGeom prst="roundRect">
            <a:avLst/>
          </a:prstGeom>
          <a:solidFill>
            <a:srgbClr val="0F1E3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团队组建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创始团队3人到位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技术顾问资源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行业专家顾问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战略合作伙伴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关键数据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</a:defRPr>
            </a:pPr>
            <a:r>
              <a:t>2000+KB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6035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</a:defRPr>
            </a:pPr>
            <a:r>
              <a:t>80+个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035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</a:defRPr>
            </a:pPr>
            <a:r>
              <a:t>77个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SOP文档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6035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</a:defRPr>
            </a:pPr>
            <a:r>
              <a:t>10+个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</a:defRPr>
            </a:pPr>
            <a:r>
              <a:t>品牌对标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11/14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可申报扶持与资质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</a:defRPr>
            </a:pPr>
            <a:r>
              <a:t>科技型中小企业 + 高新技术企业 + 专精特新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743200" cy="32004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科技型中小企业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¥5-20万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研发费用加计扣除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技术创新专项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人才引进补贴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743200" cy="32004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高新技术企业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¥10-50万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15%优惠税率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研发费用补贴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人才安居政策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743200" cy="32004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专精特新企业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¥20-100万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34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梯度培育支持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融资担保服务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市场拓展补贴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554480"/>
            <a:ext cx="2743200" cy="32004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AI大模型专项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最高¥500万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834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算力补贴政策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场景开放支持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✓ 模型备案奖励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地方配套支持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创业孵化载体: 免租1-3年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人才公寓: 最高100%租金补贴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场地租金: 最高50%补贴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• 个税返还: 地方留成部分补贴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12/14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风险与对策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风险: 巨头竞争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互联网巨头可能入局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72000" y="1645920"/>
            <a:ext cx="365760" cy="3657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280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对策: 中小商户差异化定位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45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专注垂直领域深耕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1124712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风险: 技术迭代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大模型技术快速演进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72000" y="3017520"/>
            <a:ext cx="365760" cy="3657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651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对策: 保持技术敏感度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0175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模块化架构快速适配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1124712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风险: 市场接受度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传统商户认知转变慢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572000" y="4389120"/>
            <a:ext cx="365760" cy="3657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4023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对策: 标杆案例轻资产验证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389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逐步渗透建立信任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风险: 政策监管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4B4"/>
                </a:solidFill>
              </a:defRPr>
            </a:pPr>
            <a:r>
              <a:t>AI和数据监管趋严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572000" y="5760720"/>
            <a:ext cx="365760" cy="3657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对策: 合规前置主动申请资质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760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数据安全优先设计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4B4B4"/>
                </a:solidFill>
              </a:defRPr>
            </a:pPr>
            <a:r>
              <a:t>13/14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4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D3EE"/>
                </a:solidFill>
              </a:defRPr>
            </a:pPr>
            <a:r>
              <a:t>里程碑承诺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94560" cy="41148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3AED"/>
                </a:solidFill>
              </a:defRPr>
            </a:pPr>
            <a:r>
              <a:t>M3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产品上线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注册商户50+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技术验证完成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3200400"/>
            <a:ext cx="91440" cy="27432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371600"/>
            <a:ext cx="2194560" cy="41148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M6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模式验证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4320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月GMV100万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种子用户验证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37760" y="3200400"/>
            <a:ext cx="91440" cy="27432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1371600"/>
            <a:ext cx="2194560" cy="41148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</a:defRPr>
            </a:pPr>
            <a:r>
              <a:t>M12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A轮启动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74320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商户200+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月GMV500万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23760" y="3200400"/>
            <a:ext cx="91440" cy="27432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1371600"/>
            <a:ext cx="2194560" cy="41148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M18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区域领先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74320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商户500+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战略盈利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09760" y="3200400"/>
            <a:ext cx="91440" cy="27432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0" y="1371600"/>
            <a:ext cx="2194560" cy="4114800"/>
          </a:xfrm>
          <a:prstGeom prst="roundRect">
            <a:avLst/>
          </a:prstGeom>
          <a:solidFill>
            <a:srgbClr val="0F1E37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M36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行业标杆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743200"/>
            <a:ext cx="2011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商户2000+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市场占有率10%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E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127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444752"/>
            <a:ext cx="12191695" cy="127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7904"/>
            <a:ext cx="12191695" cy="127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645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2D3EE"/>
                </a:solidFill>
              </a:defRPr>
            </a:pPr>
            <a:r>
              <a:t>开启AI新时代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用科技重新定义住宿业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</a:defRPr>
            </a:pPr>
            <a:r>
              <a:t>张实 (Eric Zhang)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项目总控 / 创始人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📞 17760348653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📧 ericzhangshi@163.com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AHL团队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4114800"/>
            <a:ext cx="1828800" cy="1828800"/>
          </a:xfrm>
          <a:prstGeom prst="roundRect">
            <a:avLst/>
          </a:prstGeom>
          <a:solidFill>
            <a:srgbClr val="283C6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D3EE"/>
                </a:solidFill>
              </a:defRPr>
            </a:pPr>
            <a:r>
              <a:t>扫码联系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