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</p:sldMasterIdLst>
  <p:notesMasterIdLst>
    <p:notesMasterId r:id="rId12"/>
  </p:notesMasterIdLst>
  <p:handoutMasterIdLst>
    <p:handoutMasterId r:id="rId13"/>
  </p:handoutMasterIdLst>
  <p:sldIdLst>
    <p:sldId id="257" r:id="rId5"/>
    <p:sldId id="294" r:id="rId6"/>
    <p:sldId id="309" r:id="rId7"/>
    <p:sldId id="297" r:id="rId8"/>
    <p:sldId id="327" r:id="rId9"/>
    <p:sldId id="321" r:id="rId10"/>
    <p:sldId id="259" r:id="rId11"/>
  </p:sldIdLst>
  <p:sldSz cx="9144000" cy="5143500"/>
  <p:notesSz cx="6797675" cy="9928225"/>
  <p:custDataLst>
    <p:tags r:id="rId18"/>
  </p:custDataLst>
  <p:defaultTextStyle>
    <a:defPPr>
      <a:defRPr lang="en-US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1pPr>
    <a:lvl2pPr marL="457200" lvl="1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2pPr>
    <a:lvl3pPr marL="914400" lvl="2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3pPr>
    <a:lvl4pPr marL="1371600" lvl="3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4pPr>
    <a:lvl5pPr marL="1828800" lvl="4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5pPr>
    <a:lvl6pPr marL="2286000" lvl="5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6pPr>
    <a:lvl7pPr marL="2743200" lvl="6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7pPr>
    <a:lvl8pPr marL="3200400" lvl="7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8pPr>
    <a:lvl9pPr marL="3657600" lvl="8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9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DWM" initials="S" lastIdx="4" clrIdx="0"/>
  <p:cmAuthor id="2" name="程 建国" initials="程" lastIdx="1" clrIdx="28"/>
  <p:cmAuthor id="3" name="user" initials="u" lastIdx="1" clrIdx="0"/>
  <p:cmAuthor id="4" name="1" initials="1" lastIdx="1" clrIdx="29"/>
  <p:cmAuthor id="5" name="作者" initials="作" lastIdx="0" clrIdx="1"/>
  <p:cmAuthor id="6" name="小 鑫" initials="小" lastIdx="1" clrIdx="30"/>
  <p:cmAuthor id="7" name="尹安琪" initials="尹" lastIdx="2" clrIdx="2"/>
  <p:cmAuthor id="8" name="范妍彦" initials="范" lastIdx="2" clrIdx="3"/>
  <p:cmAuthor id="9" name="ctgh1@o365.hkctshotels.com" initials="c" lastIdx="1" clrIdx="4"/>
  <p:cmAuthor id="10" name="Competition Division" initials="C" lastIdx="1" clrIdx="5"/>
  <p:cmAuthor id="11" name="Carolina Nieto Requena" initials="C" lastIdx="20" clrIdx="6"/>
  <p:cmAuthor id="12" name="Sun Ling" initials="S" lastIdx="3" clrIdx="7"/>
  <p:cmAuthor id="13" name="tf" initials="t" lastIdx="1" clrIdx="8"/>
  <p:cmAuthor id="14" name="yeminquan" initials="y" lastIdx="1" clrIdx="9"/>
  <p:cmAuthor id="15" name="Lucia MONTANARELLA" initials="L" lastIdx="2" clrIdx="10"/>
  <p:cmAuthor id="16" name="usesr" initials="u" lastIdx="1" clrIdx="11"/>
  <p:cmAuthor id="17" name="韩 小慧" initials="韩" lastIdx="1" clrIdx="5"/>
  <p:cmAuthor id="18" name="广珠区域公司1" initials="广" lastIdx="1" clrIdx="16"/>
  <p:cmAuthor id="19" name="杨尚阳" initials="杨" lastIdx="1" clrIdx="1"/>
  <p:cmAuthor id="20" name="甄天源" initials="甄" lastIdx="1" clrIdx="17"/>
  <p:cmAuthor id="21" name="mai mai" initials="m" lastIdx="1" clrIdx="2"/>
  <p:cmAuthor id="22" name="肖 盛" initials="肖" lastIdx="1" clrIdx="0"/>
  <p:cmAuthor id="23" name="0049628" initials="0" lastIdx="3" clrIdx="0"/>
  <p:cmAuthor id="24" name="NTKO" initials="N" lastIdx="1" clrIdx="0"/>
  <p:cmAuthor id="25" name="石楠 武" initials="石" lastIdx="1" clrIdx="2"/>
  <p:cmAuthor id="26" name="刘 玮佳" initials="刘" lastIdx="3" clrIdx="4"/>
  <p:cmAuthor id="27" name="CHEUNG JUNY" initials="C" lastIdx="2" clrIdx="5"/>
  <p:cmAuthor id="28" name="Rachel Gao" initials="R" lastIdx="1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EDF1F0"/>
    <a:srgbClr val="EDF2F1"/>
    <a:srgbClr val="F2F8F1"/>
    <a:srgbClr val="F2FCF9"/>
    <a:srgbClr val="FFF6ED"/>
    <a:srgbClr val="FFFDFF"/>
    <a:srgbClr val="FAF8ED"/>
    <a:srgbClr val="FAF6E9"/>
    <a:srgbClr val="FFFDFC"/>
    <a:srgbClr val="F8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0435"/>
    <p:restoredTop sz="94582"/>
  </p:normalViewPr>
  <p:slideViewPr>
    <p:cSldViewPr snapToGrid="0" snapToObjects="1" showGuides="1">
      <p:cViewPr varScale="1">
        <p:scale>
          <a:sx n="81" d="100"/>
          <a:sy n="81" d="100"/>
        </p:scale>
        <p:origin x="96" y="282"/>
      </p:cViewPr>
      <p:guideLst>
        <p:guide orient="horz" pos="2134"/>
        <p:guide pos="29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4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6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oleObject" Target="file:///C:\Users\Administrator\Desktop\2024&#24180;&#20116;&#19968;&#33410;&#30456;&#20851;&#25968;&#25454;&#32479;&#35745;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oleObject" Target="file:///C:\Users\Administrator\Desktop\2024&#24180;&#20116;&#19968;&#33410;&#30456;&#20851;&#25968;&#25454;&#32479;&#35745;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200" b="0" i="0" u="none" strike="noStrike" kern="1200" spc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en-US" altLang="zh-CN" sz="900" b="1" i="0" u="none" strike="noStrike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2024</a:t>
            </a:r>
            <a:r>
              <a:rPr altLang="en-US" sz="900" b="1" i="0" u="none" strike="noStrike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年细分市场出租率占比情况</a:t>
            </a:r>
            <a:endParaRPr lang="en-US" altLang="zh-CN" sz="900" b="1" i="0" u="none" strike="noStrike" baseline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283417447728911"/>
          <c:y val="0.028830036875628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explosion val="0"/>
          <c:dPt>
            <c:idx val="0"/>
            <c:bubble3D val="0"/>
            <c:explosion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1">
                    <a:lumMod val="75000"/>
                    <a:alpha val="100000"/>
                  </a:schemeClr>
                </a:outerShdw>
              </a:effectLst>
            </c:spPr>
          </c:dPt>
          <c:dPt>
            <c:idx val="1"/>
            <c:bubble3D val="0"/>
            <c:explosion val="1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2">
                    <a:lumMod val="75000"/>
                    <a:alpha val="100000"/>
                  </a:schemeClr>
                </a:outerShdw>
              </a:effectLst>
            </c:spPr>
          </c:dPt>
          <c:dPt>
            <c:idx val="2"/>
            <c:bubble3D val="0"/>
            <c:explosion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3">
                    <a:lumMod val="75000"/>
                    <a:alpha val="100000"/>
                  </a:schemeClr>
                </a:outerShdw>
              </a:effectLst>
            </c:spPr>
          </c:dPt>
          <c:dPt>
            <c:idx val="3"/>
            <c:bubble3D val="0"/>
            <c:explosion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4">
                    <a:lumMod val="75000"/>
                    <a:alpha val="100000"/>
                  </a:schemeClr>
                </a:outerShdw>
              </a:effectLst>
            </c:spPr>
          </c:dPt>
          <c:dPt>
            <c:idx val="4"/>
            <c:bubble3D val="0"/>
            <c:explosion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5">
                    <a:lumMod val="75000"/>
                    <a:alpha val="100000"/>
                  </a:schemeClr>
                </a:outerShdw>
              </a:effectLst>
            </c:spPr>
          </c:dPt>
          <c:dPt>
            <c:idx val="5"/>
            <c:bubble3D val="0"/>
            <c:explosion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>
                <a:outerShdw blurRad="63500" sx="102000" sy="102000" algn="ctr" rotWithShape="0">
                  <a:schemeClr val="accent6">
                    <a:lumMod val="75000"/>
                    <a:alpha val="40000"/>
                  </a:schemeClr>
                </a:outerShdw>
              </a:effectLst>
            </c:spPr>
          </c:dPt>
          <c:dPt>
            <c:idx val="6"/>
            <c:bubble3D val="0"/>
            <c:explosion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</c:dPt>
          <c:dPt>
            <c:idx val="7"/>
            <c:bubble3D val="0"/>
            <c:explosion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</c:dPt>
          <c:dLbls>
            <c:dLbl>
              <c:idx val="0"/>
              <c:layout/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1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705118961788032"/>
                      <c:h val="0.0848139456922561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0148521989906273"/>
                  <c:y val="-0.0382165605095541"/>
                </c:manualLayout>
              </c:layout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2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609949531362653"/>
                      <c:h val="0.078779751927589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23131076097888"/>
                </c:manualLayout>
              </c:layout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3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173035328046143"/>
                  <c:y val="0.141803553469661"/>
                </c:manualLayout>
              </c:layout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4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173035328046143"/>
                  <c:y val="0.0653704324505531"/>
                </c:manualLayout>
              </c:layout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5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/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6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1"/>
            <c:spPr>
              <a:solidFill>
                <a:srgbClr val="FFFFFF"/>
              </a:solidFill>
              <a:ln w="12700"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0" vertOverflow="clip" horzOverflow="clip" vert="horz" wrap="square" lIns="36576" tIns="18288" rIns="36576" bIns="18288" anchor="ctr" anchorCtr="1" forceAA="0">
                <a:spAutoFit/>
              </a:bodyPr>
              <a:lstStyle/>
              <a:p>
                <a:pPr>
                  <a:defRPr lang="zh-CN" sz="800" b="1" i="0" u="none" strike="noStrike" kern="1200" cap="none" spc="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('C:\Users\Administrator\Desktop\[五一营收数据对比2023同期.xls]细分市场占比'!$C$5:$C$8,'C:\Users\Administrator\Desktop\[五一营收数据对比2023同期.xls]细分市场占比'!$C$10:$C$13)</c:f>
              <c:strCache>
                <c:ptCount val="8"/>
                <c:pt idx="0">
                  <c:v>商务公司散客</c:v>
                </c:pt>
                <c:pt idx="1">
                  <c:v>前台WALKIN</c:v>
                </c:pt>
                <c:pt idx="2">
                  <c:v>预订部预订</c:v>
                </c:pt>
                <c:pt idx="3">
                  <c:v>长住房</c:v>
                </c:pt>
                <c:pt idx="4">
                  <c:v>公司会议</c:v>
                </c:pt>
                <c:pt idx="5">
                  <c:v>在线旅行社</c:v>
                </c:pt>
                <c:pt idx="6">
                  <c:v>在线旅游平台</c:v>
                </c:pt>
                <c:pt idx="7">
                  <c:v>微信</c:v>
                </c:pt>
              </c:strCache>
            </c:strRef>
          </c:cat>
          <c:val>
            <c:numRef>
              <c:f>('C:\Users\Administrator\Desktop\[五一营收数据对比2023同期.xls]细分市场占比'!$G$5:$G$8,'C:\Users\Administrator\Desktop\[五一营收数据对比2023同期.xls]细分市场占比'!$G$10:$G$13)</c:f>
              <c:numCache>
                <c:formatCode>General</c:formatCode>
                <c:ptCount val="8"/>
                <c:pt idx="0">
                  <c:v>0.1227</c:v>
                </c:pt>
                <c:pt idx="1">
                  <c:v>0.0614</c:v>
                </c:pt>
                <c:pt idx="2">
                  <c:v>0.0216</c:v>
                </c:pt>
                <c:pt idx="3">
                  <c:v>0</c:v>
                </c:pt>
                <c:pt idx="4">
                  <c:v>0</c:v>
                </c:pt>
                <c:pt idx="5">
                  <c:v>0.4773</c:v>
                </c:pt>
                <c:pt idx="6">
                  <c:v>0.2034</c:v>
                </c:pt>
                <c:pt idx="7">
                  <c:v>0.0955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5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6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7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chemeClr val="tx1">
                    <a:lumMod val="65000"/>
                    <a:lumOff val="35000"/>
                  </a:schemeClr>
                </a:solidFill>
              </a:u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63500" dist="37357" dir="2700000" sx="0" sy="0" rotWithShape="0">
        <a:scrgbClr r="0" g="0" b="0"/>
      </a:outerShdw>
    </a:effectLst>
  </c:spPr>
  <c:txPr>
    <a:bodyPr wrap="square"/>
    <a:lstStyle/>
    <a:p>
      <a:pPr>
        <a:defRPr lang="zh-CN" sz="12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900" b="1" i="0" baseline="0"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</a:t>
            </a:r>
            <a:r>
              <a:rPr altLang="en-US" sz="900" b="1" i="0" baseline="0"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年细分市场出租率占比情况</a:t>
            </a:r>
            <a:endParaRPr lang="en-US" altLang="en-US" sz="900" b="1" i="0" baseline="0">
              <a:solidFill>
                <a:srgbClr val="00000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c:rich>
      </c:tx>
      <c:layout>
        <c:manualLayout>
          <c:xMode val="edge"/>
          <c:yMode val="edge"/>
          <c:x val="0.284341750039701"/>
          <c:y val="0.029093369418132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explosion val="0"/>
          <c:dPt>
            <c:idx val="0"/>
            <c:bubble3D val="0"/>
            <c:explosion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1">
                    <a:lumMod val="75000"/>
                    <a:alpha val="100000"/>
                  </a:schemeClr>
                </a:outerShdw>
              </a:effectLst>
            </c:spPr>
          </c:dPt>
          <c:dPt>
            <c:idx val="1"/>
            <c:bubble3D val="0"/>
            <c:explosion val="1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2">
                    <a:lumMod val="75000"/>
                    <a:alpha val="100000"/>
                  </a:schemeClr>
                </a:outerShdw>
              </a:effectLst>
            </c:spPr>
          </c:dPt>
          <c:dPt>
            <c:idx val="2"/>
            <c:bubble3D val="0"/>
            <c:explosion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3">
                    <a:lumMod val="75000"/>
                    <a:alpha val="100000"/>
                  </a:schemeClr>
                </a:outerShdw>
              </a:effectLst>
            </c:spPr>
          </c:dPt>
          <c:dPt>
            <c:idx val="3"/>
            <c:bubble3D val="0"/>
            <c:explosion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4">
                    <a:lumMod val="75000"/>
                    <a:alpha val="100000"/>
                  </a:schemeClr>
                </a:outerShdw>
              </a:effectLst>
            </c:spPr>
          </c:dPt>
          <c:dPt>
            <c:idx val="4"/>
            <c:bubble3D val="0"/>
            <c:explosion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>
                <a:outerShdw blurRad="63500" algn="ctr" rotWithShape="0">
                  <a:schemeClr val="accent5">
                    <a:lumMod val="75000"/>
                    <a:alpha val="100000"/>
                  </a:schemeClr>
                </a:outerShdw>
              </a:effectLst>
            </c:spPr>
          </c:dPt>
          <c:dPt>
            <c:idx val="5"/>
            <c:bubble3D val="0"/>
            <c:explosion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>
                <a:outerShdw blurRad="63500" sx="102000" sy="102000" algn="ctr" rotWithShape="0">
                  <a:schemeClr val="accent6">
                    <a:lumMod val="75000"/>
                    <a:alpha val="40000"/>
                  </a:schemeClr>
                </a:outerShdw>
              </a:effectLst>
            </c:spPr>
          </c:dPt>
          <c:dPt>
            <c:idx val="6"/>
            <c:bubble3D val="0"/>
            <c:explosion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</c:dPt>
          <c:dPt>
            <c:idx val="7"/>
            <c:bubble3D val="0"/>
            <c:explosion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c:spPr>
          </c:dPt>
          <c:dLbls>
            <c:dLbl>
              <c:idx val="0"/>
              <c:layout>
                <c:manualLayout>
                  <c:x val="0.0254089248848658"/>
                  <c:y val="0"/>
                </c:manualLayout>
              </c:layout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1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2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00174686358583452"/>
                  <c:y val="-0.0233423545331529"/>
                </c:manualLayout>
              </c:layout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3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4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5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solidFill>
                  <a:srgbClr val="FFFFFF"/>
                </a:solidFill>
                <a:ln w="12700">
                  <a:solidFill>
                    <a:schemeClr val="accent6"/>
                  </a:solidFill>
                </a:ln>
                <a:effectLst/>
              </c:spPr>
              <c:txPr>
                <a:bodyPr rot="0" spcFirstLastPara="0" vertOverflow="clip" horzOverflow="clip" vert="horz" wrap="square" lIns="36576" tIns="18288" rIns="36576" bIns="18288" anchor="ctr" anchorCtr="1" forceAA="0">
                  <a:spAutoFit/>
                </a:bodyPr>
                <a:lstStyle/>
                <a:p>
                  <a:pPr>
                    <a:defRPr lang="zh-CN" sz="800" b="1" i="0" u="none" strike="noStrike" kern="1200" cap="none" normalizeH="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uFill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u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1"/>
            <c:spPr>
              <a:solidFill>
                <a:srgbClr val="FFFFFF"/>
              </a:solidFill>
              <a:ln w="12700"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0" vertOverflow="clip" horzOverflow="clip" vert="horz" wrap="square" lIns="36576" tIns="18288" rIns="36576" bIns="18288" anchor="ctr" anchorCtr="1" forceAA="0">
                <a:spAutoFit/>
              </a:bodyPr>
              <a:lstStyle/>
              <a:p>
                <a:pPr>
                  <a:defRPr lang="zh-CN" sz="800" b="1" i="0" u="none" strike="noStrike" kern="1200" cap="none" spc="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('C:\Users\Administrator\Desktop\[五一营收数据对比2023同期.xls]细分市场占比'!$C$5:$C$8,'C:\Users\Administrator\Desktop\[五一营收数据对比2023同期.xls]细分市场占比'!$C$10:$C$13)</c:f>
              <c:strCache>
                <c:ptCount val="8"/>
                <c:pt idx="0">
                  <c:v>商务公司散客</c:v>
                </c:pt>
                <c:pt idx="1">
                  <c:v>前台WALKIN</c:v>
                </c:pt>
                <c:pt idx="2">
                  <c:v>预订部预订</c:v>
                </c:pt>
                <c:pt idx="3">
                  <c:v>长住房</c:v>
                </c:pt>
                <c:pt idx="4">
                  <c:v>公司会议</c:v>
                </c:pt>
                <c:pt idx="5">
                  <c:v>在线旅行社</c:v>
                </c:pt>
                <c:pt idx="6">
                  <c:v>在线旅游平台</c:v>
                </c:pt>
                <c:pt idx="7">
                  <c:v>微信</c:v>
                </c:pt>
              </c:strCache>
            </c:strRef>
          </c:cat>
          <c:val>
            <c:numRef>
              <c:f>('C:\Users\Administrator\Desktop\[五一营收数据对比2023同期.xls]细分市场占比'!$H$5:$H$8,'C:\Users\Administrator\Desktop\[五一营收数据对比2023同期.xls]细分市场占比'!$H$10:$H$13)</c:f>
              <c:numCache>
                <c:formatCode>General</c:formatCode>
                <c:ptCount val="8"/>
                <c:pt idx="0">
                  <c:v>0.0491803278688525</c:v>
                </c:pt>
                <c:pt idx="1">
                  <c:v>0.125292740046838</c:v>
                </c:pt>
                <c:pt idx="2">
                  <c:v>0.031615925058548</c:v>
                </c:pt>
                <c:pt idx="3">
                  <c:v>0.00585480093676815</c:v>
                </c:pt>
                <c:pt idx="4">
                  <c:v>0.154566744730679</c:v>
                </c:pt>
                <c:pt idx="5">
                  <c:v>0.312646370023419</c:v>
                </c:pt>
                <c:pt idx="6">
                  <c:v>0.289227166276347</c:v>
                </c:pt>
                <c:pt idx="7">
                  <c:v>0.0128805620608899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5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6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7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chemeClr val="tx1">
                    <a:lumMod val="65000"/>
                    <a:lumOff val="35000"/>
                  </a:schemeClr>
                </a:solidFill>
              </a:u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63500" dist="37357" dir="2700000" sx="0" sy="0" rotWithShape="0">
        <a:scrgbClr r="0" g="0" b="0"/>
      </a:outerShdw>
    </a:effectLst>
  </c:spPr>
  <c:txPr>
    <a:bodyPr wrap="square"/>
    <a:lstStyle/>
    <a:p>
      <a:pPr>
        <a:defRPr lang="zh-CN" sz="12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025A3804-3572-4E01-A9AC-0ADB2ABDB742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9CB63C96-D89E-4FB2-B49A-D78C4E042C1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B71BDBAA-787B-EC44-A4CE-CC8A00B8C5D1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1024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备注占位符 4"/>
          <p:cNvSpPr>
            <a:spLocks noGrp="1"/>
          </p:cNvSpPr>
          <p:nvPr>
            <p:ph type="body" sz="quarter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431E5A13-F76E-9941-B676-BA818753D89B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7.jpeg"/><Relationship Id="rId7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tags" Target="../tags/tag4.xml"/><Relationship Id="rId4" Type="http://schemas.openxmlformats.org/officeDocument/2006/relationships/image" Target="../media/image5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image" Target="../media/image10.png"/><Relationship Id="rId13" Type="http://schemas.openxmlformats.org/officeDocument/2006/relationships/tags" Target="../tags/tag8.xml"/><Relationship Id="rId12" Type="http://schemas.openxmlformats.org/officeDocument/2006/relationships/image" Target="../media/image9.png"/><Relationship Id="rId11" Type="http://schemas.openxmlformats.org/officeDocument/2006/relationships/tags" Target="../tags/tag7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352425" y="1322388"/>
            <a:ext cx="8791575" cy="3511550"/>
          </a:xfrm>
          <a:prstGeom prst="rect">
            <a:avLst/>
          </a:prstGeom>
          <a:solidFill>
            <a:srgbClr val="0040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4099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6563" y="728663"/>
            <a:ext cx="3627437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2999" y="1644139"/>
            <a:ext cx="7220607" cy="860699"/>
          </a:xfrm>
        </p:spPr>
        <p:txBody>
          <a:bodyPr anchor="b"/>
          <a:lstStyle>
            <a:lvl1pPr algn="ctr">
              <a:defRPr sz="4500" b="1" i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en-US" strike="noStrike" noProof="1" dirty="0"/>
              <a:t>XX</a:t>
            </a:r>
            <a:r>
              <a:rPr lang="zh-CN" altLang="en-US" strike="noStrike" noProof="1" dirty="0"/>
              <a:t>项目立项报告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561560"/>
            <a:ext cx="6858000" cy="596881"/>
          </a:xfr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dirty="0"/>
              <a:t>汇报部门：</a:t>
            </a:r>
            <a:endParaRPr lang="en-US" altLang="zh-CN" strike="noStrike" noProof="1" dirty="0"/>
          </a:p>
          <a:p>
            <a:pPr fontAlgn="auto"/>
            <a:r>
              <a:rPr lang="zh-CN" altLang="en-US" strike="noStrike" noProof="1" dirty="0"/>
              <a:t>参与部门：</a:t>
            </a:r>
            <a:endParaRPr lang="en-US" altLang="zh-CN" strike="noStrike" noProof="1" dirty="0"/>
          </a:p>
          <a:p>
            <a:pPr fontAlgn="auto"/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5B5B07F-329A-F240-A093-64DA3B5382A0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kumimoji="1"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C32CA631-AA85-194B-B519-15D1C06A3468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bk object 16"/>
          <p:cNvSpPr/>
          <p:nvPr userDrawn="1"/>
        </p:nvSpPr>
        <p:spPr>
          <a:xfrm>
            <a:off x="0" y="0"/>
            <a:ext cx="9142413" cy="5149850"/>
          </a:xfrm>
          <a:custGeom>
            <a:avLst/>
            <a:gdLst/>
            <a:ahLst/>
            <a:cxnLst/>
            <a:rect l="l" t="t" r="r" b="b"/>
            <a:pathLst>
              <a:path w="14399894" h="8099425">
                <a:moveTo>
                  <a:pt x="0" y="8099425"/>
                </a:moveTo>
                <a:lnTo>
                  <a:pt x="14399894" y="8099425"/>
                </a:lnTo>
                <a:lnTo>
                  <a:pt x="14399894" y="0"/>
                </a:lnTo>
                <a:lnTo>
                  <a:pt x="0" y="0"/>
                </a:lnTo>
                <a:lnTo>
                  <a:pt x="0" y="8099425"/>
                </a:lnTo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85" name="bk object 17"/>
          <p:cNvSpPr/>
          <p:nvPr userDrawn="1"/>
        </p:nvSpPr>
        <p:spPr>
          <a:xfrm>
            <a:off x="330200" y="338138"/>
            <a:ext cx="96838" cy="158750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86" name="bk object 18"/>
          <p:cNvSpPr/>
          <p:nvPr userDrawn="1"/>
        </p:nvSpPr>
        <p:spPr>
          <a:xfrm>
            <a:off x="7704138" y="4792663"/>
            <a:ext cx="1312863" cy="173038"/>
          </a:xfrm>
          <a:prstGeom prst="rect">
            <a:avLst/>
          </a:prstGeom>
          <a:blipFill>
            <a:blip r:embed="rId3" cstate="screen"/>
            <a:stretch>
              <a:fillRect/>
            </a:stretch>
          </a:blipFill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87" name="bk object 19"/>
          <p:cNvSpPr/>
          <p:nvPr userDrawn="1"/>
        </p:nvSpPr>
        <p:spPr>
          <a:xfrm>
            <a:off x="331788" y="617538"/>
            <a:ext cx="8812213" cy="0"/>
          </a:xfrm>
          <a:custGeom>
            <a:avLst/>
            <a:gdLst/>
            <a:ahLst/>
            <a:cxnLst/>
            <a:rect l="l" t="t" r="r" b="b"/>
            <a:pathLst>
              <a:path w="13878560">
                <a:moveTo>
                  <a:pt x="0" y="0"/>
                </a:moveTo>
                <a:lnTo>
                  <a:pt x="13878305" y="0"/>
                </a:lnTo>
              </a:path>
            </a:pathLst>
          </a:custGeom>
          <a:ln w="7619">
            <a:solidFill>
              <a:srgbClr val="004083"/>
            </a:solidFill>
          </a:ln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91" name="矩形 5"/>
          <p:cNvSpPr/>
          <p:nvPr userDrawn="1"/>
        </p:nvSpPr>
        <p:spPr>
          <a:xfrm>
            <a:off x="314325" y="830263"/>
            <a:ext cx="8515350" cy="38211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145" strike="noStrike" noProof="1"/>
          </a:p>
        </p:txBody>
      </p:sp>
      <p:pic>
        <p:nvPicPr>
          <p:cNvPr id="5127" name="图片 4" descr="169138328617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799388" y="185738"/>
            <a:ext cx="1122362" cy="371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588" name="Holder 2"/>
          <p:cNvSpPr>
            <a:spLocks noGrp="1"/>
          </p:cNvSpPr>
          <p:nvPr>
            <p:ph type="ftr" sz="quarter" idx="5"/>
          </p:nvPr>
        </p:nvSpPr>
        <p:spPr>
          <a:xfrm>
            <a:off x="3108325" y="4784725"/>
            <a:ext cx="2927350" cy="2571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</a:p>
        </p:txBody>
      </p:sp>
      <p:sp>
        <p:nvSpPr>
          <p:cNvPr id="1048589" name="Holder 3"/>
          <p:cNvSpPr>
            <a:spLocks noGrp="1"/>
          </p:cNvSpPr>
          <p:nvPr>
            <p:ph type="dt" sz="half" idx="6"/>
          </p:nvPr>
        </p:nvSpPr>
        <p:spPr>
          <a:xfrm>
            <a:off x="457200" y="4784725"/>
            <a:ext cx="2103438" cy="2571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82641E9F-5671-4675-817B-A6B3E01E25F2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1048590" name="Holder 4"/>
          <p:cNvSpPr>
            <a:spLocks noGrp="1"/>
          </p:cNvSpPr>
          <p:nvPr>
            <p:ph type="sldNum" sz="quarter" idx="7"/>
          </p:nvPr>
        </p:nvSpPr>
        <p:spPr>
          <a:xfrm>
            <a:off x="5551488" y="4816475"/>
            <a:ext cx="2103438" cy="1762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6F15528-21DE-4FAA-801E-634DDDAF4B2B}" type="slidenum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352425" y="2078038"/>
            <a:ext cx="8791575" cy="2549525"/>
          </a:xfrm>
          <a:prstGeom prst="rect">
            <a:avLst/>
          </a:prstGeom>
          <a:solidFill>
            <a:srgbClr val="0040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147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37313" y="1543050"/>
            <a:ext cx="2581275" cy="554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9600" y="4216400"/>
            <a:ext cx="2070100" cy="200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图片 9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94350" y="2921000"/>
            <a:ext cx="563563" cy="552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图片 1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68650" y="2852738"/>
            <a:ext cx="2144713" cy="590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1" name="图片 7" descr="2023中旅品牌LOGO总合集-08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17278"/>
          <a:stretch>
            <a:fillRect/>
          </a:stretch>
        </p:blipFill>
        <p:spPr>
          <a:xfrm>
            <a:off x="1443038" y="4695825"/>
            <a:ext cx="5340350" cy="323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2" name="图片 2"/>
          <p:cNvPicPr/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07975" y="4670425"/>
            <a:ext cx="1060450" cy="349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B7926DD-1871-674B-AB8F-61C9F0EC0E7B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kumimoji="1"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FD4A07E-2F74-E940-AE14-93D7279D04BD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图片 4" descr="169138328617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5563" y="184150"/>
            <a:ext cx="1249362" cy="412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图片 4" descr="169138328617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5563" y="184150"/>
            <a:ext cx="1249362" cy="412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
第二级
第三级
第四级
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5B5B07F-329A-F240-A093-64DA3B5382A0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C32CA631-AA85-194B-B519-15D1C06A3468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B7926DD-1871-674B-AB8F-61C9F0EC0E7B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1FD4A07E-2F74-E940-AE14-93D7279D04BD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628650" y="819150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628650" y="1873250"/>
            <a:ext cx="7886700" cy="26368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编辑母版文本样式
第二级
第三级
第四级
第五级</a:t>
            </a:r>
            <a:endParaRPr lang="zh-CN" altLang="en-US" dirty="0"/>
          </a:p>
        </p:txBody>
      </p:sp>
      <p:pic>
        <p:nvPicPr>
          <p:cNvPr id="3076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788" y="338138"/>
            <a:ext cx="95250" cy="160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04138" y="4794250"/>
            <a:ext cx="1314450" cy="17303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2" name="直线连接符 11"/>
          <p:cNvCxnSpPr/>
          <p:nvPr userDrawn="1"/>
        </p:nvCxnSpPr>
        <p:spPr>
          <a:xfrm>
            <a:off x="331788" y="617538"/>
            <a:ext cx="8812213" cy="0"/>
          </a:xfrm>
          <a:prstGeom prst="line">
            <a:avLst/>
          </a:prstGeom>
          <a:ln w="1270">
            <a:solidFill>
              <a:srgbClr val="0040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49300" y="1763395"/>
            <a:ext cx="7950200" cy="1389380"/>
          </a:xfrm>
        </p:spPr>
        <p:txBody>
          <a:bodyPr anchor="b">
            <a:noAutofit/>
          </a:bodyPr>
          <a:lstStyle/>
          <a:p>
            <a:pPr marL="0" marR="0" indent="0" algn="ctr" defTabSz="6858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重庆丽苑维景国际大酒店</a:t>
            </a:r>
            <a:b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4000" b="1" i="0" u="none" strike="noStrike" kern="1200" cap="none" spc="0" normalizeH="0" baseline="0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2024</a:t>
            </a:r>
            <a:r>
              <a:rPr kumimoji="0" lang="zh-CN" altLang="en-US" sz="4000" b="1" i="0" u="none" strike="noStrike" kern="1200" cap="none" spc="0" normalizeH="0" baseline="0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年五一经营分析汇报</a:t>
            </a:r>
            <a:endParaRPr kumimoji="1" lang="zh-CN" altLang="en-US" sz="4000" b="1" i="0" u="none" strike="noStrike" kern="1200" cap="none" spc="0" normalizeH="0" baseline="0" noProof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26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40000" y="3427730"/>
            <a:ext cx="4570095" cy="596900"/>
          </a:xfrm>
        </p:spPr>
        <p:txBody>
          <a:bodyPr vert="horz" lIns="91440" tIns="45720" rIns="91440" bIns="45720" anchor="t" anchorCtr="0"/>
          <a:p>
            <a:pPr defTabSz="685800">
              <a:buClrTx/>
              <a:buSzTx/>
            </a:pP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汇报部门：市场</a:t>
            </a:r>
            <a:r>
              <a: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营销部</a:t>
            </a:r>
            <a:endParaRPr lang="zh-CN" altLang="en-US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67" name="副标题 2"/>
          <p:cNvSpPr txBox="1"/>
          <p:nvPr/>
        </p:nvSpPr>
        <p:spPr>
          <a:xfrm>
            <a:off x="7107238" y="4456113"/>
            <a:ext cx="6858000" cy="5969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endParaRPr lang="zh-CN" altLang="en-US" sz="1400" dirty="0">
              <a:solidFill>
                <a:srgbClr val="AFAB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4035" y="218440"/>
            <a:ext cx="462851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经营</a:t>
            </a:r>
            <a:r>
              <a:rPr lang="zh-CN" altLang="en-US" sz="1400" b="1" noProof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完成情况</a:t>
            </a:r>
            <a:r>
              <a:rPr lang="en-US" altLang="zh-CN" sz="1400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altLang="zh-CN" b="1" noProof="0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32080" y="604520"/>
          <a:ext cx="8955405" cy="3009900"/>
        </p:xfrm>
        <a:graphic>
          <a:graphicData uri="http://schemas.openxmlformats.org/drawingml/2006/table">
            <a:tbl>
              <a:tblPr/>
              <a:tblGrid>
                <a:gridCol w="1599565"/>
                <a:gridCol w="1101090"/>
                <a:gridCol w="1101090"/>
                <a:gridCol w="1099820"/>
                <a:gridCol w="925830"/>
                <a:gridCol w="1100455"/>
                <a:gridCol w="1101725"/>
                <a:gridCol w="925830"/>
              </a:tblGrid>
              <a:tr h="250825">
                <a:tc grid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2024年4月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同比2023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类别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实际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预算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差额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差异%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2023实际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差额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差异%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客房收入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2571735.46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2650210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-78474.5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-3.0%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3127795.13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-556059.7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-17.8%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84.93%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83.66%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1.5%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90.48%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-5.6%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-6.1%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平均房价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406.98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425.80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-18.8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-4.4%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464.62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-57.6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-12.4%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每房收益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345.65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356.22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-10.6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-3.0%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420.38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-74.7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-17.8%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餐饮收入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921629.4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932600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-10970.6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-1.2%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827764.35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93865.0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11.3%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餐厅收入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502215.42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422000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80215.4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19.0%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482064.38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20151.0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4.2%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宴会收入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419413.98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510600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-91186.0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-17.9%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345699.97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73714.0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21.3%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其他及杂项收入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23440.6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130318.55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-106878.0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-82.0%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45849.76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-22409.2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-48.9%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租赁收入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131227.16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463530.69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-332303.5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-71.7%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344453.33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-213226.2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-61.9%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合计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3648032.62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4176659.24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-528626.6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-12.7%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4345862.57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-697829.9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</a:rPr>
                        <a:t>-16.1%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0" y="3642995"/>
            <a:ext cx="8879205" cy="2068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（1）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月客房收入完成预算的9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7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，差预算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7.8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；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收入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同比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下降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7.8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%；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（2）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月餐饮收入完成预算的9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8.8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差预算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1.1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万元，其中餐厅收入超预算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19%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，宴会收入差预算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17.9%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；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同比23年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餐饮收入增长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11.3%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，宴会板块增幅较多，增长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21.3%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。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（3）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月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减免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1-4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月租金共计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24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万元，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租赁收入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仅完成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13.1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万元，完成预算的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28.3%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；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（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其他及杂项收入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完成预算的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18%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，差额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10.7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；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（4）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月营业总收入完成预算的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87.3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%，差预算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52.9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，同比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23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年收入营业总收入下降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16.1%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；</a:t>
            </a:r>
            <a:endParaRPr lang="zh-CN" altLang="en-US" sz="9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4035" y="218440"/>
            <a:ext cx="462851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对标数值（</a:t>
            </a:r>
            <a:r>
              <a:rPr lang="zh-CN" alt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本区酒店</a:t>
            </a:r>
            <a:r>
              <a:rPr lang="zh-CN" alt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400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altLang="zh-CN" b="1" noProof="0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8425" y="2857500"/>
          <a:ext cx="8929370" cy="2286000"/>
        </p:xfrm>
        <a:graphic>
          <a:graphicData uri="http://schemas.openxmlformats.org/drawingml/2006/table">
            <a:tbl>
              <a:tblPr/>
              <a:tblGrid>
                <a:gridCol w="1452245"/>
                <a:gridCol w="910590"/>
                <a:gridCol w="746125"/>
                <a:gridCol w="1096010"/>
                <a:gridCol w="765810"/>
                <a:gridCol w="685165"/>
                <a:gridCol w="685800"/>
                <a:gridCol w="787400"/>
                <a:gridCol w="916305"/>
                <a:gridCol w="883920"/>
              </a:tblGrid>
              <a:tr h="18034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酒店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1-4月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Available Rooms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可售房总数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Room Sold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出租房间数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Room Revenue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房费收入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Occupancy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出租率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ADR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平均房价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RevPAR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每房收益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MPI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出租率指数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ARI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平均房价指数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RGI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每房收益指数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本酒店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248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30008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24022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9,456,658.86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80.05%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393.67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315.14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131.67%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0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102.35%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FD68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134.76%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E7B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竞争群平均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146289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88937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34,209,083.55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60.80%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384.65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233.85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180340">
                <a:tc gridSpan="8"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 gridSpan="2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全季酒店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20086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16611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5,899,758.57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82.70%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355.18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293.72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136.03%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92.34%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1CC8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125.61%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CCA7E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亚朵酒店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12705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9185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3,494,726.31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72.29%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380.48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275.07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118.91%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CCC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98.92%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D28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117.63%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D480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融汇国际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430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52030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26371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12,991,032.91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50.68%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492.62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249.68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83.37%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6B6D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128.07%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9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106.77%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283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沙磁公馆+时光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22506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14383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4,810,286.85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63.91%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334.44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213.73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105.12%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A6A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86.95%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C78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91.40%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C77D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融汇上泉坊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15851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9587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3,035,898.47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60.48%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316.68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191.53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99.48%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97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82.33%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2C27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81.90%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9A7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岷山饭店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13310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7878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2,344,563.56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59.19%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297.61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176.15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97.36%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919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77.37%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75.33%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7C6E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悦磁酒店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9801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4922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1,632,816.88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50.22%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331.77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166.60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82.60%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86.25%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EC68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71.24%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69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106680" y="553720"/>
          <a:ext cx="8921115" cy="2311400"/>
        </p:xfrm>
        <a:graphic>
          <a:graphicData uri="http://schemas.openxmlformats.org/drawingml/2006/table">
            <a:tbl>
              <a:tblPr/>
              <a:tblGrid>
                <a:gridCol w="1517650"/>
                <a:gridCol w="842010"/>
                <a:gridCol w="741680"/>
                <a:gridCol w="1096645"/>
                <a:gridCol w="763270"/>
                <a:gridCol w="684530"/>
                <a:gridCol w="682625"/>
                <a:gridCol w="789305"/>
                <a:gridCol w="914400"/>
                <a:gridCol w="889000"/>
              </a:tblGrid>
              <a:tr h="18224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酒店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4月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60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Available Rooms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可售房总数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Room Sold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出租房间数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Room Revenue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房费收入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Occupancy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出租率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ADR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平均房价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RevPAR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每房收益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MPI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出租率指数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ARI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平均房价指数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等线" panose="02010600030101010101" charset="-122"/>
                        </a:rPr>
                        <a:t>RGI</a:t>
                      </a:r>
                      <a:endParaRPr 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每房收益指数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092"/>
                    </a:solidFill>
                  </a:tcPr>
                </a:tc>
              </a:tr>
              <a:tr h="182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本酒店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248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7440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6319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2,725,926.87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84.93%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431.40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366.39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118.27%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0F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113.60%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134.35%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E7B"/>
                    </a:solidFill>
                  </a:tcPr>
                </a:tc>
              </a:tr>
              <a:tr h="1816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竞争群平均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36270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26047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9,890,920.91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71.81%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379.74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272.70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18288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 gridSpan="2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2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全季酒店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4980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4323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1,694,474.88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86.80%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392.00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340.26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120.87%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103.23%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DB8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124.77%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ACA7E"/>
                    </a:solidFill>
                  </a:tcPr>
                </a:tc>
              </a:tr>
              <a:tr h="182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亚朵酒店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3150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2583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1,056,447.00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82.00%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409.00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335.38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114.19%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DFE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107.71%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09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122.98%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CC7E"/>
                    </a:solidFill>
                  </a:tcPr>
                </a:tc>
              </a:tr>
              <a:tr h="182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融汇国际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430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12900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8057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3,675,194.49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62.46%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456.13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284.90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86.98%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120.12%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F9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104.47%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182"/>
                    </a:solidFill>
                  </a:tcPr>
                </a:tc>
              </a:tr>
              <a:tr h="182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悦磁酒店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2430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1750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577,368.00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72.00%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330.00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237.60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100.26%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A2A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86.90%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5C88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87.13%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9F75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岷山饭店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3300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2465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761,370.79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74.70%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308.86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230.72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104.02%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2B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81.33%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C27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84.60%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8971"/>
                    </a:solidFill>
                  </a:tcPr>
                </a:tc>
              </a:tr>
              <a:tr h="182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沙磁公馆+时光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5580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3918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1,259,373.09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70.22%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321.41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225.69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97.78%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979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84.64%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DC68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82.76%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796E"/>
                    </a:solidFill>
                  </a:tcPr>
                </a:tc>
              </a:tr>
              <a:tr h="1822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融汇上泉坊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3930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2951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866,692.66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75.08%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293.73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 220.53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104.55%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5B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77.35%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80.87%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69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4035" y="218440"/>
            <a:ext cx="462851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客房细分市场</a:t>
            </a:r>
            <a:r>
              <a:rPr lang="en-US" altLang="zh-CN" sz="1400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altLang="zh-CN" b="1" noProof="0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67005" y="579120"/>
          <a:ext cx="8907145" cy="3032760"/>
        </p:xfrm>
        <a:graphic>
          <a:graphicData uri="http://schemas.openxmlformats.org/drawingml/2006/table">
            <a:tbl>
              <a:tblPr/>
              <a:tblGrid>
                <a:gridCol w="846455"/>
                <a:gridCol w="768350"/>
                <a:gridCol w="541655"/>
                <a:gridCol w="655320"/>
                <a:gridCol w="654685"/>
                <a:gridCol w="654050"/>
                <a:gridCol w="655320"/>
                <a:gridCol w="654050"/>
                <a:gridCol w="654050"/>
                <a:gridCol w="655955"/>
                <a:gridCol w="857885"/>
                <a:gridCol w="655320"/>
                <a:gridCol w="654050"/>
              </a:tblGrid>
              <a:tr h="317500">
                <a:tc gridSpan="2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类别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2024年4月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2023年4月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同比23年差额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2024年累计</a:t>
                      </a:r>
                      <a:endParaRPr lang="en-US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酒店直接预订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前台及预订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间夜占比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平均房价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间夜占比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平均房价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间夜占比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平均房价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间夜占比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平均房价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实际收入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预算收入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预算达成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</a:tr>
              <a:tr h="2171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469.8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11.5%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570.94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-3.5%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-101.1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10.8%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406.3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1057320.5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1030500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102.6%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330">
                <a:tc gridSpan="2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商务公司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15.2%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376.8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390.26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3.2%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-13.5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12.1%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354.6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1031910.3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1715000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60.2%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965">
                <a:tc rowSpan="4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线上公开散客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OTA</a:t>
                      </a:r>
                      <a:endParaRPr lang="en-US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26.3%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438.1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20.5%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536.89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5.8%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-98.8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33.4%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397.2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5359424.4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4588116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116.8%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OTP</a:t>
                      </a:r>
                      <a:endParaRPr lang="en-US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420.1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514.76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-2.0%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-94.6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16.5%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380.8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新媒体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79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微信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372.1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3.7%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436.32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3.3%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-64.3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342.8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6535">
                <a:tc rowSpan="3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会议团队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政府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1432673.4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1886655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75.9%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公司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28.8%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398.5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35.1%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411.9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-6.4%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-13.4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16.8%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354.2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单团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 gridSpan="2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批发商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0.4%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326.5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441.74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-115.3 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333.8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26372.7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102460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25.7%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695">
                <a:tc gridSpan="2">
                  <a:txBody>
                    <a:bodyPr/>
                    <a:p>
                      <a:pPr indent="0">
                        <a:buNone/>
                      </a:pPr>
                      <a:r>
                        <a:rPr lang="zh-CN" sz="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长住房</a:t>
                      </a:r>
                      <a:endParaRPr lang="zh-CN" altLang="en-US" sz="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424.53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-0.5%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543.3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10865.9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28700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900" b="0">
                          <a:solidFill>
                            <a:srgbClr val="FF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37.9%</a:t>
                      </a:r>
                      <a:endParaRPr lang="en-US" altLang="en-US" sz="900" b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64465" y="3582670"/>
            <a:ext cx="8745855" cy="1033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1. 酒店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直接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预订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间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夜量占比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8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%，同比23年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减少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3.5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%；年累计间夜量占比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10.8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%，收入完成预算的10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2.6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%；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 商务散客间夜量占比1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5.2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%。同比23年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增加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%；年累计间夜量占比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12.1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%，收入完成预算的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60.2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%。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 线上公开散客（按预算归口包含会员）间夜量占比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46.3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，同比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23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年增加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7.1%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；年累计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间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夜量占比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57.9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%，收入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535.9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万元，完成预算的11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6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.8%；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4. 会议团队间夜量占比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28.8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%，同比23年减少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6.4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%；年累计间夜量占比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16.8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%，收入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143.3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万元，完成预算的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75.9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%；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5. 批发商间夜量占比0.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%；年累计间夜量占比为0.3%，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收入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2.6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万元，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完成预算的2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5.7%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；</a:t>
            </a:r>
            <a:endParaRPr sz="9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6.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均价同比情况：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由于</a:t>
            </a:r>
            <a:r>
              <a:rPr 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2024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同比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2023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年</a:t>
            </a:r>
            <a:r>
              <a:rPr lang="en-US" alt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4</a:t>
            </a:r>
            <a:r>
              <a:rPr lang="zh-CN" altLang="en-US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月市场热度差距较大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，本月平均房价同比</a:t>
            </a:r>
            <a:r>
              <a:rPr lang="zh-CN"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去年</a:t>
            </a:r>
            <a:r>
              <a:rPr sz="9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均为下降趋势；</a:t>
            </a:r>
            <a:endParaRPr lang="zh-CN" altLang="en-US" sz="90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4035" y="218440"/>
            <a:ext cx="462851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 noProof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五一节营收数据同比情况</a:t>
            </a:r>
            <a:r>
              <a:rPr lang="en-US" altLang="zh-CN" sz="1400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altLang="zh-CN" b="1" noProof="0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596900"/>
            <a:ext cx="9133840" cy="1817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1265"/>
            <a:ext cx="3268980" cy="1902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170" y="2508885"/>
            <a:ext cx="3008630" cy="19005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530" y="2508885"/>
            <a:ext cx="2870200" cy="190246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4035" y="218440"/>
            <a:ext cx="462851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 noProof="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五一节细分市场同比情况</a:t>
            </a:r>
            <a:r>
              <a:rPr lang="en-US" altLang="zh-CN" sz="1400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b="1" noProof="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altLang="zh-CN" b="1" noProof="0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327025" y="603250"/>
          <a:ext cx="8686800" cy="2344420"/>
        </p:xfrm>
        <a:graphic>
          <a:graphicData uri="http://schemas.openxmlformats.org/drawingml/2006/table">
            <a:tbl>
              <a:tblPr/>
              <a:tblGrid>
                <a:gridCol w="643890"/>
                <a:gridCol w="1110615"/>
                <a:gridCol w="685165"/>
                <a:gridCol w="683895"/>
                <a:gridCol w="684530"/>
                <a:gridCol w="812800"/>
                <a:gridCol w="813435"/>
                <a:gridCol w="812800"/>
                <a:gridCol w="814070"/>
                <a:gridCol w="812800"/>
                <a:gridCol w="812800"/>
              </a:tblGrid>
              <a:tr h="18034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细分市场对比统计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出租率占比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平均房价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房费收入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类别代码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类别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2024年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2023年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差额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2024年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2023年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差额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2024年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2023年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差额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COM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免费房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NLA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商务公司散客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12.3%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4.9%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7.4%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565.4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809.4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-244.0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61064.2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33993.4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27070.8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RAC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前台WALKIN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6.1%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12.5%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-6.4%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647.0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864.2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-217.2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34940.6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92471.7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-57531.1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RES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预订部预订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2.2%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3.2%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-1.0%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541.6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1192.8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-651.2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10290.6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32204.7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-21914.2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LSR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长住房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-0.6%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424.5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-424.5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2122.6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-2122.6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HSE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内用房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1.7%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1.8%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-0.1%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MTC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公司会议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15.5%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-15.5%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508.6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-508.6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67132.1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-67132.1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OTA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在线旅行社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47.7%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31.3%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16.5%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646.7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922.7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-276.0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271621.9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246351.8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25270.1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OTP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在线旅游平台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20.3%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28.9%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-8.6%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594.6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819.9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-225.3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106435.1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202516.0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-96080.9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TPA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微信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9.6%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1.3%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8.3%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539.9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536.9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45349.1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5905.7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39443.4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合计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100.0%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100.0%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0.0%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601.9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799.4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-197.5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529701.3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682698.0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等线" panose="02010600030101010101" charset="-122"/>
                        </a:rPr>
                        <a:t>-152996.7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35" name="图表 8" descr="7b0a202020202263686172745265734964223a20223230343736303937220a7d0a"/>
          <p:cNvGraphicFramePr/>
          <p:nvPr/>
        </p:nvGraphicFramePr>
        <p:xfrm>
          <a:off x="327025" y="2974975"/>
          <a:ext cx="4462145" cy="1894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336" name="图表 9" descr="7b0a202020202263686172745265734964223a20223230343736303937220a7d0a"/>
          <p:cNvGraphicFramePr/>
          <p:nvPr/>
        </p:nvGraphicFramePr>
        <p:xfrm>
          <a:off x="4789170" y="2974975"/>
          <a:ext cx="4203065" cy="188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TABLE_ENDDRAG_ORIGIN_RECT" val="705*237"/>
  <p:tag name="TABLE_ENDDRAG_RECT" val="10*47*705*237"/>
</p:tagLst>
</file>

<file path=ppt/tags/tag12.xml><?xml version="1.0" encoding="utf-8"?>
<p:tagLst xmlns:p="http://schemas.openxmlformats.org/presentationml/2006/main">
  <p:tag name="TABLE_ENDDRAG_ORIGIN_RECT" val="703*180"/>
  <p:tag name="TABLE_ENDDRAG_RECT" val="8*225*703*180"/>
</p:tagLst>
</file>

<file path=ppt/tags/tag13.xml><?xml version="1.0" encoding="utf-8"?>
<p:tagLst xmlns:p="http://schemas.openxmlformats.org/presentationml/2006/main">
  <p:tag name="TABLE_ENDDRAG_ORIGIN_RECT" val="702*182"/>
  <p:tag name="TABLE_ENDDRAG_RECT" val="8*43*702*182"/>
</p:tagLst>
</file>

<file path=ppt/tags/tag14.xml><?xml version="1.0" encoding="utf-8"?>
<p:tagLst xmlns:p="http://schemas.openxmlformats.org/presentationml/2006/main">
  <p:tag name="TABLE_ENDDRAG_ORIGIN_RECT" val="701*238"/>
  <p:tag name="TABLE_ENDDRAG_RECT" val="13*45*701*238"/>
</p:tagLst>
</file>

<file path=ppt/tags/tag15.xml><?xml version="1.0" encoding="utf-8"?>
<p:tagLst xmlns:p="http://schemas.openxmlformats.org/presentationml/2006/main">
  <p:tag name="TABLE_ENDDRAG_ORIGIN_RECT" val="684*170"/>
  <p:tag name="TABLE_ENDDRAG_RECT" val="25*47*684*170"/>
</p:tagLst>
</file>

<file path=ppt/tags/tag16.xml><?xml version="1.0" encoding="utf-8"?>
<p:tagLst xmlns:p="http://schemas.openxmlformats.org/presentationml/2006/main">
  <p:tag name="commondata" val="eyJoZGlkIjoiOTIzMGQzNmU2OTQyNjNlYWFjODdhMzcyNTEyMjVkZGEifQ=="/>
</p:tagLst>
</file>

<file path=ppt/theme/theme1.xml><?xml version="1.0" encoding="utf-8"?>
<a:theme xmlns:a="http://schemas.openxmlformats.org/drawingml/2006/main" name="封面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【11】">
    <a:dk1>
      <a:srgbClr val="000000"/>
    </a:dk1>
    <a:lt1>
      <a:srgbClr val="FFFFFF"/>
    </a:lt1>
    <a:dk2>
      <a:srgbClr val="0C0E1F"/>
    </a:dk2>
    <a:lt2>
      <a:srgbClr val="FEFFFF"/>
    </a:lt2>
    <a:accent1>
      <a:srgbClr val="FE961C"/>
    </a:accent1>
    <a:accent2>
      <a:srgbClr val="E15441"/>
    </a:accent2>
    <a:accent3>
      <a:srgbClr val="77D1E8"/>
    </a:accent3>
    <a:accent4>
      <a:srgbClr val="3CB8EC"/>
    </a:accent4>
    <a:accent5>
      <a:srgbClr val="17A6E9"/>
    </a:accent5>
    <a:accent6>
      <a:srgbClr val="FFC619"/>
    </a:accent6>
    <a:hlink>
      <a:srgbClr val="304FFE"/>
    </a:hlink>
    <a:folHlink>
      <a:srgbClr val="492067"/>
    </a:folHlink>
  </a:clrScheme>
  <a:fontScheme name="自定义 2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【11】">
    <a:dk1>
      <a:srgbClr val="000000"/>
    </a:dk1>
    <a:lt1>
      <a:srgbClr val="FFFFFF"/>
    </a:lt1>
    <a:dk2>
      <a:srgbClr val="0C0E1F"/>
    </a:dk2>
    <a:lt2>
      <a:srgbClr val="FEFFFF"/>
    </a:lt2>
    <a:accent1>
      <a:srgbClr val="FE961C"/>
    </a:accent1>
    <a:accent2>
      <a:srgbClr val="E15441"/>
    </a:accent2>
    <a:accent3>
      <a:srgbClr val="77D1E8"/>
    </a:accent3>
    <a:accent4>
      <a:srgbClr val="3CB8EC"/>
    </a:accent4>
    <a:accent5>
      <a:srgbClr val="17A6E9"/>
    </a:accent5>
    <a:accent6>
      <a:srgbClr val="FFC619"/>
    </a:accent6>
    <a:hlink>
      <a:srgbClr val="304FFE"/>
    </a:hlink>
    <a:folHlink>
      <a:srgbClr val="492067"/>
    </a:folHlink>
  </a:clrScheme>
  <a:fontScheme name="自定义 2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4512</Words>
  <Application>WPS 演示</Application>
  <PresentationFormat>全屏显示(16:9)</PresentationFormat>
  <Paragraphs>1299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黑体</vt:lpstr>
      <vt:lpstr>微软雅黑</vt:lpstr>
      <vt:lpstr>等线</vt:lpstr>
      <vt:lpstr>Arial Unicode MS</vt:lpstr>
      <vt:lpstr>等线 Light</vt:lpstr>
      <vt:lpstr>Calibri Light</vt:lpstr>
      <vt:lpstr>封面</vt:lpstr>
      <vt:lpstr>封底</vt:lpstr>
      <vt:lpstr>内页</vt:lpstr>
      <vt:lpstr>重庆丽苑维景国际大酒店 2024年4月经营分析汇报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张实</cp:lastModifiedBy>
  <cp:revision>189</cp:revision>
  <cp:lastPrinted>2020-08-18T05:55:00Z</cp:lastPrinted>
  <dcterms:created xsi:type="dcterms:W3CDTF">2019-11-08T09:21:00Z</dcterms:created>
  <dcterms:modified xsi:type="dcterms:W3CDTF">2024-09-18T01:38:13Z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65971D5354BA4F20BB85076AA403AD71_13</vt:lpwstr>
  </property>
</Properties>
</file>