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3" r:id="rId4"/>
  </p:sldMasterIdLst>
  <p:notesMasterIdLst>
    <p:notesMasterId r:id="rId7"/>
  </p:notesMasterIdLst>
  <p:handoutMasterIdLst>
    <p:handoutMasterId r:id="rId14"/>
  </p:handoutMasterIdLst>
  <p:sldIdLst>
    <p:sldId id="257" r:id="rId5"/>
    <p:sldId id="296" r:id="rId6"/>
    <p:sldId id="278" r:id="rId8"/>
    <p:sldId id="295" r:id="rId9"/>
    <p:sldId id="294" r:id="rId10"/>
    <p:sldId id="301" r:id="rId11"/>
    <p:sldId id="302" r:id="rId12"/>
    <p:sldId id="259" r:id="rId13"/>
  </p:sldIdLst>
  <p:sldSz cx="9144000" cy="5143500"/>
  <p:notesSz cx="6797675" cy="9928225"/>
  <p:custDataLst>
    <p:tags r:id="rId19"/>
  </p:custDataLst>
  <p:defaultTextStyle>
    <a:defPPr>
      <a:defRPr lang="en-US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1pPr>
    <a:lvl2pPr marL="457200" lvl="1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2pPr>
    <a:lvl3pPr marL="914400" lvl="2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3pPr>
    <a:lvl4pPr marL="1371600" lvl="3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4pPr>
    <a:lvl5pPr marL="1828800" lvl="4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5pPr>
    <a:lvl6pPr marL="2286000" lvl="5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6pPr>
    <a:lvl7pPr marL="2743200" lvl="6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7pPr>
    <a:lvl8pPr marL="3200400" lvl="7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8pPr>
    <a:lvl9pPr marL="3657600" lvl="8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DWM" initials="S" lastIdx="4" clrIdx="0"/>
  <p:cmAuthor id="2" name="程 建国" initials="程" lastIdx="1" clrIdx="28"/>
  <p:cmAuthor id="3" name="user" initials="u" lastIdx="1" clrIdx="0"/>
  <p:cmAuthor id="4" name="1" initials="1" lastIdx="1" clrIdx="29"/>
  <p:cmAuthor id="5" name="作者" initials="作" lastIdx="0" clrIdx="1"/>
  <p:cmAuthor id="6" name="小 鑫" initials="小" lastIdx="1" clrIdx="30"/>
  <p:cmAuthor id="7" name="尹安琪" initials="尹" lastIdx="2" clrIdx="2"/>
  <p:cmAuthor id="8" name="范妍彦" initials="范" lastIdx="2" clrIdx="3"/>
  <p:cmAuthor id="9" name="ctgh1@o365.hkctshotels.com" initials="c" lastIdx="1" clrIdx="4"/>
  <p:cmAuthor id="10" name="Competition Division" initials="C" lastIdx="1" clrIdx="5"/>
  <p:cmAuthor id="11" name="Carolina Nieto Requena" initials="C" lastIdx="20" clrIdx="6"/>
  <p:cmAuthor id="12" name="Sun Ling" initials="S" lastIdx="3" clrIdx="7"/>
  <p:cmAuthor id="13" name="tf" initials="t" lastIdx="1" clrIdx="8"/>
  <p:cmAuthor id="14" name="yeminquan" initials="y" lastIdx="1" clrIdx="9"/>
  <p:cmAuthor id="15" name="Lucia MONTANARELLA" initials="L" lastIdx="2" clrIdx="10"/>
  <p:cmAuthor id="16" name="usesr" initials="u" lastIdx="1" clrIdx="11"/>
  <p:cmAuthor id="17" name="韩 小慧" initials="韩" lastIdx="1" clrIdx="5"/>
  <p:cmAuthor id="18" name="广珠区域公司1" initials="广" lastIdx="1" clrIdx="16"/>
  <p:cmAuthor id="19" name="杨尚阳" initials="杨" lastIdx="1" clrIdx="1"/>
  <p:cmAuthor id="20" name="甄天源" initials="甄" lastIdx="1" clrIdx="17"/>
  <p:cmAuthor id="21" name="mai mai" initials="m" lastIdx="1" clrIdx="2"/>
  <p:cmAuthor id="22" name="肖 盛" initials="肖" lastIdx="1" clrIdx="0"/>
  <p:cmAuthor id="23" name="0049628" initials="0" lastIdx="3" clrIdx="0"/>
  <p:cmAuthor id="24" name="NTKO" initials="N" lastIdx="1" clrIdx="0"/>
  <p:cmAuthor id="25" name="石楠 武" initials="石" lastIdx="1" clrIdx="2"/>
  <p:cmAuthor id="26" name="刘 玮佳" initials="刘" lastIdx="3" clrIdx="4"/>
  <p:cmAuthor id="27" name="CHEUNG JUNY" initials="C" lastIdx="2" clrIdx="5"/>
  <p:cmAuthor id="28" name="Rachel Gao" initials="R" lastIdx="1" clrIdx="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EDF1F0"/>
    <a:srgbClr val="EDF2F1"/>
    <a:srgbClr val="F2F8F1"/>
    <a:srgbClr val="F2FCF9"/>
    <a:srgbClr val="FFF6ED"/>
    <a:srgbClr val="FFFDFF"/>
    <a:srgbClr val="FAF8ED"/>
    <a:srgbClr val="FAF6E9"/>
    <a:srgbClr val="FFFDFC"/>
    <a:srgbClr val="F8F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howOutlineIcons="0">
    <p:restoredLeft sz="10435"/>
    <p:restoredTop sz="94582"/>
  </p:normalViewPr>
  <p:slideViewPr>
    <p:cSldViewPr snapToGrid="0" snapToObjects="1" showGuides="1">
      <p:cViewPr varScale="1">
        <p:scale>
          <a:sx n="81" d="100"/>
          <a:sy n="81" d="100"/>
        </p:scale>
        <p:origin x="96" y="282"/>
      </p:cViewPr>
      <p:guideLst>
        <p:guide orient="horz" pos="2160"/>
        <p:guide pos="29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4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14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F:\&#24605;\&#39184;&#39278;&#37096;\&#32463;&#33829;&#25910;&#20837;\2024&#24180;&#33410;&#20551;&#26085;&#20998;&#26512;\&#26032;&#24314;%20XLS%20&#24037;&#20316;&#34920;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逸派收入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63362974939369"/>
          <c:y val="0.219659844335543"/>
          <c:w val="0.799288601455133"/>
          <c:h val="0.55018737388296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'[新建 XLS 工作表.xls]五一'!$D$25:$E$25</c:f>
              <c:strCache>
                <c:ptCount val="2"/>
                <c:pt idx="0">
                  <c:v>2024年</c:v>
                </c:pt>
                <c:pt idx="1">
                  <c:v>同期</c:v>
                </c:pt>
              </c:strCache>
            </c:strRef>
          </c:cat>
          <c:val>
            <c:numRef>
              <c:f>'[新建 XLS 工作表.xls]五一'!$D$26:$E$26</c:f>
              <c:numCache>
                <c:formatCode>General</c:formatCode>
                <c:ptCount val="2"/>
                <c:pt idx="0">
                  <c:v>3844</c:v>
                </c:pt>
                <c:pt idx="1">
                  <c:v>2803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139578231"/>
        <c:axId val="99495251"/>
      </c:barChart>
      <c:catAx>
        <c:axId val="13957823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9495251"/>
        <c:crosses val="autoZero"/>
        <c:auto val="1"/>
        <c:lblAlgn val="ctr"/>
        <c:lblOffset val="100"/>
        <c:noMultiLvlLbl val="0"/>
      </c:catAx>
      <c:valAx>
        <c:axId val="994952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9578231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025A3804-3572-4E01-A9AC-0ADB2ABDB742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9CB63C96-D89E-4FB2-B49A-D78C4E042C1D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kumimoji="1"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B71BDBAA-787B-EC44-A4CE-CC8A00B8C5D1}" type="datetimeFigureOut">
              <a:rPr kumimoji="1" lang="zh-CN" altLang="en-US" strike="noStrike" noProof="1" smtClean="0">
                <a:latin typeface="+mn-lt"/>
                <a:ea typeface="+mn-ea"/>
                <a:cs typeface="+mn-cs"/>
              </a:rPr>
            </a:fld>
            <a:endParaRPr kumimoji="1" lang="zh-CN" altLang="en-US" strike="noStrike" noProof="1"/>
          </a:p>
        </p:txBody>
      </p:sp>
      <p:sp>
        <p:nvSpPr>
          <p:cNvPr id="1024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245" name="备注占位符 4"/>
          <p:cNvSpPr>
            <a:spLocks noGrp="1"/>
          </p:cNvSpPr>
          <p:nvPr>
            <p:ph type="body" sz="quarter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编辑母版文本样式
第二级
第三级
第四级
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kumimoji="1" lang="zh-CN" altLang="en-US" strike="noStrike" noProof="1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431E5A13-F76E-9941-B676-BA818753D89B}" type="slidenum">
              <a:rPr kumimoji="1" lang="zh-CN" altLang="en-US" strike="noStrike" noProof="1" smtClean="0">
                <a:latin typeface="+mn-lt"/>
                <a:ea typeface="+mn-ea"/>
                <a:cs typeface="+mn-cs"/>
              </a:rPr>
            </a:fld>
            <a:endParaRPr kumimoji="1"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3314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3314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3314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3314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3314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tags" Target="../tags/tag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7.jpeg"/><Relationship Id="rId7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tags" Target="../tags/tag4.xml"/><Relationship Id="rId4" Type="http://schemas.openxmlformats.org/officeDocument/2006/relationships/image" Target="../media/image5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image" Target="../media/image10.png"/><Relationship Id="rId13" Type="http://schemas.openxmlformats.org/officeDocument/2006/relationships/tags" Target="../tags/tag8.xml"/><Relationship Id="rId12" Type="http://schemas.openxmlformats.org/officeDocument/2006/relationships/image" Target="../media/image9.png"/><Relationship Id="rId11" Type="http://schemas.openxmlformats.org/officeDocument/2006/relationships/tags" Target="../tags/tag7.xml"/><Relationship Id="rId10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352425" y="1322388"/>
            <a:ext cx="8791575" cy="3511550"/>
          </a:xfrm>
          <a:prstGeom prst="rect">
            <a:avLst/>
          </a:prstGeom>
          <a:solidFill>
            <a:srgbClr val="0040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4099" name="图片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16563" y="728663"/>
            <a:ext cx="3627437" cy="542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42999" y="1644139"/>
            <a:ext cx="7220607" cy="860699"/>
          </a:xfrm>
        </p:spPr>
        <p:txBody>
          <a:bodyPr anchor="b"/>
          <a:lstStyle>
            <a:lvl1pPr algn="ctr">
              <a:defRPr sz="4500" b="1" i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en-US" strike="noStrike" noProof="1" dirty="0"/>
              <a:t>XX</a:t>
            </a:r>
            <a:r>
              <a:rPr lang="zh-CN" altLang="en-US" strike="noStrike" noProof="1" dirty="0"/>
              <a:t>项目立项报告</a:t>
            </a:r>
            <a:endParaRPr lang="en-US" strike="noStrike" noProof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561560"/>
            <a:ext cx="6858000" cy="596881"/>
          </a:xfrm>
        </p:spPr>
        <p:txBody>
          <a:bodyPr/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trike="noStrike" noProof="1" dirty="0"/>
              <a:t>汇报部门：</a:t>
            </a:r>
            <a:endParaRPr lang="en-US" altLang="zh-CN" strike="noStrike" noProof="1" dirty="0"/>
          </a:p>
          <a:p>
            <a:pPr fontAlgn="auto"/>
            <a:r>
              <a:rPr lang="zh-CN" altLang="en-US" strike="noStrike" noProof="1" dirty="0"/>
              <a:t>参与部门：</a:t>
            </a:r>
            <a:endParaRPr lang="en-US" altLang="zh-CN" strike="noStrike" noProof="1" dirty="0"/>
          </a:p>
          <a:p>
            <a:pPr fontAlgn="auto"/>
            <a:endParaRPr 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F5B5B07F-329A-F240-A093-64DA3B5382A0}" type="datetimeFigureOut">
              <a:rPr kumimoji="1" lang="zh-CN" altLang="en-US" strike="noStrike" noProof="1" smtClean="0">
                <a:latin typeface="+mn-lt"/>
                <a:ea typeface="+mn-ea"/>
                <a:cs typeface="+mn-cs"/>
              </a:rPr>
            </a:fld>
            <a:endParaRPr kumimoji="1"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kumimoji="1"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C32CA631-AA85-194B-B519-15D1C06A3468}" type="slidenum">
              <a:rPr kumimoji="1" lang="zh-CN" altLang="en-US" strike="noStrike" noProof="1" smtClean="0">
                <a:latin typeface="+mn-lt"/>
                <a:ea typeface="+mn-ea"/>
                <a:cs typeface="+mn-cs"/>
              </a:rPr>
            </a:fld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bk object 16"/>
          <p:cNvSpPr/>
          <p:nvPr userDrawn="1"/>
        </p:nvSpPr>
        <p:spPr>
          <a:xfrm>
            <a:off x="0" y="0"/>
            <a:ext cx="9142413" cy="5149850"/>
          </a:xfrm>
          <a:custGeom>
            <a:avLst/>
            <a:gdLst/>
            <a:ahLst/>
            <a:cxnLst/>
            <a:rect l="l" t="t" r="r" b="b"/>
            <a:pathLst>
              <a:path w="14399894" h="8099425">
                <a:moveTo>
                  <a:pt x="0" y="8099425"/>
                </a:moveTo>
                <a:lnTo>
                  <a:pt x="14399894" y="8099425"/>
                </a:lnTo>
                <a:lnTo>
                  <a:pt x="14399894" y="0"/>
                </a:lnTo>
                <a:lnTo>
                  <a:pt x="0" y="0"/>
                </a:lnTo>
                <a:lnTo>
                  <a:pt x="0" y="8099425"/>
                </a:lnTo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p>
            <a:pPr fontAlgn="auto"/>
            <a:endParaRPr sz="1145" strike="noStrike" noProof="1"/>
          </a:p>
        </p:txBody>
      </p:sp>
      <p:sp>
        <p:nvSpPr>
          <p:cNvPr id="1048585" name="bk object 17"/>
          <p:cNvSpPr/>
          <p:nvPr userDrawn="1"/>
        </p:nvSpPr>
        <p:spPr>
          <a:xfrm>
            <a:off x="330200" y="338138"/>
            <a:ext cx="96838" cy="158750"/>
          </a:xfrm>
          <a:prstGeom prst="rect">
            <a:avLst/>
          </a:prstGeom>
          <a:blipFill>
            <a:blip r:embed="rId2" cstate="screen"/>
            <a:stretch>
              <a:fillRect/>
            </a:stretch>
          </a:blipFill>
        </p:spPr>
        <p:txBody>
          <a:bodyPr wrap="square" lIns="0" tIns="0" rIns="0" bIns="0" rtlCol="0"/>
          <a:p>
            <a:pPr fontAlgn="auto"/>
            <a:endParaRPr sz="1145" strike="noStrike" noProof="1"/>
          </a:p>
        </p:txBody>
      </p:sp>
      <p:sp>
        <p:nvSpPr>
          <p:cNvPr id="1048586" name="bk object 18"/>
          <p:cNvSpPr/>
          <p:nvPr userDrawn="1"/>
        </p:nvSpPr>
        <p:spPr>
          <a:xfrm>
            <a:off x="7704138" y="4792663"/>
            <a:ext cx="1312863" cy="173038"/>
          </a:xfrm>
          <a:prstGeom prst="rect">
            <a:avLst/>
          </a:prstGeom>
          <a:blipFill>
            <a:blip r:embed="rId3" cstate="screen"/>
            <a:stretch>
              <a:fillRect/>
            </a:stretch>
          </a:blipFill>
        </p:spPr>
        <p:txBody>
          <a:bodyPr wrap="square" lIns="0" tIns="0" rIns="0" bIns="0" rtlCol="0"/>
          <a:p>
            <a:pPr fontAlgn="auto"/>
            <a:endParaRPr sz="1145" strike="noStrike" noProof="1"/>
          </a:p>
        </p:txBody>
      </p:sp>
      <p:sp>
        <p:nvSpPr>
          <p:cNvPr id="1048587" name="bk object 19"/>
          <p:cNvSpPr/>
          <p:nvPr userDrawn="1"/>
        </p:nvSpPr>
        <p:spPr>
          <a:xfrm>
            <a:off x="331788" y="617538"/>
            <a:ext cx="8812213" cy="0"/>
          </a:xfrm>
          <a:custGeom>
            <a:avLst/>
            <a:gdLst/>
            <a:ahLst/>
            <a:cxnLst/>
            <a:rect l="l" t="t" r="r" b="b"/>
            <a:pathLst>
              <a:path w="13878560">
                <a:moveTo>
                  <a:pt x="0" y="0"/>
                </a:moveTo>
                <a:lnTo>
                  <a:pt x="13878305" y="0"/>
                </a:lnTo>
              </a:path>
            </a:pathLst>
          </a:custGeom>
          <a:ln w="7619">
            <a:solidFill>
              <a:srgbClr val="004083"/>
            </a:solidFill>
          </a:ln>
        </p:spPr>
        <p:txBody>
          <a:bodyPr wrap="square" lIns="0" tIns="0" rIns="0" bIns="0" rtlCol="0"/>
          <a:p>
            <a:pPr fontAlgn="auto"/>
            <a:endParaRPr sz="1145" strike="noStrike" noProof="1"/>
          </a:p>
        </p:txBody>
      </p:sp>
      <p:sp>
        <p:nvSpPr>
          <p:cNvPr id="1048591" name="矩形 5"/>
          <p:cNvSpPr/>
          <p:nvPr userDrawn="1"/>
        </p:nvSpPr>
        <p:spPr>
          <a:xfrm>
            <a:off x="314325" y="830263"/>
            <a:ext cx="8515350" cy="38211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auto"/>
            <a:endParaRPr lang="zh-CN" altLang="en-US" sz="1145" strike="noStrike" noProof="1"/>
          </a:p>
        </p:txBody>
      </p:sp>
      <p:pic>
        <p:nvPicPr>
          <p:cNvPr id="5127" name="图片 4" descr="169138328617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799388" y="185738"/>
            <a:ext cx="1122362" cy="371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588" name="Holder 2"/>
          <p:cNvSpPr>
            <a:spLocks noGrp="1"/>
          </p:cNvSpPr>
          <p:nvPr>
            <p:ph type="ftr" sz="quarter" idx="5"/>
          </p:nvPr>
        </p:nvSpPr>
        <p:spPr>
          <a:xfrm>
            <a:off x="3108325" y="4784725"/>
            <a:ext cx="2927350" cy="2571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</a:p>
        </p:txBody>
      </p:sp>
      <p:sp>
        <p:nvSpPr>
          <p:cNvPr id="1048589" name="Holder 3"/>
          <p:cNvSpPr>
            <a:spLocks noGrp="1"/>
          </p:cNvSpPr>
          <p:nvPr>
            <p:ph type="dt" sz="half" idx="6"/>
          </p:nvPr>
        </p:nvSpPr>
        <p:spPr>
          <a:xfrm>
            <a:off x="457200" y="4784725"/>
            <a:ext cx="2103438" cy="2571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82641E9F-5671-4675-817B-A6B3E01E25F2}" type="datetime1">
              <a:rPr lang="en-US" altLang="zh-CN" strike="noStrike" noProof="1" smtClean="0">
                <a:latin typeface="+mn-lt"/>
                <a:ea typeface="+mn-ea"/>
                <a:cs typeface="+mn-cs"/>
              </a:rPr>
            </a:fld>
            <a:endParaRPr lang="en-US" strike="noStrike" noProof="1"/>
          </a:p>
        </p:txBody>
      </p:sp>
      <p:sp>
        <p:nvSpPr>
          <p:cNvPr id="1048590" name="Holder 4"/>
          <p:cNvSpPr>
            <a:spLocks noGrp="1"/>
          </p:cNvSpPr>
          <p:nvPr>
            <p:ph type="sldNum" sz="quarter" idx="7"/>
          </p:nvPr>
        </p:nvSpPr>
        <p:spPr>
          <a:xfrm>
            <a:off x="5551488" y="4816475"/>
            <a:ext cx="2103438" cy="1762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B6F15528-21DE-4FAA-801E-634DDDAF4B2B}" type="slidenum">
              <a:rPr lang="en-US" altLang="zh-CN" strike="noStrike" noProof="1" smtClean="0">
                <a:latin typeface="+mn-lt"/>
                <a:ea typeface="+mn-ea"/>
                <a:cs typeface="+mn-cs"/>
              </a:rPr>
            </a:fld>
            <a:endParaRPr strike="noStrike" noProof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352425" y="2078038"/>
            <a:ext cx="8791575" cy="2549525"/>
          </a:xfrm>
          <a:prstGeom prst="rect">
            <a:avLst/>
          </a:prstGeom>
          <a:solidFill>
            <a:srgbClr val="0040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147" name="图片 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437313" y="1543050"/>
            <a:ext cx="2581275" cy="5540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8" name="图片 8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09600" y="4216400"/>
            <a:ext cx="2070100" cy="200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9" name="图片 9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594350" y="2921000"/>
            <a:ext cx="563563" cy="552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0" name="图片 10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168650" y="2852738"/>
            <a:ext cx="2144713" cy="590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1" name="图片 7" descr="2023中旅品牌LOGO总合集-08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rcRect l="17278"/>
          <a:stretch>
            <a:fillRect/>
          </a:stretch>
        </p:blipFill>
        <p:spPr>
          <a:xfrm>
            <a:off x="1443038" y="4695825"/>
            <a:ext cx="5340350" cy="323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2" name="图片 2"/>
          <p:cNvPicPr/>
          <p:nvPr userDrawn="1"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07975" y="4670425"/>
            <a:ext cx="1060450" cy="349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EB7926DD-1871-674B-AB8F-61C9F0EC0E7B}" type="datetimeFigureOut">
              <a:rPr kumimoji="1" lang="zh-CN" altLang="en-US" strike="noStrike" noProof="1" smtClean="0">
                <a:latin typeface="+mn-lt"/>
                <a:ea typeface="+mn-ea"/>
                <a:cs typeface="+mn-cs"/>
              </a:rPr>
            </a:fld>
            <a:endParaRPr kumimoji="1"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kumimoji="1"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1FD4A07E-2F74-E940-AE14-93D7279D04BD}" type="slidenum">
              <a:rPr kumimoji="1" lang="zh-CN" altLang="en-US" strike="noStrike" noProof="1" smtClean="0">
                <a:latin typeface="+mn-lt"/>
                <a:ea typeface="+mn-ea"/>
                <a:cs typeface="+mn-cs"/>
              </a:rPr>
            </a:fld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3" name="图片 4" descr="169138328617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75563" y="184150"/>
            <a:ext cx="1249362" cy="412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7" name="图片 4" descr="169138328617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75563" y="184150"/>
            <a:ext cx="1249362" cy="412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CN" altLang="en-US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编辑母版文本样式
第二级
第三级
第四级
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F5B5B07F-329A-F240-A093-64DA3B5382A0}" type="datetimeFigureOut">
              <a:rPr kumimoji="1" lang="zh-CN" altLang="en-US" strike="noStrike" noProof="1" smtClean="0">
                <a:latin typeface="+mn-lt"/>
                <a:ea typeface="+mn-ea"/>
                <a:cs typeface="+mn-cs"/>
              </a:rPr>
            </a:fld>
            <a:endParaRPr kumimoji="1"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C32CA631-AA85-194B-B519-15D1C06A3468}" type="slidenum">
              <a:rPr kumimoji="1" lang="zh-CN" altLang="en-US" strike="noStrike" noProof="1" smtClean="0">
                <a:latin typeface="+mn-lt"/>
                <a:ea typeface="+mn-ea"/>
                <a:cs typeface="+mn-cs"/>
              </a:rPr>
            </a:fld>
            <a:endParaRPr kumimoji="1"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编辑母版文本样式
第二级
第三级
第四级
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EB7926DD-1871-674B-AB8F-61C9F0EC0E7B}" type="datetimeFigureOut">
              <a:rPr kumimoji="1" lang="zh-CN" altLang="en-US" strike="noStrike" noProof="1" smtClean="0">
                <a:latin typeface="+mn-lt"/>
                <a:ea typeface="+mn-ea"/>
                <a:cs typeface="+mn-cs"/>
              </a:rPr>
            </a:fld>
            <a:endParaRPr kumimoji="1"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1FD4A07E-2F74-E940-AE14-93D7279D04BD}" type="slidenum">
              <a:rPr kumimoji="1" lang="zh-CN" altLang="en-US" strike="noStrike" noProof="1" smtClean="0">
                <a:latin typeface="+mn-lt"/>
                <a:ea typeface="+mn-ea"/>
                <a:cs typeface="+mn-cs"/>
              </a:rPr>
            </a:fld>
            <a:endParaRPr kumimoji="1"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标题占位符 1"/>
          <p:cNvSpPr>
            <a:spLocks noGrp="1"/>
          </p:cNvSpPr>
          <p:nvPr>
            <p:ph type="title"/>
          </p:nvPr>
        </p:nvSpPr>
        <p:spPr>
          <a:xfrm>
            <a:off x="628650" y="819150"/>
            <a:ext cx="7886700" cy="99377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75" name="文本占位符 2"/>
          <p:cNvSpPr>
            <a:spLocks noGrp="1"/>
          </p:cNvSpPr>
          <p:nvPr>
            <p:ph type="body"/>
          </p:nvPr>
        </p:nvSpPr>
        <p:spPr>
          <a:xfrm>
            <a:off x="628650" y="1873250"/>
            <a:ext cx="7886700" cy="26368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编辑母版文本样式
第二级
第三级
第四级
第五级</a:t>
            </a:r>
            <a:endParaRPr lang="zh-CN" altLang="en-US" dirty="0"/>
          </a:p>
        </p:txBody>
      </p:sp>
      <p:pic>
        <p:nvPicPr>
          <p:cNvPr id="3076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1788" y="338138"/>
            <a:ext cx="95250" cy="160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7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04138" y="4794250"/>
            <a:ext cx="1314450" cy="173038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2" name="直线连接符 11"/>
          <p:cNvCxnSpPr/>
          <p:nvPr userDrawn="1"/>
        </p:nvCxnSpPr>
        <p:spPr>
          <a:xfrm>
            <a:off x="331788" y="617538"/>
            <a:ext cx="8812213" cy="0"/>
          </a:xfrm>
          <a:prstGeom prst="line">
            <a:avLst/>
          </a:prstGeom>
          <a:ln w="1270">
            <a:solidFill>
              <a:srgbClr val="0040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68985" y="1945640"/>
            <a:ext cx="7691120" cy="2172970"/>
          </a:xfrm>
        </p:spPr>
        <p:txBody>
          <a:bodyPr anchor="b">
            <a:noAutofit/>
          </a:bodyPr>
          <a:lstStyle/>
          <a:p>
            <a:pPr marL="0" marR="0" indent="0" algn="ctr" defTabSz="6858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40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重庆丽苑维景餐饮部</a:t>
            </a:r>
            <a:br>
              <a:rPr lang="zh-CN" altLang="en-US" sz="40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40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2024</a:t>
            </a:r>
            <a:r>
              <a:rPr lang="zh-CN" altLang="en-US" sz="40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年</a:t>
            </a:r>
            <a:r>
              <a:rPr lang="zh-CN" sz="4000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五一节收入分析</a:t>
            </a:r>
            <a:endParaRPr kumimoji="1" lang="zh-CN" sz="4000" b="1" i="0" u="none" strike="noStrike" kern="1200" cap="none" spc="0" normalizeH="0" baseline="0" noProof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 rtlCol="0" anchor="ctr"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6F15528-21DE-4FAA-801E-634DDDAF4B2B}" type="slidenum">
              <a:rPr kumimoji="0" lang="en-US" altLang="zh-CN" sz="675" b="0" i="0" u="none" strike="noStrike" kern="1200" cap="none" spc="0" normalizeH="0" baseline="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fld>
            <a:endParaRPr kumimoji="0" sz="675" b="0" i="0" u="none" strike="noStrike" kern="1200" cap="none" spc="0" normalizeH="0" baseline="0" noProof="1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6255" y="3624580"/>
            <a:ext cx="7392670" cy="11436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en-US" altLang="zh-CN" sz="1000">
                <a:sym typeface="+mn-ea"/>
              </a:rPr>
              <a:t>1</a:t>
            </a:r>
            <a:r>
              <a:rPr lang="zh-CN" altLang="en-US" sz="1000">
                <a:sym typeface="+mn-ea"/>
              </a:rPr>
              <a:t>、</a:t>
            </a:r>
            <a:r>
              <a:rPr lang="en-US" altLang="zh-CN" sz="1000">
                <a:sym typeface="+mn-ea"/>
              </a:rPr>
              <a:t>24</a:t>
            </a:r>
            <a:r>
              <a:rPr lang="zh-CN" altLang="en-US" sz="1000">
                <a:sym typeface="+mn-ea"/>
              </a:rPr>
              <a:t>年五一节早餐对比同期下降</a:t>
            </a:r>
            <a:r>
              <a:rPr lang="en-US" altLang="zh-CN" sz="1000">
                <a:sym typeface="+mn-ea"/>
              </a:rPr>
              <a:t>1.4</a:t>
            </a:r>
            <a:r>
              <a:rPr lang="zh-CN" altLang="en-US" sz="1000">
                <a:sym typeface="+mn-ea"/>
              </a:rPr>
              <a:t>万元，主要原因是无早房较多，早餐收入下降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en-US" altLang="zh-CN" sz="1000">
                <a:sym typeface="+mn-ea"/>
              </a:rPr>
              <a:t>2</a:t>
            </a:r>
            <a:r>
              <a:rPr lang="zh-CN" altLang="en-US" sz="1000">
                <a:sym typeface="+mn-ea"/>
              </a:rPr>
              <a:t>、午餐对比同期下降</a:t>
            </a:r>
            <a:r>
              <a:rPr lang="en-US" altLang="zh-CN" sz="1000">
                <a:sym typeface="+mn-ea"/>
              </a:rPr>
              <a:t>2.1</a:t>
            </a:r>
            <a:r>
              <a:rPr lang="zh-CN" altLang="en-US" sz="1000">
                <a:sym typeface="+mn-ea"/>
              </a:rPr>
              <a:t>万元，主要原因是</a:t>
            </a:r>
            <a:r>
              <a:rPr lang="en-US" altLang="zh-CN" sz="1000">
                <a:sym typeface="+mn-ea"/>
              </a:rPr>
              <a:t>23</a:t>
            </a:r>
            <a:r>
              <a:rPr lang="zh-CN" altLang="en-US" sz="1000">
                <a:sym typeface="+mn-ea"/>
              </a:rPr>
              <a:t>年五一节有人寿会议及植树团队到店用餐消费</a:t>
            </a:r>
            <a:r>
              <a:rPr lang="en-US" altLang="zh-CN" sz="1000">
                <a:sym typeface="+mn-ea"/>
              </a:rPr>
              <a:t>1.5</a:t>
            </a:r>
            <a:r>
              <a:rPr lang="zh-CN" altLang="en-US" sz="1000">
                <a:sym typeface="+mn-ea"/>
              </a:rPr>
              <a:t>万元，</a:t>
            </a:r>
            <a:r>
              <a:rPr lang="en-US" altLang="zh-CN" sz="1000">
                <a:sym typeface="+mn-ea"/>
              </a:rPr>
              <a:t>24</a:t>
            </a:r>
            <a:r>
              <a:rPr lang="zh-CN" altLang="en-US" sz="1000">
                <a:sym typeface="+mn-ea"/>
              </a:rPr>
              <a:t>年五一期间无会议团队用餐，所以收入下降。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en-US" altLang="zh-CN" sz="1000">
                <a:sym typeface="+mn-ea"/>
              </a:rPr>
              <a:t>3</a:t>
            </a:r>
            <a:r>
              <a:rPr lang="zh-CN" altLang="en-US" sz="1000">
                <a:sym typeface="+mn-ea"/>
              </a:rPr>
              <a:t>、晚餐对比同期下降</a:t>
            </a:r>
            <a:r>
              <a:rPr lang="en-US" altLang="zh-CN" sz="1000">
                <a:sym typeface="+mn-ea"/>
              </a:rPr>
              <a:t>0.3</a:t>
            </a:r>
            <a:r>
              <a:rPr lang="zh-CN" altLang="en-US" sz="1000">
                <a:sym typeface="+mn-ea"/>
              </a:rPr>
              <a:t>万元，主要是</a:t>
            </a:r>
            <a:r>
              <a:rPr lang="en-US" altLang="zh-CN" sz="1000">
                <a:sym typeface="+mn-ea"/>
              </a:rPr>
              <a:t>24</a:t>
            </a:r>
            <a:r>
              <a:rPr lang="zh-CN" altLang="en-US" sz="1000">
                <a:sym typeface="+mn-ea"/>
              </a:rPr>
              <a:t>年</a:t>
            </a:r>
            <a:r>
              <a:rPr lang="en-US" altLang="zh-CN" sz="1000">
                <a:sym typeface="+mn-ea"/>
              </a:rPr>
              <a:t>5</a:t>
            </a:r>
            <a:r>
              <a:rPr lang="zh-CN" altLang="en-US" sz="1000">
                <a:sym typeface="+mn-ea"/>
              </a:rPr>
              <a:t>月</a:t>
            </a:r>
            <a:r>
              <a:rPr lang="en-US" altLang="zh-CN" sz="1000">
                <a:sym typeface="+mn-ea"/>
              </a:rPr>
              <a:t>5</a:t>
            </a:r>
            <a:r>
              <a:rPr lang="zh-CN" altLang="en-US" sz="1000">
                <a:sym typeface="+mn-ea"/>
              </a:rPr>
              <a:t>日晚餐未营业，开餐餐次少于</a:t>
            </a:r>
            <a:r>
              <a:rPr lang="en-US" altLang="zh-CN" sz="1000">
                <a:sym typeface="+mn-ea"/>
              </a:rPr>
              <a:t>23</a:t>
            </a:r>
            <a:r>
              <a:rPr lang="zh-CN" altLang="en-US" sz="1000">
                <a:sym typeface="+mn-ea"/>
              </a:rPr>
              <a:t>年</a:t>
            </a:r>
            <a:r>
              <a:rPr lang="en-US" altLang="zh-CN" sz="1000">
                <a:sym typeface="+mn-ea"/>
              </a:rPr>
              <a:t>1</a:t>
            </a:r>
            <a:r>
              <a:rPr lang="zh-CN" altLang="en-US" sz="1000">
                <a:sym typeface="+mn-ea"/>
              </a:rPr>
              <a:t>餐，上座率低导致收入下降。</a:t>
            </a:r>
            <a:endParaRPr lang="en-US" altLang="zh-CN" sz="100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0865" y="107315"/>
            <a:ext cx="2582545" cy="556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/>
              <a:t>五一节餐厅收入对比</a:t>
            </a:r>
            <a:endParaRPr lang="zh-CN" altLang="en-US" sz="2000" b="1"/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516255" y="586105"/>
          <a:ext cx="8235315" cy="2989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7460"/>
                <a:gridCol w="882650"/>
                <a:gridCol w="799465"/>
                <a:gridCol w="778510"/>
                <a:gridCol w="747395"/>
                <a:gridCol w="768350"/>
                <a:gridCol w="748665"/>
                <a:gridCol w="747395"/>
                <a:gridCol w="747395"/>
                <a:gridCol w="748030"/>
              </a:tblGrid>
              <a:tr h="27178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西餐厅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2024年（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5.1-5.5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2023年（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4.29-5.3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2024年VS2023年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17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早餐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午餐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晚餐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早餐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午餐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晚餐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早餐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午餐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晚餐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</a:tr>
              <a:tr h="2717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5月1日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2995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3253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6271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4991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17869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4840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-1996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-14616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1431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</a:tr>
              <a:tr h="2717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5月2日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4489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521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1473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8007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4452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5624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-3518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-3931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-4151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</a:tr>
              <a:tr h="2717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5月3日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4550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1539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5181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7720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4212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5080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-3170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-2673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101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</a:tr>
              <a:tr h="2717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5月4日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3397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2490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4191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7106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1619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3737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-3709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871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454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</a:tr>
              <a:tr h="2717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5月5日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1506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3320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1207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3664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4048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1990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-2158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-728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-783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</a:tr>
              <a:tr h="2717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小计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16937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11123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18323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31488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32200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21271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-14551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-21077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-2948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</a:tr>
              <a:tr h="2717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西餐厅合计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46383 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84959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-38576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17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逸派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3844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2803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1041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17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餐厅合计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50227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87762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-37535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 rtlCol="0" anchor="ctr"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6F15528-21DE-4FAA-801E-634DDDAF4B2B}" type="slidenum">
              <a:rPr kumimoji="0" lang="en-US" altLang="zh-CN" sz="675" b="0" i="0" u="none" strike="noStrike" kern="1200" cap="none" spc="0" normalizeH="0" baseline="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fld>
            <a:endParaRPr kumimoji="0" sz="675" b="0" i="0" u="none" strike="noStrike" kern="1200" cap="none" spc="0" normalizeH="0" baseline="0" noProof="1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4175" y="219710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ym typeface="+mn-ea"/>
              </a:rPr>
              <a:t>早餐</a:t>
            </a:r>
            <a:endParaRPr lang="zh-CN" altLang="en-US" sz="2000"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384175" y="658495"/>
          <a:ext cx="5163185" cy="2481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935"/>
                <a:gridCol w="495300"/>
                <a:gridCol w="495300"/>
                <a:gridCol w="662305"/>
                <a:gridCol w="436880"/>
                <a:gridCol w="387985"/>
                <a:gridCol w="687070"/>
                <a:gridCol w="418465"/>
                <a:gridCol w="393065"/>
                <a:gridCol w="690880"/>
              </a:tblGrid>
              <a:tr h="25908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项目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出租率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房含早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散早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5656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24年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23年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24年VS23年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24年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23年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24年VS23年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24年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23年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24年VS23年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40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5月1日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77.02%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84.27%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-7.25%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57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132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-75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46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5月2日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98.79%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86.29%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12.50%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104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217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-113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34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40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5月3日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82.26%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78.63%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3.63%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111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203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-92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27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46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5月4日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56.85%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50.40%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6.45%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85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-115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33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46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5月5日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39.92%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44.76%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-4.84%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98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-66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40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合计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70.97%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68.87%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2.10%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389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850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-461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55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151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/>
        </p:nvGraphicFramePr>
        <p:xfrm>
          <a:off x="5664835" y="659130"/>
          <a:ext cx="3242310" cy="247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8180"/>
                <a:gridCol w="887730"/>
                <a:gridCol w="887095"/>
                <a:gridCol w="789305"/>
              </a:tblGrid>
              <a:tr h="485775">
                <a:tc grid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早餐人均消费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08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项目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24年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23年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24年VS23年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84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房含早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34.98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35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-0.02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散早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21.08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32.9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-11.82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5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合计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28.46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34.79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-6.33</a:t>
                      </a:r>
                      <a:endParaRPr lang="en-US" altLang="en-US" sz="10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31800" y="3180080"/>
            <a:ext cx="8566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000"/>
              <a:t>1</a:t>
            </a:r>
            <a:r>
              <a:rPr lang="zh-CN" altLang="en-US" sz="1000"/>
              <a:t>、</a:t>
            </a:r>
            <a:r>
              <a:rPr lang="en-US" altLang="zh-CN" sz="1000"/>
              <a:t>2024</a:t>
            </a:r>
            <a:r>
              <a:rPr lang="zh-CN" altLang="en-US" sz="1000"/>
              <a:t>年五一节对比同期出租率增长</a:t>
            </a:r>
            <a:r>
              <a:rPr lang="en-US" altLang="zh-CN" sz="1000"/>
              <a:t>2.1%</a:t>
            </a:r>
            <a:r>
              <a:rPr lang="zh-CN" altLang="en-US" sz="1000"/>
              <a:t>，平均房价下降了</a:t>
            </a:r>
            <a:r>
              <a:rPr lang="en-US" altLang="zh-CN" sz="1000"/>
              <a:t>123</a:t>
            </a:r>
            <a:r>
              <a:rPr lang="zh-CN" altLang="en-US" sz="1000"/>
              <a:t>元，</a:t>
            </a:r>
            <a:r>
              <a:rPr lang="en-US" altLang="zh-CN" sz="1000"/>
              <a:t> </a:t>
            </a:r>
            <a:r>
              <a:rPr lang="zh-CN" altLang="en-US" sz="1000"/>
              <a:t>房含早下降</a:t>
            </a:r>
            <a:r>
              <a:rPr lang="en-US" altLang="zh-CN" sz="1000"/>
              <a:t>461</a:t>
            </a:r>
            <a:r>
              <a:rPr lang="zh-CN" altLang="en-US" sz="1000"/>
              <a:t>人，收入下降</a:t>
            </a:r>
            <a:r>
              <a:rPr lang="en-US" altLang="zh-CN" sz="1000"/>
              <a:t>14551</a:t>
            </a:r>
            <a:r>
              <a:rPr lang="zh-CN" altLang="en-US" sz="1000"/>
              <a:t>元；散早增长</a:t>
            </a:r>
            <a:r>
              <a:rPr lang="en-US" altLang="zh-CN" sz="1000"/>
              <a:t>161</a:t>
            </a:r>
            <a:r>
              <a:rPr lang="zh-CN" altLang="en-US" sz="1000"/>
              <a:t>人，因为无早房客人线下购买早餐卡，所以散早增加。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en-US" altLang="zh-CN" sz="1000"/>
              <a:t>2</a:t>
            </a:r>
            <a:r>
              <a:rPr lang="zh-CN" altLang="en-US" sz="1000"/>
              <a:t>、</a:t>
            </a:r>
            <a:r>
              <a:rPr lang="en-US" altLang="zh-CN" sz="1000"/>
              <a:t>2024</a:t>
            </a:r>
            <a:r>
              <a:rPr lang="zh-CN" altLang="en-US" sz="1000"/>
              <a:t>年五一节期间早餐平均消费</a:t>
            </a:r>
            <a:r>
              <a:rPr lang="en-US" altLang="zh-CN" sz="1000"/>
              <a:t>28.46</a:t>
            </a:r>
            <a:r>
              <a:rPr lang="zh-CN" altLang="en-US" sz="1000"/>
              <a:t>元，同期</a:t>
            </a:r>
            <a:r>
              <a:rPr lang="en-US" altLang="zh-CN" sz="1000"/>
              <a:t>34.79</a:t>
            </a:r>
            <a:r>
              <a:rPr lang="zh-CN" altLang="en-US" sz="1000"/>
              <a:t>元，对比同期下降</a:t>
            </a:r>
            <a:r>
              <a:rPr lang="en-US" altLang="zh-CN" sz="1000"/>
              <a:t>6.33</a:t>
            </a:r>
            <a:r>
              <a:rPr lang="zh-CN" altLang="en-US" sz="1000"/>
              <a:t>元，因散早占比</a:t>
            </a:r>
            <a:r>
              <a:rPr lang="en-US" altLang="zh-CN" sz="1000"/>
              <a:t>52%</a:t>
            </a:r>
            <a:r>
              <a:rPr lang="zh-CN" altLang="en-US" sz="1000"/>
              <a:t>太高，拉低了整个早餐人均消费。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en-US" altLang="zh-CN" sz="1000"/>
              <a:t>3</a:t>
            </a:r>
            <a:r>
              <a:rPr lang="zh-CN" altLang="en-US" sz="1000"/>
              <a:t>、节假日出租率高于同期整体到店人数没有链接消费餐饮的点，节日期间划拨占比</a:t>
            </a:r>
            <a:r>
              <a:rPr lang="en-US" altLang="zh-CN" sz="1000"/>
              <a:t>6%</a:t>
            </a:r>
            <a:r>
              <a:rPr lang="zh-CN" altLang="en-US" sz="1000"/>
              <a:t>，一般正常星级酒店早餐比例</a:t>
            </a:r>
            <a:r>
              <a:rPr lang="en-US" altLang="zh-CN" sz="1000"/>
              <a:t>7-9%</a:t>
            </a:r>
            <a:r>
              <a:rPr lang="zh-CN" altLang="en-US" sz="1000"/>
              <a:t>，低于市场值。</a:t>
            </a:r>
            <a:endParaRPr lang="zh-CN" altLang="en-US" sz="1000"/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 rtlCol="0" anchor="ctr"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6F15528-21DE-4FAA-801E-634DDDAF4B2B}" type="slidenum">
              <a:rPr kumimoji="0" lang="en-US" altLang="zh-CN" sz="675" b="0" i="0" u="none" strike="noStrike" kern="1200" cap="none" spc="0" normalizeH="0" baseline="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fld>
            <a:endParaRPr kumimoji="0" sz="675" b="0" i="0" u="none" strike="noStrike" kern="1200" cap="none" spc="0" normalizeH="0" baseline="0" noProof="1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26720" y="2905760"/>
            <a:ext cx="5878195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000"/>
              <a:t>1</a:t>
            </a:r>
            <a:r>
              <a:rPr lang="zh-CN" altLang="en-US" sz="1000"/>
              <a:t>、西餐厅五一节对比同期收入下降</a:t>
            </a:r>
            <a:r>
              <a:rPr lang="en-US" altLang="zh-CN" sz="1000"/>
              <a:t>3.8</a:t>
            </a:r>
            <a:r>
              <a:rPr lang="zh-CN" altLang="en-US" sz="1000"/>
              <a:t>万元，早餐因无早房较多所以上座率下降</a:t>
            </a:r>
            <a:r>
              <a:rPr lang="en-US" altLang="zh-CN" sz="1000"/>
              <a:t>39%</a:t>
            </a:r>
            <a:r>
              <a:rPr lang="zh-CN" altLang="en-US" sz="1000"/>
              <a:t>；午餐上座率对比同期下降</a:t>
            </a:r>
            <a:r>
              <a:rPr lang="en-US" altLang="zh-CN" sz="1000"/>
              <a:t>30%</a:t>
            </a:r>
            <a:r>
              <a:rPr lang="zh-CN" altLang="en-US" sz="1000"/>
              <a:t>，同期午餐有会议用餐；晚餐对比增长</a:t>
            </a:r>
            <a:r>
              <a:rPr lang="en-US" altLang="zh-CN" sz="1000"/>
              <a:t>2%</a:t>
            </a:r>
            <a:endParaRPr lang="en-US" altLang="zh-CN" sz="1000"/>
          </a:p>
          <a:p>
            <a:pPr>
              <a:lnSpc>
                <a:spcPct val="150000"/>
              </a:lnSpc>
            </a:pPr>
            <a:r>
              <a:rPr lang="en-US" altLang="zh-CN" sz="1000"/>
              <a:t>2</a:t>
            </a:r>
            <a:r>
              <a:rPr lang="zh-CN" altLang="en-US" sz="1000"/>
              <a:t>、五一节自助餐整体成本预测</a:t>
            </a:r>
            <a:r>
              <a:rPr lang="en-US" altLang="zh-CN" sz="1000"/>
              <a:t>58%</a:t>
            </a:r>
            <a:r>
              <a:rPr lang="zh-CN" altLang="en-US" sz="1000"/>
              <a:t>，</a:t>
            </a:r>
            <a:endParaRPr lang="zh-CN" altLang="en-US" sz="1000"/>
          </a:p>
        </p:txBody>
      </p:sp>
      <p:sp>
        <p:nvSpPr>
          <p:cNvPr id="3" name="文本框 2"/>
          <p:cNvSpPr txBox="1"/>
          <p:nvPr/>
        </p:nvSpPr>
        <p:spPr>
          <a:xfrm>
            <a:off x="607695" y="257175"/>
            <a:ext cx="2326640" cy="284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自助餐上座率及成本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426403" y="668020"/>
          <a:ext cx="801052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625"/>
                <a:gridCol w="733425"/>
                <a:gridCol w="714375"/>
                <a:gridCol w="685800"/>
                <a:gridCol w="704850"/>
                <a:gridCol w="962025"/>
                <a:gridCol w="790575"/>
                <a:gridCol w="962025"/>
                <a:gridCol w="685800"/>
                <a:gridCol w="962025"/>
              </a:tblGrid>
              <a:tr h="38100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项目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上座率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成本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成本率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2024年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同期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VS同期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2024年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同期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VS同期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2024年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同期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VS同期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早餐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74%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113%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-39.00%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9823 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16689 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-6865.18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58.00%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53.00%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5.00%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午餐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18%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48%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-30.00%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6118 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16422 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-10304.35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55.00%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51.00%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4.00%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晚餐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43%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41%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2.00%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10994 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10636 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358.3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60.00%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50.00%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10.00%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合计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45%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67%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-22.00%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26934.91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43746.14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-16811.23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58.07%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51.49%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6.58%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 rtlCol="0" anchor="ctr"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6F15528-21DE-4FAA-801E-634DDDAF4B2B}" type="slidenum">
              <a:rPr kumimoji="0" lang="en-US" altLang="zh-CN" sz="675" b="0" i="0" u="none" strike="noStrike" kern="1200" cap="none" spc="0" normalizeH="0" baseline="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fld>
            <a:endParaRPr kumimoji="0" sz="675" b="0" i="0" u="none" strike="noStrike" kern="1200" cap="none" spc="0" normalizeH="0" baseline="0" noProof="1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图表 6"/>
          <p:cNvGraphicFramePr/>
          <p:nvPr/>
        </p:nvGraphicFramePr>
        <p:xfrm>
          <a:off x="307975" y="690880"/>
          <a:ext cx="3830955" cy="2787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33070" y="3628390"/>
            <a:ext cx="7920990" cy="539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000"/>
              <a:t>逸派</a:t>
            </a:r>
            <a:r>
              <a:rPr lang="en-US" altLang="zh-CN" sz="1000"/>
              <a:t>2024</a:t>
            </a:r>
            <a:r>
              <a:rPr lang="zh-CN" altLang="en-US" sz="1000"/>
              <a:t>年五一节对比同期收入增长</a:t>
            </a:r>
            <a:r>
              <a:rPr lang="en-US" altLang="zh-CN" sz="1000"/>
              <a:t>0.1</a:t>
            </a:r>
            <a:r>
              <a:rPr lang="zh-CN" altLang="en-US" sz="1000"/>
              <a:t>万元，主要增长在美团套餐及单品咖啡，节假日特色产品补充。</a:t>
            </a:r>
            <a:endParaRPr lang="en-US" altLang="zh-CN" sz="1000"/>
          </a:p>
        </p:txBody>
      </p:sp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4295775" y="738505"/>
          <a:ext cx="3905250" cy="2720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750"/>
                <a:gridCol w="1301750"/>
                <a:gridCol w="1301750"/>
              </a:tblGrid>
              <a:tr h="544195"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逸派五一节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TOP3</a:t>
                      </a:r>
                      <a:endParaRPr lang="en-US" altLang="zh-CN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41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数量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金额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41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美团套餐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540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41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拿铁咖啡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547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41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棒棒糖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480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84530" y="295910"/>
            <a:ext cx="709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逸派</a:t>
            </a:r>
            <a:endParaRPr lang="zh-CN" altLang="en-US"/>
          </a:p>
        </p:txBody>
      </p:sp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8598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 rtlCol="0" anchor="ctr"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6F15528-21DE-4FAA-801E-634DDDAF4B2B}" type="slidenum">
              <a:rPr kumimoji="0" lang="en-US" altLang="zh-CN" sz="675" b="0" i="0" u="none" strike="noStrike" kern="1200" cap="none" spc="0" normalizeH="0" baseline="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</a:fld>
            <a:endParaRPr kumimoji="0" sz="675" b="0" i="0" u="none" strike="noStrike" kern="1200" cap="none" spc="0" normalizeH="0" baseline="0" noProof="1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8325" y="288925"/>
            <a:ext cx="1592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网评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749800" y="749935"/>
            <a:ext cx="3847465" cy="3411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1000"/>
              <a:t>1</a:t>
            </a:r>
            <a:r>
              <a:rPr lang="zh-CN" altLang="en-US" sz="1000"/>
              <a:t>、五一节西餐厅新增大众五星好评</a:t>
            </a:r>
            <a:r>
              <a:rPr lang="en-US" altLang="zh-CN" sz="1000"/>
              <a:t>14</a:t>
            </a:r>
            <a:r>
              <a:rPr lang="zh-CN" altLang="en-US" sz="1000"/>
              <a:t>条，评价菜品好、服务好；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en-US" altLang="zh-CN" sz="1000"/>
              <a:t>2</a:t>
            </a:r>
            <a:r>
              <a:rPr lang="zh-CN" altLang="en-US" sz="1000"/>
              <a:t>、美团外卖新增</a:t>
            </a:r>
            <a:r>
              <a:rPr lang="en-US" altLang="zh-CN" sz="1000"/>
              <a:t>5</a:t>
            </a:r>
            <a:r>
              <a:rPr lang="zh-CN" altLang="en-US" sz="1000"/>
              <a:t>星好评</a:t>
            </a:r>
            <a:r>
              <a:rPr lang="en-US" altLang="zh-CN" sz="1000"/>
              <a:t>6</a:t>
            </a:r>
            <a:r>
              <a:rPr lang="zh-CN" altLang="en-US" sz="1000"/>
              <a:t>条，评价份量足、品质好；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en-US" altLang="zh-CN" sz="1000"/>
              <a:t>3</a:t>
            </a:r>
            <a:r>
              <a:rPr lang="zh-CN" altLang="en-US" sz="1000"/>
              <a:t>、五一节期间跟进自助餐网络客人</a:t>
            </a:r>
            <a:r>
              <a:rPr lang="en-US" altLang="zh-CN" sz="1000"/>
              <a:t>27</a:t>
            </a:r>
            <a:r>
              <a:rPr lang="zh-CN" altLang="en-US" sz="1000"/>
              <a:t>起，获得好评</a:t>
            </a:r>
            <a:r>
              <a:rPr lang="en-US" altLang="zh-CN" sz="1000"/>
              <a:t>27</a:t>
            </a:r>
            <a:r>
              <a:rPr lang="zh-CN" altLang="en-US" sz="1000"/>
              <a:t>条（因系统网评机制原因部分网评后台未显示，显示有效好评</a:t>
            </a:r>
            <a:r>
              <a:rPr lang="en-US" altLang="zh-CN" sz="1000"/>
              <a:t>14</a:t>
            </a:r>
            <a:r>
              <a:rPr lang="zh-CN" altLang="en-US" sz="1000"/>
              <a:t>条）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en-US" altLang="zh-CN" sz="1000"/>
              <a:t>4</a:t>
            </a:r>
            <a:r>
              <a:rPr lang="zh-CN" altLang="en-US" sz="1000"/>
              <a:t>、跟进早餐网络客人</a:t>
            </a:r>
            <a:r>
              <a:rPr lang="en-US" altLang="zh-CN" sz="1000"/>
              <a:t>12</a:t>
            </a:r>
            <a:r>
              <a:rPr lang="zh-CN" altLang="en-US" sz="1000"/>
              <a:t>起，其中获得好评</a:t>
            </a:r>
            <a:r>
              <a:rPr lang="en-US" altLang="zh-CN" sz="1000"/>
              <a:t>5</a:t>
            </a:r>
            <a:r>
              <a:rPr lang="zh-CN" altLang="en-US" sz="1000"/>
              <a:t>起打卡收藏，部分客人连住</a:t>
            </a:r>
            <a:r>
              <a:rPr lang="en-US" altLang="zh-CN" sz="1000"/>
              <a:t>3</a:t>
            </a:r>
            <a:r>
              <a:rPr lang="zh-CN" altLang="en-US" sz="1000"/>
              <a:t>晚以上因网评机制原因未获取好评。</a:t>
            </a:r>
            <a:endParaRPr lang="zh-CN" altLang="en-US" sz="1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620" y="657225"/>
            <a:ext cx="4431665" cy="3503930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pPr fontAlgn="auto"/>
            <a:fld id="{B6F15528-21DE-4FAA-801E-634DDDAF4B2B}" type="slidenum">
              <a:rPr lang="en-US" altLang="zh-CN" strike="noStrike" noProof="1" smtClean="0">
                <a:latin typeface="+mn-lt"/>
                <a:ea typeface="+mn-ea"/>
                <a:cs typeface="+mn-cs"/>
              </a:rPr>
            </a:fld>
            <a:endParaRPr strike="noStrike" noProof="1" dirty="0"/>
          </a:p>
        </p:txBody>
      </p:sp>
      <p:sp>
        <p:nvSpPr>
          <p:cNvPr id="3" name="文本框 2"/>
          <p:cNvSpPr txBox="1"/>
          <p:nvPr/>
        </p:nvSpPr>
        <p:spPr>
          <a:xfrm>
            <a:off x="526415" y="260985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宣传举措效果以及总结不足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95300" y="862330"/>
            <a:ext cx="69081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1</a:t>
            </a:r>
            <a:r>
              <a:rPr lang="zh-CN" altLang="en-US" sz="1000"/>
              <a:t>、没有计划早餐卡销售价格的调整及渠道销售（无早房到餐厅</a:t>
            </a:r>
            <a:r>
              <a:rPr lang="en-US" altLang="zh-CN" sz="1000"/>
              <a:t>90%</a:t>
            </a:r>
            <a:r>
              <a:rPr lang="zh-CN" altLang="en-US" sz="1000"/>
              <a:t>客人不接受我们早餐价格，导致没有调整早餐卡价格及销售渠道）通过这个五一节无早房是有早餐需要，在价格策略上测算一个适中及控成本进行销售，需要市场部及前厅部同步，市场部考虑无早房比例，前厅部需要给餐饮进行销售，前台是第一销售场景。</a:t>
            </a:r>
            <a:endParaRPr lang="zh-CN" altLang="en-US" sz="1000"/>
          </a:p>
          <a:p>
            <a:endParaRPr lang="zh-CN" altLang="en-US" sz="1000"/>
          </a:p>
          <a:p>
            <a:endParaRPr lang="zh-CN" altLang="en-US" sz="1000"/>
          </a:p>
          <a:p>
            <a:r>
              <a:rPr lang="en-US" altLang="zh-CN" sz="1000"/>
              <a:t>2</a:t>
            </a:r>
            <a:r>
              <a:rPr lang="zh-CN" altLang="en-US" sz="1000"/>
              <a:t>、五一长假由于美工缺岗导致自助餐没有提前做宣传计划，临近了出了小龙虾汇报。</a:t>
            </a:r>
            <a:endParaRPr lang="zh-CN" alt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TABLE_ENDDRAG_ORIGIN_RECT" val="542*169"/>
  <p:tag name="TABLE_ENDDRAG_RECT" val="177*117*542*169"/>
</p:tagLst>
</file>

<file path=ppt/tags/tag12.xml><?xml version="1.0" encoding="utf-8"?>
<p:tagLst xmlns:p="http://schemas.openxmlformats.org/presentationml/2006/main">
  <p:tag name="TABLE_ENDDRAG_ORIGIN_RECT" val="255*195"/>
  <p:tag name="TABLE_ENDDRAG_RECT" val="446*51*255*195"/>
</p:tagLst>
</file>

<file path=ppt/tags/tag13.xml><?xml version="1.0" encoding="utf-8"?>
<p:tagLst xmlns:p="http://schemas.openxmlformats.org/presentationml/2006/main">
  <p:tag name="TABLE_ENDDRAG_ORIGIN_RECT" val="307*214"/>
  <p:tag name="TABLE_ENDDRAG_RECT" val="301*64*307*214"/>
</p:tagLst>
</file>

<file path=ppt/tags/tag14.xml><?xml version="1.0" encoding="utf-8"?>
<p:tagLst xmlns:p="http://schemas.openxmlformats.org/presentationml/2006/main">
  <p:tag name="commondata" val="eyJoZGlkIjoiOTEzYjZiYmQ1MzQzNzFiZDRjZWQ3YTM1YTU4ZGI3ZmMifQ=="/>
</p:tagLst>
</file>

<file path=ppt/theme/theme1.xml><?xml version="1.0" encoding="utf-8"?>
<a:theme xmlns:a="http://schemas.openxmlformats.org/drawingml/2006/main" name="封面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内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2206</Words>
  <Application>WPS 演示</Application>
  <PresentationFormat>全屏显示(16:9)</PresentationFormat>
  <Paragraphs>619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Calibri</vt:lpstr>
      <vt:lpstr>黑体</vt:lpstr>
      <vt:lpstr>微软雅黑</vt:lpstr>
      <vt:lpstr>等线</vt:lpstr>
      <vt:lpstr>Arial Unicode MS</vt:lpstr>
      <vt:lpstr>等线 Light</vt:lpstr>
      <vt:lpstr>Calibri Light</vt:lpstr>
      <vt:lpstr>封面</vt:lpstr>
      <vt:lpstr>封底</vt:lpstr>
      <vt:lpstr>内页</vt:lpstr>
      <vt:lpstr>重庆丽苑维景餐饮部 2024年五一节收入分析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小新敏</cp:lastModifiedBy>
  <cp:revision>161</cp:revision>
  <cp:lastPrinted>2020-08-18T05:55:00Z</cp:lastPrinted>
  <dcterms:created xsi:type="dcterms:W3CDTF">2019-11-08T09:21:00Z</dcterms:created>
  <dcterms:modified xsi:type="dcterms:W3CDTF">2024-05-08T06:21:23Z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2052-11.8.2.12187</vt:lpwstr>
  </property>
  <property fmtid="{D5CDD505-2E9C-101B-9397-08002B2CF9AE}" pid="3" name="ICV">
    <vt:lpwstr>9092C03EA6404AA4B0A1D49FBB491DB8</vt:lpwstr>
  </property>
</Properties>
</file>