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2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>
  <p:sldMasterIdLst>
    <p:sldMasterId id="2147483648" r:id="rId1"/>
    <p:sldMasterId id="2147483658" r:id="rId2"/>
  </p:sldMasterIdLst>
  <p:notesMasterIdLst>
    <p:notesMasterId r:id="rId18"/>
  </p:notesMasterIdLst>
  <p:sldIdLst>
    <p:sldId id="256" r:id="rId3"/>
    <p:sldId id="900" r:id="rId4"/>
    <p:sldId id="497" r:id="rId5"/>
    <p:sldId id="1340" r:id="rId6"/>
    <p:sldId id="1341" r:id="rId7"/>
    <p:sldId id="1342" r:id="rId8"/>
    <p:sldId id="1344" r:id="rId9"/>
    <p:sldId id="1345" r:id="rId10"/>
    <p:sldId id="1343" r:id="rId11"/>
    <p:sldId id="1271" r:id="rId12"/>
    <p:sldId id="1347" r:id="rId13"/>
    <p:sldId id="1348" r:id="rId14"/>
    <p:sldId id="1349" r:id="rId15"/>
    <p:sldId id="1346" r:id="rId16"/>
    <p:sldId id="333" r:id="rId17"/>
  </p:sldIdLst>
  <p:sldSz cx="14403388" cy="8102600"/>
  <p:notesSz cx="14401800" cy="81026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13">
          <p15:clr>
            <a:srgbClr val="A4A3A4"/>
          </p15:clr>
        </p15:guide>
        <p15:guide id="2" pos="228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3" name="尹安琪" initials="L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74AD"/>
    <a:srgbClr val="C00000"/>
    <a:srgbClr val="0070C0"/>
    <a:srgbClr val="1AA3AA"/>
    <a:srgbClr val="076888"/>
    <a:srgbClr val="FFCC99"/>
    <a:srgbClr val="517DAC"/>
    <a:srgbClr val="EBEBEB"/>
    <a:srgbClr val="F1F1F1"/>
    <a:srgbClr val="15A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5289" autoAdjust="0"/>
  </p:normalViewPr>
  <p:slideViewPr>
    <p:cSldViewPr>
      <p:cViewPr varScale="1">
        <p:scale>
          <a:sx n="55" d="100"/>
          <a:sy n="55" d="100"/>
        </p:scale>
        <p:origin x="524" y="56"/>
      </p:cViewPr>
      <p:guideLst>
        <p:guide orient="horz" pos="3013"/>
        <p:guide pos="228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240463" cy="406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8158163" y="0"/>
            <a:ext cx="6240462" cy="406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41F66-55E7-40C9-865A-FF118F0E7B43}" type="datetimeFigureOut">
              <a:rPr lang="zh-CN" altLang="en-US" smtClean="0"/>
              <a:t>2023-4-21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70028" y="1012825"/>
            <a:ext cx="4861745" cy="2735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439863" y="3898900"/>
            <a:ext cx="11522075" cy="31908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696200"/>
            <a:ext cx="6240463" cy="406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8158163" y="7696200"/>
            <a:ext cx="6240462" cy="406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D1BEA-8F6D-4E4C-8509-0C7FB7929A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770438" y="1012825"/>
            <a:ext cx="4860925" cy="27352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D1BEA-8F6D-4E4C-8509-0C7FB7929A9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770438" y="1012825"/>
            <a:ext cx="4860925" cy="2735263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3" Type="http://schemas.openxmlformats.org/officeDocument/2006/relationships/tags" Target="../tags/tag9.xml"/><Relationship Id="rId21" Type="http://schemas.openxmlformats.org/officeDocument/2006/relationships/image" Target="../media/image11.png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image" Target="../media/image10.jpe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10" Type="http://schemas.openxmlformats.org/officeDocument/2006/relationships/tags" Target="../tags/tag16.xml"/><Relationship Id="rId19" Type="http://schemas.openxmlformats.org/officeDocument/2006/relationships/slideMaster" Target="../slideMasters/slideMaster2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7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10" Type="http://schemas.openxmlformats.org/officeDocument/2006/relationships/tags" Target="../tags/tag87.xml"/><Relationship Id="rId19" Type="http://schemas.openxmlformats.org/officeDocument/2006/relationships/image" Target="../media/image11.png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tags" Target="../tags/tag114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tags" Target="../tags/tag113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5" Type="http://schemas.openxmlformats.org/officeDocument/2006/relationships/tags" Target="../tags/tag106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11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tags" Target="../tags/tag115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31.xml"/><Relationship Id="rId10" Type="http://schemas.openxmlformats.org/officeDocument/2006/relationships/tags" Target="../tags/tag136.xml"/><Relationship Id="rId4" Type="http://schemas.openxmlformats.org/officeDocument/2006/relationships/tags" Target="../tags/tag130.xml"/><Relationship Id="rId9" Type="http://schemas.openxmlformats.org/officeDocument/2006/relationships/tags" Target="../tags/tag135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41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80270" y="2512116"/>
            <a:ext cx="12243060" cy="1701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60540" y="4538016"/>
            <a:ext cx="10082519" cy="202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53A44-E974-4B4E-91A8-B4B905AD599C}" type="datetime1">
              <a:rPr lang="en-US" altLang="zh-CN" smtClean="0"/>
              <a:t>4/21/2023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5496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91420-068B-4328-8F0C-DAE40D11E9AA}" type="datetime1">
              <a:rPr lang="en-US" altLang="zh-CN" smtClean="0"/>
              <a:t>4/21/2023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97762" y="7536348"/>
            <a:ext cx="3312828" cy="277033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4401693" cy="8100424"/>
          </a:xfrm>
          <a:custGeom>
            <a:avLst/>
            <a:gdLst/>
            <a:ahLst/>
            <a:cxnLst/>
            <a:rect l="l" t="t" r="r" b="b"/>
            <a:pathLst>
              <a:path w="14399894" h="8099425">
                <a:moveTo>
                  <a:pt x="0" y="8099425"/>
                </a:moveTo>
                <a:lnTo>
                  <a:pt x="14399894" y="8099425"/>
                </a:lnTo>
                <a:lnTo>
                  <a:pt x="14399894" y="0"/>
                </a:lnTo>
                <a:lnTo>
                  <a:pt x="0" y="0"/>
                </a:lnTo>
                <a:lnTo>
                  <a:pt x="0" y="8099425"/>
                </a:lnTo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21273" y="533466"/>
            <a:ext cx="152419" cy="249966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2134080" y="7550826"/>
            <a:ext cx="2069850" cy="271305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521653" y="971784"/>
            <a:ext cx="13880294" cy="0"/>
          </a:xfrm>
          <a:custGeom>
            <a:avLst/>
            <a:gdLst/>
            <a:ahLst/>
            <a:cxnLst/>
            <a:rect l="l" t="t" r="r" b="b"/>
            <a:pathLst>
              <a:path w="13878560">
                <a:moveTo>
                  <a:pt x="0" y="0"/>
                </a:moveTo>
                <a:lnTo>
                  <a:pt x="13878305" y="0"/>
                </a:lnTo>
              </a:path>
            </a:pathLst>
          </a:custGeom>
          <a:ln w="7619">
            <a:solidFill>
              <a:srgbClr val="0040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2423675" y="246918"/>
            <a:ext cx="1752818" cy="573095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5496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02549" y="1361228"/>
            <a:ext cx="4464608" cy="5622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D75B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417853" y="1863828"/>
            <a:ext cx="6265566" cy="5348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0FA01-2FA1-4209-BE7B-D3CB737E414A}" type="datetime1">
              <a:rPr lang="en-US" altLang="zh-CN" smtClean="0"/>
              <a:t>4/21/2023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649781" y="7557432"/>
            <a:ext cx="3312828" cy="277033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130325" y="2423459"/>
            <a:ext cx="1371771" cy="868787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48709" y="3678835"/>
            <a:ext cx="13842417" cy="3616482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5496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E14B0-6E03-4E54-9431-8D33771F6FA0}" type="datetime1">
              <a:rPr lang="en-US" altLang="zh-CN" smtClean="0"/>
              <a:t>4/21/2023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702"/>
            <a:ext cx="14401693" cy="8100424"/>
          </a:xfrm>
          <a:custGeom>
            <a:avLst/>
            <a:gdLst/>
            <a:ahLst/>
            <a:cxnLst/>
            <a:rect l="l" t="t" r="r" b="b"/>
            <a:pathLst>
              <a:path w="14399894" h="8099425">
                <a:moveTo>
                  <a:pt x="0" y="8099425"/>
                </a:moveTo>
                <a:lnTo>
                  <a:pt x="14399894" y="8099425"/>
                </a:lnTo>
                <a:lnTo>
                  <a:pt x="14399894" y="0"/>
                </a:lnTo>
                <a:lnTo>
                  <a:pt x="0" y="0"/>
                </a:lnTo>
                <a:lnTo>
                  <a:pt x="0" y="8099425"/>
                </a:lnTo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21273" y="533466"/>
            <a:ext cx="152419" cy="249966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2134080" y="7550826"/>
            <a:ext cx="2069850" cy="271305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521653" y="971784"/>
            <a:ext cx="13880294" cy="0"/>
          </a:xfrm>
          <a:custGeom>
            <a:avLst/>
            <a:gdLst/>
            <a:ahLst/>
            <a:cxnLst/>
            <a:rect l="l" t="t" r="r" b="b"/>
            <a:pathLst>
              <a:path w="13878560">
                <a:moveTo>
                  <a:pt x="0" y="0"/>
                </a:moveTo>
                <a:lnTo>
                  <a:pt x="13878305" y="0"/>
                </a:lnTo>
              </a:path>
            </a:pathLst>
          </a:custGeom>
          <a:ln w="7619">
            <a:solidFill>
              <a:srgbClr val="0040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2423675" y="246918"/>
            <a:ext cx="1752818" cy="573095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41E9F-5671-4675-817B-A6B3E01E25F2}" type="datetime1">
              <a:rPr lang="en-US" altLang="zh-CN" smtClean="0"/>
              <a:t>4/21/2023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649781" y="7536348"/>
            <a:ext cx="3312828" cy="277033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556180" y="3289300"/>
            <a:ext cx="13847421" cy="3598939"/>
          </a:xfrm>
          <a:prstGeom prst="rect">
            <a:avLst/>
          </a:prstGeom>
          <a:solidFill>
            <a:srgbClr val="0040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85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9377" y="2431565"/>
            <a:ext cx="4067813" cy="8716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" y="6261100"/>
            <a:ext cx="3260814" cy="3152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432" y="4602265"/>
            <a:ext cx="886299" cy="87016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495" y="3866997"/>
            <a:ext cx="3122438" cy="22087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CDE6-70A2-4E59-8F4C-CF42DB8E485D}" type="datetime1">
              <a:rPr lang="en-US" altLang="zh-CN" smtClean="0"/>
              <a:t>4/21/2023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 userDrawn="1">
            <p:custDataLst>
              <p:tags r:id="rId1"/>
            </p:custDataLst>
          </p:nvPr>
        </p:nvGrpSpPr>
        <p:grpSpPr>
          <a:xfrm>
            <a:off x="11365969" y="6674312"/>
            <a:ext cx="1250054" cy="1446160"/>
            <a:chOff x="9620782" y="5648408"/>
            <a:chExt cx="1058115" cy="1223872"/>
          </a:xfrm>
        </p:grpSpPr>
        <p:grpSp>
          <p:nvGrpSpPr>
            <p:cNvPr id="14" name="组合 13"/>
            <p:cNvGrpSpPr/>
            <p:nvPr/>
          </p:nvGrpSpPr>
          <p:grpSpPr>
            <a:xfrm>
              <a:off x="9620782" y="5648408"/>
              <a:ext cx="1058115" cy="1223872"/>
              <a:chOff x="9620782" y="5648408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2" name="直接连接符 11"/>
              <p:cNvCxnSpPr/>
              <p:nvPr>
                <p:custDataLst>
                  <p:tags r:id="rId17"/>
                </p:custDataLst>
              </p:nvPr>
            </p:nvCxnSpPr>
            <p:spPr>
              <a:xfrm rot="10800000" flipH="1">
                <a:off x="9620782" y="5838453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椭圆 12"/>
              <p:cNvSpPr/>
              <p:nvPr>
                <p:custDataLst>
                  <p:tags r:id="rId18"/>
                </p:custDataLst>
              </p:nvPr>
            </p:nvSpPr>
            <p:spPr>
              <a:xfrm rot="10800000">
                <a:off x="10440772" y="5648408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" name="直接连接符 4"/>
            <p:cNvCxnSpPr/>
            <p:nvPr>
              <p:custDataLst>
                <p:tags r:id="rId16"/>
              </p:custDataLst>
            </p:nvPr>
          </p:nvCxnSpPr>
          <p:spPr>
            <a:xfrm flipH="1">
              <a:off x="10058400" y="6365126"/>
              <a:ext cx="501436" cy="50143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 userDrawn="1">
            <p:custDataLst>
              <p:tags r:id="rId2"/>
            </p:custDataLst>
          </p:nvPr>
        </p:nvGrpSpPr>
        <p:grpSpPr>
          <a:xfrm>
            <a:off x="12334703" y="-17313"/>
            <a:ext cx="1264387" cy="1446160"/>
            <a:chOff x="10440772" y="-14652"/>
            <a:chExt cx="1070247" cy="1223872"/>
          </a:xfrm>
        </p:grpSpPr>
        <p:grpSp>
          <p:nvGrpSpPr>
            <p:cNvPr id="6" name="组合 5"/>
            <p:cNvGrpSpPr/>
            <p:nvPr/>
          </p:nvGrpSpPr>
          <p:grpSpPr>
            <a:xfrm>
              <a:off x="10440772" y="-14652"/>
              <a:ext cx="1058115" cy="1223872"/>
              <a:chOff x="10440772" y="-14652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1" name="直接连接符 10"/>
              <p:cNvCxnSpPr/>
              <p:nvPr>
                <p:custDataLst>
                  <p:tags r:id="rId14"/>
                </p:custDataLst>
              </p:nvPr>
            </p:nvCxnSpPr>
            <p:spPr>
              <a:xfrm flipH="1">
                <a:off x="10465062" y="-14652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椭圆 14"/>
              <p:cNvSpPr/>
              <p:nvPr>
                <p:custDataLst>
                  <p:tags r:id="rId15"/>
                </p:custDataLst>
              </p:nvPr>
            </p:nvSpPr>
            <p:spPr>
              <a:xfrm>
                <a:off x="10440772" y="971095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0" name="直接连接符 19"/>
            <p:cNvCxnSpPr/>
            <p:nvPr>
              <p:custDataLst>
                <p:tags r:id="rId13"/>
              </p:custDataLst>
            </p:nvPr>
          </p:nvCxnSpPr>
          <p:spPr>
            <a:xfrm flipH="1">
              <a:off x="11182350" y="412295"/>
              <a:ext cx="328669" cy="32867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 descr="lucy-m-1643491-unsplash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0" y="1053468"/>
            <a:ext cx="9200299" cy="61347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 descr="8cb70c72b599fcd9e5e7d1619ebc1ce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297074" y="2083676"/>
            <a:ext cx="838710" cy="838872"/>
          </a:xfrm>
          <a:prstGeom prst="rect">
            <a:avLst/>
          </a:prstGeom>
        </p:spPr>
      </p:pic>
      <p:pic>
        <p:nvPicPr>
          <p:cNvPr id="8" name="图片 7" descr="8cb70c72b599fcd9e5e7d1619ebc1ce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297074" y="3024593"/>
            <a:ext cx="838710" cy="838872"/>
          </a:xfrm>
          <a:prstGeom prst="rect">
            <a:avLst/>
          </a:prstGeom>
        </p:spPr>
      </p:pic>
      <p:pic>
        <p:nvPicPr>
          <p:cNvPr id="9" name="图片 8" descr="8cb70c72b599fcd9e5e7d1619ebc1ce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297074" y="3991023"/>
            <a:ext cx="838710" cy="838872"/>
          </a:xfrm>
          <a:prstGeom prst="rect">
            <a:avLst/>
          </a:prstGeom>
        </p:spPr>
      </p:pic>
      <p:pic>
        <p:nvPicPr>
          <p:cNvPr id="10" name="图片 9" descr="8cb70c72b599fcd9e5e7d1619ebc1ce6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297074" y="4957453"/>
            <a:ext cx="838710" cy="83887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10297074" y="2092679"/>
            <a:ext cx="837960" cy="3703645"/>
          </a:xfrm>
        </p:spPr>
        <p:txBody>
          <a:bodyPr vert="eaVert" lIns="90000" tIns="46800" rIns="90000" bIns="46800" anchor="ctr" anchorCtr="0">
            <a:normAutofit/>
          </a:bodyPr>
          <a:lstStyle>
            <a:lvl1pPr algn="dist">
              <a:defRPr sz="4490" b="1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11990997" y="1827861"/>
            <a:ext cx="825956" cy="4222875"/>
          </a:xfrm>
        </p:spPr>
        <p:txBody>
          <a:bodyPr vert="eaVert" lIns="90000" tIns="46800" rIns="90000" bIns="46800" anchor="ctr" anchorCtr="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655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540385" indent="0" algn="ctr">
              <a:buNone/>
              <a:defRPr sz="2365"/>
            </a:lvl2pPr>
            <a:lvl3pPr marL="1080135" indent="0" algn="ctr">
              <a:buNone/>
              <a:defRPr sz="2125"/>
            </a:lvl3pPr>
            <a:lvl4pPr marL="1620520" indent="0" algn="ctr">
              <a:buNone/>
              <a:defRPr sz="1890"/>
            </a:lvl4pPr>
            <a:lvl5pPr marL="2160905" indent="0" algn="ctr">
              <a:buNone/>
              <a:defRPr sz="1890"/>
            </a:lvl5pPr>
            <a:lvl6pPr marL="2701290" indent="0" algn="ctr">
              <a:buNone/>
              <a:defRPr sz="1890"/>
            </a:lvl6pPr>
            <a:lvl7pPr marL="3241675" indent="0" algn="ctr">
              <a:buNone/>
              <a:defRPr sz="1890"/>
            </a:lvl7pPr>
            <a:lvl8pPr marL="3782060" indent="0" algn="ctr">
              <a:buNone/>
              <a:defRPr sz="1890"/>
            </a:lvl8pPr>
            <a:lvl9pPr marL="4321810" indent="0" algn="ctr">
              <a:buNone/>
              <a:defRPr sz="189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31C80C1-5B6E-4F22-8A1E-6433ED4CEF55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91397" y="523738"/>
            <a:ext cx="12820807" cy="522236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91397" y="1125510"/>
            <a:ext cx="12820807" cy="6367679"/>
          </a:xfrm>
        </p:spPr>
        <p:txBody>
          <a:bodyPr vert="horz" lIns="90170" tIns="46990" rIns="90170" bIns="46990" rtlCol="0">
            <a:normAutofit/>
          </a:bodyPr>
          <a:lstStyle>
            <a:lvl1pPr marL="269875" marR="0" lvl="0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10260" marR="0" lvl="1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50645" marR="0" lvl="2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890395" marR="0" lvl="3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30780" marR="0" lvl="4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D3824173-277A-49E8-8A46-B26918F55D1F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890367" y="1825026"/>
            <a:ext cx="1034716" cy="5365311"/>
          </a:xfrm>
        </p:spPr>
        <p:txBody>
          <a:bodyPr vert="eaVert" lIns="90000" tIns="46800" rIns="90000" bIns="46800" anchor="ctr" anchorCtr="0">
            <a:normAutofit/>
          </a:bodyPr>
          <a:lstStyle>
            <a:lvl1pPr>
              <a:defRPr sz="165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AB7A67B-A654-4DC7-ACAE-432C68769C1F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42" name="组合 41"/>
          <p:cNvGrpSpPr/>
          <p:nvPr userDrawn="1">
            <p:custDataLst>
              <p:tags r:id="rId5"/>
            </p:custDataLst>
          </p:nvPr>
        </p:nvGrpSpPr>
        <p:grpSpPr>
          <a:xfrm>
            <a:off x="11365969" y="6674312"/>
            <a:ext cx="1250054" cy="1446160"/>
            <a:chOff x="9620782" y="5648408"/>
            <a:chExt cx="1058115" cy="1223872"/>
          </a:xfrm>
        </p:grpSpPr>
        <p:grpSp>
          <p:nvGrpSpPr>
            <p:cNvPr id="43" name="组合 42"/>
            <p:cNvGrpSpPr/>
            <p:nvPr/>
          </p:nvGrpSpPr>
          <p:grpSpPr>
            <a:xfrm>
              <a:off x="9620782" y="5648408"/>
              <a:ext cx="1058115" cy="1223872"/>
              <a:chOff x="9620782" y="5648408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5" name="直接连接符 44"/>
              <p:cNvCxnSpPr/>
              <p:nvPr>
                <p:custDataLst>
                  <p:tags r:id="rId11"/>
                </p:custDataLst>
              </p:nvPr>
            </p:nvCxnSpPr>
            <p:spPr>
              <a:xfrm rot="10800000" flipH="1">
                <a:off x="9620782" y="5838453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椭圆 45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10440772" y="5648408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4" name="直接连接符 43"/>
            <p:cNvCxnSpPr/>
            <p:nvPr>
              <p:custDataLst>
                <p:tags r:id="rId10"/>
              </p:custDataLst>
            </p:nvPr>
          </p:nvCxnSpPr>
          <p:spPr>
            <a:xfrm flipH="1">
              <a:off x="10058400" y="6365126"/>
              <a:ext cx="501436" cy="50143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 userDrawn="1">
            <p:custDataLst>
              <p:tags r:id="rId6"/>
            </p:custDataLst>
          </p:nvPr>
        </p:nvGrpSpPr>
        <p:grpSpPr>
          <a:xfrm>
            <a:off x="12334703" y="-17313"/>
            <a:ext cx="1264387" cy="1446160"/>
            <a:chOff x="10440772" y="-14652"/>
            <a:chExt cx="1070247" cy="1223872"/>
          </a:xfrm>
        </p:grpSpPr>
        <p:grpSp>
          <p:nvGrpSpPr>
            <p:cNvPr id="48" name="组合 47"/>
            <p:cNvGrpSpPr/>
            <p:nvPr/>
          </p:nvGrpSpPr>
          <p:grpSpPr>
            <a:xfrm>
              <a:off x="10440772" y="-14652"/>
              <a:ext cx="1058115" cy="1223872"/>
              <a:chOff x="10440772" y="-14652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50" name="直接连接符 49"/>
              <p:cNvCxnSpPr/>
              <p:nvPr>
                <p:custDataLst>
                  <p:tags r:id="rId8"/>
                </p:custDataLst>
              </p:nvPr>
            </p:nvCxnSpPr>
            <p:spPr>
              <a:xfrm flipH="1">
                <a:off x="10465062" y="-14652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椭圆 50"/>
              <p:cNvSpPr/>
              <p:nvPr>
                <p:custDataLst>
                  <p:tags r:id="rId9"/>
                </p:custDataLst>
              </p:nvPr>
            </p:nvSpPr>
            <p:spPr>
              <a:xfrm>
                <a:off x="10440772" y="971095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9" name="直接连接符 48"/>
            <p:cNvCxnSpPr/>
            <p:nvPr>
              <p:custDataLst>
                <p:tags r:id="rId7"/>
              </p:custDataLst>
            </p:nvPr>
          </p:nvCxnSpPr>
          <p:spPr>
            <a:xfrm flipH="1">
              <a:off x="11182350" y="412295"/>
              <a:ext cx="328669" cy="32867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91397" y="523738"/>
            <a:ext cx="12820807" cy="522236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791454" y="1125510"/>
            <a:ext cx="6241610" cy="6367679"/>
          </a:xfrm>
        </p:spPr>
        <p:txBody>
          <a:bodyPr vert="horz" lIns="90170" tIns="46990" rIns="90170" bIns="46990" rtlCol="0">
            <a:normAutofit/>
          </a:bodyPr>
          <a:lstStyle>
            <a:lvl1pPr marL="269875" marR="0" lvl="0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10260" marR="0" lvl="1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50645" marR="0" lvl="2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890395" marR="0" lvl="3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30780" marR="0" lvl="4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7370594" y="1125510"/>
            <a:ext cx="6241610" cy="6367679"/>
          </a:xfrm>
        </p:spPr>
        <p:txBody>
          <a:bodyPr lIns="90170" tIns="46990" rIns="90170" bIns="46990">
            <a:normAutofit/>
          </a:bodyPr>
          <a:lstStyle>
            <a:lvl1pPr>
              <a:defRPr sz="1890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890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90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890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890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2212B64B-B8F2-4819-8E07-AA8183714410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91397" y="523738"/>
            <a:ext cx="12820807" cy="522236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791454" y="1125510"/>
            <a:ext cx="6241610" cy="450204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365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540385" indent="0">
              <a:buNone/>
              <a:defRPr sz="2365" b="1"/>
            </a:lvl2pPr>
            <a:lvl3pPr marL="1080135" indent="0">
              <a:buNone/>
              <a:defRPr sz="2125" b="1"/>
            </a:lvl3pPr>
            <a:lvl4pPr marL="1620520" indent="0">
              <a:buNone/>
              <a:defRPr sz="1890" b="1"/>
            </a:lvl4pPr>
            <a:lvl5pPr marL="2160905" indent="0">
              <a:buNone/>
              <a:defRPr sz="1890" b="1"/>
            </a:lvl5pPr>
            <a:lvl6pPr marL="2701290" indent="0">
              <a:buNone/>
              <a:defRPr sz="1890" b="1"/>
            </a:lvl6pPr>
            <a:lvl7pPr marL="3241675" indent="0">
              <a:buNone/>
              <a:defRPr sz="1890" b="1"/>
            </a:lvl7pPr>
            <a:lvl8pPr marL="3782060" indent="0">
              <a:buNone/>
              <a:defRPr sz="1890" b="1"/>
            </a:lvl8pPr>
            <a:lvl9pPr marL="4321810" indent="0">
              <a:buNone/>
              <a:defRPr sz="189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791448" y="1661988"/>
            <a:ext cx="6241560" cy="5831037"/>
          </a:xfrm>
        </p:spPr>
        <p:txBody>
          <a:bodyPr vert="horz" lIns="90170" tIns="46990" rIns="90170" bIns="46990" rtlCol="0">
            <a:normAutofit/>
          </a:bodyPr>
          <a:lstStyle>
            <a:lvl1pPr marL="269875" marR="0" lvl="0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10260" marR="0" lvl="1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50645" marR="0" lvl="2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890395" marR="0" lvl="3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30780" marR="0" lvl="4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7366900" y="1125510"/>
            <a:ext cx="6241610" cy="45020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365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0385" indent="0">
              <a:buNone/>
              <a:defRPr sz="2365" b="1"/>
            </a:lvl2pPr>
            <a:lvl3pPr marL="1080135" indent="0">
              <a:buNone/>
              <a:defRPr sz="2125" b="1"/>
            </a:lvl3pPr>
            <a:lvl4pPr marL="1620520" indent="0">
              <a:buNone/>
              <a:defRPr sz="1890" b="1"/>
            </a:lvl4pPr>
            <a:lvl5pPr marL="2160905" indent="0">
              <a:buNone/>
              <a:defRPr sz="1890" b="1"/>
            </a:lvl5pPr>
            <a:lvl6pPr marL="2701290" indent="0">
              <a:buNone/>
              <a:defRPr sz="1890" b="1"/>
            </a:lvl6pPr>
            <a:lvl7pPr marL="3241675" indent="0">
              <a:buNone/>
              <a:defRPr sz="1890" b="1"/>
            </a:lvl7pPr>
            <a:lvl8pPr marL="3782060" indent="0">
              <a:buNone/>
              <a:defRPr sz="1890" b="1"/>
            </a:lvl8pPr>
            <a:lvl9pPr marL="4321810" indent="0">
              <a:buNone/>
              <a:defRPr sz="189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7366900" y="1661988"/>
            <a:ext cx="6241610" cy="5831037"/>
          </a:xfrm>
        </p:spPr>
        <p:txBody>
          <a:bodyPr vert="horz" lIns="90170" tIns="46990" rIns="90170" bIns="46990" rtlCol="0">
            <a:normAutofit/>
          </a:bodyPr>
          <a:lstStyle>
            <a:lvl1pPr marL="269875" marR="0" lvl="0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10260" marR="0" lvl="1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50645" marR="0" lvl="2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890395" marR="0" lvl="3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30780" marR="0" lvl="4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21984B4D-543F-4D3D-9F31-BF5AF996BBE9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BEF13B18-C1DE-4403-BC7A-E78357032322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C95C20C-0DFE-45EC-9773-CB2F8149A586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91454" y="523738"/>
            <a:ext cx="12820807" cy="522236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791454" y="1125510"/>
            <a:ext cx="6241610" cy="6367679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10260" marR="0" lvl="1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350645" marR="0" lvl="2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890395" marR="0" lvl="3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430780" marR="0" lvl="4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7370651" y="1125510"/>
            <a:ext cx="6241610" cy="6367679"/>
          </a:xfrm>
        </p:spPr>
        <p:txBody>
          <a:bodyPr vert="horz" lIns="90170" tIns="46990" rIns="90170" bIns="46990" rtlCol="0">
            <a:normAutofit/>
          </a:bodyPr>
          <a:lstStyle>
            <a:lvl1pPr marL="269875" marR="0" lvl="0" indent="-2698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9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D99E49F-C872-426C-9100-0A20AE73DB97}" type="datetime1">
              <a:rPr lang="en-US" altLang="zh-CN" smtClean="0"/>
              <a:t>4/21/2023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2488713" y="1125510"/>
            <a:ext cx="1123490" cy="6367679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791448" y="1125500"/>
            <a:ext cx="11610895" cy="6367679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01166636-C037-4EF5-BF19-2B8590BE4AA2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4C3497C5-A5F6-463F-BE57-9EDCEF37E811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791454" y="1125510"/>
            <a:ext cx="12820807" cy="6367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8cb70c72b599fcd9e5e7d1619ebc1ce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297074" y="2083676"/>
            <a:ext cx="838710" cy="838872"/>
          </a:xfrm>
          <a:prstGeom prst="rect">
            <a:avLst/>
          </a:prstGeom>
        </p:spPr>
      </p:pic>
      <p:pic>
        <p:nvPicPr>
          <p:cNvPr id="7" name="图片 6" descr="8cb70c72b599fcd9e5e7d1619ebc1ce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297074" y="3024593"/>
            <a:ext cx="838710" cy="838872"/>
          </a:xfrm>
          <a:prstGeom prst="rect">
            <a:avLst/>
          </a:prstGeom>
        </p:spPr>
      </p:pic>
      <p:pic>
        <p:nvPicPr>
          <p:cNvPr id="8" name="图片 7" descr="8cb70c72b599fcd9e5e7d1619ebc1ce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297074" y="3991023"/>
            <a:ext cx="838710" cy="838872"/>
          </a:xfrm>
          <a:prstGeom prst="rect">
            <a:avLst/>
          </a:prstGeom>
        </p:spPr>
      </p:pic>
      <p:pic>
        <p:nvPicPr>
          <p:cNvPr id="9" name="图片 8" descr="8cb70c72b599fcd9e5e7d1619ebc1ce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297074" y="4957453"/>
            <a:ext cx="838710" cy="83887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0309826" y="2091179"/>
            <a:ext cx="825956" cy="370514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algn="dist" defTabSz="914400" rtl="0" eaLnBrk="1" fontAlgn="auto" latinLnBrk="0" hangingPunct="1">
              <a:lnSpc>
                <a:spcPct val="100000"/>
              </a:lnSpc>
              <a:buNone/>
              <a:defRPr kumimoji="0" lang="zh-CN" altLang="en-US" sz="4725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D6B12932-4845-4EBB-9FBB-1868BDE73AEE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11944860" y="1917101"/>
            <a:ext cx="913353" cy="4280651"/>
          </a:xfrm>
        </p:spPr>
        <p:txBody>
          <a:bodyPr vert="eaVert" lIns="90000" tIns="46800" rIns="90000" bIns="46800" anchor="ctr" anchorCtr="0">
            <a:normAutofit/>
          </a:bodyPr>
          <a:lstStyle>
            <a:lvl1pPr marL="0" indent="0" algn="l">
              <a:buNone/>
              <a:defRPr sz="1655" cap="all" baseline="0"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grpSp>
        <p:nvGrpSpPr>
          <p:cNvPr id="10" name="组合 9"/>
          <p:cNvGrpSpPr/>
          <p:nvPr userDrawn="1">
            <p:custDataLst>
              <p:tags r:id="rId10"/>
            </p:custDataLst>
          </p:nvPr>
        </p:nvGrpSpPr>
        <p:grpSpPr>
          <a:xfrm>
            <a:off x="11365969" y="6674312"/>
            <a:ext cx="1250054" cy="1446160"/>
            <a:chOff x="9620782" y="5648408"/>
            <a:chExt cx="1058115" cy="1223872"/>
          </a:xfrm>
        </p:grpSpPr>
        <p:grpSp>
          <p:nvGrpSpPr>
            <p:cNvPr id="11" name="组合 10"/>
            <p:cNvGrpSpPr/>
            <p:nvPr/>
          </p:nvGrpSpPr>
          <p:grpSpPr>
            <a:xfrm>
              <a:off x="9620782" y="5648408"/>
              <a:ext cx="1058115" cy="1223872"/>
              <a:chOff x="9620782" y="5648408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2" name="直接连接符 11"/>
              <p:cNvCxnSpPr/>
              <p:nvPr>
                <p:custDataLst>
                  <p:tags r:id="rId16"/>
                </p:custDataLst>
              </p:nvPr>
            </p:nvCxnSpPr>
            <p:spPr>
              <a:xfrm rot="10800000" flipH="1">
                <a:off x="9620782" y="5838453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椭圆 12"/>
              <p:cNvSpPr/>
              <p:nvPr>
                <p:custDataLst>
                  <p:tags r:id="rId17"/>
                </p:custDataLst>
              </p:nvPr>
            </p:nvSpPr>
            <p:spPr>
              <a:xfrm rot="10800000">
                <a:off x="10440772" y="5648408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4" name="直接连接符 13"/>
            <p:cNvCxnSpPr/>
            <p:nvPr>
              <p:custDataLst>
                <p:tags r:id="rId15"/>
              </p:custDataLst>
            </p:nvPr>
          </p:nvCxnSpPr>
          <p:spPr>
            <a:xfrm flipH="1">
              <a:off x="10058400" y="6365126"/>
              <a:ext cx="501436" cy="50143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 userDrawn="1">
            <p:custDataLst>
              <p:tags r:id="rId11"/>
            </p:custDataLst>
          </p:nvPr>
        </p:nvGrpSpPr>
        <p:grpSpPr>
          <a:xfrm>
            <a:off x="12334703" y="-17313"/>
            <a:ext cx="1264387" cy="1446160"/>
            <a:chOff x="10440772" y="-14652"/>
            <a:chExt cx="1070247" cy="1223872"/>
          </a:xfrm>
        </p:grpSpPr>
        <p:grpSp>
          <p:nvGrpSpPr>
            <p:cNvPr id="17" name="组合 16"/>
            <p:cNvGrpSpPr/>
            <p:nvPr/>
          </p:nvGrpSpPr>
          <p:grpSpPr>
            <a:xfrm>
              <a:off x="10440772" y="-14652"/>
              <a:ext cx="1058115" cy="1223872"/>
              <a:chOff x="10440772" y="-14652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8" name="直接连接符 17"/>
              <p:cNvCxnSpPr/>
              <p:nvPr>
                <p:custDataLst>
                  <p:tags r:id="rId13"/>
                </p:custDataLst>
              </p:nvPr>
            </p:nvCxnSpPr>
            <p:spPr>
              <a:xfrm flipH="1">
                <a:off x="10465062" y="-14652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椭圆 18"/>
              <p:cNvSpPr/>
              <p:nvPr>
                <p:custDataLst>
                  <p:tags r:id="rId14"/>
                </p:custDataLst>
              </p:nvPr>
            </p:nvSpPr>
            <p:spPr>
              <a:xfrm>
                <a:off x="10440772" y="971095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0" name="直接连接符 19"/>
            <p:cNvCxnSpPr/>
            <p:nvPr>
              <p:custDataLst>
                <p:tags r:id="rId12"/>
              </p:custDataLst>
            </p:nvPr>
          </p:nvCxnSpPr>
          <p:spPr>
            <a:xfrm flipH="1">
              <a:off x="11182350" y="412295"/>
              <a:ext cx="328669" cy="32867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/>
          <p:cNvGrpSpPr/>
          <p:nvPr userDrawn="1">
            <p:custDataLst>
              <p:tags r:id="rId1"/>
            </p:custDataLst>
          </p:nvPr>
        </p:nvGrpSpPr>
        <p:grpSpPr>
          <a:xfrm>
            <a:off x="13203296" y="7212763"/>
            <a:ext cx="907529" cy="907708"/>
            <a:chOff x="9620782" y="5838453"/>
            <a:chExt cx="1033825" cy="1033827"/>
          </a:xfrm>
        </p:grpSpPr>
        <p:cxnSp>
          <p:nvCxnSpPr>
            <p:cNvPr id="57" name="直接连接符 56"/>
            <p:cNvCxnSpPr/>
            <p:nvPr>
              <p:custDataLst>
                <p:tags r:id="rId6"/>
              </p:custDataLst>
            </p:nvPr>
          </p:nvCxnSpPr>
          <p:spPr>
            <a:xfrm rot="10800000" flipH="1">
              <a:off x="9620782" y="5838453"/>
              <a:ext cx="1033825" cy="1033827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>
              <p:custDataLst>
                <p:tags r:id="rId7"/>
              </p:custDataLst>
            </p:nvPr>
          </p:nvCxnSpPr>
          <p:spPr>
            <a:xfrm flipH="1">
              <a:off x="10058400" y="6365126"/>
              <a:ext cx="501436" cy="50143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301CB069-7DDB-494A-B0E7-DEBE2897B680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362340" y="291880"/>
            <a:ext cx="13699924" cy="745831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59" name="组合 58"/>
          <p:cNvGrpSpPr/>
          <p:nvPr userDrawn="1">
            <p:custDataLst>
              <p:tags r:id="rId2"/>
            </p:custDataLst>
          </p:nvPr>
        </p:nvGrpSpPr>
        <p:grpSpPr>
          <a:xfrm>
            <a:off x="13203300" y="7045630"/>
            <a:ext cx="928732" cy="1074478"/>
            <a:chOff x="9620782" y="5648408"/>
            <a:chExt cx="1058115" cy="1223872"/>
          </a:xfrm>
        </p:grpSpPr>
        <p:grpSp>
          <p:nvGrpSpPr>
            <p:cNvPr id="60" name="组合 59"/>
            <p:cNvGrpSpPr/>
            <p:nvPr/>
          </p:nvGrpSpPr>
          <p:grpSpPr>
            <a:xfrm>
              <a:off x="9620782" y="5648408"/>
              <a:ext cx="1058115" cy="1223872"/>
              <a:chOff x="9620782" y="5648408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62" name="直接连接符 61"/>
              <p:cNvCxnSpPr/>
              <p:nvPr>
                <p:custDataLst>
                  <p:tags r:id="rId13"/>
                </p:custDataLst>
              </p:nvPr>
            </p:nvCxnSpPr>
            <p:spPr>
              <a:xfrm rot="10800000" flipH="1">
                <a:off x="9620782" y="5838453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椭圆 62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10440772" y="5648408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1" name="直接连接符 60"/>
            <p:cNvCxnSpPr/>
            <p:nvPr>
              <p:custDataLst>
                <p:tags r:id="rId12"/>
              </p:custDataLst>
            </p:nvPr>
          </p:nvCxnSpPr>
          <p:spPr>
            <a:xfrm flipH="1">
              <a:off x="10058400" y="6365126"/>
              <a:ext cx="501436" cy="50143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组合 63"/>
          <p:cNvGrpSpPr/>
          <p:nvPr userDrawn="1">
            <p:custDataLst>
              <p:tags r:id="rId3"/>
            </p:custDataLst>
          </p:nvPr>
        </p:nvGrpSpPr>
        <p:grpSpPr>
          <a:xfrm rot="10800000">
            <a:off x="225056" y="0"/>
            <a:ext cx="928732" cy="1074478"/>
            <a:chOff x="9620782" y="5648408"/>
            <a:chExt cx="1058115" cy="1223872"/>
          </a:xfrm>
        </p:grpSpPr>
        <p:grpSp>
          <p:nvGrpSpPr>
            <p:cNvPr id="65" name="组合 64"/>
            <p:cNvGrpSpPr/>
            <p:nvPr/>
          </p:nvGrpSpPr>
          <p:grpSpPr>
            <a:xfrm>
              <a:off x="9620782" y="5648408"/>
              <a:ext cx="1058115" cy="1223872"/>
              <a:chOff x="9620782" y="5648408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67" name="直接连接符 66"/>
              <p:cNvCxnSpPr/>
              <p:nvPr>
                <p:custDataLst>
                  <p:tags r:id="rId10"/>
                </p:custDataLst>
              </p:nvPr>
            </p:nvCxnSpPr>
            <p:spPr>
              <a:xfrm rot="10800000" flipH="1">
                <a:off x="9620782" y="5838453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椭圆 67"/>
              <p:cNvSpPr/>
              <p:nvPr>
                <p:custDataLst>
                  <p:tags r:id="rId11"/>
                </p:custDataLst>
              </p:nvPr>
            </p:nvSpPr>
            <p:spPr>
              <a:xfrm rot="10800000">
                <a:off x="10440772" y="5648408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6" name="直接连接符 65"/>
            <p:cNvCxnSpPr/>
            <p:nvPr>
              <p:custDataLst>
                <p:tags r:id="rId9"/>
              </p:custDataLst>
            </p:nvPr>
          </p:nvCxnSpPr>
          <p:spPr>
            <a:xfrm flipH="1">
              <a:off x="10058400" y="6365126"/>
              <a:ext cx="501436" cy="50143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14079" y="1476089"/>
            <a:ext cx="11372606" cy="855025"/>
          </a:xfrm>
        </p:spPr>
        <p:txBody>
          <a:bodyPr anchor="ctr">
            <a:normAutofit/>
          </a:bodyPr>
          <a:lstStyle>
            <a:lvl1pPr>
              <a:defRPr sz="378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513504" y="2567824"/>
            <a:ext cx="11372842" cy="4070942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D4AB9AD-E11B-42FE-9F8F-354B99976557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5698424" cy="8113354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88991" y="910325"/>
            <a:ext cx="4678335" cy="1042196"/>
          </a:xfrm>
        </p:spPr>
        <p:txBody>
          <a:bodyPr anchor="ctr">
            <a:normAutofit/>
          </a:bodyPr>
          <a:lstStyle>
            <a:lvl1pPr>
              <a:defRPr sz="4255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B008B56C-6252-47C7-8359-76F6C3E49DEF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93245" y="2084390"/>
            <a:ext cx="4674082" cy="4836637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026546" y="909781"/>
            <a:ext cx="7655456" cy="6012045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6" name="组合 15"/>
          <p:cNvGrpSpPr/>
          <p:nvPr userDrawn="1">
            <p:custDataLst>
              <p:tags r:id="rId8"/>
            </p:custDataLst>
          </p:nvPr>
        </p:nvGrpSpPr>
        <p:grpSpPr>
          <a:xfrm>
            <a:off x="391363" y="-17313"/>
            <a:ext cx="911198" cy="1042196"/>
            <a:chOff x="10440772" y="-14652"/>
            <a:chExt cx="1070247" cy="1223872"/>
          </a:xfrm>
        </p:grpSpPr>
        <p:grpSp>
          <p:nvGrpSpPr>
            <p:cNvPr id="17" name="组合 16"/>
            <p:cNvGrpSpPr/>
            <p:nvPr/>
          </p:nvGrpSpPr>
          <p:grpSpPr>
            <a:xfrm>
              <a:off x="10440772" y="-14652"/>
              <a:ext cx="1058115" cy="1223872"/>
              <a:chOff x="10440772" y="-14652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9" name="直接连接符 18"/>
              <p:cNvCxnSpPr/>
              <p:nvPr>
                <p:custDataLst>
                  <p:tags r:id="rId10"/>
                </p:custDataLst>
              </p:nvPr>
            </p:nvCxnSpPr>
            <p:spPr>
              <a:xfrm flipH="1">
                <a:off x="10465062" y="-14652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椭圆 1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0440772" y="971095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17"/>
            <p:cNvCxnSpPr/>
            <p:nvPr>
              <p:custDataLst>
                <p:tags r:id="rId9"/>
              </p:custDataLst>
            </p:nvPr>
          </p:nvCxnSpPr>
          <p:spPr>
            <a:xfrm flipH="1">
              <a:off x="11182350" y="412295"/>
              <a:ext cx="328669" cy="32867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4403600" cy="314785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23015" y="923087"/>
            <a:ext cx="12967492" cy="740171"/>
          </a:xfrm>
        </p:spPr>
        <p:txBody>
          <a:bodyPr anchor="ctr">
            <a:normAutofit/>
          </a:bodyPr>
          <a:lstStyle>
            <a:lvl1pPr algn="ctr">
              <a:defRPr sz="4255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F27386D-F5A7-4BF5-8C15-DDE5D2003DC5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723015" y="1961029"/>
            <a:ext cx="12966990" cy="978388"/>
          </a:xfrm>
        </p:spPr>
        <p:txBody>
          <a:bodyPr>
            <a:normAutofit/>
          </a:bodyPr>
          <a:lstStyle>
            <a:lvl1pPr algn="ctr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723930" y="3318009"/>
            <a:ext cx="12954734" cy="4053927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21" name="组合 20"/>
          <p:cNvGrpSpPr/>
          <p:nvPr userDrawn="1">
            <p:custDataLst>
              <p:tags r:id="rId8"/>
            </p:custDataLst>
          </p:nvPr>
        </p:nvGrpSpPr>
        <p:grpSpPr>
          <a:xfrm>
            <a:off x="13287681" y="7212763"/>
            <a:ext cx="907529" cy="907708"/>
            <a:chOff x="9620782" y="5838453"/>
            <a:chExt cx="1033825" cy="1033827"/>
          </a:xfrm>
        </p:grpSpPr>
        <p:cxnSp>
          <p:nvCxnSpPr>
            <p:cNvPr id="22" name="直接连接符 21"/>
            <p:cNvCxnSpPr/>
            <p:nvPr>
              <p:custDataLst>
                <p:tags r:id="rId9"/>
              </p:custDataLst>
            </p:nvPr>
          </p:nvCxnSpPr>
          <p:spPr>
            <a:xfrm rot="10800000" flipH="1">
              <a:off x="9620782" y="5838453"/>
              <a:ext cx="1033825" cy="1033827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10"/>
              </p:custDataLst>
            </p:nvPr>
          </p:nvCxnSpPr>
          <p:spPr>
            <a:xfrm flipH="1">
              <a:off x="10058400" y="6365126"/>
              <a:ext cx="501436" cy="50143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5931386"/>
            <a:ext cx="14403600" cy="2160959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4509" y="791218"/>
            <a:ext cx="12967492" cy="667855"/>
          </a:xfrm>
        </p:spPr>
        <p:txBody>
          <a:bodyPr anchor="ctr">
            <a:normAutofit/>
          </a:bodyPr>
          <a:lstStyle>
            <a:lvl1pPr algn="ctr">
              <a:defRPr sz="378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D25A2A7-2E7C-44B9-B896-68A0D7F5135A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714553" y="1986552"/>
            <a:ext cx="12984504" cy="3794441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7"/>
            </p:custDataLst>
          </p:nvPr>
        </p:nvSpPr>
        <p:spPr>
          <a:xfrm>
            <a:off x="701751" y="6121302"/>
            <a:ext cx="12997264" cy="1195334"/>
          </a:xfrm>
        </p:spPr>
        <p:txBody>
          <a:bodyPr>
            <a:normAutofit/>
          </a:bodyPr>
          <a:lstStyle>
            <a:lvl1pPr marL="0" indent="0">
              <a:buNone/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21" name="组合 20"/>
          <p:cNvGrpSpPr/>
          <p:nvPr userDrawn="1">
            <p:custDataLst>
              <p:tags r:id="rId8"/>
            </p:custDataLst>
          </p:nvPr>
        </p:nvGrpSpPr>
        <p:grpSpPr>
          <a:xfrm>
            <a:off x="13287681" y="7212763"/>
            <a:ext cx="907529" cy="907708"/>
            <a:chOff x="9620782" y="5838453"/>
            <a:chExt cx="1033825" cy="1033827"/>
          </a:xfrm>
        </p:grpSpPr>
        <p:cxnSp>
          <p:nvCxnSpPr>
            <p:cNvPr id="22" name="直接连接符 21"/>
            <p:cNvCxnSpPr/>
            <p:nvPr>
              <p:custDataLst>
                <p:tags r:id="rId9"/>
              </p:custDataLst>
            </p:nvPr>
          </p:nvCxnSpPr>
          <p:spPr>
            <a:xfrm rot="10800000" flipH="1">
              <a:off x="9620782" y="5838453"/>
              <a:ext cx="1033825" cy="1033827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10"/>
              </p:custDataLst>
            </p:nvPr>
          </p:nvCxnSpPr>
          <p:spPr>
            <a:xfrm flipH="1">
              <a:off x="10058400" y="6365126"/>
              <a:ext cx="501436" cy="50143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4403600" cy="108048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84739" y="280755"/>
            <a:ext cx="13039794" cy="522236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71F8BCC-BF9B-4B4D-8F0F-38CDAA4312B0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84739" y="1965282"/>
            <a:ext cx="6311499" cy="3420102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7374756" y="1965282"/>
            <a:ext cx="6341269" cy="3420102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676232" y="5691662"/>
            <a:ext cx="6311499" cy="923087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7387515" y="5687409"/>
            <a:ext cx="6341269" cy="923087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24" name="组合 23"/>
          <p:cNvGrpSpPr/>
          <p:nvPr userDrawn="1">
            <p:custDataLst>
              <p:tags r:id="rId10"/>
            </p:custDataLst>
          </p:nvPr>
        </p:nvGrpSpPr>
        <p:grpSpPr>
          <a:xfrm>
            <a:off x="13287681" y="7212763"/>
            <a:ext cx="907529" cy="907708"/>
            <a:chOff x="9620782" y="5838453"/>
            <a:chExt cx="1033825" cy="1033827"/>
          </a:xfrm>
        </p:grpSpPr>
        <p:cxnSp>
          <p:nvCxnSpPr>
            <p:cNvPr id="25" name="直接连接符 24"/>
            <p:cNvCxnSpPr/>
            <p:nvPr>
              <p:custDataLst>
                <p:tags r:id="rId11"/>
              </p:custDataLst>
            </p:nvPr>
          </p:nvCxnSpPr>
          <p:spPr>
            <a:xfrm rot="10800000" flipH="1">
              <a:off x="9620782" y="5838453"/>
              <a:ext cx="1033825" cy="1033827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>
              <p:custDataLst>
                <p:tags r:id="rId12"/>
              </p:custDataLst>
            </p:nvPr>
          </p:nvCxnSpPr>
          <p:spPr>
            <a:xfrm flipH="1">
              <a:off x="10058400" y="6365126"/>
              <a:ext cx="501436" cy="50143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133445"/>
            <a:ext cx="14403600" cy="583671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799032" y="1582435"/>
            <a:ext cx="10802700" cy="2820308"/>
          </a:xfrm>
        </p:spPr>
        <p:txBody>
          <a:bodyPr anchor="b">
            <a:normAutofit/>
          </a:bodyPr>
          <a:lstStyle>
            <a:lvl1pPr algn="ctr">
              <a:defRPr sz="709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F3407720-DC5B-409C-8FA2-FBAF1BF0D5DB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798575" y="4564390"/>
            <a:ext cx="10802700" cy="1956774"/>
          </a:xfrm>
        </p:spPr>
        <p:txBody>
          <a:bodyPr>
            <a:normAutofit/>
          </a:bodyPr>
          <a:lstStyle>
            <a:lvl1pPr algn="ctr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33" name="组合 32"/>
          <p:cNvGrpSpPr/>
          <p:nvPr userDrawn="1">
            <p:custDataLst>
              <p:tags r:id="rId7"/>
            </p:custDataLst>
          </p:nvPr>
        </p:nvGrpSpPr>
        <p:grpSpPr>
          <a:xfrm>
            <a:off x="12203300" y="6020675"/>
            <a:ext cx="1800450" cy="2082925"/>
            <a:chOff x="9620782" y="5648408"/>
            <a:chExt cx="1058115" cy="1223872"/>
          </a:xfrm>
        </p:grpSpPr>
        <p:grpSp>
          <p:nvGrpSpPr>
            <p:cNvPr id="34" name="组合 33"/>
            <p:cNvGrpSpPr/>
            <p:nvPr/>
          </p:nvGrpSpPr>
          <p:grpSpPr>
            <a:xfrm>
              <a:off x="9620782" y="5648408"/>
              <a:ext cx="1058115" cy="1223872"/>
              <a:chOff x="9620782" y="5648408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6" name="直接连接符 35"/>
              <p:cNvCxnSpPr/>
              <p:nvPr>
                <p:custDataLst>
                  <p:tags r:id="rId13"/>
                </p:custDataLst>
              </p:nvPr>
            </p:nvCxnSpPr>
            <p:spPr>
              <a:xfrm rot="10800000" flipH="1">
                <a:off x="9620782" y="5838453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椭圆 36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10440772" y="5648408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5" name="直接连接符 34"/>
            <p:cNvCxnSpPr/>
            <p:nvPr>
              <p:custDataLst>
                <p:tags r:id="rId12"/>
              </p:custDataLst>
            </p:nvPr>
          </p:nvCxnSpPr>
          <p:spPr>
            <a:xfrm flipH="1">
              <a:off x="10058400" y="6365126"/>
              <a:ext cx="501436" cy="50143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 userDrawn="1">
            <p:custDataLst>
              <p:tags r:id="rId8"/>
            </p:custDataLst>
          </p:nvPr>
        </p:nvGrpSpPr>
        <p:grpSpPr>
          <a:xfrm>
            <a:off x="420104" y="0"/>
            <a:ext cx="1821456" cy="2082925"/>
            <a:chOff x="10440772" y="-14652"/>
            <a:chExt cx="1070247" cy="1223872"/>
          </a:xfrm>
        </p:grpSpPr>
        <p:grpSp>
          <p:nvGrpSpPr>
            <p:cNvPr id="39" name="组合 38"/>
            <p:cNvGrpSpPr/>
            <p:nvPr/>
          </p:nvGrpSpPr>
          <p:grpSpPr>
            <a:xfrm>
              <a:off x="10440772" y="-14652"/>
              <a:ext cx="1058115" cy="1223872"/>
              <a:chOff x="10440772" y="-14652"/>
              <a:chExt cx="1058115" cy="12238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1" name="直接连接符 40"/>
              <p:cNvCxnSpPr/>
              <p:nvPr>
                <p:custDataLst>
                  <p:tags r:id="rId10"/>
                </p:custDataLst>
              </p:nvPr>
            </p:nvCxnSpPr>
            <p:spPr>
              <a:xfrm flipH="1">
                <a:off x="10465062" y="-14652"/>
                <a:ext cx="1033825" cy="1033827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>
                <p:custDataLst>
                  <p:tags r:id="rId11"/>
                </p:custDataLst>
              </p:nvPr>
            </p:nvSpPr>
            <p:spPr>
              <a:xfrm>
                <a:off x="10440772" y="971095"/>
                <a:ext cx="238125" cy="238125"/>
              </a:xfrm>
              <a:prstGeom prst="ellipse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0" name="直接连接符 39"/>
            <p:cNvCxnSpPr/>
            <p:nvPr>
              <p:custDataLst>
                <p:tags r:id="rId9"/>
              </p:custDataLst>
            </p:nvPr>
          </p:nvCxnSpPr>
          <p:spPr>
            <a:xfrm flipH="1">
              <a:off x="11182350" y="412295"/>
              <a:ext cx="328669" cy="32867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1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4401693" cy="8100424"/>
          </a:xfrm>
          <a:custGeom>
            <a:avLst/>
            <a:gdLst/>
            <a:ahLst/>
            <a:cxnLst/>
            <a:rect l="l" t="t" r="r" b="b"/>
            <a:pathLst>
              <a:path w="14399894" h="8099425">
                <a:moveTo>
                  <a:pt x="0" y="8099425"/>
                </a:moveTo>
                <a:lnTo>
                  <a:pt x="14399894" y="8099425"/>
                </a:lnTo>
                <a:lnTo>
                  <a:pt x="14399894" y="0"/>
                </a:lnTo>
                <a:lnTo>
                  <a:pt x="0" y="0"/>
                </a:lnTo>
                <a:lnTo>
                  <a:pt x="0" y="8099425"/>
                </a:lnTo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8306" y="487326"/>
            <a:ext cx="12606985" cy="380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5496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4883" y="2524784"/>
            <a:ext cx="12513831" cy="17966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97224" y="7536348"/>
            <a:ext cx="4609151" cy="405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0180" y="7536348"/>
            <a:ext cx="3312828" cy="405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FE3E8-702E-47A4-87D0-519B137A1DAB}" type="datetime1">
              <a:rPr lang="en-US" altLang="zh-CN" smtClean="0"/>
              <a:t>4/21/2023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370592" y="7536348"/>
            <a:ext cx="3312828" cy="405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835">
        <a:defRPr>
          <a:latin typeface="+mn-lt"/>
          <a:ea typeface="+mn-ea"/>
          <a:cs typeface="+mn-cs"/>
        </a:defRPr>
      </a:lvl7pPr>
      <a:lvl8pPr marL="3201035">
        <a:defRPr>
          <a:latin typeface="+mn-lt"/>
          <a:ea typeface="+mn-ea"/>
          <a:cs typeface="+mn-cs"/>
        </a:defRPr>
      </a:lvl8pPr>
      <a:lvl9pPr marL="3658235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835">
        <a:defRPr>
          <a:latin typeface="+mn-lt"/>
          <a:ea typeface="+mn-ea"/>
          <a:cs typeface="+mn-cs"/>
        </a:defRPr>
      </a:lvl7pPr>
      <a:lvl8pPr marL="3201035">
        <a:defRPr>
          <a:latin typeface="+mn-lt"/>
          <a:ea typeface="+mn-ea"/>
          <a:cs typeface="+mn-cs"/>
        </a:defRPr>
      </a:lvl8pPr>
      <a:lvl9pPr marL="3658235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791397" y="523733"/>
            <a:ext cx="12820807" cy="522236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791397" y="1125510"/>
            <a:ext cx="12820807" cy="6367679"/>
          </a:xfrm>
          <a:prstGeom prst="rect">
            <a:avLst/>
          </a:prstGeom>
        </p:spPr>
        <p:txBody>
          <a:bodyPr vert="horz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039325" y="7503136"/>
            <a:ext cx="3189774" cy="374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420" cap="all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1C8FF235-0E40-4EA1-89AB-97307E0F9050}" type="datetime1">
              <a:rPr lang="en-US" altLang="zh-CN" smtClean="0"/>
              <a:t>4/21/2023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862633" y="7503136"/>
            <a:ext cx="4678335" cy="374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420" cap="all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10172542" y="7503136"/>
            <a:ext cx="3189774" cy="374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20" cap="all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ftr="0" dt="0"/>
  <p:txStyles>
    <p:titleStyle>
      <a:lvl1pPr algn="l" defTabSz="1080135" rtl="0" eaLnBrk="1" fontAlgn="auto" latinLnBrk="0" hangingPunct="1">
        <a:lnSpc>
          <a:spcPct val="100000"/>
        </a:lnSpc>
        <a:spcBef>
          <a:spcPct val="0"/>
        </a:spcBef>
        <a:buNone/>
        <a:defRPr sz="2835" b="1" u="none" strike="noStrike" kern="1200" cap="all" spc="2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69875" indent="-269875" algn="l" defTabSz="10801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90" u="none" strike="noStrike" kern="1200" cap="all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810260" indent="-269875" algn="l" defTabSz="10801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901825" algn="l"/>
        </a:tabLst>
        <a:defRPr sz="1890" u="none" strike="noStrike" kern="1200" cap="all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350645" indent="-269875" algn="l" defTabSz="10801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90" u="none" strike="noStrike" kern="1200" cap="all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890395" indent="-269875" algn="l" defTabSz="10801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90" u="none" strike="noStrike" kern="1200" cap="all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430780" indent="-269875" algn="l" defTabSz="10801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90" u="none" strike="noStrike" kern="1200" cap="all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97180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6pPr>
      <a:lvl7pPr marL="351155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7pPr>
      <a:lvl8pPr marL="4051935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8pPr>
      <a:lvl9pPr marL="459232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1pPr>
      <a:lvl2pPr marL="54038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3pPr>
      <a:lvl4pPr marL="162052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4pPr>
      <a:lvl5pPr marL="216090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5pPr>
      <a:lvl6pPr marL="270129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6pPr>
      <a:lvl7pPr marL="324167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7pPr>
      <a:lvl8pPr marL="378206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8pPr>
      <a:lvl9pPr marL="432181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tags" Target="../tags/tag185.xml"/><Relationship Id="rId18" Type="http://schemas.openxmlformats.org/officeDocument/2006/relationships/tags" Target="../tags/tag190.xml"/><Relationship Id="rId26" Type="http://schemas.openxmlformats.org/officeDocument/2006/relationships/tags" Target="../tags/tag198.xml"/><Relationship Id="rId3" Type="http://schemas.openxmlformats.org/officeDocument/2006/relationships/tags" Target="../tags/tag175.xml"/><Relationship Id="rId21" Type="http://schemas.openxmlformats.org/officeDocument/2006/relationships/tags" Target="../tags/tag193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17" Type="http://schemas.openxmlformats.org/officeDocument/2006/relationships/tags" Target="../tags/tag189.xml"/><Relationship Id="rId25" Type="http://schemas.openxmlformats.org/officeDocument/2006/relationships/tags" Target="../tags/tag197.xml"/><Relationship Id="rId2" Type="http://schemas.openxmlformats.org/officeDocument/2006/relationships/tags" Target="../tags/tag174.xml"/><Relationship Id="rId16" Type="http://schemas.openxmlformats.org/officeDocument/2006/relationships/tags" Target="../tags/tag188.xml"/><Relationship Id="rId20" Type="http://schemas.openxmlformats.org/officeDocument/2006/relationships/tags" Target="../tags/tag192.xml"/><Relationship Id="rId29" Type="http://schemas.openxmlformats.org/officeDocument/2006/relationships/image" Target="../media/image15.png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24" Type="http://schemas.openxmlformats.org/officeDocument/2006/relationships/tags" Target="../tags/tag196.xml"/><Relationship Id="rId5" Type="http://schemas.openxmlformats.org/officeDocument/2006/relationships/tags" Target="../tags/tag177.xml"/><Relationship Id="rId15" Type="http://schemas.openxmlformats.org/officeDocument/2006/relationships/tags" Target="../tags/tag187.xml"/><Relationship Id="rId23" Type="http://schemas.openxmlformats.org/officeDocument/2006/relationships/tags" Target="../tags/tag195.xml"/><Relationship Id="rId28" Type="http://schemas.openxmlformats.org/officeDocument/2006/relationships/notesSlide" Target="../notesSlides/notesSlide2.xml"/><Relationship Id="rId10" Type="http://schemas.openxmlformats.org/officeDocument/2006/relationships/tags" Target="../tags/tag182.xml"/><Relationship Id="rId19" Type="http://schemas.openxmlformats.org/officeDocument/2006/relationships/tags" Target="../tags/tag191.xml"/><Relationship Id="rId4" Type="http://schemas.openxmlformats.org/officeDocument/2006/relationships/tags" Target="../tags/tag176.xml"/><Relationship Id="rId9" Type="http://schemas.openxmlformats.org/officeDocument/2006/relationships/tags" Target="../tags/tag181.xml"/><Relationship Id="rId14" Type="http://schemas.openxmlformats.org/officeDocument/2006/relationships/tags" Target="../tags/tag186.xml"/><Relationship Id="rId22" Type="http://schemas.openxmlformats.org/officeDocument/2006/relationships/tags" Target="../tags/tag194.xml"/><Relationship Id="rId27" Type="http://schemas.openxmlformats.org/officeDocument/2006/relationships/slideLayout" Target="../slideLayouts/slideLayout14.xml"/><Relationship Id="rId30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4" Type="http://schemas.openxmlformats.org/officeDocument/2006/relationships/image" Target="../media/image1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8959" y="2021705"/>
            <a:ext cx="13881735" cy="4272280"/>
          </a:xfrm>
          <a:custGeom>
            <a:avLst/>
            <a:gdLst/>
            <a:ahLst/>
            <a:cxnLst/>
            <a:rect l="l" t="t" r="r" b="b"/>
            <a:pathLst>
              <a:path w="13843635" h="4272280">
                <a:moveTo>
                  <a:pt x="0" y="0"/>
                </a:moveTo>
                <a:lnTo>
                  <a:pt x="13843634" y="0"/>
                </a:lnTo>
                <a:lnTo>
                  <a:pt x="13843634" y="4271772"/>
                </a:lnTo>
                <a:lnTo>
                  <a:pt x="0" y="4271772"/>
                </a:lnTo>
                <a:lnTo>
                  <a:pt x="0" y="0"/>
                </a:lnTo>
              </a:path>
            </a:pathLst>
          </a:custGeom>
          <a:solidFill>
            <a:srgbClr val="00408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0670423" y="759451"/>
            <a:ext cx="3185160" cy="809244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62894" y="2760481"/>
            <a:ext cx="11076128" cy="16927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中旅酒店集团</a:t>
            </a:r>
            <a:br>
              <a:rPr lang="en-US" altLang="zh-CN" sz="4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6600" dirty="0">
                <a:solidFill>
                  <a:srgbClr val="FFFF00"/>
                </a:solidFill>
                <a:ea typeface="微软雅黑" panose="020B0503020204020204" charset="-122"/>
              </a:rPr>
              <a:t>收益管理会议模板</a:t>
            </a:r>
            <a:endParaRPr dirty="0">
              <a:solidFill>
                <a:srgbClr val="FFFF00"/>
              </a:solidFill>
              <a:ea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0273" y="5105805"/>
            <a:ext cx="4114800" cy="534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4790"/>
              </a:lnSpc>
            </a:pPr>
            <a:r>
              <a:rPr sz="2400" spc="-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en-US" sz="2400" spc="-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sz="2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sz="2400" spc="-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lang="zh-CN" altLang="en-US" sz="2400" spc="-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2400" spc="-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lang="zh-CN" altLang="en-US" sz="2400" spc="-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r>
              <a:rPr lang="en-US" altLang="zh-CN" sz="2400" spc="-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-XX</a:t>
            </a:r>
            <a:r>
              <a:rPr lang="zh-CN" altLang="en-US" sz="2400" spc="-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2400" spc="-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lang="zh-CN" altLang="en-US" sz="2400" spc="-1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2400" spc="-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9318" y="7032761"/>
            <a:ext cx="4203976" cy="701912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图片 3"/>
          <p:cNvPicPr>
            <a:picLocks noChangeAspect="1"/>
          </p:cNvPicPr>
          <p:nvPr/>
        </p:nvPicPr>
        <p:blipFill>
          <a:blip r:embed="rId5"/>
          <a:srcRect l="17698"/>
          <a:stretch>
            <a:fillRect/>
          </a:stretch>
        </p:blipFill>
        <p:spPr>
          <a:xfrm>
            <a:off x="4923420" y="6746740"/>
            <a:ext cx="9302115" cy="1355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-113400" y="-63635"/>
            <a:ext cx="14630399" cy="8229600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1403615" y="897755"/>
            <a:ext cx="11596370" cy="63119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cxnSp>
        <p:nvCxnSpPr>
          <p:cNvPr id="6" name="直接连接符 5"/>
          <p:cNvCxnSpPr/>
          <p:nvPr>
            <p:custDataLst>
              <p:tags r:id="rId3"/>
            </p:custDataLst>
          </p:nvPr>
        </p:nvCxnSpPr>
        <p:spPr>
          <a:xfrm flipH="1">
            <a:off x="6696975" y="731385"/>
            <a:ext cx="20320" cy="664400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364234" y="972050"/>
            <a:ext cx="701675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01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355980" y="2028690"/>
            <a:ext cx="701675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02</a:t>
            </a: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364235" y="3211695"/>
            <a:ext cx="701675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03</a:t>
            </a: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6364235" y="4341995"/>
            <a:ext cx="701675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04</a:t>
            </a: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6364235" y="5474200"/>
            <a:ext cx="701675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05</a:t>
            </a:r>
          </a:p>
        </p:txBody>
      </p:sp>
      <p:grpSp>
        <p:nvGrpSpPr>
          <p:cNvPr id="27" name="组合 26"/>
          <p:cNvGrpSpPr/>
          <p:nvPr>
            <p:custDataLst>
              <p:tags r:id="rId9"/>
            </p:custDataLst>
          </p:nvPr>
        </p:nvGrpSpPr>
        <p:grpSpPr>
          <a:xfrm>
            <a:off x="2406280" y="3296150"/>
            <a:ext cx="1959610" cy="1384300"/>
            <a:chOff x="2048" y="3803"/>
            <a:chExt cx="3086" cy="2180"/>
          </a:xfrm>
        </p:grpSpPr>
        <p:sp>
          <p:nvSpPr>
            <p:cNvPr id="28" name="文本框 27"/>
            <p:cNvSpPr txBox="1"/>
            <p:nvPr>
              <p:custDataLst>
                <p:tags r:id="rId25"/>
              </p:custDataLst>
            </p:nvPr>
          </p:nvSpPr>
          <p:spPr>
            <a:xfrm>
              <a:off x="2048" y="3803"/>
              <a:ext cx="3086" cy="1439"/>
            </a:xfrm>
            <a:prstGeom prst="rect">
              <a:avLst/>
            </a:prstGeom>
            <a:noFill/>
          </p:spPr>
          <p:txBody>
            <a:bodyPr vert="horz" wrap="square" bIns="0" rtlCol="0" anchor="b" anchorCtr="0">
              <a:normAutofit/>
            </a:bodyPr>
            <a:lstStyle/>
            <a:p>
              <a:pPr algn="dist"/>
              <a:r>
                <a:rPr lang="zh-CN" altLang="en-US" sz="540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汉仪旗黑-85S" panose="00020600040101010101" pitchFamily="18" charset="-122"/>
                </a:rPr>
                <a:t>目录</a:t>
              </a:r>
            </a:p>
          </p:txBody>
        </p:sp>
        <p:sp>
          <p:nvSpPr>
            <p:cNvPr id="29" name="文本框 28"/>
            <p:cNvSpPr txBox="1"/>
            <p:nvPr>
              <p:custDataLst>
                <p:tags r:id="rId26"/>
              </p:custDataLst>
            </p:nvPr>
          </p:nvSpPr>
          <p:spPr>
            <a:xfrm>
              <a:off x="2048" y="5210"/>
              <a:ext cx="3086" cy="773"/>
            </a:xfrm>
            <a:prstGeom prst="rect">
              <a:avLst/>
            </a:prstGeom>
            <a:noFill/>
          </p:spPr>
          <p:txBody>
            <a:bodyPr vert="horz" wrap="square" tIns="0" rtlCol="0">
              <a:normAutofit fontScale="40000" lnSpcReduction="20000"/>
            </a:bodyPr>
            <a:lstStyle/>
            <a:p>
              <a:pPr algn="dist"/>
              <a:r>
                <a:rPr lang="en-US" altLang="zh-CN" sz="540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汉仪旗黑-85S" panose="00020600040101010101" pitchFamily="18" charset="-122"/>
                </a:rPr>
                <a:t>CONTENTS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0"/>
          <a:srcRect t="1947"/>
          <a:stretch>
            <a:fillRect/>
          </a:stretch>
        </p:blipFill>
        <p:spPr>
          <a:xfrm>
            <a:off x="573260" y="165600"/>
            <a:ext cx="5188570" cy="7860444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10"/>
            </p:custDataLst>
          </p:nvPr>
        </p:nvSpPr>
        <p:spPr>
          <a:xfrm>
            <a:off x="573261" y="165600"/>
            <a:ext cx="5169910" cy="7860444"/>
          </a:xfrm>
          <a:prstGeom prst="rect">
            <a:avLst/>
          </a:prstGeom>
          <a:solidFill>
            <a:schemeClr val="tx1">
              <a:lumMod val="85000"/>
              <a:lumOff val="1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64483" y="6033724"/>
            <a:ext cx="5188570" cy="119888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endParaRPr lang="en-US" altLang="zh-CN" sz="3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3516" y="6261600"/>
            <a:ext cx="454406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 录</a:t>
            </a: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6364236" y="6624820"/>
            <a:ext cx="701674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06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475484" y="972051"/>
            <a:ext cx="564949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上周市场状况回顾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475485" y="2029325"/>
            <a:ext cx="4134465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上周酒店自身的经营状况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475485" y="3211695"/>
            <a:ext cx="4134465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酒店上周的营销策略回顾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7475485" y="4342630"/>
            <a:ext cx="2339102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下周市场预判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475485" y="5474835"/>
            <a:ext cx="305724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主要市场营销策路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475485" y="6625455"/>
            <a:ext cx="3416320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需各部门配合的内容</a:t>
            </a:r>
          </a:p>
        </p:txBody>
      </p:sp>
      <p:grpSp>
        <p:nvGrpSpPr>
          <p:cNvPr id="24" name="组合 23"/>
          <p:cNvGrpSpPr/>
          <p:nvPr>
            <p:custDataLst>
              <p:tags r:id="rId12"/>
            </p:custDataLst>
          </p:nvPr>
        </p:nvGrpSpPr>
        <p:grpSpPr>
          <a:xfrm>
            <a:off x="610755" y="6032999"/>
            <a:ext cx="5139770" cy="1200507"/>
            <a:chOff x="2186" y="5514"/>
            <a:chExt cx="5626" cy="2949"/>
          </a:xfrm>
        </p:grpSpPr>
        <p:sp>
          <p:nvSpPr>
            <p:cNvPr id="34" name="矩形 33"/>
            <p:cNvSpPr/>
            <p:nvPr>
              <p:custDataLst>
                <p:tags r:id="rId13"/>
              </p:custDataLst>
            </p:nvPr>
          </p:nvSpPr>
          <p:spPr>
            <a:xfrm>
              <a:off x="2426" y="5760"/>
              <a:ext cx="5147" cy="2454"/>
            </a:xfrm>
            <a:prstGeom prst="rect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grpSp>
          <p:nvGrpSpPr>
            <p:cNvPr id="35" name="组合 34"/>
            <p:cNvGrpSpPr/>
            <p:nvPr>
              <p:custDataLst>
                <p:tags r:id="rId14"/>
              </p:custDataLst>
            </p:nvPr>
          </p:nvGrpSpPr>
          <p:grpSpPr>
            <a:xfrm>
              <a:off x="2186" y="5520"/>
              <a:ext cx="5627" cy="2934"/>
              <a:chOff x="4105275" y="2075815"/>
              <a:chExt cx="3987800" cy="2844800"/>
            </a:xfrm>
          </p:grpSpPr>
          <p:cxnSp>
            <p:nvCxnSpPr>
              <p:cNvPr id="40" name="直接连接符 39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4257675" y="2075815"/>
                <a:ext cx="889007" cy="0"/>
              </a:xfrm>
              <a:prstGeom prst="line">
                <a:avLst/>
              </a:prstGeom>
              <a:ln w="12700">
                <a:solidFill>
                  <a:srgbClr val="40404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7051675" y="2075815"/>
                <a:ext cx="889007" cy="0"/>
              </a:xfrm>
              <a:prstGeom prst="line">
                <a:avLst/>
              </a:prstGeom>
              <a:ln w="12700">
                <a:solidFill>
                  <a:srgbClr val="40404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7051675" y="4920615"/>
                <a:ext cx="889007" cy="0"/>
              </a:xfrm>
              <a:prstGeom prst="line">
                <a:avLst/>
              </a:prstGeom>
              <a:ln w="12700">
                <a:solidFill>
                  <a:srgbClr val="40404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4257675" y="4920615"/>
                <a:ext cx="889007" cy="0"/>
              </a:xfrm>
              <a:prstGeom prst="line">
                <a:avLst/>
              </a:prstGeom>
              <a:ln w="12700">
                <a:solidFill>
                  <a:srgbClr val="40404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4105275" y="2479675"/>
                <a:ext cx="0" cy="189992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>
                <p:custDataLst>
                  <p:tags r:id="rId24"/>
                </p:custDataLst>
              </p:nvPr>
            </p:nvCxnSpPr>
            <p:spPr>
              <a:xfrm>
                <a:off x="8093075" y="2479040"/>
                <a:ext cx="0" cy="189992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矩形 35"/>
            <p:cNvSpPr/>
            <p:nvPr>
              <p:custDataLst>
                <p:tags r:id="rId15"/>
              </p:custDataLst>
            </p:nvPr>
          </p:nvSpPr>
          <p:spPr>
            <a:xfrm>
              <a:off x="2197" y="5514"/>
              <a:ext cx="233" cy="24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16"/>
              </p:custDataLst>
            </p:nvPr>
          </p:nvSpPr>
          <p:spPr>
            <a:xfrm>
              <a:off x="7573" y="5514"/>
              <a:ext cx="233" cy="24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17"/>
              </p:custDataLst>
            </p:nvPr>
          </p:nvSpPr>
          <p:spPr>
            <a:xfrm>
              <a:off x="2197" y="8223"/>
              <a:ext cx="233" cy="24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18"/>
              </p:custDataLst>
            </p:nvPr>
          </p:nvSpPr>
          <p:spPr>
            <a:xfrm>
              <a:off x="7573" y="8223"/>
              <a:ext cx="233" cy="24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5"/>
          <p:cNvSpPr/>
          <p:nvPr/>
        </p:nvSpPr>
        <p:spPr>
          <a:xfrm>
            <a:off x="0" y="500"/>
            <a:ext cx="14403388" cy="8166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145"/>
          </a:p>
        </p:txBody>
      </p:sp>
      <p:sp>
        <p:nvSpPr>
          <p:cNvPr id="6" name="矩形 5"/>
          <p:cNvSpPr/>
          <p:nvPr/>
        </p:nvSpPr>
        <p:spPr>
          <a:xfrm>
            <a:off x="8040000" y="4534485"/>
            <a:ext cx="7849737" cy="16300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中国旅游集团，中国唯一旅游业央企 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拥有</a:t>
            </a:r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35</a:t>
            </a: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年发展史，具备丰富的酒店综合管理经验</a:t>
            </a:r>
            <a:endParaRPr lang="en-US" altLang="zh-CN" sz="20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全球近</a:t>
            </a:r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200</a:t>
            </a: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家酒店，接近</a:t>
            </a:r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50,000</a:t>
            </a: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间客房</a:t>
            </a:r>
            <a:endParaRPr lang="en-US" altLang="zh-CN" sz="20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旗下</a:t>
            </a:r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15,000</a:t>
            </a: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员工，具备充足的高中级管理人才梯队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-26667" y="6232830"/>
            <a:ext cx="14429367" cy="949692"/>
            <a:chOff x="-694" y="6642000"/>
            <a:chExt cx="14400887" cy="864096"/>
          </a:xfrm>
        </p:grpSpPr>
        <p:sp>
          <p:nvSpPr>
            <p:cNvPr id="9" name="矩形 8"/>
            <p:cNvSpPr/>
            <p:nvPr/>
          </p:nvSpPr>
          <p:spPr>
            <a:xfrm>
              <a:off x="19" y="6724498"/>
              <a:ext cx="14400174" cy="699098"/>
            </a:xfrm>
            <a:prstGeom prst="rect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txBody>
            <a:bodyPr wrap="square" anchor="ctr">
              <a:spAutoFit/>
            </a:bodyPr>
            <a:lstStyle/>
            <a:p>
              <a:r>
                <a:rPr lang="en-US" altLang="zh-CN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1. </a:t>
              </a:r>
              <a:r>
                <a:rPr lang="zh-CN" altLang="en-US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上周市场状况回顾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20" y="6642000"/>
              <a:ext cx="14400173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-694" y="7506096"/>
              <a:ext cx="14400173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>
            <p:custDataLst>
              <p:tags r:id="rId1"/>
            </p:custDataLst>
          </p:nvPr>
        </p:nvSpPr>
        <p:spPr>
          <a:xfrm>
            <a:off x="239474" y="1136799"/>
            <a:ext cx="3863027" cy="61468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15094" y="5952243"/>
            <a:ext cx="9906000" cy="16453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数据挑选内容：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有竞争对手酒店，需要对上周每天完成情况的走势进行比对分析，说出酒店与对标酒店的增减幅比较、周累计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MPI\ARI\RGI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完成情况，以及在数据中找到与对标酒店群完成不一样的点，及其原因。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>
          <a:xfrm>
            <a:off x="8648700" y="7535418"/>
            <a:ext cx="3312414" cy="276860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5</a:t>
            </a:fld>
            <a:endParaRPr lang="en-US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14F8E8B-1DDA-4EA5-BBBF-94B699336EDA}"/>
              </a:ext>
            </a:extLst>
          </p:cNvPr>
          <p:cNvSpPr txBox="1"/>
          <p:nvPr/>
        </p:nvSpPr>
        <p:spPr>
          <a:xfrm>
            <a:off x="813065" y="421505"/>
            <a:ext cx="6578872" cy="439028"/>
          </a:xfrm>
          <a:prstGeom prst="rect">
            <a:avLst/>
          </a:prstGeom>
        </p:spPr>
        <p:txBody>
          <a:bodyPr vert="horz" wrap="square" lIns="0" tIns="8062" rIns="0" bIns="0" rtlCol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8255">
              <a:spcBef>
                <a:spcPts val="65"/>
              </a:spcBef>
            </a:pP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上周市场状况回顾 </a:t>
            </a:r>
            <a:r>
              <a:rPr lang="en-US" altLang="zh-CN" sz="2800" dirty="0">
                <a:solidFill>
                  <a:srgbClr val="002060"/>
                </a:solidFill>
                <a:ea typeface="微软雅黑" panose="020B0503020204020204" charset="-122"/>
              </a:rPr>
              <a:t>– </a:t>
            </a: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有主要竞争酒店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ea typeface="微软雅黑" panose="020B050302020402020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89BA6B-EE82-4F60-861F-8F9AC0FCE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29" y="2068137"/>
            <a:ext cx="13586962" cy="335280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B2FB4095-0AEF-408D-9612-A470A6535BD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9473" y="5737596"/>
            <a:ext cx="10238821" cy="2074682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0E87777-A2EF-4A8A-925E-0D2A690F62EC}"/>
              </a:ext>
            </a:extLst>
          </p:cNvPr>
          <p:cNvSpPr txBox="1"/>
          <p:nvPr/>
        </p:nvSpPr>
        <p:spPr>
          <a:xfrm>
            <a:off x="115094" y="1226226"/>
            <a:ext cx="5668010" cy="435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来自于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网站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F4CBD6-F551-4FFF-8856-7D8A02294C4C}"/>
              </a:ext>
            </a:extLst>
          </p:cNvPr>
          <p:cNvSpPr txBox="1"/>
          <p:nvPr/>
        </p:nvSpPr>
        <p:spPr>
          <a:xfrm>
            <a:off x="9716294" y="1540476"/>
            <a:ext cx="4143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下图为样本提取，请在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STR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平台中调取</a:t>
            </a:r>
          </a:p>
        </p:txBody>
      </p:sp>
    </p:spTree>
    <p:extLst>
      <p:ext uri="{BB962C8B-B14F-4D97-AF65-F5344CB8AC3E}">
        <p14:creationId xmlns:p14="http://schemas.microsoft.com/office/powerpoint/2010/main" val="819493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>
            <p:custDataLst>
              <p:tags r:id="rId1"/>
            </p:custDataLst>
          </p:nvPr>
        </p:nvSpPr>
        <p:spPr>
          <a:xfrm>
            <a:off x="239474" y="1136799"/>
            <a:ext cx="3863027" cy="61468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15094" y="6262081"/>
            <a:ext cx="8991600" cy="13160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当只看与市场均值比较时：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看酒店三项指标与市场均值的差异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了解市场的大方向，尤其是在出租率走势上的变化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>
          <a:xfrm>
            <a:off x="8648700" y="7535418"/>
            <a:ext cx="3312414" cy="276860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6</a:t>
            </a:fld>
            <a:endParaRPr lang="en-US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14F8E8B-1DDA-4EA5-BBBF-94B699336EDA}"/>
              </a:ext>
            </a:extLst>
          </p:cNvPr>
          <p:cNvSpPr txBox="1"/>
          <p:nvPr/>
        </p:nvSpPr>
        <p:spPr>
          <a:xfrm>
            <a:off x="813064" y="421506"/>
            <a:ext cx="8979429" cy="439028"/>
          </a:xfrm>
          <a:prstGeom prst="rect">
            <a:avLst/>
          </a:prstGeom>
        </p:spPr>
        <p:txBody>
          <a:bodyPr vert="horz" wrap="square" lIns="0" tIns="8062" rIns="0" bIns="0" rtlCol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8255">
              <a:spcBef>
                <a:spcPts val="65"/>
              </a:spcBef>
            </a:pP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上周市场状况回顾 </a:t>
            </a:r>
            <a:r>
              <a:rPr lang="en-US" altLang="zh-CN" sz="2800" dirty="0">
                <a:solidFill>
                  <a:srgbClr val="002060"/>
                </a:solidFill>
                <a:ea typeface="微软雅黑" panose="020B0503020204020204" charset="-122"/>
              </a:rPr>
              <a:t>– </a:t>
            </a: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没有主要竞争酒店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FB4095-0AEF-408D-9612-A470A6535BD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9473" y="6108700"/>
            <a:ext cx="10162621" cy="1703578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0E87777-A2EF-4A8A-925E-0D2A690F62EC}"/>
              </a:ext>
            </a:extLst>
          </p:cNvPr>
          <p:cNvSpPr txBox="1"/>
          <p:nvPr/>
        </p:nvSpPr>
        <p:spPr>
          <a:xfrm>
            <a:off x="115094" y="1226226"/>
            <a:ext cx="5668010" cy="435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来自于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网站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74C230D-B20B-465D-B995-ACB5C9C54A27}"/>
              </a:ext>
            </a:extLst>
          </p:cNvPr>
          <p:cNvGraphicFramePr>
            <a:graphicFrameLocks noGrp="1"/>
          </p:cNvGraphicFramePr>
          <p:nvPr/>
        </p:nvGraphicFramePr>
        <p:xfrm>
          <a:off x="419894" y="2027743"/>
          <a:ext cx="12877799" cy="3776160"/>
        </p:xfrm>
        <a:graphic>
          <a:graphicData uri="http://schemas.openxmlformats.org/drawingml/2006/table">
            <a:tbl>
              <a:tblPr/>
              <a:tblGrid>
                <a:gridCol w="1341887">
                  <a:extLst>
                    <a:ext uri="{9D8B030D-6E8A-4147-A177-3AD203B41FA5}">
                      <a16:colId xmlns:a16="http://schemas.microsoft.com/office/drawing/2014/main" val="2565639348"/>
                    </a:ext>
                  </a:extLst>
                </a:gridCol>
                <a:gridCol w="692589">
                  <a:extLst>
                    <a:ext uri="{9D8B030D-6E8A-4147-A177-3AD203B41FA5}">
                      <a16:colId xmlns:a16="http://schemas.microsoft.com/office/drawing/2014/main" val="2672617619"/>
                    </a:ext>
                  </a:extLst>
                </a:gridCol>
                <a:gridCol w="216433">
                  <a:extLst>
                    <a:ext uri="{9D8B030D-6E8A-4147-A177-3AD203B41FA5}">
                      <a16:colId xmlns:a16="http://schemas.microsoft.com/office/drawing/2014/main" val="1971897441"/>
                    </a:ext>
                  </a:extLst>
                </a:gridCol>
                <a:gridCol w="811626">
                  <a:extLst>
                    <a:ext uri="{9D8B030D-6E8A-4147-A177-3AD203B41FA5}">
                      <a16:colId xmlns:a16="http://schemas.microsoft.com/office/drawing/2014/main" val="239536662"/>
                    </a:ext>
                  </a:extLst>
                </a:gridCol>
                <a:gridCol w="887378">
                  <a:extLst>
                    <a:ext uri="{9D8B030D-6E8A-4147-A177-3AD203B41FA5}">
                      <a16:colId xmlns:a16="http://schemas.microsoft.com/office/drawing/2014/main" val="2622893534"/>
                    </a:ext>
                  </a:extLst>
                </a:gridCol>
                <a:gridCol w="811626">
                  <a:extLst>
                    <a:ext uri="{9D8B030D-6E8A-4147-A177-3AD203B41FA5}">
                      <a16:colId xmlns:a16="http://schemas.microsoft.com/office/drawing/2014/main" val="2387351953"/>
                    </a:ext>
                  </a:extLst>
                </a:gridCol>
                <a:gridCol w="887378">
                  <a:extLst>
                    <a:ext uri="{9D8B030D-6E8A-4147-A177-3AD203B41FA5}">
                      <a16:colId xmlns:a16="http://schemas.microsoft.com/office/drawing/2014/main" val="701467174"/>
                    </a:ext>
                  </a:extLst>
                </a:gridCol>
                <a:gridCol w="216433">
                  <a:extLst>
                    <a:ext uri="{9D8B030D-6E8A-4147-A177-3AD203B41FA5}">
                      <a16:colId xmlns:a16="http://schemas.microsoft.com/office/drawing/2014/main" val="3678277015"/>
                    </a:ext>
                  </a:extLst>
                </a:gridCol>
                <a:gridCol w="811626">
                  <a:extLst>
                    <a:ext uri="{9D8B030D-6E8A-4147-A177-3AD203B41FA5}">
                      <a16:colId xmlns:a16="http://schemas.microsoft.com/office/drawing/2014/main" val="206731222"/>
                    </a:ext>
                  </a:extLst>
                </a:gridCol>
                <a:gridCol w="887378">
                  <a:extLst>
                    <a:ext uri="{9D8B030D-6E8A-4147-A177-3AD203B41FA5}">
                      <a16:colId xmlns:a16="http://schemas.microsoft.com/office/drawing/2014/main" val="3817988557"/>
                    </a:ext>
                  </a:extLst>
                </a:gridCol>
                <a:gridCol w="811626">
                  <a:extLst>
                    <a:ext uri="{9D8B030D-6E8A-4147-A177-3AD203B41FA5}">
                      <a16:colId xmlns:a16="http://schemas.microsoft.com/office/drawing/2014/main" val="1543501500"/>
                    </a:ext>
                  </a:extLst>
                </a:gridCol>
                <a:gridCol w="887378">
                  <a:extLst>
                    <a:ext uri="{9D8B030D-6E8A-4147-A177-3AD203B41FA5}">
                      <a16:colId xmlns:a16="http://schemas.microsoft.com/office/drawing/2014/main" val="697615150"/>
                    </a:ext>
                  </a:extLst>
                </a:gridCol>
                <a:gridCol w="216433">
                  <a:extLst>
                    <a:ext uri="{9D8B030D-6E8A-4147-A177-3AD203B41FA5}">
                      <a16:colId xmlns:a16="http://schemas.microsoft.com/office/drawing/2014/main" val="3042832970"/>
                    </a:ext>
                  </a:extLst>
                </a:gridCol>
                <a:gridCol w="811626">
                  <a:extLst>
                    <a:ext uri="{9D8B030D-6E8A-4147-A177-3AD203B41FA5}">
                      <a16:colId xmlns:a16="http://schemas.microsoft.com/office/drawing/2014/main" val="3688691860"/>
                    </a:ext>
                  </a:extLst>
                </a:gridCol>
                <a:gridCol w="887378">
                  <a:extLst>
                    <a:ext uri="{9D8B030D-6E8A-4147-A177-3AD203B41FA5}">
                      <a16:colId xmlns:a16="http://schemas.microsoft.com/office/drawing/2014/main" val="4178141195"/>
                    </a:ext>
                  </a:extLst>
                </a:gridCol>
                <a:gridCol w="811626">
                  <a:extLst>
                    <a:ext uri="{9D8B030D-6E8A-4147-A177-3AD203B41FA5}">
                      <a16:colId xmlns:a16="http://schemas.microsoft.com/office/drawing/2014/main" val="4213565546"/>
                    </a:ext>
                  </a:extLst>
                </a:gridCol>
                <a:gridCol w="887378">
                  <a:extLst>
                    <a:ext uri="{9D8B030D-6E8A-4147-A177-3AD203B41FA5}">
                      <a16:colId xmlns:a16="http://schemas.microsoft.com/office/drawing/2014/main" val="2619597004"/>
                    </a:ext>
                  </a:extLst>
                </a:gridCol>
              </a:tblGrid>
              <a:tr h="25174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与所属市场值参考</a:t>
                      </a:r>
                    </a:p>
                  </a:txBody>
                  <a:tcPr marL="7047" marR="7047" marT="70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>
                      <a:noFill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Occupancy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ADR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RevPAR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070948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DOW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This Year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Chg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This Year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Chg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This Year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Chg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129648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1" i="0" u="none" strike="noStrike"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1" i="0" u="none" strike="noStrike"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My Prop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Industry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My Prop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Industry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My Prop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Industry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effectLst/>
                          <a:latin typeface="Arial" panose="020B0604020202020204" pitchFamily="34" charset="0"/>
                        </a:rPr>
                        <a:t>My Prop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effectLst/>
                          <a:latin typeface="Arial" panose="020B0604020202020204" pitchFamily="34" charset="0"/>
                        </a:rPr>
                        <a:t>Industry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effectLst/>
                          <a:latin typeface="Arial" panose="020B0604020202020204" pitchFamily="34" charset="0"/>
                        </a:rPr>
                        <a:t>My Prop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effectLst/>
                          <a:latin typeface="Arial" panose="020B0604020202020204" pitchFamily="34" charset="0"/>
                        </a:rPr>
                        <a:t>Industry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effectLst/>
                          <a:latin typeface="Arial" panose="020B0604020202020204" pitchFamily="34" charset="0"/>
                        </a:rPr>
                        <a:t>My Prop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Industry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373656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03/01/2021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Mon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38.5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30.7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-12.8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20.2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395.84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470.28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-1.9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-3.7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152.25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144.60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-14.4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15.7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1848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03/02/2021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Tue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37.0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31.9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-18.3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35.2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439.79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472.78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8.5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162.64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150.61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-11.4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33.7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800167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03/03/2021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Wed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39.6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35.1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45.7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64.0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398.79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462.24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2.1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-4.2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158.10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162.06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48.7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57.2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460019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03/04/2021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Thu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39.9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35.6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43.6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46.4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412.32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465.80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9.8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-1.5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164.68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165.96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57.7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44.3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680422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03/05/2021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Fri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47.6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35.9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56.3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44.9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493.52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494.40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31.6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4.5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235.08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177.63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105.7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51.4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848091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03/06/2021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Sat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68.0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42.5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215.1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86.7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469.76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528.60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24.9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10.0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319.66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224.42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293.4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105.3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084840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03/07/2021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Sun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36.4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28.1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78.3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23.4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405.50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471.08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0.1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-3.0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147.57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132.16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78.5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19.7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834027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03/08/2021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Mon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37.3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32.0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207.3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74.3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439.29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471.97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-4.2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-5.2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163.76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150.85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194.5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65.2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35400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03/09/2021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Tue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43.8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32.8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252.4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71.0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378.91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460.43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-5.8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-4.4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165.91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150.92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232.0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63.4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4028493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03/10/2021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Wed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34.6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31.7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120.8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38.7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400.48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457.61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-1.2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-4.6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138.63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144.92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118.2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32.3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322115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03/11/2021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Thu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38.2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38.7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104.8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65.7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391.79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465.40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2.5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-1.4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149.53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179.90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109.8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0" i="0" u="none" strike="noStrike">
                          <a:effectLst/>
                          <a:latin typeface="Arial" panose="020B0604020202020204" pitchFamily="34" charset="0"/>
                        </a:rPr>
                        <a:t>63.4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419778"/>
                  </a:ext>
                </a:extLst>
              </a:tr>
              <a:tr h="25174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effectLst/>
                          <a:latin typeface="Arial" panose="020B0604020202020204" pitchFamily="34" charset="0"/>
                        </a:rPr>
                        <a:t>MTD Mar 2021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CN" altLang="en-US" sz="1200" b="1" i="0" u="none" strike="noStrike" dirty="0"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41.9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34.1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67.2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50.7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424.73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476.05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7.4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177.98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162.24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>
                          <a:effectLst/>
                          <a:latin typeface="Arial" panose="020B0604020202020204" pitchFamily="34" charset="0"/>
                        </a:rPr>
                        <a:t>79.5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200" b="1" i="0" u="none" strike="noStrike" dirty="0">
                          <a:effectLst/>
                          <a:latin typeface="Arial" panose="020B0604020202020204" pitchFamily="34" charset="0"/>
                        </a:rPr>
                        <a:t>49.2</a:t>
                      </a:r>
                    </a:p>
                  </a:txBody>
                  <a:tcPr marL="7047" marR="7047" marT="7047" marB="0" anchor="b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8466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2742DC4-0D0A-4210-9FD6-ECC2861614FE}"/>
              </a:ext>
            </a:extLst>
          </p:cNvPr>
          <p:cNvSpPr txBox="1"/>
          <p:nvPr/>
        </p:nvSpPr>
        <p:spPr>
          <a:xfrm>
            <a:off x="9208845" y="1538280"/>
            <a:ext cx="4143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下图为样本提取，请在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STR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平台中调取</a:t>
            </a:r>
          </a:p>
        </p:txBody>
      </p:sp>
    </p:spTree>
    <p:extLst>
      <p:ext uri="{BB962C8B-B14F-4D97-AF65-F5344CB8AC3E}">
        <p14:creationId xmlns:p14="http://schemas.microsoft.com/office/powerpoint/2010/main" val="2218665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>
            <p:custDataLst>
              <p:tags r:id="rId1"/>
            </p:custDataLst>
          </p:nvPr>
        </p:nvSpPr>
        <p:spPr>
          <a:xfrm>
            <a:off x="239474" y="1136799"/>
            <a:ext cx="3863027" cy="61468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>
          <a:xfrm>
            <a:off x="8648700" y="7535418"/>
            <a:ext cx="3312414" cy="276860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7</a:t>
            </a:fld>
            <a:endParaRPr lang="en-US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14F8E8B-1DDA-4EA5-BBBF-94B699336EDA}"/>
              </a:ext>
            </a:extLst>
          </p:cNvPr>
          <p:cNvSpPr txBox="1"/>
          <p:nvPr/>
        </p:nvSpPr>
        <p:spPr>
          <a:xfrm>
            <a:off x="813065" y="421505"/>
            <a:ext cx="6578872" cy="439028"/>
          </a:xfrm>
          <a:prstGeom prst="rect">
            <a:avLst/>
          </a:prstGeom>
        </p:spPr>
        <p:txBody>
          <a:bodyPr vert="horz" wrap="square" lIns="0" tIns="8062" rIns="0" bIns="0" rtlCol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8255">
              <a:spcBef>
                <a:spcPts val="65"/>
              </a:spcBef>
            </a:pP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上周市场回顾 </a:t>
            </a:r>
            <a:r>
              <a:rPr lang="en-US" altLang="zh-CN" sz="2800" dirty="0">
                <a:solidFill>
                  <a:srgbClr val="002060"/>
                </a:solidFill>
                <a:ea typeface="微软雅黑" panose="020B0503020204020204" charset="-122"/>
              </a:rPr>
              <a:t>– </a:t>
            </a: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日常数据互换比对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0E87777-A2EF-4A8A-925E-0D2A690F62EC}"/>
              </a:ext>
            </a:extLst>
          </p:cNvPr>
          <p:cNvSpPr txBox="1"/>
          <p:nvPr/>
        </p:nvSpPr>
        <p:spPr>
          <a:xfrm>
            <a:off x="115094" y="1226226"/>
            <a:ext cx="5668010" cy="435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来自于酒店日常数据互换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B4B840E-5C56-4FFC-925C-4E63AB8A7913}"/>
              </a:ext>
            </a:extLst>
          </p:cNvPr>
          <p:cNvGraphicFramePr>
            <a:graphicFrameLocks noGrp="1"/>
          </p:cNvGraphicFramePr>
          <p:nvPr/>
        </p:nvGraphicFramePr>
        <p:xfrm>
          <a:off x="239472" y="2048332"/>
          <a:ext cx="13515422" cy="3599834"/>
        </p:xfrm>
        <a:graphic>
          <a:graphicData uri="http://schemas.openxmlformats.org/drawingml/2006/table">
            <a:tbl>
              <a:tblPr/>
              <a:tblGrid>
                <a:gridCol w="1596098">
                  <a:extLst>
                    <a:ext uri="{9D8B030D-6E8A-4147-A177-3AD203B41FA5}">
                      <a16:colId xmlns:a16="http://schemas.microsoft.com/office/drawing/2014/main" val="2048447704"/>
                    </a:ext>
                  </a:extLst>
                </a:gridCol>
                <a:gridCol w="965707">
                  <a:extLst>
                    <a:ext uri="{9D8B030D-6E8A-4147-A177-3AD203B41FA5}">
                      <a16:colId xmlns:a16="http://schemas.microsoft.com/office/drawing/2014/main" val="1897482569"/>
                    </a:ext>
                  </a:extLst>
                </a:gridCol>
                <a:gridCol w="965707">
                  <a:extLst>
                    <a:ext uri="{9D8B030D-6E8A-4147-A177-3AD203B41FA5}">
                      <a16:colId xmlns:a16="http://schemas.microsoft.com/office/drawing/2014/main" val="1385832197"/>
                    </a:ext>
                  </a:extLst>
                </a:gridCol>
                <a:gridCol w="1108773">
                  <a:extLst>
                    <a:ext uri="{9D8B030D-6E8A-4147-A177-3AD203B41FA5}">
                      <a16:colId xmlns:a16="http://schemas.microsoft.com/office/drawing/2014/main" val="2301231580"/>
                    </a:ext>
                  </a:extLst>
                </a:gridCol>
                <a:gridCol w="1180308">
                  <a:extLst>
                    <a:ext uri="{9D8B030D-6E8A-4147-A177-3AD203B41FA5}">
                      <a16:colId xmlns:a16="http://schemas.microsoft.com/office/drawing/2014/main" val="2777248567"/>
                    </a:ext>
                  </a:extLst>
                </a:gridCol>
                <a:gridCol w="1108773">
                  <a:extLst>
                    <a:ext uri="{9D8B030D-6E8A-4147-A177-3AD203B41FA5}">
                      <a16:colId xmlns:a16="http://schemas.microsoft.com/office/drawing/2014/main" val="650340674"/>
                    </a:ext>
                  </a:extLst>
                </a:gridCol>
                <a:gridCol w="1681044">
                  <a:extLst>
                    <a:ext uri="{9D8B030D-6E8A-4147-A177-3AD203B41FA5}">
                      <a16:colId xmlns:a16="http://schemas.microsoft.com/office/drawing/2014/main" val="619357569"/>
                    </a:ext>
                  </a:extLst>
                </a:gridCol>
                <a:gridCol w="965707">
                  <a:extLst>
                    <a:ext uri="{9D8B030D-6E8A-4147-A177-3AD203B41FA5}">
                      <a16:colId xmlns:a16="http://schemas.microsoft.com/office/drawing/2014/main" val="3952539482"/>
                    </a:ext>
                  </a:extLst>
                </a:gridCol>
                <a:gridCol w="1435147">
                  <a:extLst>
                    <a:ext uri="{9D8B030D-6E8A-4147-A177-3AD203B41FA5}">
                      <a16:colId xmlns:a16="http://schemas.microsoft.com/office/drawing/2014/main" val="681277194"/>
                    </a:ext>
                  </a:extLst>
                </a:gridCol>
                <a:gridCol w="1287611">
                  <a:extLst>
                    <a:ext uri="{9D8B030D-6E8A-4147-A177-3AD203B41FA5}">
                      <a16:colId xmlns:a16="http://schemas.microsoft.com/office/drawing/2014/main" val="3002534051"/>
                    </a:ext>
                  </a:extLst>
                </a:gridCol>
                <a:gridCol w="1220547">
                  <a:extLst>
                    <a:ext uri="{9D8B030D-6E8A-4147-A177-3AD203B41FA5}">
                      <a16:colId xmlns:a16="http://schemas.microsoft.com/office/drawing/2014/main" val="290666138"/>
                    </a:ext>
                  </a:extLst>
                </a:gridCol>
              </a:tblGrid>
              <a:tr h="51426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竞争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tum" panose="020B0600000101010101" pitchFamily="34" charset="-127"/>
                          <a:ea typeface="Dotum" panose="020B0600000101010101" pitchFamily="34" charset="-127"/>
                        </a:rPr>
                        <a:t>酒店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总房间数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可售房数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已售房数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出租率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平均房价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房费收入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RevPAR.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MPI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ARI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RGI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167474"/>
                  </a:ext>
                </a:extLst>
              </a:tr>
              <a:tr h="51426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本酒店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355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11005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5659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51.4%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414.47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    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2,345,485.73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213.13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1.21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0.85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1.04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074129"/>
                  </a:ext>
                </a:extLst>
              </a:tr>
              <a:tr h="5142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tum" panose="020B0600000101010101" pitchFamily="34" charset="-127"/>
                          <a:ea typeface="Dotum" panose="020B0600000101010101" pitchFamily="34" charset="-127"/>
                        </a:rPr>
                        <a:t>A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tum" panose="020B0600000101010101" pitchFamily="34" charset="-127"/>
                          <a:ea typeface="Dotum" panose="020B0600000101010101" pitchFamily="34" charset="-127"/>
                        </a:rPr>
                        <a:t>酒店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292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9052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3621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40.0%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418.00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    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1,513,578.00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167.21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0.94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0.86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0.81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972148"/>
                  </a:ext>
                </a:extLst>
              </a:tr>
              <a:tr h="5142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酒店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433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13423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5196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38.7%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567.00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    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2,946,132.00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219.48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0.91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1.17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1.07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686325"/>
                  </a:ext>
                </a:extLst>
              </a:tr>
              <a:tr h="5142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酒店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317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9827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4156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42.3%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568.00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     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2,360,608.00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240.22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1.00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1.17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1.17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984390"/>
                  </a:ext>
                </a:extLst>
              </a:tr>
              <a:tr h="5142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酒店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312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9672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3835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39.7%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452.00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     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1,733,420.00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179.22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0.93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0.93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0.87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629763"/>
                  </a:ext>
                </a:extLst>
              </a:tr>
              <a:tr h="51426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总计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1709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52979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22467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42.4%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485.12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10,899,223.73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205.73 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717" marR="7717" marT="77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373446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9E0D11A-02A2-4C0D-8D02-0D990744FDC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9473" y="5737596"/>
            <a:ext cx="10238821" cy="2074682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D2E377-6504-4430-9A53-3BC1E570A11F}"/>
              </a:ext>
            </a:extLst>
          </p:cNvPr>
          <p:cNvSpPr txBox="1"/>
          <p:nvPr/>
        </p:nvSpPr>
        <p:spPr>
          <a:xfrm>
            <a:off x="115094" y="5815235"/>
            <a:ext cx="10134600" cy="17561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提问：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本酒店在比较时间段内的经营表现与市场相比，趋向于好还是不好？好在哪里？差距在哪里？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在我们的几家竞争对手中，他们的这个时间段里做了哪些策略？定价走势是怎样的？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这些酒店中，对标时间段里接待了哪些会议活动？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A9F74F-BE3A-43A0-BFF8-9028811FFD58}"/>
              </a:ext>
            </a:extLst>
          </p:cNvPr>
          <p:cNvSpPr txBox="1"/>
          <p:nvPr/>
        </p:nvSpPr>
        <p:spPr>
          <a:xfrm>
            <a:off x="9182894" y="1613234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下图为样本提取，请手工制作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Excel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表</a:t>
            </a:r>
          </a:p>
        </p:txBody>
      </p:sp>
    </p:spTree>
    <p:extLst>
      <p:ext uri="{BB962C8B-B14F-4D97-AF65-F5344CB8AC3E}">
        <p14:creationId xmlns:p14="http://schemas.microsoft.com/office/powerpoint/2010/main" val="2738427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>
          <a:xfrm>
            <a:off x="8648700" y="7535418"/>
            <a:ext cx="3312414" cy="276860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8</a:t>
            </a:fld>
            <a:endParaRPr lang="en-US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14F8E8B-1DDA-4EA5-BBBF-94B699336EDA}"/>
              </a:ext>
            </a:extLst>
          </p:cNvPr>
          <p:cNvSpPr txBox="1"/>
          <p:nvPr/>
        </p:nvSpPr>
        <p:spPr>
          <a:xfrm>
            <a:off x="813064" y="421506"/>
            <a:ext cx="7150629" cy="439028"/>
          </a:xfrm>
          <a:prstGeom prst="rect">
            <a:avLst/>
          </a:prstGeom>
        </p:spPr>
        <p:txBody>
          <a:bodyPr vert="horz" wrap="square" lIns="0" tIns="8062" rIns="0" bIns="0" rtlCol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8255">
              <a:spcBef>
                <a:spcPts val="65"/>
              </a:spcBef>
            </a:pP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上周酒店经营情况回顾 </a:t>
            </a:r>
            <a:r>
              <a:rPr lang="en-US" altLang="zh-CN" sz="2800" dirty="0">
                <a:solidFill>
                  <a:srgbClr val="002060"/>
                </a:solidFill>
                <a:ea typeface="微软雅黑" panose="020B0503020204020204" charset="-122"/>
              </a:rPr>
              <a:t>– </a:t>
            </a: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客房完成情况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E0D11A-02A2-4C0D-8D02-0D990744FD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22263" y="5049666"/>
            <a:ext cx="11353800" cy="142263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D2E377-6504-4430-9A53-3BC1E570A11F}"/>
              </a:ext>
            </a:extLst>
          </p:cNvPr>
          <p:cNvSpPr txBox="1"/>
          <p:nvPr/>
        </p:nvSpPr>
        <p:spPr>
          <a:xfrm>
            <a:off x="522263" y="5288185"/>
            <a:ext cx="11222387" cy="87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提问：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本酒店在比较时间段内的经营表现中，分别与上年同期比较、与酒店在上周的预测相比有如何表现？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B6CDD4B-9FD3-40F0-8AFA-3351932AA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090932"/>
              </p:ext>
            </p:extLst>
          </p:nvPr>
        </p:nvGraphicFramePr>
        <p:xfrm>
          <a:off x="496094" y="1795179"/>
          <a:ext cx="13106400" cy="2121719"/>
        </p:xfrm>
        <a:graphic>
          <a:graphicData uri="http://schemas.openxmlformats.org/drawingml/2006/table">
            <a:tbl>
              <a:tblPr/>
              <a:tblGrid>
                <a:gridCol w="1695906">
                  <a:extLst>
                    <a:ext uri="{9D8B030D-6E8A-4147-A177-3AD203B41FA5}">
                      <a16:colId xmlns:a16="http://schemas.microsoft.com/office/drawing/2014/main" val="795808452"/>
                    </a:ext>
                  </a:extLst>
                </a:gridCol>
                <a:gridCol w="884820">
                  <a:extLst>
                    <a:ext uri="{9D8B030D-6E8A-4147-A177-3AD203B41FA5}">
                      <a16:colId xmlns:a16="http://schemas.microsoft.com/office/drawing/2014/main" val="1330338913"/>
                    </a:ext>
                  </a:extLst>
                </a:gridCol>
                <a:gridCol w="1142892">
                  <a:extLst>
                    <a:ext uri="{9D8B030D-6E8A-4147-A177-3AD203B41FA5}">
                      <a16:colId xmlns:a16="http://schemas.microsoft.com/office/drawing/2014/main" val="3365954749"/>
                    </a:ext>
                  </a:extLst>
                </a:gridCol>
                <a:gridCol w="1327231">
                  <a:extLst>
                    <a:ext uri="{9D8B030D-6E8A-4147-A177-3AD203B41FA5}">
                      <a16:colId xmlns:a16="http://schemas.microsoft.com/office/drawing/2014/main" val="130580445"/>
                    </a:ext>
                  </a:extLst>
                </a:gridCol>
                <a:gridCol w="1179759">
                  <a:extLst>
                    <a:ext uri="{9D8B030D-6E8A-4147-A177-3AD203B41FA5}">
                      <a16:colId xmlns:a16="http://schemas.microsoft.com/office/drawing/2014/main" val="317800864"/>
                    </a:ext>
                  </a:extLst>
                </a:gridCol>
                <a:gridCol w="1198194">
                  <a:extLst>
                    <a:ext uri="{9D8B030D-6E8A-4147-A177-3AD203B41FA5}">
                      <a16:colId xmlns:a16="http://schemas.microsoft.com/office/drawing/2014/main" val="1266098867"/>
                    </a:ext>
                  </a:extLst>
                </a:gridCol>
                <a:gridCol w="1511568">
                  <a:extLst>
                    <a:ext uri="{9D8B030D-6E8A-4147-A177-3AD203B41FA5}">
                      <a16:colId xmlns:a16="http://schemas.microsoft.com/office/drawing/2014/main" val="1954473090"/>
                    </a:ext>
                  </a:extLst>
                </a:gridCol>
                <a:gridCol w="1161327">
                  <a:extLst>
                    <a:ext uri="{9D8B030D-6E8A-4147-A177-3AD203B41FA5}">
                      <a16:colId xmlns:a16="http://schemas.microsoft.com/office/drawing/2014/main" val="1113930411"/>
                    </a:ext>
                  </a:extLst>
                </a:gridCol>
                <a:gridCol w="1253496">
                  <a:extLst>
                    <a:ext uri="{9D8B030D-6E8A-4147-A177-3AD203B41FA5}">
                      <a16:colId xmlns:a16="http://schemas.microsoft.com/office/drawing/2014/main" val="412096209"/>
                    </a:ext>
                  </a:extLst>
                </a:gridCol>
                <a:gridCol w="1751207">
                  <a:extLst>
                    <a:ext uri="{9D8B030D-6E8A-4147-A177-3AD203B41FA5}">
                      <a16:colId xmlns:a16="http://schemas.microsoft.com/office/drawing/2014/main" val="21573300"/>
                    </a:ext>
                  </a:extLst>
                </a:gridCol>
              </a:tblGrid>
              <a:tr h="59928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日期：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</a:t>
                      </a: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年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 vs. 2019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 vs. Forecast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769680"/>
                  </a:ext>
                </a:extLst>
              </a:tr>
              <a:tr h="6880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961107"/>
                  </a:ext>
                </a:extLst>
              </a:tr>
              <a:tr h="83441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总计 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Total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089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41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>
          <a:xfrm>
            <a:off x="8648700" y="7535418"/>
            <a:ext cx="3312414" cy="276860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9</a:t>
            </a:fld>
            <a:endParaRPr lang="en-US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14F8E8B-1DDA-4EA5-BBBF-94B699336EDA}"/>
              </a:ext>
            </a:extLst>
          </p:cNvPr>
          <p:cNvSpPr txBox="1"/>
          <p:nvPr/>
        </p:nvSpPr>
        <p:spPr>
          <a:xfrm>
            <a:off x="813064" y="421506"/>
            <a:ext cx="7150629" cy="439028"/>
          </a:xfrm>
          <a:prstGeom prst="rect">
            <a:avLst/>
          </a:prstGeom>
        </p:spPr>
        <p:txBody>
          <a:bodyPr vert="horz" wrap="square" lIns="0" tIns="8062" rIns="0" bIns="0" rtlCol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8255">
              <a:spcBef>
                <a:spcPts val="65"/>
              </a:spcBef>
            </a:pP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上周酒店经营情况回顾 </a:t>
            </a:r>
            <a:r>
              <a:rPr lang="en-US" altLang="zh-CN" sz="2800" dirty="0">
                <a:solidFill>
                  <a:srgbClr val="002060"/>
                </a:solidFill>
                <a:ea typeface="微软雅黑" panose="020B0503020204020204" charset="-122"/>
              </a:rPr>
              <a:t>– </a:t>
            </a: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客房完成情况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E0D11A-02A2-4C0D-8D02-0D990744FD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1295" y="6565900"/>
            <a:ext cx="11353800" cy="1438248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E871730-4B10-4E79-A9E8-489FB2541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840645"/>
              </p:ext>
            </p:extLst>
          </p:nvPr>
        </p:nvGraphicFramePr>
        <p:xfrm>
          <a:off x="163082" y="1231900"/>
          <a:ext cx="13439413" cy="5089596"/>
        </p:xfrm>
        <a:graphic>
          <a:graphicData uri="http://schemas.openxmlformats.org/drawingml/2006/table">
            <a:tbl>
              <a:tblPr/>
              <a:tblGrid>
                <a:gridCol w="1233959">
                  <a:extLst>
                    <a:ext uri="{9D8B030D-6E8A-4147-A177-3AD203B41FA5}">
                      <a16:colId xmlns:a16="http://schemas.microsoft.com/office/drawing/2014/main" val="1098046719"/>
                    </a:ext>
                  </a:extLst>
                </a:gridCol>
                <a:gridCol w="1233959">
                  <a:extLst>
                    <a:ext uri="{9D8B030D-6E8A-4147-A177-3AD203B41FA5}">
                      <a16:colId xmlns:a16="http://schemas.microsoft.com/office/drawing/2014/main" val="1566194711"/>
                    </a:ext>
                  </a:extLst>
                </a:gridCol>
                <a:gridCol w="643804">
                  <a:extLst>
                    <a:ext uri="{9D8B030D-6E8A-4147-A177-3AD203B41FA5}">
                      <a16:colId xmlns:a16="http://schemas.microsoft.com/office/drawing/2014/main" val="3835487765"/>
                    </a:ext>
                  </a:extLst>
                </a:gridCol>
                <a:gridCol w="831580">
                  <a:extLst>
                    <a:ext uri="{9D8B030D-6E8A-4147-A177-3AD203B41FA5}">
                      <a16:colId xmlns:a16="http://schemas.microsoft.com/office/drawing/2014/main" val="4280533363"/>
                    </a:ext>
                  </a:extLst>
                </a:gridCol>
                <a:gridCol w="965707">
                  <a:extLst>
                    <a:ext uri="{9D8B030D-6E8A-4147-A177-3AD203B41FA5}">
                      <a16:colId xmlns:a16="http://schemas.microsoft.com/office/drawing/2014/main" val="3876824672"/>
                    </a:ext>
                  </a:extLst>
                </a:gridCol>
                <a:gridCol w="858404">
                  <a:extLst>
                    <a:ext uri="{9D8B030D-6E8A-4147-A177-3AD203B41FA5}">
                      <a16:colId xmlns:a16="http://schemas.microsoft.com/office/drawing/2014/main" val="3218528192"/>
                    </a:ext>
                  </a:extLst>
                </a:gridCol>
                <a:gridCol w="871819">
                  <a:extLst>
                    <a:ext uri="{9D8B030D-6E8A-4147-A177-3AD203B41FA5}">
                      <a16:colId xmlns:a16="http://schemas.microsoft.com/office/drawing/2014/main" val="2890890205"/>
                    </a:ext>
                  </a:extLst>
                </a:gridCol>
                <a:gridCol w="1099831">
                  <a:extLst>
                    <a:ext uri="{9D8B030D-6E8A-4147-A177-3AD203B41FA5}">
                      <a16:colId xmlns:a16="http://schemas.microsoft.com/office/drawing/2014/main" val="2951462374"/>
                    </a:ext>
                  </a:extLst>
                </a:gridCol>
                <a:gridCol w="844994">
                  <a:extLst>
                    <a:ext uri="{9D8B030D-6E8A-4147-A177-3AD203B41FA5}">
                      <a16:colId xmlns:a16="http://schemas.microsoft.com/office/drawing/2014/main" val="1596550131"/>
                    </a:ext>
                  </a:extLst>
                </a:gridCol>
                <a:gridCol w="912056">
                  <a:extLst>
                    <a:ext uri="{9D8B030D-6E8A-4147-A177-3AD203B41FA5}">
                      <a16:colId xmlns:a16="http://schemas.microsoft.com/office/drawing/2014/main" val="3596277633"/>
                    </a:ext>
                  </a:extLst>
                </a:gridCol>
                <a:gridCol w="1274196">
                  <a:extLst>
                    <a:ext uri="{9D8B030D-6E8A-4147-A177-3AD203B41FA5}">
                      <a16:colId xmlns:a16="http://schemas.microsoft.com/office/drawing/2014/main" val="2172644985"/>
                    </a:ext>
                  </a:extLst>
                </a:gridCol>
                <a:gridCol w="751105">
                  <a:extLst>
                    <a:ext uri="{9D8B030D-6E8A-4147-A177-3AD203B41FA5}">
                      <a16:colId xmlns:a16="http://schemas.microsoft.com/office/drawing/2014/main" val="2838900437"/>
                    </a:ext>
                  </a:extLst>
                </a:gridCol>
                <a:gridCol w="818168">
                  <a:extLst>
                    <a:ext uri="{9D8B030D-6E8A-4147-A177-3AD203B41FA5}">
                      <a16:colId xmlns:a16="http://schemas.microsoft.com/office/drawing/2014/main" val="2259303145"/>
                    </a:ext>
                  </a:extLst>
                </a:gridCol>
                <a:gridCol w="1099831">
                  <a:extLst>
                    <a:ext uri="{9D8B030D-6E8A-4147-A177-3AD203B41FA5}">
                      <a16:colId xmlns:a16="http://schemas.microsoft.com/office/drawing/2014/main" val="3681822951"/>
                    </a:ext>
                  </a:extLst>
                </a:gridCol>
              </a:tblGrid>
              <a:tr h="31315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日期：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</a:t>
                      </a: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年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 vs. 2019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 vs. Forecast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 vs. Budget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953324"/>
                  </a:ext>
                </a:extLst>
              </a:tr>
              <a:tr h="3675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细分市场组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Market Group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细分市场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Market Segment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602851"/>
                  </a:ext>
                </a:extLst>
              </a:tr>
              <a:tr h="29252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公开市场散客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Subtotal Public FIT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前台及预订直接散客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WALKIN&amp;RSVN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493713"/>
                  </a:ext>
                </a:extLst>
              </a:tr>
              <a:tr h="2925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线上公开散客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Online FIT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893994"/>
                  </a:ext>
                </a:extLst>
              </a:tr>
              <a:tr h="34503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线下散客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Subtotal Offline FIT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商务公司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955687"/>
                  </a:ext>
                </a:extLst>
              </a:tr>
              <a:tr h="345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长住市场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LSR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404671"/>
                  </a:ext>
                </a:extLst>
              </a:tr>
              <a:tr h="345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批发商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WHO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986963"/>
                  </a:ext>
                </a:extLst>
              </a:tr>
              <a:tr h="34503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会议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MICE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公司会议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MTC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69252"/>
                  </a:ext>
                </a:extLst>
              </a:tr>
              <a:tr h="345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交易会、展览会会议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448215"/>
                  </a:ext>
                </a:extLst>
              </a:tr>
              <a:tr h="345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政府会议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MGM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574747"/>
                  </a:ext>
                </a:extLst>
              </a:tr>
              <a:tr h="34503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团队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TOUR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系列团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TSR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276230"/>
                  </a:ext>
                </a:extLst>
              </a:tr>
              <a:tr h="345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一次性团队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ADH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874146"/>
                  </a:ext>
                </a:extLst>
              </a:tr>
              <a:tr h="34503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航空公司</a:t>
                      </a:r>
                      <a:b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AIRLINE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误机团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ALO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564435"/>
                  </a:ext>
                </a:extLst>
              </a:tr>
              <a:tr h="345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机组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ACW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138962"/>
                  </a:ext>
                </a:extLst>
              </a:tr>
              <a:tr h="31315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总计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Total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17367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78ED85F-7C55-46FA-8BE4-87F460DC2F9E}"/>
              </a:ext>
            </a:extLst>
          </p:cNvPr>
          <p:cNvSpPr txBox="1"/>
          <p:nvPr/>
        </p:nvSpPr>
        <p:spPr>
          <a:xfrm>
            <a:off x="163082" y="6581518"/>
            <a:ext cx="11222387" cy="12606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提问：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本酒店在比较时间段内的细分市场经营表现中，分别与上年同期比较、与酒店在上周的预测相比有如何表现？差在哪个市场上？什么原因导致的该细分市场差？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397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>
            <p:custDataLst>
              <p:tags r:id="rId1"/>
            </p:custDataLst>
          </p:nvPr>
        </p:nvSpPr>
        <p:spPr>
          <a:xfrm>
            <a:off x="572294" y="1541981"/>
            <a:ext cx="7150628" cy="3113546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>
          <a:xfrm>
            <a:off x="8648700" y="7535418"/>
            <a:ext cx="3312414" cy="276860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10</a:t>
            </a:fld>
            <a:endParaRPr lang="en-US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14F8E8B-1DDA-4EA5-BBBF-94B699336EDA}"/>
              </a:ext>
            </a:extLst>
          </p:cNvPr>
          <p:cNvSpPr txBox="1"/>
          <p:nvPr/>
        </p:nvSpPr>
        <p:spPr>
          <a:xfrm>
            <a:off x="813064" y="421506"/>
            <a:ext cx="7150629" cy="439028"/>
          </a:xfrm>
          <a:prstGeom prst="rect">
            <a:avLst/>
          </a:prstGeom>
        </p:spPr>
        <p:txBody>
          <a:bodyPr vert="horz" wrap="square" lIns="0" tIns="8062" rIns="0" bIns="0" rtlCol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8255">
              <a:spcBef>
                <a:spcPts val="65"/>
              </a:spcBef>
            </a:pP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上周酒店经营情况回顾 </a:t>
            </a:r>
            <a:r>
              <a:rPr lang="en-US" altLang="zh-CN" sz="2800" dirty="0">
                <a:solidFill>
                  <a:srgbClr val="002060"/>
                </a:solidFill>
                <a:ea typeface="微软雅黑" panose="020B0503020204020204" charset="-122"/>
              </a:rPr>
              <a:t>– </a:t>
            </a: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主要营销策略回顾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0E87777-A2EF-4A8A-925E-0D2A690F62EC}"/>
              </a:ext>
            </a:extLst>
          </p:cNvPr>
          <p:cNvSpPr txBox="1"/>
          <p:nvPr/>
        </p:nvSpPr>
        <p:spPr>
          <a:xfrm>
            <a:off x="419894" y="1634379"/>
            <a:ext cx="5668010" cy="30211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主要商务客源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TOP10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表现；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会议市场表现；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上周公开市场表现；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对于变价时间前后，请分别使用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STR/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携程后台进行变价验证；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营销过程中遇到的问题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0612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5"/>
          <p:cNvSpPr/>
          <p:nvPr/>
        </p:nvSpPr>
        <p:spPr>
          <a:xfrm>
            <a:off x="0" y="500"/>
            <a:ext cx="14403388" cy="8166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145"/>
          </a:p>
        </p:txBody>
      </p:sp>
      <p:sp>
        <p:nvSpPr>
          <p:cNvPr id="6" name="矩形 5"/>
          <p:cNvSpPr/>
          <p:nvPr/>
        </p:nvSpPr>
        <p:spPr>
          <a:xfrm>
            <a:off x="8040000" y="4534485"/>
            <a:ext cx="7849737" cy="16300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中国旅游集团，中国唯一旅游业央企 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拥有</a:t>
            </a:r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35</a:t>
            </a: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年发展史，具备丰富的酒店综合管理经验</a:t>
            </a:r>
            <a:endParaRPr lang="en-US" altLang="zh-CN" sz="20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全球近</a:t>
            </a:r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200</a:t>
            </a: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家酒店，接近</a:t>
            </a:r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50,000</a:t>
            </a: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间客房</a:t>
            </a:r>
            <a:endParaRPr lang="en-US" altLang="zh-CN" sz="20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旗下</a:t>
            </a:r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15,000</a:t>
            </a:r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员工，具备充足的高中级管理人才梯队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-26667" y="6232830"/>
            <a:ext cx="14429367" cy="949692"/>
            <a:chOff x="-694" y="6642000"/>
            <a:chExt cx="14400887" cy="864096"/>
          </a:xfrm>
        </p:grpSpPr>
        <p:sp>
          <p:nvSpPr>
            <p:cNvPr id="9" name="矩形 8"/>
            <p:cNvSpPr/>
            <p:nvPr/>
          </p:nvSpPr>
          <p:spPr>
            <a:xfrm>
              <a:off x="19" y="6724498"/>
              <a:ext cx="14400174" cy="699098"/>
            </a:xfrm>
            <a:prstGeom prst="rect">
              <a:avLst/>
            </a:prstGeom>
            <a:solidFill>
              <a:schemeClr val="bg1">
                <a:alpha val="82000"/>
              </a:schemeClr>
            </a:solidFill>
            <a:ln>
              <a:noFill/>
            </a:ln>
          </p:spPr>
          <p:txBody>
            <a:bodyPr wrap="square" anchor="ctr">
              <a:spAutoFit/>
            </a:bodyPr>
            <a:lstStyle/>
            <a:p>
              <a:r>
                <a:rPr lang="en-US" altLang="zh-CN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2. </a:t>
              </a:r>
              <a:r>
                <a:rPr lang="zh-CN" altLang="en-US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下周主要营销策略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20" y="6642000"/>
              <a:ext cx="14400173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-694" y="7506096"/>
              <a:ext cx="14400173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3988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>
          <a:xfrm>
            <a:off x="8648700" y="7535418"/>
            <a:ext cx="3312414" cy="276860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12</a:t>
            </a:fld>
            <a:endParaRPr lang="en-US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14F8E8B-1DDA-4EA5-BBBF-94B699336EDA}"/>
              </a:ext>
            </a:extLst>
          </p:cNvPr>
          <p:cNvSpPr txBox="1"/>
          <p:nvPr/>
        </p:nvSpPr>
        <p:spPr>
          <a:xfrm>
            <a:off x="813064" y="421506"/>
            <a:ext cx="7150629" cy="439028"/>
          </a:xfrm>
          <a:prstGeom prst="rect">
            <a:avLst/>
          </a:prstGeom>
        </p:spPr>
        <p:txBody>
          <a:bodyPr vert="horz" wrap="square" lIns="0" tIns="8062" rIns="0" bIns="0" rtlCol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8255">
              <a:spcBef>
                <a:spcPts val="65"/>
              </a:spcBef>
            </a:pP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下周酒店经营情况回顾 </a:t>
            </a:r>
            <a:r>
              <a:rPr lang="en-US" altLang="zh-CN" sz="2800" dirty="0">
                <a:solidFill>
                  <a:srgbClr val="002060"/>
                </a:solidFill>
                <a:ea typeface="微软雅黑" panose="020B0503020204020204" charset="-122"/>
              </a:rPr>
              <a:t>– </a:t>
            </a: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客房预计完成情况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E0D11A-02A2-4C0D-8D02-0D990744FD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19894" y="5285364"/>
            <a:ext cx="11353800" cy="1422630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D2E377-6504-4430-9A53-3BC1E570A11F}"/>
              </a:ext>
            </a:extLst>
          </p:cNvPr>
          <p:cNvSpPr txBox="1"/>
          <p:nvPr/>
        </p:nvSpPr>
        <p:spPr>
          <a:xfrm>
            <a:off x="257000" y="5366346"/>
            <a:ext cx="11222387" cy="12606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提问：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本酒店在比较时间段内的预计经营表现，分别与上年同期比较、与预算相比有如何表现？预期差在哪个市场上？什么原因导致的该细分市场差？好在哪里？是否可以扩大优势？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B6CDD4B-9FD3-40F0-8AFA-3351932AA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32905"/>
              </p:ext>
            </p:extLst>
          </p:nvPr>
        </p:nvGraphicFramePr>
        <p:xfrm>
          <a:off x="419894" y="2146300"/>
          <a:ext cx="13106400" cy="2121719"/>
        </p:xfrm>
        <a:graphic>
          <a:graphicData uri="http://schemas.openxmlformats.org/drawingml/2006/table">
            <a:tbl>
              <a:tblPr/>
              <a:tblGrid>
                <a:gridCol w="1695906">
                  <a:extLst>
                    <a:ext uri="{9D8B030D-6E8A-4147-A177-3AD203B41FA5}">
                      <a16:colId xmlns:a16="http://schemas.microsoft.com/office/drawing/2014/main" val="795808452"/>
                    </a:ext>
                  </a:extLst>
                </a:gridCol>
                <a:gridCol w="884820">
                  <a:extLst>
                    <a:ext uri="{9D8B030D-6E8A-4147-A177-3AD203B41FA5}">
                      <a16:colId xmlns:a16="http://schemas.microsoft.com/office/drawing/2014/main" val="1330338913"/>
                    </a:ext>
                  </a:extLst>
                </a:gridCol>
                <a:gridCol w="1142892">
                  <a:extLst>
                    <a:ext uri="{9D8B030D-6E8A-4147-A177-3AD203B41FA5}">
                      <a16:colId xmlns:a16="http://schemas.microsoft.com/office/drawing/2014/main" val="3365954749"/>
                    </a:ext>
                  </a:extLst>
                </a:gridCol>
                <a:gridCol w="1327231">
                  <a:extLst>
                    <a:ext uri="{9D8B030D-6E8A-4147-A177-3AD203B41FA5}">
                      <a16:colId xmlns:a16="http://schemas.microsoft.com/office/drawing/2014/main" val="130580445"/>
                    </a:ext>
                  </a:extLst>
                </a:gridCol>
                <a:gridCol w="1179759">
                  <a:extLst>
                    <a:ext uri="{9D8B030D-6E8A-4147-A177-3AD203B41FA5}">
                      <a16:colId xmlns:a16="http://schemas.microsoft.com/office/drawing/2014/main" val="317800864"/>
                    </a:ext>
                  </a:extLst>
                </a:gridCol>
                <a:gridCol w="1198194">
                  <a:extLst>
                    <a:ext uri="{9D8B030D-6E8A-4147-A177-3AD203B41FA5}">
                      <a16:colId xmlns:a16="http://schemas.microsoft.com/office/drawing/2014/main" val="1266098867"/>
                    </a:ext>
                  </a:extLst>
                </a:gridCol>
                <a:gridCol w="1511568">
                  <a:extLst>
                    <a:ext uri="{9D8B030D-6E8A-4147-A177-3AD203B41FA5}">
                      <a16:colId xmlns:a16="http://schemas.microsoft.com/office/drawing/2014/main" val="1954473090"/>
                    </a:ext>
                  </a:extLst>
                </a:gridCol>
                <a:gridCol w="1161327">
                  <a:extLst>
                    <a:ext uri="{9D8B030D-6E8A-4147-A177-3AD203B41FA5}">
                      <a16:colId xmlns:a16="http://schemas.microsoft.com/office/drawing/2014/main" val="1113930411"/>
                    </a:ext>
                  </a:extLst>
                </a:gridCol>
                <a:gridCol w="1253496">
                  <a:extLst>
                    <a:ext uri="{9D8B030D-6E8A-4147-A177-3AD203B41FA5}">
                      <a16:colId xmlns:a16="http://schemas.microsoft.com/office/drawing/2014/main" val="412096209"/>
                    </a:ext>
                  </a:extLst>
                </a:gridCol>
                <a:gridCol w="1751207">
                  <a:extLst>
                    <a:ext uri="{9D8B030D-6E8A-4147-A177-3AD203B41FA5}">
                      <a16:colId xmlns:a16="http://schemas.microsoft.com/office/drawing/2014/main" val="21573300"/>
                    </a:ext>
                  </a:extLst>
                </a:gridCol>
              </a:tblGrid>
              <a:tr h="59928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日期：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</a:t>
                      </a: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年 </a:t>
                      </a:r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Forecast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 vs. 2019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 vs. </a:t>
                      </a:r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Budget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769680"/>
                  </a:ext>
                </a:extLst>
              </a:tr>
              <a:tr h="6880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961107"/>
                  </a:ext>
                </a:extLst>
              </a:tr>
              <a:tr h="83441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总计 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Total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089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158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>
          <a:xfrm>
            <a:off x="8648700" y="7535418"/>
            <a:ext cx="3312414" cy="276860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13</a:t>
            </a:fld>
            <a:endParaRPr lang="en-US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14F8E8B-1DDA-4EA5-BBBF-94B699336EDA}"/>
              </a:ext>
            </a:extLst>
          </p:cNvPr>
          <p:cNvSpPr txBox="1"/>
          <p:nvPr/>
        </p:nvSpPr>
        <p:spPr>
          <a:xfrm>
            <a:off x="813064" y="421506"/>
            <a:ext cx="7150629" cy="439028"/>
          </a:xfrm>
          <a:prstGeom prst="rect">
            <a:avLst/>
          </a:prstGeom>
        </p:spPr>
        <p:txBody>
          <a:bodyPr vert="horz" wrap="square" lIns="0" tIns="8062" rIns="0" bIns="0" rtlCol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8255">
              <a:spcBef>
                <a:spcPts val="65"/>
              </a:spcBef>
            </a:pP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下周酒店经营情况回顾 </a:t>
            </a:r>
            <a:r>
              <a:rPr lang="en-US" altLang="zh-CN" sz="2800" dirty="0">
                <a:solidFill>
                  <a:srgbClr val="002060"/>
                </a:solidFill>
                <a:ea typeface="微软雅黑" panose="020B0503020204020204" charset="-122"/>
              </a:rPr>
              <a:t>– </a:t>
            </a: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客房完成情况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E0D11A-02A2-4C0D-8D02-0D990744FD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1295" y="6565900"/>
            <a:ext cx="11353800" cy="1438248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E871730-4B10-4E79-A9E8-489FB2541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989123"/>
              </p:ext>
            </p:extLst>
          </p:nvPr>
        </p:nvGraphicFramePr>
        <p:xfrm>
          <a:off x="163082" y="1231900"/>
          <a:ext cx="12982212" cy="5067343"/>
        </p:xfrm>
        <a:graphic>
          <a:graphicData uri="http://schemas.openxmlformats.org/drawingml/2006/table">
            <a:tbl>
              <a:tblPr/>
              <a:tblGrid>
                <a:gridCol w="1539130">
                  <a:extLst>
                    <a:ext uri="{9D8B030D-6E8A-4147-A177-3AD203B41FA5}">
                      <a16:colId xmlns:a16="http://schemas.microsoft.com/office/drawing/2014/main" val="1098046719"/>
                    </a:ext>
                  </a:extLst>
                </a:gridCol>
                <a:gridCol w="1539130">
                  <a:extLst>
                    <a:ext uri="{9D8B030D-6E8A-4147-A177-3AD203B41FA5}">
                      <a16:colId xmlns:a16="http://schemas.microsoft.com/office/drawing/2014/main" val="1566194711"/>
                    </a:ext>
                  </a:extLst>
                </a:gridCol>
                <a:gridCol w="803023">
                  <a:extLst>
                    <a:ext uri="{9D8B030D-6E8A-4147-A177-3AD203B41FA5}">
                      <a16:colId xmlns:a16="http://schemas.microsoft.com/office/drawing/2014/main" val="3835487765"/>
                    </a:ext>
                  </a:extLst>
                </a:gridCol>
                <a:gridCol w="1037238">
                  <a:extLst>
                    <a:ext uri="{9D8B030D-6E8A-4147-A177-3AD203B41FA5}">
                      <a16:colId xmlns:a16="http://schemas.microsoft.com/office/drawing/2014/main" val="4280533363"/>
                    </a:ext>
                  </a:extLst>
                </a:gridCol>
                <a:gridCol w="1204536">
                  <a:extLst>
                    <a:ext uri="{9D8B030D-6E8A-4147-A177-3AD203B41FA5}">
                      <a16:colId xmlns:a16="http://schemas.microsoft.com/office/drawing/2014/main" val="3876824672"/>
                    </a:ext>
                  </a:extLst>
                </a:gridCol>
                <a:gridCol w="1070696">
                  <a:extLst>
                    <a:ext uri="{9D8B030D-6E8A-4147-A177-3AD203B41FA5}">
                      <a16:colId xmlns:a16="http://schemas.microsoft.com/office/drawing/2014/main" val="3218528192"/>
                    </a:ext>
                  </a:extLst>
                </a:gridCol>
                <a:gridCol w="1087429">
                  <a:extLst>
                    <a:ext uri="{9D8B030D-6E8A-4147-A177-3AD203B41FA5}">
                      <a16:colId xmlns:a16="http://schemas.microsoft.com/office/drawing/2014/main" val="2890890205"/>
                    </a:ext>
                  </a:extLst>
                </a:gridCol>
                <a:gridCol w="1371830">
                  <a:extLst>
                    <a:ext uri="{9D8B030D-6E8A-4147-A177-3AD203B41FA5}">
                      <a16:colId xmlns:a16="http://schemas.microsoft.com/office/drawing/2014/main" val="2951462374"/>
                    </a:ext>
                  </a:extLst>
                </a:gridCol>
                <a:gridCol w="936861">
                  <a:extLst>
                    <a:ext uri="{9D8B030D-6E8A-4147-A177-3AD203B41FA5}">
                      <a16:colId xmlns:a16="http://schemas.microsoft.com/office/drawing/2014/main" val="2838900437"/>
                    </a:ext>
                  </a:extLst>
                </a:gridCol>
                <a:gridCol w="1020509">
                  <a:extLst>
                    <a:ext uri="{9D8B030D-6E8A-4147-A177-3AD203B41FA5}">
                      <a16:colId xmlns:a16="http://schemas.microsoft.com/office/drawing/2014/main" val="2259303145"/>
                    </a:ext>
                  </a:extLst>
                </a:gridCol>
                <a:gridCol w="1371830">
                  <a:extLst>
                    <a:ext uri="{9D8B030D-6E8A-4147-A177-3AD203B41FA5}">
                      <a16:colId xmlns:a16="http://schemas.microsoft.com/office/drawing/2014/main" val="3681822951"/>
                    </a:ext>
                  </a:extLst>
                </a:gridCol>
              </a:tblGrid>
              <a:tr h="3094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日期：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年 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Forecast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 vs. 2019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2021 vs. Budget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953324"/>
                  </a:ext>
                </a:extLst>
              </a:tr>
              <a:tr h="36317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细分市场组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Market Group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细分市场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Market Segment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间夜数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R/Ns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平均房价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房费收入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Rm Rev.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602851"/>
                  </a:ext>
                </a:extLst>
              </a:tr>
              <a:tr h="3188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公开市场散客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Subtotal Public FIT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前台及预订直接散客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WALKIN&amp;RSVN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493713"/>
                  </a:ext>
                </a:extLst>
              </a:tr>
              <a:tr h="31889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线上公开散客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Online FIT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893994"/>
                  </a:ext>
                </a:extLst>
              </a:tr>
              <a:tr h="34093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线下散客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Subtotal Offline FIT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商务公司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955687"/>
                  </a:ext>
                </a:extLst>
              </a:tr>
              <a:tr h="340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长住市场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LSR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404671"/>
                  </a:ext>
                </a:extLst>
              </a:tr>
              <a:tr h="340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批发商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WHO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986963"/>
                  </a:ext>
                </a:extLst>
              </a:tr>
              <a:tr h="34093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会议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MICE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公司会议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MTC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69252"/>
                  </a:ext>
                </a:extLst>
              </a:tr>
              <a:tr h="340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交易会、展览会会议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MET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448215"/>
                  </a:ext>
                </a:extLst>
              </a:tr>
              <a:tr h="340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政府会议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MGM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574747"/>
                  </a:ext>
                </a:extLst>
              </a:tr>
              <a:tr h="34093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团队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TOUR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系列团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TSR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276230"/>
                  </a:ext>
                </a:extLst>
              </a:tr>
              <a:tr h="340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一次性团队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ADH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874146"/>
                  </a:ext>
                </a:extLst>
              </a:tr>
              <a:tr h="34093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航空公司</a:t>
                      </a:r>
                      <a:b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AIRLINE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误机团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ALO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564435"/>
                  </a:ext>
                </a:extLst>
              </a:tr>
              <a:tr h="340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机组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ACW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138962"/>
                  </a:ext>
                </a:extLst>
              </a:tr>
              <a:tr h="3094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总计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Total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 </a:t>
                      </a:r>
                    </a:p>
                  </a:txBody>
                  <a:tcPr marL="2680" marR="2680" marT="26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17367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78ED85F-7C55-46FA-8BE4-87F460DC2F9E}"/>
              </a:ext>
            </a:extLst>
          </p:cNvPr>
          <p:cNvSpPr txBox="1"/>
          <p:nvPr/>
        </p:nvSpPr>
        <p:spPr>
          <a:xfrm>
            <a:off x="163082" y="6581518"/>
            <a:ext cx="11222387" cy="12606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提问：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本酒店在比较时间段内的细分市场经营表现中，分别与上年同期比较、与酒店在上周的预测相比有如何表现？差在哪个市场上？什么原因导致的该细分市场差？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7809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>
          <a:xfrm>
            <a:off x="8648700" y="7535418"/>
            <a:ext cx="3312414" cy="276860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14</a:t>
            </a:fld>
            <a:endParaRPr lang="en-US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14F8E8B-1DDA-4EA5-BBBF-94B699336EDA}"/>
              </a:ext>
            </a:extLst>
          </p:cNvPr>
          <p:cNvSpPr txBox="1"/>
          <p:nvPr/>
        </p:nvSpPr>
        <p:spPr>
          <a:xfrm>
            <a:off x="813064" y="421506"/>
            <a:ext cx="7150629" cy="439028"/>
          </a:xfrm>
          <a:prstGeom prst="rect">
            <a:avLst/>
          </a:prstGeom>
        </p:spPr>
        <p:txBody>
          <a:bodyPr vert="horz" wrap="square" lIns="0" tIns="8062" rIns="0" bIns="0" rtlCol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8255">
              <a:spcBef>
                <a:spcPts val="65"/>
              </a:spcBef>
            </a:pP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下周酒店经营情况回顾 </a:t>
            </a:r>
            <a:r>
              <a:rPr lang="en-US" altLang="zh-CN" sz="2800" dirty="0">
                <a:solidFill>
                  <a:srgbClr val="002060"/>
                </a:solidFill>
                <a:ea typeface="微软雅黑" panose="020B0503020204020204" charset="-122"/>
              </a:rPr>
              <a:t>– </a:t>
            </a: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客房完成情况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E0D11A-02A2-4C0D-8D02-0D990744FD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1295" y="6565900"/>
            <a:ext cx="11353800" cy="1438248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8ED85F-7C55-46FA-8BE4-87F460DC2F9E}"/>
              </a:ext>
            </a:extLst>
          </p:cNvPr>
          <p:cNvSpPr txBox="1"/>
          <p:nvPr/>
        </p:nvSpPr>
        <p:spPr>
          <a:xfrm>
            <a:off x="163082" y="6581518"/>
            <a:ext cx="11222387" cy="12606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提问：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30505" marR="5080" lvl="1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本酒店在比较时间段内的细分市场经营表现中，分别与上年同期比较、与酒店在上周的预测相比有如何表现？差在哪个市场上？什么原因导致的该细分市场差？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73F0D60-2D80-48F2-84FB-CB4C5A510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369630"/>
              </p:ext>
            </p:extLst>
          </p:nvPr>
        </p:nvGraphicFramePr>
        <p:xfrm>
          <a:off x="648494" y="1308100"/>
          <a:ext cx="13030201" cy="5065928"/>
        </p:xfrm>
        <a:graphic>
          <a:graphicData uri="http://schemas.openxmlformats.org/drawingml/2006/table">
            <a:tbl>
              <a:tblPr/>
              <a:tblGrid>
                <a:gridCol w="1346666">
                  <a:extLst>
                    <a:ext uri="{9D8B030D-6E8A-4147-A177-3AD203B41FA5}">
                      <a16:colId xmlns:a16="http://schemas.microsoft.com/office/drawing/2014/main" val="2105027124"/>
                    </a:ext>
                  </a:extLst>
                </a:gridCol>
                <a:gridCol w="910247">
                  <a:extLst>
                    <a:ext uri="{9D8B030D-6E8A-4147-A177-3AD203B41FA5}">
                      <a16:colId xmlns:a16="http://schemas.microsoft.com/office/drawing/2014/main" val="2452081116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154330395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2540644744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1311031789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3409582009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1592018383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2621639209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889370070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3872771640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3957200354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296665336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3401404820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2062472925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2191601164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23129705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2152048916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3481851161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3311945388"/>
                    </a:ext>
                  </a:extLst>
                </a:gridCol>
                <a:gridCol w="598516">
                  <a:extLst>
                    <a:ext uri="{9D8B030D-6E8A-4147-A177-3AD203B41FA5}">
                      <a16:colId xmlns:a16="http://schemas.microsoft.com/office/drawing/2014/main" val="983673634"/>
                    </a:ext>
                  </a:extLst>
                </a:gridCol>
              </a:tblGrid>
              <a:tr h="1809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会议名称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房价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销售人员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会议状态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887446"/>
                  </a:ext>
                </a:extLst>
              </a:tr>
              <a:tr h="1809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进博会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170654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301449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包头商务局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688N 1/2BBF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ZHCP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在谈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508079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白山市商务局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798N 1/2BBF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ZHCP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在谈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089095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马鞍山商务局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尚未报价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ZHCP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在谈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63349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8331757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755287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651903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766035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774868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总计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Total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532411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8902133"/>
                  </a:ext>
                </a:extLst>
              </a:tr>
              <a:tr h="1809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会议名称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房价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销售人员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会议状态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月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761532"/>
                  </a:ext>
                </a:extLst>
              </a:tr>
              <a:tr h="1809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921719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展会信息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325110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530371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351019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481525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030764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650239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271445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807143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798929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总计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Total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 </a:t>
                      </a:r>
                    </a:p>
                  </a:txBody>
                  <a:tcPr marL="1537" marR="1537" marT="15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28472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046844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已定</a:t>
                      </a: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663385"/>
                  </a:ext>
                </a:extLst>
              </a:tr>
              <a:tr h="180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在谈</a:t>
                      </a: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537" marR="1537" marT="15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009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98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>
            <p:custDataLst>
              <p:tags r:id="rId1"/>
            </p:custDataLst>
          </p:nvPr>
        </p:nvSpPr>
        <p:spPr>
          <a:xfrm>
            <a:off x="572294" y="1541981"/>
            <a:ext cx="9220200" cy="3728519"/>
          </a:xfrm>
          <a:prstGeom prst="rect">
            <a:avLst/>
          </a:prstGeom>
          <a:noFill/>
          <a:ln w="1270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>
          <a:xfrm>
            <a:off x="8648700" y="7535418"/>
            <a:ext cx="3312414" cy="276860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15</a:t>
            </a:fld>
            <a:endParaRPr lang="en-US" dirty="0"/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14F8E8B-1DDA-4EA5-BBBF-94B699336EDA}"/>
              </a:ext>
            </a:extLst>
          </p:cNvPr>
          <p:cNvSpPr txBox="1"/>
          <p:nvPr/>
        </p:nvSpPr>
        <p:spPr>
          <a:xfrm>
            <a:off x="813064" y="421506"/>
            <a:ext cx="7150629" cy="439028"/>
          </a:xfrm>
          <a:prstGeom prst="rect">
            <a:avLst/>
          </a:prstGeom>
        </p:spPr>
        <p:txBody>
          <a:bodyPr vert="horz" wrap="square" lIns="0" tIns="8062" rIns="0" bIns="0" rtlCol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8255">
              <a:spcBef>
                <a:spcPts val="65"/>
              </a:spcBef>
            </a:pP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上周酒店经营情况回顾 </a:t>
            </a:r>
            <a:r>
              <a:rPr lang="en-US" altLang="zh-CN" sz="2800" dirty="0">
                <a:solidFill>
                  <a:srgbClr val="002060"/>
                </a:solidFill>
                <a:ea typeface="微软雅黑" panose="020B0503020204020204" charset="-122"/>
              </a:rPr>
              <a:t>– </a:t>
            </a:r>
            <a:r>
              <a:rPr lang="zh-CN" altLang="en-US" sz="2800" dirty="0">
                <a:solidFill>
                  <a:srgbClr val="002060"/>
                </a:solidFill>
                <a:ea typeface="微软雅黑" panose="020B0503020204020204" charset="-122"/>
              </a:rPr>
              <a:t>主要营销策略回顾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0E87777-A2EF-4A8A-925E-0D2A690F62EC}"/>
              </a:ext>
            </a:extLst>
          </p:cNvPr>
          <p:cNvSpPr txBox="1"/>
          <p:nvPr/>
        </p:nvSpPr>
        <p:spPr>
          <a:xfrm>
            <a:off x="572294" y="2027298"/>
            <a:ext cx="8305800" cy="21963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近期市场表现：有无特殊事件？是否对市场带来影响？影响的周期如何？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TOP10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商务客户的未来预订情况是否稳定良好？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后期的在谈会议信息跟进；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基于以上主要市场表现，及市场特殊事件影响，酒店的公开市场定价如何做？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9105" marR="5080" lvl="1" indent="-228600" algn="just">
              <a:lnSpc>
                <a:spcPts val="3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210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24694" y="393700"/>
            <a:ext cx="7772400" cy="1137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打造中国领先酒店运营管理品牌 </a:t>
            </a: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DCC527C4-7BD6-41C0-908C-FFA862075F65}"/>
              </a:ext>
            </a:extLst>
          </p:cNvPr>
          <p:cNvSpPr/>
          <p:nvPr/>
        </p:nvSpPr>
        <p:spPr>
          <a:xfrm>
            <a:off x="461911" y="7099300"/>
            <a:ext cx="4140708" cy="618744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图片 3">
            <a:extLst>
              <a:ext uri="{FF2B5EF4-FFF2-40B4-BE49-F238E27FC236}">
                <a16:creationId xmlns:a16="http://schemas.microsoft.com/office/drawing/2014/main" id="{19E2F917-5453-4254-8F1C-6CDB26B50F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98"/>
          <a:stretch>
            <a:fillRect/>
          </a:stretch>
        </p:blipFill>
        <p:spPr>
          <a:xfrm>
            <a:off x="4610894" y="6718300"/>
            <a:ext cx="9302115" cy="13557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7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70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704"/>
  <p:tag name="KSO_WM_TEMPLATE_MASTER_THUMB_INDEX" val="12"/>
  <p:tag name="KSO_WM_TEMPLATE_THUMBS_INDEX" val="1、4、6、7、8、9、10、11、12、13、1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  <p:tag name="KSO_WM_BEAUTIFY_FLAG" val="#wm#"/>
  <p:tag name="KSO_WM_UNIT_SUBTYPE" val="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  <p:tag name="KSO_WM_UNIT_BK_DARK_LIGHT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  <p:tag name="KSO_WM_UNIT_BK_DARK_LIGHT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  <p:tag name="KSO_WM_UNIT_BK_DARK_LIGHT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  <p:tag name="KSO_WM_UNIT_BK_DARK_LIGHT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704_5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2704"/>
  <p:tag name="KSO_WM_SLIDE_LAYOUT" val="a_b_d_i_l"/>
  <p:tag name="KSO_WM_SLIDE_LAYOUT_CNT" val="1_1_1_1_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02704_5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1"/>
  <p:tag name="KSO_WM_DIAGRAM_GROUP_CODE" val="l1-1"/>
  <p:tag name="KSO_WM_TEMPLATE_CATEGORY" val="custom"/>
  <p:tag name="KSO_WM_TEMPLATE_INDEX" val="20202704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02704_5*i*2"/>
  <p:tag name="KSO_WM_TEMPLATE_CATEGORY" val="custom"/>
  <p:tag name="KSO_WM_TEMPLATE_INDEX" val="20202704"/>
  <p:tag name="KSO_WM_UNIT_LAYERLEVEL" val="1"/>
  <p:tag name="KSO_WM_TAG_VERSION" val="1.0"/>
  <p:tag name="KSO_WM_BEAUTIFY_FLAG" val="#wm#"/>
  <p:tag name="KSO_WM_UNIT_LINE_FORE_SCHEMECOLOR_INDEX" val="16"/>
  <p:tag name="KSO_WM_UNIT_LINE_FILL_TYPE" val="2"/>
  <p:tag name="KSO_WM_UNIT_USESOURCEFORMAT_APPLY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704_5*l_h_i*1_1_1"/>
  <p:tag name="KSO_WM_TEMPLATE_CATEGORY" val="custom"/>
  <p:tag name="KSO_WM_TEMPLATE_INDEX" val="20202704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2704_5*l_h_i*1_2_1"/>
  <p:tag name="KSO_WM_TEMPLATE_CATEGORY" val="custom"/>
  <p:tag name="KSO_WM_TEMPLATE_INDEX" val="20202704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2704_5*l_h_i*1_3_1"/>
  <p:tag name="KSO_WM_TEMPLATE_CATEGORY" val="custom"/>
  <p:tag name="KSO_WM_TEMPLATE_INDEX" val="20202704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2704_5*l_h_i*1_4_1"/>
  <p:tag name="KSO_WM_TEMPLATE_CATEGORY" val="custom"/>
  <p:tag name="KSO_WM_TEMPLATE_INDEX" val="20202704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custom20202704_5*l_h_i*1_5_1"/>
  <p:tag name="KSO_WM_TEMPLATE_CATEGORY" val="custom"/>
  <p:tag name="KSO_WM_TEMPLATE_INDEX" val="20202704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4"/>
  <p:tag name="KSO_WM_UNIT_ID" val="custom20202704_5*i*4"/>
  <p:tag name="KSO_WM_TEMPLATE_CATEGORY" val="custom"/>
  <p:tag name="KSO_WM_TEMPLATE_INDEX" val="20202704"/>
  <p:tag name="KSO_WM_UNIT_LAYERLEVEL" val="1"/>
  <p:tag name="KSO_WM_TAG_VERSION" val="1.0"/>
  <p:tag name="KSO_WM_BEAUTIFY_FLAG" val="#wm#"/>
  <p:tag name="KSO_WM_UNIT_USESOURCEFORMAT_APPLY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02704_5*i*3"/>
  <p:tag name="KSO_WM_TEMPLATE_CATEGORY" val="custom"/>
  <p:tag name="KSO_WM_TEMPLATE_INDEX" val="20202704"/>
  <p:tag name="KSO_WM_UNIT_LAYERLEVEL" val="1"/>
  <p:tag name="KSO_WM_TAG_VERSION" val="1.0"/>
  <p:tag name="KSO_WM_BEAUTIFY_FLAG" val="#wm#"/>
  <p:tag name="KSO_WM_UNIT_TYPE" val="i"/>
  <p:tag name="KSO_WM_UNIT_INDEX" val="3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custom20202704_5*l_h_i*1_5_1"/>
  <p:tag name="KSO_WM_TEMPLATE_CATEGORY" val="custom"/>
  <p:tag name="KSO_WM_TEMPLATE_INDEX" val="20202704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6666be8f-1044-46f1-a0ee-ca7a7a89fffa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5.80112"/>
  <p:tag name="KSO_WM_UNIT_TEXTBOXSTYLE_ADJUSTTOP" val="0_-20.42583"/>
  <p:tag name="KSO_WM_UNIT_TEXTBOXSTYLE_ADJUSTWIDTH" val="100_31.60229"/>
  <p:tag name="KSO_WM_UNIT_TEXTBOXSTYLE_ADJUSTHEIGTH" val="100_40.85158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941_184*i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6666be8f-1044-46f1-a0ee-ca7a7a89fffa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7.80112"/>
  <p:tag name="KSO_WM_UNIT_TEXTBOXSTYLE_ADJUSTTOP" val="0_-32.42583"/>
  <p:tag name="KSO_WM_UNIT_TEXTBOXSTYLE_ADJUSTWIDTH" val="100_55.60001"/>
  <p:tag name="KSO_WM_UNIT_TEXTBOXSTYLE_ADJUSTHEIGTH" val="100_64.8500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941_184*i*2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6666be8f-1044-46f1-a0ee-ca7a7a89fffa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7.24435"/>
  <p:tag name="KSO_WM_UNIT_TEXTBOXSTYLE_ADJUSTTOP" val="0_-32.7383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mixed20201941_184*i*9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6666be8f-1044-46f1-a0ee-ca7a7a89fffa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15.79346"/>
  <p:tag name="KSO_WM_UNIT_TEXTBOXSTYLE_ADJUSTTOP" val="0_-32.7383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mixed20201941_184*i*10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6666be8f-1044-46f1-a0ee-ca7a7a89fffa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7.24985"/>
  <p:tag name="KSO_WM_UNIT_TEXTBOXSTYLE_ADJUSTTOP" val="100_20.86176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mixed20201941_184*i*1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6666be8f-1044-46f1-a0ee-ca7a7a89fffa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15.79944"/>
  <p:tag name="KSO_WM_UNIT_TEXTBOXSTYLE_ADJUSTTOP" val="100_20.86176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mixed20201941_184*i*12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6666be8f-1044-46f1-a0ee-ca7a7a89fffa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5.54999"/>
  <p:tag name="KSO_WM_UNIT_TEXTBOXSTYLE_ADJUSTTOP" val="0_-27"/>
  <p:tag name="KSO_WM_UNIT_TEXTBOXSTYLE_ADJUSTWIDTH" val="100_-188.399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941_184*i*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-53.94998"/>
  <p:tag name="KSO_WM_UNIT_TEXTBOXSTYLE_ADJUSTTOP" val="0_-27"/>
  <p:tag name="KSO_WM_UNIT_TEXTBOXSTYLE_ADJUSTWIDTH" val="100_-188.399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941_184*i*4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-53.94998"/>
  <p:tag name="KSO_WM_UNIT_TEXTBOXSTYLE_ADJUSTTOP" val="100_37.85002"/>
  <p:tag name="KSO_WM_UNIT_TEXTBOXSTYLE_ADJUSTWIDTH" val="100_-188.399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941_184*i*5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5.54999"/>
  <p:tag name="KSO_WM_UNIT_TEXTBOXSTYLE_ADJUSTTOP" val="100_37.85002"/>
  <p:tag name="KSO_WM_UNIT_TEXTBOXSTYLE_ADJUSTWIDTH" val="100_-188.399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mixed20201941_184*i*6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7.54999"/>
  <p:tag name="KSO_WM_UNIT_TEXTBOXSTYLE_ADJUSTTOP" val="50_-74.77499"/>
  <p:tag name="KSO_WM_UNIT_TEXTBOXSTYLE_ADJUSTHEIGTH" val="100_-9.549988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mixed20201941_184*i*7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28.05002"/>
  <p:tag name="KSO_WM_UNIT_TEXTBOXSTYLE_ADJUSTTOP" val="50_-74.8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mixed20201941_184*i*8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PRESET_TEXT" val="目录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2704_5*a*1"/>
  <p:tag name="KSO_WM_TEMPLATE_CATEGORY" val="custom"/>
  <p:tag name="KSO_WM_TEMPLATE_INDEX" val="20202704"/>
  <p:tag name="KSO_WM_UNIT_LAYERLEVEL" val="1"/>
  <p:tag name="KSO_WM_TAG_VERSION" val="1.0"/>
  <p:tag name="KSO_WM_BEAUTIFY_FLAG" val="#wm#"/>
  <p:tag name="KSO_WM_UNIT_ISNUMDGMTITLE" val="0"/>
  <p:tag name="KSO_WM_UNIT_TEXT_FILL_FORE_SCHEMECOLOR_INDEX" val="14"/>
  <p:tag name="KSO_WM_UNIT_TEXT_FILL_TYPE" val="1"/>
  <p:tag name="KSO_WM_UNIT_USESOURCEFORMAT_APPLY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2704_5*b*1"/>
  <p:tag name="KSO_WM_TEMPLATE_CATEGORY" val="custom"/>
  <p:tag name="KSO_WM_TEMPLATE_INDEX" val="20202704"/>
  <p:tag name="KSO_WM_UNIT_LAYERLEVEL" val="1"/>
  <p:tag name="KSO_WM_TAG_VERSION" val="1.0"/>
  <p:tag name="KSO_WM_BEAUTIFY_FLAG" val="#wm#"/>
  <p:tag name="KSO_WM_UNIT_ISNUMDGMTITLE" val="0"/>
  <p:tag name="KSO_WM_UNIT_TEXT_FILL_FORE_SCHEMECOLOR_INDEX" val="14"/>
  <p:tag name="KSO_WM_UNIT_TEXT_FILL_TYPE" val="1"/>
  <p:tag name="KSO_WM_UNIT_USESOURCEFORMAT_APPLY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0857_2*l_h_i*1_2_1"/>
  <p:tag name="KSO_WM_TEMPLATE_CATEGORY" val="diagram"/>
  <p:tag name="KSO_WM_TEMPLATE_INDEX" val="20170857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20202704">
      <a:dk1>
        <a:srgbClr val="000000"/>
      </a:dk1>
      <a:lt1>
        <a:sysClr val="window" lastClr="FFFFFF"/>
      </a:lt1>
      <a:dk2>
        <a:srgbClr val="FFFFFF"/>
      </a:dk2>
      <a:lt2>
        <a:srgbClr val="ECECEC"/>
      </a:lt2>
      <a:accent1>
        <a:srgbClr val="000000"/>
      </a:accent1>
      <a:accent2>
        <a:srgbClr val="303438"/>
      </a:accent2>
      <a:accent3>
        <a:srgbClr val="606A70"/>
      </a:accent3>
      <a:accent4>
        <a:srgbClr val="8A9099"/>
      </a:accent4>
      <a:accent5>
        <a:srgbClr val="ADAFB4"/>
      </a:accent5>
      <a:accent6>
        <a:srgbClr val="BBBBBB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2350</TotalTime>
  <Words>2473</Words>
  <Application>Microsoft Office PowerPoint</Application>
  <PresentationFormat>自定义</PresentationFormat>
  <Paragraphs>1214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Dotum</vt:lpstr>
      <vt:lpstr>等线</vt:lpstr>
      <vt:lpstr>宋体</vt:lpstr>
      <vt:lpstr>微软雅黑</vt:lpstr>
      <vt:lpstr>Arial</vt:lpstr>
      <vt:lpstr>Calibri</vt:lpstr>
      <vt:lpstr>Office Theme</vt:lpstr>
      <vt:lpstr>1_Office 主题​​</vt:lpstr>
      <vt:lpstr>中旅酒店集团 收益管理会议模板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上海吉臣维景酒店 市场营销及运营提升方案</dc:title>
  <dc:creator>lenovo</dc:creator>
  <cp:lastModifiedBy>ctgh 13</cp:lastModifiedBy>
  <cp:revision>613</cp:revision>
  <dcterms:created xsi:type="dcterms:W3CDTF">2020-09-21T09:26:00Z</dcterms:created>
  <dcterms:modified xsi:type="dcterms:W3CDTF">2023-04-21T00:37:16Z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2020-08-10T00:00:00Z</vt:filetime>
  </property>
  <property fmtid="{D5CDD505-2E9C-101B-9397-08002B2CF9AE}" pid="3" name="Creator">
    <vt:lpwstr>WPS 演示</vt:lpwstr>
  </property>
  <property fmtid="{D5CDD505-2E9C-101B-9397-08002B2CF9AE}" pid="4" name="LastSaved">
    <vt:filetime>2020-09-21T00:00:00Z</vt:filetime>
  </property>
  <property fmtid="{D5CDD505-2E9C-101B-9397-08002B2CF9AE}" pid="5" name="KSOProductBuildVer">
    <vt:lpwstr>2052-11.1.0.9999</vt:lpwstr>
  </property>
</Properties>
</file>