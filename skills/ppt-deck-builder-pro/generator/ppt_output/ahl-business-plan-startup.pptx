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22D3EE"/>
                </a:solidFill>
              </a:defRPr>
            </a:pPr>
            <a:r>
              <a:t>AHL去中心化住宿业交易生态协议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855F7"/>
                </a:solidFill>
              </a:defRPr>
            </a:pPr>
            <a:r>
              <a:t>人工智能 + Web3.0 融合创新项目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</a:defRPr>
            </a:pPr>
            <a:r>
              <a:t>AHL Intelligent Technology Ltd.</a:t>
            </a:r>
            <a:br/>
            <a:r>
              <a:t>Project Lead: Zhang Shi</a:t>
            </a:r>
            <a:br/>
            <a:r>
              <a:t>Phone: 17760348653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2D3EE"/>
                </a:solidFill>
              </a:defRPr>
            </a:pPr>
            <a:r>
              <a:t>Project Overview - Core 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World's first LLM-based decentralized hospitality transaction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Paradigm shift from 'Shelf Economy' to 'Customer Economy'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From 'People finding products' to 'Bidirectional AI Matching'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Save industry costs of 100B+ RMB annually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2D3EE"/>
                </a:solidFill>
              </a:defRPr>
            </a:pPr>
            <a:r>
              <a:t>Industry Pain Points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2560320" cy="1645920"/>
          </a:xfrm>
          <a:prstGeom prst="roundRect">
            <a:avLst/>
          </a:prstGeom>
          <a:solidFill>
            <a:srgbClr val="1E1E28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2D3EE"/>
                </a:solidFill>
              </a:defRPr>
            </a:pPr>
            <a:r>
              <a:t>20-30%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</a:defRPr>
            </a:pPr>
            <a:r>
              <a:t>OTA Commission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59" y="1371600"/>
            <a:ext cx="2560320" cy="1645920"/>
          </a:xfrm>
          <a:prstGeom prst="roundRect">
            <a:avLst/>
          </a:prstGeom>
          <a:solidFill>
            <a:srgbClr val="1E1E28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59" y="16459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2D3EE"/>
                </a:solidFill>
              </a:defRPr>
            </a:pPr>
            <a:r>
              <a:t>120B RMB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59" y="2377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</a:defRPr>
            </a:pPr>
            <a:r>
              <a:t>Annual Commission Loss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371600"/>
            <a:ext cx="2560320" cy="1645920"/>
          </a:xfrm>
          <a:prstGeom prst="roundRect">
            <a:avLst/>
          </a:prstGeom>
          <a:solidFill>
            <a:srgbClr val="1E1E28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459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2D3EE"/>
                </a:solidFill>
              </a:defRPr>
            </a:pPr>
            <a:r>
              <a:t>&lt;3%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77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</a:defRPr>
            </a:pPr>
            <a:r>
              <a:t>Match Conversion Rate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18319" y="1371600"/>
            <a:ext cx="2560320" cy="1645920"/>
          </a:xfrm>
          <a:prstGeom prst="roundRect">
            <a:avLst/>
          </a:prstGeom>
          <a:solidFill>
            <a:srgbClr val="1E1E28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19" y="16459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2D3EE"/>
                </a:solidFill>
              </a:defRPr>
            </a:pPr>
            <a:r>
              <a:t>60B RMB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19" y="2377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</a:defRPr>
            </a:pPr>
            <a:r>
              <a:t>Marketing Waste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2D3EE"/>
                </a:solidFill>
              </a:defRPr>
            </a:pPr>
            <a:r>
              <a:t>Old vs New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F4444"/>
                </a:solidFill>
              </a:defRPr>
            </a:pPr>
            <a:r>
              <a:t>OTA Shelf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• Merchants list products on shelves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• Consumers browse and choose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• Information overload, low efficiency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• Commission 20-30%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AHL Customer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• AI understands both parties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• Proactive precise matching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560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• Bidirectional intelligent matching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• Efficiency fee 3-5%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2D3EE"/>
                </a:solidFill>
              </a:defRPr>
            </a:pPr>
            <a:r>
              <a:t>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C-End AI Butler: Customer demand understanding, preference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B-End AI Operator: Product service packaging, dynamic pricing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Matching Engine: Bidirectional vector semantic matching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9 Agents x 87 Skills: Pluggable modules, subscribe as needed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Vector matching accuracy &gt;95%, latency &lt;100ms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2D3EE"/>
                </a:solidFill>
              </a:defRPr>
            </a:pPr>
            <a:r>
              <a:t>C2B Direct Transaction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Demand Expression: Natural language customer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AI Understanding: Intent recognition + entity extraction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Vector Matching: Retrieve Top-10 matched merchants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Smart Response: Real-time room availability + dynamic pricing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Payment Confirmation: Direct payment, smart contract security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2D3EE"/>
                </a:solidFill>
              </a:defRPr>
            </a:pPr>
            <a:r>
              <a:t>Four-Year Development Plan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2560320" cy="4114800"/>
          </a:xfrm>
          <a:prstGeom prst="roundRect">
            <a:avLst/>
          </a:prstGeom>
          <a:solidFill>
            <a:srgbClr val="191923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D3EE"/>
                </a:solidFill>
              </a:defRPr>
            </a:pPr>
            <a:r>
              <a:t>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</a:defRPr>
            </a:pPr>
            <a:r>
              <a:t>0-6 Months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23774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Protocol Core R&amp;D</a:t>
            </a:r>
            <a:br/>
            <a:r>
              <a:t>AHL Protocol V1.0</a:t>
            </a:r>
            <a:br/>
            <a:r>
              <a:t>Dual Agent MVP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39" y="1645920"/>
            <a:ext cx="2560320" cy="4114800"/>
          </a:xfrm>
          <a:prstGeom prst="roundRect">
            <a:avLst/>
          </a:prstGeom>
          <a:solidFill>
            <a:srgbClr val="191923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39" y="1828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D3EE"/>
                </a:solidFill>
              </a:defRPr>
            </a:pPr>
            <a:r>
              <a:t>Phase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39" y="2194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</a:defRPr>
            </a:pPr>
            <a:r>
              <a:t>6-12 Months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39" y="2651760"/>
            <a:ext cx="23774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Agent Matrix</a:t>
            </a:r>
            <a:br/>
            <a:r>
              <a:t>9 Agents x 87 Skills</a:t>
            </a:r>
            <a:br/>
            <a:r>
              <a:t>100 Hotels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645920"/>
            <a:ext cx="2560320" cy="4114800"/>
          </a:xfrm>
          <a:prstGeom prst="roundRect">
            <a:avLst/>
          </a:prstGeom>
          <a:solidFill>
            <a:srgbClr val="191923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79" y="1828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D3EE"/>
                </a:solidFill>
              </a:defRPr>
            </a:pPr>
            <a:r>
              <a:t>Phase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79" y="2194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</a:defRPr>
            </a:pPr>
            <a:r>
              <a:t>12-24 Months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79" y="2651760"/>
            <a:ext cx="23774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Ecosystem Scale</a:t>
            </a:r>
            <a:br/>
            <a:r>
              <a:t>500 Hotels</a:t>
            </a:r>
            <a:br/>
            <a:r>
              <a:t>GMV &gt; 50M RMB/month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1645920"/>
            <a:ext cx="2560320" cy="4114800"/>
          </a:xfrm>
          <a:prstGeom prst="roundRect">
            <a:avLst/>
          </a:prstGeom>
          <a:solidFill>
            <a:srgbClr val="191923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19" y="1828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D3EE"/>
                </a:solidFill>
              </a:defRPr>
            </a:pPr>
            <a:r>
              <a:t>Phase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19" y="2194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</a:defRPr>
            </a:pPr>
            <a:r>
              <a:t>24-36 Months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19" y="2651760"/>
            <a:ext cx="23774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Global Expansion</a:t>
            </a:r>
            <a:br/>
            <a:r>
              <a:t>Overseas Pilot</a:t>
            </a:r>
            <a:br/>
            <a:r>
              <a:t>International Standards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2D3EE"/>
                </a:solidFill>
              </a:defRPr>
            </a:pPr>
            <a:r>
              <a:t>Core Team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474720" cy="2286000"/>
          </a:xfrm>
          <a:prstGeom prst="roundRect">
            <a:avLst/>
          </a:prstGeom>
          <a:solidFill>
            <a:srgbClr val="1E1E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Zhang Shi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2D3EE"/>
                </a:solidFill>
              </a:defRPr>
            </a:pPr>
            <a:r>
              <a:t>Project Lead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AA"/>
                </a:solidFill>
              </a:defRPr>
            </a:pPr>
            <a:r>
              <a:t>24 years hospitality industry</a:t>
            </a:r>
            <a:br/>
            <a:r>
              <a:t>Strategy/Resources/Gov Relations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188720"/>
            <a:ext cx="3474720" cy="2286000"/>
          </a:xfrm>
          <a:prstGeom prst="roundRect">
            <a:avLst/>
          </a:prstGeom>
          <a:solidFill>
            <a:srgbClr val="1E1E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14630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CTO [TBD]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9202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2D3EE"/>
                </a:solidFill>
              </a:defRPr>
            </a:pPr>
            <a:r>
              <a:t>AI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3774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AA"/>
                </a:solidFill>
              </a:defRPr>
            </a:pPr>
            <a:r>
              <a:t>AI PhD</a:t>
            </a:r>
            <a:br/>
            <a:r>
              <a:t>10+ years AI R&amp;D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188720"/>
            <a:ext cx="3474720" cy="2286000"/>
          </a:xfrm>
          <a:prstGeom prst="roundRect">
            <a:avLst/>
          </a:prstGeom>
          <a:solidFill>
            <a:srgbClr val="1E1E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4630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CSO [TBD]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9202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2D3EE"/>
                </a:solidFill>
              </a:defRPr>
            </a:pPr>
            <a:r>
              <a:t>Strategy &amp; Eco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3774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AA"/>
                </a:solidFill>
              </a:defRPr>
            </a:pPr>
            <a:r>
              <a:t>Fortune 500 Exec</a:t>
            </a:r>
            <a:br/>
            <a:r>
              <a:t>PE/VC Experience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2D3EE"/>
                </a:solidFill>
              </a:defRPr>
            </a:pPr>
            <a:r>
              <a:t>Support Request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Computing Power: 8M RMB/year - 74 GPU servers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Office Space: 1.08M RMB - 500-800 sqm in digital economy park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Hardware Equipment: 5.75M RMB - A100 servers, 50% subsidy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2D3EE"/>
                </a:solidFill>
              </a:defRPr>
            </a:pPr>
            <a:r>
              <a:t>Economic Forecast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09728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91440">
                <a:tc>
                  <a:txBody>
                    <a:bodyPr/>
                    <a:lstStyle/>
                    <a:p>
                      <a:r>
                        <a:t>Year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GMV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Platform Revenue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Industry Savings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Net Profit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r>
                        <a:t>Year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50M RMB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2.5M RMB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-5M RMB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t>Year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300M RMB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15M RMB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1.5M RMB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3M RMB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t>Year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1B RMB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50M RMB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6M RMB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15M RMB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t>Year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5B RMB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250M RMB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30M RMB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80M RMB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2D3EE"/>
                </a:solidFill>
              </a:defRPr>
            </a:pPr>
            <a:r>
              <a:t>Social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Industry Transformation: Break OTA monopoly, fair transparent trading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Technology Innovation: World's first hospitality AI transaction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Data Security: Merchant data self-controlled, break platform monopoly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Employment: 100 direct jobs, 500 indirect jobs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2D3EE"/>
                </a:solidFill>
              </a:defRPr>
            </a:pPr>
            <a:r>
              <a:t>Investment Budget - 80M RMB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Computing Cost: 30M RMB (38%)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R&amp;D Investment: 20M RMB (25%)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Hardware Equipment: 11.5M RMB (14%)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Marketing: 8M RMB (10%)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Operations + Ecosystem: 10.5M RMB (13%)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2D3EE"/>
                </a:solidFill>
              </a:defRPr>
            </a:pPr>
            <a:r>
              <a:t>Risk Analysis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09728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76200">
                <a:tc>
                  <a:txBody>
                    <a:bodyPr/>
                    <a:lstStyle/>
                    <a:p>
                      <a:r>
                        <a:t>Risk Type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Description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Level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Mitigation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</a:tr>
              <a:tr h="76200">
                <a:tc>
                  <a:txBody>
                    <a:bodyPr/>
                    <a:lstStyle/>
                    <a:p>
                      <a:r>
                        <a:t>Technical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LLM effect below expectation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Multi-model fusion</a:t>
                      </a:r>
                    </a:p>
                  </a:txBody>
                  <a:tcPr/>
                </a:tc>
              </a:tr>
              <a:tr h="76200">
                <a:tc>
                  <a:txBody>
                    <a:bodyPr/>
                    <a:lstStyle/>
                    <a:p>
                      <a:r>
                        <a:t>Market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 merchant adoption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Free trial, guarantee</a:t>
                      </a:r>
                    </a:p>
                  </a:txBody>
                  <a:tcPr/>
                </a:tc>
              </a:tr>
              <a:tr h="76200">
                <a:tc>
                  <a:txBody>
                    <a:bodyPr/>
                    <a:lstStyle/>
                    <a:p>
                      <a:r>
                        <a:t>Competition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OTA giants fight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Differentiation, alliance</a:t>
                      </a:r>
                    </a:p>
                  </a:txBody>
                  <a:tcPr/>
                </a:tc>
              </a:tr>
              <a:tr h="76200">
                <a:tc>
                  <a:txBody>
                    <a:bodyPr/>
                    <a:lstStyle/>
                    <a:p>
                      <a:r>
                        <a:t>Policy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Stricter data regulation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Compliance first</a:t>
                      </a:r>
                    </a:p>
                  </a:txBody>
                  <a:tcPr/>
                </a:tc>
              </a:tr>
              <a:tr h="76200">
                <a:tc>
                  <a:txBody>
                    <a:bodyPr/>
                    <a:lstStyle/>
                    <a:p>
                      <a:r>
                        <a:t>Funding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Insufficient financing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Control burn rate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22D3EE"/>
                </a:solidFill>
              </a:defRPr>
            </a:pPr>
            <a:r>
              <a:t>Seeking Government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88"/>
                </a:solidFill>
              </a:defRPr>
            </a:pPr>
            <a:r>
              <a:t>Contact: Zhang Shi</a:t>
            </a:r>
            <a:br/>
            <a:r>
              <a:t>Phone/WeChat: 17760348653</a:t>
            </a:r>
            <a:br/>
            <a:r>
              <a:t>Email: ericzhangshi@163.com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