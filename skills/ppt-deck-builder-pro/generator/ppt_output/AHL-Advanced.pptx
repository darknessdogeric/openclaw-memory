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Arial"/>
              </a:defRPr>
            </a:pPr>
            <a:r>
              <a:t>PROJECT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111111"/>
                </a:solidFill>
                <a:latin typeface="Arial Black"/>
              </a:defRPr>
            </a:pPr>
            <a:r>
              <a:t>AHL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666666"/>
                </a:solidFill>
                <a:latin typeface="Arial"/>
              </a:defRPr>
            </a:pPr>
            <a:r>
              <a:t>去中心化住宿业交易生态协议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CC00"/>
                </a:solidFill>
                <a:latin typeface="Arial Black"/>
              </a:defRPr>
            </a:pPr>
            <a:r>
              <a:t>范式革命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217920"/>
            <a:ext cx="2743200" cy="73152"/>
          </a:xfrm>
          <a:prstGeom prst="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行业三大顽疾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行业三大顽疾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2560320" cy="164592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rial Black"/>
              </a:defRPr>
            </a:pPr>
            <a:r>
              <a:t>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OTA垄断佣金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  <a:latin typeface="Arial"/>
              </a:defRPr>
            </a:pPr>
            <a:r>
              <a:t>携程/美团占据80%市场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77440"/>
            <a:ext cx="2560320" cy="164592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rial Black"/>
              </a:defRPr>
            </a:pPr>
            <a:r>
              <a:t>¥1200亿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年损失佣金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  <a:latin typeface="Arial"/>
              </a:defRPr>
            </a:pPr>
            <a:r>
              <a:t>酒店业每年损失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2560320" cy="164592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rial Black"/>
              </a:defRPr>
            </a:pPr>
            <a:r>
              <a:t>&lt;3%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匹配转化率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  <a:latin typeface="Arial"/>
              </a:defRPr>
            </a:pPr>
            <a:r>
              <a:t>传统搜索效率低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560320" cy="164592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651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Arial Black"/>
              </a:defRPr>
            </a:pPr>
            <a:r>
              <a:t>¥600亿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营销浪费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999999"/>
                </a:solidFill>
                <a:latin typeface="Arial"/>
              </a:defRPr>
            </a:pPr>
            <a:r>
              <a:t>获客成本持续攀升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新旧模式对比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03520" cy="384048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❌ OTA货架模式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中心化垄断，数据不透明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佣金20-30%，成本高昂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人找货，匹配效率低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客户数据归平台所有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303520" cy="384048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✓ AHL客户模式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去中心化，直连交易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效率费2-3%，成本革命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AI双向匹配，95%+准确率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• 数据商户自主可控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双AGENT智能架构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C端AI管家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需求理解</a:t>
            </a:r>
            <a:br/>
            <a:r>
              <a:t>偏好学习</a:t>
            </a:r>
            <a:br/>
            <a:r>
              <a:t>智能推荐</a:t>
            </a:r>
            <a:br/>
            <a:r>
              <a:t>向量画像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匹配引擎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意图识别</a:t>
            </a:r>
            <a:br/>
            <a:r>
              <a:t>语义检索</a:t>
            </a:r>
            <a:br/>
            <a:r>
              <a:t>实时推荐</a:t>
            </a:r>
            <a:br/>
            <a:r>
              <a:t>95%+准确率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C00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B端AI运营官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产品封装</a:t>
            </a:r>
            <a:br/>
            <a:r>
              <a:t>动态定价</a:t>
            </a:r>
            <a:br/>
            <a:r>
              <a:t>智能营销</a:t>
            </a:r>
            <a:br/>
            <a:r>
              <a:t>运营自动化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产品矩阵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9大AGENT × 87 SKILL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运营AGENT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客房/入住/客情维护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23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营销AGENT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获客/线索/RFP应答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28600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收益AGENT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动态定价/需求预测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宴会AGENT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婚宴顾问/MICE管理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0332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工程AGENT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预测维护/能源管理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0332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安防AGENT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AI视频/应急处理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财务AGENT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自动对账/智能报表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12064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257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人资AGENT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智能排班/培训助手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5120640"/>
            <a:ext cx="3657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5257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Arial"/>
              </a:defRPr>
            </a:pPr>
            <a:r>
              <a:t>供应AGENT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采购/库存管理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99999"/>
                </a:solidFill>
                <a:latin typeface="Arial"/>
              </a:defRPr>
            </a:pPr>
            <a:r>
              <a:t>× 87个可插拔SKILL模块 | 按需订阅，灵活组合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市场机会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万亿级住宿业市场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651760" cy="146304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 Black"/>
              </a:defRPr>
            </a:pPr>
            <a:r>
              <a:t>¥6000亿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住宿业市场规模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FFCC00"/>
                </a:solidFill>
                <a:latin typeface="Arial"/>
              </a:defRPr>
            </a:pPr>
            <a:r>
              <a:t>年市场规模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651760" cy="146304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 Black"/>
              </a:defRPr>
            </a:pPr>
            <a: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在线预订占比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FFCC00"/>
                </a:solidFill>
                <a:latin typeface="Arial"/>
              </a:defRPr>
            </a:pPr>
            <a:r>
              <a:t>数字化程度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651760" cy="146304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 Black"/>
              </a:defRPr>
            </a:pPr>
            <a:r>
              <a:t>¥1200亿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OTA佣金池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FFCC00"/>
                </a:solidFill>
                <a:latin typeface="Arial"/>
              </a:defRPr>
            </a:pPr>
            <a:r>
              <a:t>年佣金支出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286000"/>
            <a:ext cx="2651760" cy="1463040"/>
          </a:xfrm>
          <a:prstGeom prst="roundRect">
            <a:avLst/>
          </a:prstGeom>
          <a:solidFill>
            <a:srgbClr val="F8F8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Arial Black"/>
              </a:defRPr>
            </a:pPr>
            <a:r>
              <a:t>¥1000亿+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AHL可释放价值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>
                <a:solidFill>
                  <a:srgbClr val="FFCC00"/>
                </a:solidFill>
                <a:latin typeface="Arial"/>
              </a:defRPr>
            </a:pPr>
            <a:r>
              <a:t>节省+效率提升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66666"/>
                </a:solidFill>
                <a:latin typeface="Arial"/>
              </a:defRPr>
            </a:pPr>
            <a:r>
              <a:t>中国住宿业在线渗透率持续提升，AI技术将重构交易链路，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66666"/>
                </a:solidFill>
                <a:latin typeface="Arial"/>
              </a:defRPr>
            </a:pPr>
            <a:r>
              <a:t>AHL协议可帮助酒店节省80%佣金成本，提升3倍转化效率。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收入结构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技术服务费 2-3%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AI增值服务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数据服务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推广广告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</a:defRPr>
            </a:pPr>
            <a:r>
              <a:t>成本构成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服务器/云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B82F6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AI模型调用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B82F6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运维人员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B82F6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B82F6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AHL协议将传统OTA 20-30%的佣金成本降至2-3%，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为酒店业每年节省超1000亿元费用。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发展规划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四年战略路线图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286000"/>
            <a:ext cx="137160" cy="13716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0-6月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协议核心研发</a:t>
            </a:r>
            <a:br/>
            <a:r>
              <a:t>AHL V1.0发布</a:t>
            </a:r>
            <a:br/>
            <a:r>
              <a:t>50家测试商家</a:t>
            </a:r>
          </a:p>
        </p:txBody>
      </p:sp>
      <p:sp>
        <p:nvSpPr>
          <p:cNvPr id="10" name="Oval 9"/>
          <p:cNvSpPr/>
          <p:nvPr/>
        </p:nvSpPr>
        <p:spPr>
          <a:xfrm>
            <a:off x="4480560" y="2286000"/>
            <a:ext cx="137160" cy="13716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6-12月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AGENT矩阵建设</a:t>
            </a:r>
            <a:br/>
            <a:r>
              <a:t>9大AGENT×87SKILL</a:t>
            </a:r>
            <a:br/>
            <a:r>
              <a:t>500家商家接入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2286000"/>
            <a:ext cx="137160" cy="13716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12-24月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生态规模化</a:t>
            </a:r>
            <a:br/>
            <a:r>
              <a:t>5000家商家</a:t>
            </a:r>
            <a:br/>
            <a:r>
              <a:t>月GMV&gt;5000万</a:t>
            </a:r>
          </a:p>
        </p:txBody>
      </p:sp>
      <p:sp>
        <p:nvSpPr>
          <p:cNvPr id="18" name="Oval 17"/>
          <p:cNvSpPr/>
          <p:nvPr/>
        </p:nvSpPr>
        <p:spPr>
          <a:xfrm>
            <a:off x="10332720" y="2286000"/>
            <a:ext cx="137160" cy="13716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999999"/>
                </a:solidFill>
                <a:latin typeface="Arial"/>
              </a:defRPr>
            </a:pPr>
            <a:r>
              <a:t>24-36月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全球化拓展</a:t>
            </a:r>
            <a:br/>
            <a:r>
              <a:t>东南亚/日本试点</a:t>
            </a:r>
            <a:br/>
            <a:r>
              <a:t>行业标准制定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核心团队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11111"/>
                </a:solidFill>
                <a:latin typeface="Arial"/>
              </a:defRPr>
            </a:pPr>
            <a:r>
              <a:t>黄金三角组合</a:t>
            </a:r>
          </a:p>
        </p:txBody>
      </p:sp>
      <p:sp>
        <p:nvSpPr>
          <p:cNvPr id="6" name="Oval 5"/>
          <p:cNvSpPr/>
          <p:nvPr/>
        </p:nvSpPr>
        <p:spPr>
          <a:xfrm>
            <a:off x="164592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张实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项目总控/发起人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24年酒店业老兵</a:t>
            </a:r>
            <a:br/>
            <a:r>
              <a:t>战略/资源/政府关系</a:t>
            </a:r>
            <a:br/>
            <a:r>
              <a:t>曾任多家酒店集团高管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/>
              </a:defRPr>
            </a:pPr>
            <a:r>
              <a:t>创始人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AI技术架构构建者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华科AI博士</a:t>
            </a:r>
            <a:br/>
            <a:r>
              <a:t>10年+AI研发经验</a:t>
            </a:r>
            <a:br/>
            <a:r>
              <a:t>20+AI工程落地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/>
              </a:defRPr>
            </a:pPr>
            <a:r>
              <a:t>联合创始人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0" y="2286000"/>
            <a:ext cx="1280160" cy="1280160"/>
          </a:xfrm>
          <a:prstGeom prst="ellipse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Arial"/>
              </a:defRPr>
            </a:pPr>
            <a:r>
              <a:t>CSO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CC00"/>
                </a:solidFill>
                <a:latin typeface="Arial"/>
              </a:defRPr>
            </a:pPr>
            <a:r>
              <a:t>战略与生态推动者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666666"/>
                </a:solidFill>
                <a:latin typeface="Arial"/>
              </a:defRPr>
            </a:pPr>
            <a:r>
              <a:t>世界500强高管</a:t>
            </a:r>
            <a:br/>
            <a:r>
              <a:t>PE/VC投资经验</a:t>
            </a:r>
            <a:br/>
            <a:r>
              <a:t>IPO全流程经验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9999"/>
                </a:solidFill>
                <a:latin typeface="Arial"/>
              </a:defRPr>
            </a:pPr>
            <a:r>
              <a:t>联合创始人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 Black"/>
              </a:defRPr>
            </a:pPr>
            <a:r>
              <a:t>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66666"/>
                </a:solidFill>
                <a:latin typeface="Arial"/>
              </a:defRPr>
            </a:pPr>
            <a:r>
              <a:t>融资计划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029200" cy="3200400"/>
          </a:xfrm>
          <a:prstGeom prst="roundRect">
            <a:avLst/>
          </a:prstGeom>
          <a:solidFill>
            <a:srgbClr val="1111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C00"/>
                </a:solidFill>
                <a:latin typeface="Arial"/>
              </a:defRPr>
            </a:pPr>
            <a:r>
              <a:t>SEED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 Black"/>
              </a:defRPr>
            </a:pPr>
            <a:r>
              <a:t>¥500-800万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99999"/>
                </a:solidFill>
                <a:latin typeface="Arial"/>
              </a:defRPr>
            </a:pPr>
            <a:r>
              <a:t>出让股份 15-20%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99999"/>
                </a:solidFill>
                <a:latin typeface="Arial"/>
              </a:defRPr>
            </a:pPr>
            <a:r>
              <a:t>投后估值 3000-5000万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资金用途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技术团队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数据体系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市场拓展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111111"/>
                </a:solidFill>
                <a:latin typeface="Arial"/>
              </a:defRPr>
            </a:pPr>
            <a:r>
              <a:t>• 合规储备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Arial"/>
              </a:defRPr>
            </a:pPr>
            <a:r>
              <a:t>联系人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111111"/>
                </a:solidFill>
                <a:latin typeface="Arial"/>
              </a:defRPr>
            </a:pPr>
            <a:r>
              <a:t>张实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Arial"/>
              </a:defRPr>
            </a:pPr>
            <a:r>
              <a:t>17760348653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66666"/>
                </a:solidFill>
                <a:latin typeface="Arial"/>
              </a:defRPr>
            </a:pPr>
            <a:r>
              <a:t>ericzhangshi@163.com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加入AHL生态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999999"/>
                </a:solidFill>
                <a:latin typeface="Arial"/>
              </a:defRPr>
            </a:pPr>
            <a:r>
              <a:t>打破OTA垄断 · 建立公平交易 · 共享AI红利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C00"/>
                </a:solidFill>
                <a:latin typeface="Arial Black"/>
              </a:defRPr>
            </a:pPr>
            <a:r>
              <a:t>共赢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3657600" cy="731520"/>
          </a:xfrm>
          <a:prstGeom prst="roundRect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11111"/>
                </a:solidFill>
                <a:latin typeface="Arial"/>
              </a:defRPr>
            </a:pPr>
            <a:r>
              <a:t>联系我们开始合作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